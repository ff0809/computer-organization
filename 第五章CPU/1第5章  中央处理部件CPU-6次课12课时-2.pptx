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 id="2147483791" r:id="rId2"/>
    <p:sldMasterId id="2147483805" r:id="rId3"/>
    <p:sldMasterId id="2147483817" r:id="rId4"/>
  </p:sldMasterIdLst>
  <p:notesMasterIdLst>
    <p:notesMasterId r:id="rId123"/>
  </p:notesMasterIdLst>
  <p:handoutMasterIdLst>
    <p:handoutMasterId r:id="rId124"/>
  </p:handoutMasterIdLst>
  <p:sldIdLst>
    <p:sldId id="869" r:id="rId5"/>
    <p:sldId id="870" r:id="rId6"/>
    <p:sldId id="640" r:id="rId7"/>
    <p:sldId id="644" r:id="rId8"/>
    <p:sldId id="718" r:id="rId9"/>
    <p:sldId id="719" r:id="rId10"/>
    <p:sldId id="721" r:id="rId11"/>
    <p:sldId id="726" r:id="rId12"/>
    <p:sldId id="724" r:id="rId13"/>
    <p:sldId id="725" r:id="rId14"/>
    <p:sldId id="720" r:id="rId15"/>
    <p:sldId id="722" r:id="rId16"/>
    <p:sldId id="723" r:id="rId17"/>
    <p:sldId id="728" r:id="rId18"/>
    <p:sldId id="727" r:id="rId19"/>
    <p:sldId id="729" r:id="rId20"/>
    <p:sldId id="730" r:id="rId21"/>
    <p:sldId id="731" r:id="rId22"/>
    <p:sldId id="732" r:id="rId23"/>
    <p:sldId id="737" r:id="rId24"/>
    <p:sldId id="733" r:id="rId25"/>
    <p:sldId id="734" r:id="rId26"/>
    <p:sldId id="735" r:id="rId27"/>
    <p:sldId id="742" r:id="rId28"/>
    <p:sldId id="741" r:id="rId29"/>
    <p:sldId id="736" r:id="rId30"/>
    <p:sldId id="738" r:id="rId31"/>
    <p:sldId id="739" r:id="rId32"/>
    <p:sldId id="740" r:id="rId33"/>
    <p:sldId id="743" r:id="rId34"/>
    <p:sldId id="744" r:id="rId35"/>
    <p:sldId id="745" r:id="rId36"/>
    <p:sldId id="746" r:id="rId37"/>
    <p:sldId id="747" r:id="rId38"/>
    <p:sldId id="748" r:id="rId39"/>
    <p:sldId id="749" r:id="rId40"/>
    <p:sldId id="750" r:id="rId41"/>
    <p:sldId id="751" r:id="rId42"/>
    <p:sldId id="752" r:id="rId43"/>
    <p:sldId id="753" r:id="rId44"/>
    <p:sldId id="758" r:id="rId45"/>
    <p:sldId id="764" r:id="rId46"/>
    <p:sldId id="754" r:id="rId47"/>
    <p:sldId id="755" r:id="rId48"/>
    <p:sldId id="756" r:id="rId49"/>
    <p:sldId id="757" r:id="rId50"/>
    <p:sldId id="771" r:id="rId51"/>
    <p:sldId id="763" r:id="rId52"/>
    <p:sldId id="767" r:id="rId53"/>
    <p:sldId id="773" r:id="rId54"/>
    <p:sldId id="768" r:id="rId55"/>
    <p:sldId id="774" r:id="rId56"/>
    <p:sldId id="790" r:id="rId57"/>
    <p:sldId id="789" r:id="rId58"/>
    <p:sldId id="792" r:id="rId59"/>
    <p:sldId id="770" r:id="rId60"/>
    <p:sldId id="791" r:id="rId61"/>
    <p:sldId id="775" r:id="rId62"/>
    <p:sldId id="776" r:id="rId63"/>
    <p:sldId id="777" r:id="rId64"/>
    <p:sldId id="779" r:id="rId65"/>
    <p:sldId id="778" r:id="rId66"/>
    <p:sldId id="780" r:id="rId67"/>
    <p:sldId id="781" r:id="rId68"/>
    <p:sldId id="782" r:id="rId69"/>
    <p:sldId id="785" r:id="rId70"/>
    <p:sldId id="786" r:id="rId71"/>
    <p:sldId id="787" r:id="rId72"/>
    <p:sldId id="783" r:id="rId73"/>
    <p:sldId id="784" r:id="rId74"/>
    <p:sldId id="809" r:id="rId75"/>
    <p:sldId id="799" r:id="rId76"/>
    <p:sldId id="800" r:id="rId77"/>
    <p:sldId id="801" r:id="rId78"/>
    <p:sldId id="817" r:id="rId79"/>
    <p:sldId id="795" r:id="rId80"/>
    <p:sldId id="796" r:id="rId81"/>
    <p:sldId id="797" r:id="rId82"/>
    <p:sldId id="871" r:id="rId83"/>
    <p:sldId id="798" r:id="rId84"/>
    <p:sldId id="810" r:id="rId85"/>
    <p:sldId id="811" r:id="rId86"/>
    <p:sldId id="812" r:id="rId87"/>
    <p:sldId id="818" r:id="rId88"/>
    <p:sldId id="819" r:id="rId89"/>
    <p:sldId id="825" r:id="rId90"/>
    <p:sldId id="826" r:id="rId91"/>
    <p:sldId id="821" r:id="rId92"/>
    <p:sldId id="827" r:id="rId93"/>
    <p:sldId id="820" r:id="rId94"/>
    <p:sldId id="828" r:id="rId95"/>
    <p:sldId id="830" r:id="rId96"/>
    <p:sldId id="829" r:id="rId97"/>
    <p:sldId id="831" r:id="rId98"/>
    <p:sldId id="833" r:id="rId99"/>
    <p:sldId id="832" r:id="rId100"/>
    <p:sldId id="815" r:id="rId101"/>
    <p:sldId id="834" r:id="rId102"/>
    <p:sldId id="835" r:id="rId103"/>
    <p:sldId id="836" r:id="rId104"/>
    <p:sldId id="841" r:id="rId105"/>
    <p:sldId id="853" r:id="rId106"/>
    <p:sldId id="848" r:id="rId107"/>
    <p:sldId id="842" r:id="rId108"/>
    <p:sldId id="854" r:id="rId109"/>
    <p:sldId id="849" r:id="rId110"/>
    <p:sldId id="855" r:id="rId111"/>
    <p:sldId id="856" r:id="rId112"/>
    <p:sldId id="860" r:id="rId113"/>
    <p:sldId id="865" r:id="rId114"/>
    <p:sldId id="866" r:id="rId115"/>
    <p:sldId id="851" r:id="rId116"/>
    <p:sldId id="844" r:id="rId117"/>
    <p:sldId id="861" r:id="rId118"/>
    <p:sldId id="862" r:id="rId119"/>
    <p:sldId id="863" r:id="rId120"/>
    <p:sldId id="868" r:id="rId121"/>
    <p:sldId id="867" r:id="rId122"/>
  </p:sldIdLst>
  <p:sldSz cx="9144000" cy="6858000" type="screen4x3"/>
  <p:notesSz cx="7099300" cy="10234613"/>
  <p:defaultTextStyle>
    <a:defPPr>
      <a:defRPr lang="zh-CN"/>
    </a:defPPr>
    <a:lvl1pPr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1pPr>
    <a:lvl2pPr marL="4572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2pPr>
    <a:lvl3pPr marL="9144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3pPr>
    <a:lvl4pPr marL="13716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4pPr>
    <a:lvl5pPr marL="18288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5pPr>
    <a:lvl6pPr marL="2286000" algn="l" defTabSz="914400" rtl="0" eaLnBrk="1" latinLnBrk="0" hangingPunct="1">
      <a:defRPr sz="2800" b="1" kern="1200">
        <a:solidFill>
          <a:schemeClr val="tx2"/>
        </a:solidFill>
        <a:latin typeface="楷体_GB2312" pitchFamily="49" charset="-122"/>
        <a:ea typeface="楷体_GB2312" pitchFamily="49" charset="-122"/>
        <a:cs typeface="+mn-cs"/>
      </a:defRPr>
    </a:lvl6pPr>
    <a:lvl7pPr marL="2743200" algn="l" defTabSz="914400" rtl="0" eaLnBrk="1" latinLnBrk="0" hangingPunct="1">
      <a:defRPr sz="2800" b="1" kern="1200">
        <a:solidFill>
          <a:schemeClr val="tx2"/>
        </a:solidFill>
        <a:latin typeface="楷体_GB2312" pitchFamily="49" charset="-122"/>
        <a:ea typeface="楷体_GB2312" pitchFamily="49" charset="-122"/>
        <a:cs typeface="+mn-cs"/>
      </a:defRPr>
    </a:lvl7pPr>
    <a:lvl8pPr marL="3200400" algn="l" defTabSz="914400" rtl="0" eaLnBrk="1" latinLnBrk="0" hangingPunct="1">
      <a:defRPr sz="2800" b="1" kern="1200">
        <a:solidFill>
          <a:schemeClr val="tx2"/>
        </a:solidFill>
        <a:latin typeface="楷体_GB2312" pitchFamily="49" charset="-122"/>
        <a:ea typeface="楷体_GB2312" pitchFamily="49" charset="-122"/>
        <a:cs typeface="+mn-cs"/>
      </a:defRPr>
    </a:lvl8pPr>
    <a:lvl9pPr marL="3657600" algn="l" defTabSz="914400" rtl="0" eaLnBrk="1" latinLnBrk="0" hangingPunct="1">
      <a:defRPr sz="2800" b="1" kern="1200">
        <a:solidFill>
          <a:schemeClr val="tx2"/>
        </a:solidFill>
        <a:latin typeface="楷体_GB2312" pitchFamily="49" charset="-122"/>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4660"/>
  </p:normalViewPr>
  <p:slideViewPr>
    <p:cSldViewPr>
      <p:cViewPr>
        <p:scale>
          <a:sx n="75" d="100"/>
          <a:sy n="75" d="100"/>
        </p:scale>
        <p:origin x="-1014" y="-678"/>
      </p:cViewPr>
      <p:guideLst>
        <p:guide orient="horz" pos="2160"/>
        <p:guide pos="2880"/>
      </p:guideLst>
    </p:cSldViewPr>
  </p:slideViewPr>
  <p:notesTextViewPr>
    <p:cViewPr>
      <p:scale>
        <a:sx n="1" d="1"/>
        <a:sy n="1" d="1"/>
      </p:scale>
      <p:origin x="0" y="0"/>
    </p:cViewPr>
  </p:notesTextViewPr>
  <p:notesViewPr>
    <p:cSldViewPr>
      <p:cViewPr varScale="1">
        <p:scale>
          <a:sx n="45" d="100"/>
          <a:sy n="45" d="100"/>
        </p:scale>
        <p:origin x="-3096" y="-120"/>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slide" Target="slides/slide109.xml"/><Relationship Id="rId118" Type="http://schemas.openxmlformats.org/officeDocument/2006/relationships/slide" Target="slides/slide114.xml"/><Relationship Id="rId12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116" Type="http://schemas.openxmlformats.org/officeDocument/2006/relationships/slide" Target="slides/slide112.xml"/><Relationship Id="rId124"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slide" Target="slides/slide10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slide" Target="slides/slide110.xml"/><Relationship Id="rId119" Type="http://schemas.openxmlformats.org/officeDocument/2006/relationships/slide" Target="slides/slide115.xml"/><Relationship Id="rId12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fld id="{83FDCFCD-291C-4DFE-A573-3F4AC00C7B15}" type="datetimeFigureOut">
              <a:rPr lang="zh-CN" altLang="en-US" smtClean="0"/>
              <a:t>2013/11/13</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fld id="{58D80F72-4769-4B68-A2D9-2DA3B2FE67FA}" type="slidenum">
              <a:rPr lang="zh-CN" altLang="en-US" smtClean="0"/>
              <a:t>‹#›</a:t>
            </a:fld>
            <a:endParaRPr lang="zh-CN" altLang="en-US"/>
          </a:p>
        </p:txBody>
      </p:sp>
    </p:spTree>
    <p:extLst>
      <p:ext uri="{BB962C8B-B14F-4D97-AF65-F5344CB8AC3E}">
        <p14:creationId xmlns:p14="http://schemas.microsoft.com/office/powerpoint/2010/main" val="2676559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endParaRPr lang="zh-CN" altLang="en-US"/>
          </a:p>
        </p:txBody>
      </p:sp>
      <p:sp>
        <p:nvSpPr>
          <p:cNvPr id="2051" name="日期占位符 2"/>
          <p:cNvSpPr>
            <a:spLocks noGrp="1" noChangeArrowheads="1"/>
          </p:cNvSpPr>
          <p:nvPr>
            <p:ph type="dt"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algn="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fld id="{87ED6139-00C3-40B1-BCED-DEAA6F1F3DB9}" type="datetimeFigureOut">
              <a:rPr lang="zh-CN" altLang="en-US"/>
              <a:pPr>
                <a:defRPr/>
              </a:pPr>
              <a:t>2013/11/13</a:t>
            </a:fld>
            <a:endParaRPr lang="zh-CN" altLang="en-US"/>
          </a:p>
        </p:txBody>
      </p:sp>
      <p:sp>
        <p:nvSpPr>
          <p:cNvPr id="75780" name="幻灯片图像占位符 3"/>
          <p:cNvSpPr>
            <a:spLocks noGrp="1" noRot="1" noChangeAspect="1" noChangeArrowheads="1"/>
          </p:cNvSpPr>
          <p:nvPr>
            <p:ph type="sldImg" idx="2"/>
          </p:nvPr>
        </p:nvSpPr>
        <p:spPr bwMode="auto">
          <a:xfrm>
            <a:off x="992188" y="768350"/>
            <a:ext cx="5114925" cy="383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709613" y="4860925"/>
            <a:ext cx="5680075"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mpd="sng">
                <a:solidFill>
                  <a:srgbClr val="000000"/>
                </a:solidFill>
                <a:miter lim="800000"/>
                <a:headEnd/>
                <a:tailEnd/>
              </a14:hiddenLine>
            </a:ext>
          </a:extLst>
        </p:spPr>
        <p:txBody>
          <a:bodyPr vert="horz" wrap="square" lIns="99048" tIns="49524" rIns="99048" bIns="49524"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页脚占位符 5"/>
          <p:cNvSpPr>
            <a:spLocks noGrp="1" noChangeArrowheads="1"/>
          </p:cNvSpPr>
          <p:nvPr>
            <p:ph type="ftr" sz="quarter" idx="4"/>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algn="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fld id="{F7242C5E-2FA3-4951-B831-D66A3AEF95A5}" type="slidenum">
              <a:rPr lang="zh-CN" altLang="en-US"/>
              <a:pPr>
                <a:defRPr/>
              </a:pPr>
              <a:t>‹#›</a:t>
            </a:fld>
            <a:endParaRPr lang="zh-CN" altLang="en-US"/>
          </a:p>
        </p:txBody>
      </p:sp>
    </p:spTree>
    <p:extLst>
      <p:ext uri="{BB962C8B-B14F-4D97-AF65-F5344CB8AC3E}">
        <p14:creationId xmlns:p14="http://schemas.microsoft.com/office/powerpoint/2010/main" val="690794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222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1pPr>
            <a:lvl2pPr marL="742950" indent="-28575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2pPr>
            <a:lvl3pPr marL="11430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3pPr>
            <a:lvl4pPr marL="16002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4pPr>
            <a:lvl5pPr marL="20574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5pPr>
            <a:lvl6pPr marL="25146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6pPr>
            <a:lvl7pPr marL="29718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7pPr>
            <a:lvl8pPr marL="34290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8pPr>
            <a:lvl9pPr marL="38862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9pPr>
          </a:lstStyle>
          <a:p>
            <a:pPr eaLnBrk="1" hangingPunct="1"/>
            <a:fld id="{BA113B9E-FC67-4FBC-B86D-A183D9E1282B}" type="slidenum">
              <a:rPr lang="zh-CN" altLang="en-US" sz="1300" smtClean="0"/>
              <a:pPr eaLnBrk="1" hangingPunct="1"/>
              <a:t>4</a:t>
            </a:fld>
            <a:endParaRPr lang="zh-CN" altLang="en-US" sz="130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65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365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1pPr>
            <a:lvl2pPr marL="742950" indent="-28575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2pPr>
            <a:lvl3pPr marL="11430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3pPr>
            <a:lvl4pPr marL="16002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4pPr>
            <a:lvl5pPr marL="20574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5pPr>
            <a:lvl6pPr marL="25146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6pPr>
            <a:lvl7pPr marL="29718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7pPr>
            <a:lvl8pPr marL="34290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8pPr>
            <a:lvl9pPr marL="38862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9pPr>
          </a:lstStyle>
          <a:p>
            <a:pPr eaLnBrk="1" hangingPunct="1"/>
            <a:fld id="{4F317E44-8BF1-454E-B12C-0121498051E5}" type="slidenum">
              <a:rPr lang="zh-CN" altLang="en-US" sz="1300" smtClean="0"/>
              <a:pPr eaLnBrk="1" hangingPunct="1"/>
              <a:t>54</a:t>
            </a:fld>
            <a:endParaRPr lang="zh-CN" altLang="en-US" sz="13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7242C5E-2FA3-4951-B831-D66A3AEF95A5}" type="slidenum">
              <a:rPr lang="zh-CN" altLang="en-US" smtClean="0"/>
              <a:pPr>
                <a:defRPr/>
              </a:pPr>
              <a:t>78</a:t>
            </a:fld>
            <a:endParaRPr lang="zh-CN" altLang="en-US"/>
          </a:p>
        </p:txBody>
      </p:sp>
    </p:spTree>
    <p:extLst>
      <p:ext uri="{BB962C8B-B14F-4D97-AF65-F5344CB8AC3E}">
        <p14:creationId xmlns:p14="http://schemas.microsoft.com/office/powerpoint/2010/main" val="3169719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07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3307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1pPr>
            <a:lvl2pPr marL="742950" indent="-28575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2pPr>
            <a:lvl3pPr marL="11430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3pPr>
            <a:lvl4pPr marL="16002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4pPr>
            <a:lvl5pPr marL="20574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5pPr>
            <a:lvl6pPr marL="25146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6pPr>
            <a:lvl7pPr marL="29718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7pPr>
            <a:lvl8pPr marL="34290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8pPr>
            <a:lvl9pPr marL="38862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9pPr>
          </a:lstStyle>
          <a:p>
            <a:pPr eaLnBrk="1" hangingPunct="1">
              <a:buClr>
                <a:srgbClr val="C0504D"/>
              </a:buClr>
            </a:pPr>
            <a:fld id="{829A1005-324C-4002-B47E-924169E77287}" type="slidenum">
              <a:rPr lang="zh-CN" altLang="en-US" sz="1300">
                <a:solidFill>
                  <a:srgbClr val="1F497D"/>
                </a:solidFill>
              </a:rPr>
              <a:pPr eaLnBrk="1" hangingPunct="1">
                <a:buClr>
                  <a:srgbClr val="C0504D"/>
                </a:buClr>
              </a:pPr>
              <a:t>118</a:t>
            </a:fld>
            <a:endParaRPr lang="zh-CN" altLang="en-US" sz="1300">
              <a:solidFill>
                <a:srgbClr val="1F497D"/>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335469063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marL="0" indent="360000">
              <a:defRPr/>
            </a:lvl1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72369043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22468181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79159623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8"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8418730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4"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47765058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3"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42360275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5740568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19605464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46420430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381000"/>
            <a:ext cx="2190751"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381000"/>
            <a:ext cx="6419851"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92099342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133600" cy="476250"/>
          </a:xfrm>
          <a:prstGeom prst="rect">
            <a:avLst/>
          </a:prstGeom>
        </p:spPr>
        <p:txBody>
          <a:bodyPr/>
          <a:lstStyle>
            <a:lvl1pPr>
              <a:defRPr/>
            </a:lvl1pPr>
          </a:lstStyle>
          <a:p>
            <a:fld id="{85C1ADE7-F734-46CB-A15E-2A22A96A8881}" type="slidenum">
              <a:rPr lang="en-US" altLang="zh-CN"/>
              <a:pPr/>
              <a:t>‹#›</a:t>
            </a:fld>
            <a:endParaRPr lang="en-US" altLang="zh-CN"/>
          </a:p>
        </p:txBody>
      </p:sp>
    </p:spTree>
    <p:extLst>
      <p:ext uri="{BB962C8B-B14F-4D97-AF65-F5344CB8AC3E}">
        <p14:creationId xmlns:p14="http://schemas.microsoft.com/office/powerpoint/2010/main" val="124878727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46E76EF-D6F8-44FD-A203-98F82EB406A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462195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4A2A935-581A-4C71-A0DD-E13D31FA385C}"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4124325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F061AD-3F8D-4610-A0C9-4C9F7E44A38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9597216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B819F56-494C-4349-9FF6-B68EAF09DBE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6768553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832C54C-94AC-410E-A37C-91299C70248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1646695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F3D1379-5974-453E-BE4A-9796CB1535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18321161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79C4F825-913E-4928-8ADE-1B4809E5C1E4}"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9378181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EC93EBD-344A-4520-9032-9E9635CF91F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21890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728BD57-D864-4091-8E4D-08ADEEB4BF0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060357293"/>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0020A68-C4C9-4589-9AC2-6DAAFD8FCCF8}"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044575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C1CA9DD-AA76-4CD0-9C6D-6F0A784EE02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211100442"/>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AEDDB8-5439-453B-A2AA-000A7BD13E3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970920168"/>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9751B607-990E-4A0B-A887-A759EBC4D38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83395417"/>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7" descr="E:\电信学院\同济logo\百年同济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7318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0" y="0"/>
            <a:ext cx="685800" cy="3657600"/>
          </a:xfrm>
        </p:spPr>
        <p:txBody>
          <a:bodyPr anchor="b"/>
          <a:lstStyle>
            <a:lvl1pPr>
              <a:defRPr sz="2000" b="1"/>
            </a:lvl1pPr>
          </a:lstStyle>
          <a:p>
            <a:r>
              <a:rPr lang="zh-CN" altLang="en-US"/>
              <a:t>同济大学电信学院</a:t>
            </a:r>
          </a:p>
        </p:txBody>
      </p:sp>
      <p:sp>
        <p:nvSpPr>
          <p:cNvPr id="4099" name="Rectangle 3"/>
          <p:cNvSpPr>
            <a:spLocks noGrp="1" noChangeArrowheads="1"/>
          </p:cNvSpPr>
          <p:nvPr>
            <p:ph type="subTitle" idx="1"/>
          </p:nvPr>
        </p:nvSpPr>
        <p:spPr>
          <a:xfrm>
            <a:off x="1828800" y="228600"/>
            <a:ext cx="6400800" cy="685800"/>
          </a:xfrm>
        </p:spPr>
        <p:txBody>
          <a:bodyPr/>
          <a:lstStyle>
            <a:lvl1pPr marL="0" indent="0" algn="ctr">
              <a:defRPr/>
            </a:lvl1pPr>
          </a:lstStyle>
          <a:p>
            <a:r>
              <a:rPr lang="zh-CN" altLang="en-US"/>
              <a:t>单击此处编辑母版副标题样式</a:t>
            </a:r>
          </a:p>
        </p:txBody>
      </p:sp>
      <p:sp>
        <p:nvSpPr>
          <p:cNvPr id="5" name="Rectangle 4"/>
          <p:cNvSpPr>
            <a:spLocks noGrp="1" noChangeArrowheads="1"/>
          </p:cNvSpPr>
          <p:nvPr>
            <p:ph type="dt" sz="half" idx="10"/>
          </p:nvPr>
        </p:nvSpPr>
        <p:spPr>
          <a:xfrm>
            <a:off x="1262063" y="6248400"/>
            <a:ext cx="1905000" cy="457200"/>
          </a:xfrm>
        </p:spPr>
        <p:txBody>
          <a:bodyPr/>
          <a:lstStyle>
            <a:lvl1pPr>
              <a:defRPr/>
            </a:lvl1pPr>
          </a:lstStyle>
          <a:p>
            <a:pPr>
              <a:defRPr/>
            </a:pPr>
            <a:endParaRPr lang="en-US" altLang="zh-CN">
              <a:solidFill>
                <a:srgbClr val="333333"/>
              </a:solidFill>
            </a:endParaRPr>
          </a:p>
        </p:txBody>
      </p:sp>
      <p:sp>
        <p:nvSpPr>
          <p:cNvPr id="6" name="Rectangle 5"/>
          <p:cNvSpPr>
            <a:spLocks noGrp="1" noChangeArrowheads="1"/>
          </p:cNvSpPr>
          <p:nvPr>
            <p:ph type="ftr" sz="quarter" idx="11"/>
          </p:nvPr>
        </p:nvSpPr>
        <p:spPr>
          <a:xfrm>
            <a:off x="3700463" y="6248400"/>
            <a:ext cx="2895600" cy="457200"/>
          </a:xfrm>
        </p:spPr>
        <p:txBody>
          <a:bodyPr/>
          <a:lstStyle>
            <a:lvl1pPr>
              <a:defRPr sz="1400" b="0">
                <a:ea typeface="+mn-ea"/>
              </a:defRPr>
            </a:lvl1pPr>
          </a:lstStyle>
          <a:p>
            <a:pPr>
              <a:defRPr/>
            </a:pPr>
            <a:endParaRPr lang="en-US" altLang="zh-CN">
              <a:solidFill>
                <a:srgbClr val="333333"/>
              </a:solidFill>
            </a:endParaRPr>
          </a:p>
        </p:txBody>
      </p:sp>
      <p:sp>
        <p:nvSpPr>
          <p:cNvPr id="7" name="Rectangle 6"/>
          <p:cNvSpPr>
            <a:spLocks noGrp="1" noChangeArrowheads="1"/>
          </p:cNvSpPr>
          <p:nvPr>
            <p:ph type="sldNum" sz="quarter" idx="12"/>
          </p:nvPr>
        </p:nvSpPr>
        <p:spPr bwMode="auto">
          <a:xfrm>
            <a:off x="7129463"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spcBef>
                <a:spcPct val="0"/>
              </a:spcBef>
              <a:buClrTx/>
              <a:buSzTx/>
              <a:buFontTx/>
              <a:buNone/>
              <a:defRPr kumimoji="0" sz="1400" b="0">
                <a:solidFill>
                  <a:schemeClr val="bg2"/>
                </a:solidFill>
                <a:latin typeface="+mn-lt"/>
                <a:ea typeface="+mn-ea"/>
              </a:defRPr>
            </a:lvl1pPr>
          </a:lstStyle>
          <a:p>
            <a:pPr>
              <a:defRPr/>
            </a:pPr>
            <a:fld id="{3AC32222-4FE0-46B7-89BD-63B6CFFC0F00}" type="slidenum">
              <a:rPr lang="en-US" altLang="zh-CN">
                <a:solidFill>
                  <a:srgbClr val="333333"/>
                </a:solidFill>
              </a:rPr>
              <a:pPr>
                <a:defRPr/>
              </a:pPr>
              <a:t>‹#›</a:t>
            </a:fld>
            <a:endParaRPr lang="en-US" altLang="zh-CN">
              <a:solidFill>
                <a:srgbClr val="333333"/>
              </a:solidFill>
            </a:endParaRPr>
          </a:p>
        </p:txBody>
      </p:sp>
    </p:spTree>
    <p:extLst>
      <p:ext uri="{BB962C8B-B14F-4D97-AF65-F5344CB8AC3E}">
        <p14:creationId xmlns:p14="http://schemas.microsoft.com/office/powerpoint/2010/main" val="1474503956"/>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696263565"/>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3110565264"/>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08671094"/>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8"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833150935"/>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4"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2843975387"/>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3"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31932427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338808271"/>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806265843"/>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4209218788"/>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381000"/>
            <a:ext cx="219075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381000"/>
            <a:ext cx="6419850"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3456400293"/>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523861310"/>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marL="0" indent="0" defTabSz="720000">
              <a:defRPr/>
            </a:lvl1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771172620"/>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211539418"/>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124558591"/>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8"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646274267"/>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4"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05449803"/>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3"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552426252"/>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987911898"/>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3955260205"/>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667983312"/>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381000"/>
            <a:ext cx="2190751"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381000"/>
            <a:ext cx="6419851"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310130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jpe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1.jpe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smtClean="0"/>
          </a:p>
        </p:txBody>
      </p:sp>
      <p:sp>
        <p:nvSpPr>
          <p:cNvPr id="1027" name="Rectangle 3"/>
          <p:cNvSpPr>
            <a:spLocks noGrp="1" noChangeArrowheads="1"/>
          </p:cNvSpPr>
          <p:nvPr>
            <p:ph type="body" idx="1"/>
          </p:nvPr>
        </p:nvSpPr>
        <p:spPr bwMode="auto">
          <a:xfrm>
            <a:off x="228600" y="1676400"/>
            <a:ext cx="8686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smtClean="0"/>
          </a:p>
        </p:txBody>
      </p:sp>
      <p:sp>
        <p:nvSpPr>
          <p:cNvPr id="1028" name="Rectangle 4"/>
          <p:cNvSpPr>
            <a:spLocks noGrp="1" noChangeArrowheads="1"/>
          </p:cNvSpPr>
          <p:nvPr>
            <p:ph type="ftr" sz="quarter" idx="3"/>
          </p:nvPr>
        </p:nvSpPr>
        <p:spPr bwMode="auto">
          <a:xfrm>
            <a:off x="3276600" y="6322596"/>
            <a:ext cx="2895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ctr">
              <a:defRPr sz="1600" smtClean="0">
                <a:solidFill>
                  <a:schemeClr val="bg2"/>
                </a:solidFill>
                <a:latin typeface="+mn-lt"/>
                <a:ea typeface="华文新魏" pitchFamily="2" charset="-122"/>
              </a:defRPr>
            </a:lvl1pPr>
          </a:lstStyle>
          <a:p>
            <a:pPr>
              <a:defRPr/>
            </a:pPr>
            <a:endParaRPr lang="zh-CN" altLang="en-US">
              <a:solidFill>
                <a:srgbClr val="333333"/>
              </a:solidFill>
            </a:endParaRPr>
          </a:p>
        </p:txBody>
      </p:sp>
      <p:pic>
        <p:nvPicPr>
          <p:cNvPr id="1029" name="Picture 5" descr="E:\电信学院\同济logo\百年同济logo.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 y="304800"/>
            <a:ext cx="12620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 Box 6"/>
          <p:cNvSpPr txBox="1">
            <a:spLocks noChangeArrowheads="1"/>
          </p:cNvSpPr>
          <p:nvPr/>
        </p:nvSpPr>
        <p:spPr bwMode="auto">
          <a:xfrm>
            <a:off x="300078" y="3200400"/>
            <a:ext cx="55399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endParaRPr lang="zh-CN" altLang="en-US" sz="2400" b="0" smtClean="0">
              <a:solidFill>
                <a:srgbClr val="3D3D3D"/>
              </a:solidFill>
              <a:latin typeface="Arial" pitchFamily="34" charset="0"/>
              <a:ea typeface="宋体" pitchFamily="2" charset="-122"/>
            </a:endParaRPr>
          </a:p>
        </p:txBody>
      </p:sp>
      <p:sp>
        <p:nvSpPr>
          <p:cNvPr id="1031" name="Rectangle 7"/>
          <p:cNvSpPr>
            <a:spLocks noChangeArrowheads="1"/>
          </p:cNvSpPr>
          <p:nvPr/>
        </p:nvSpPr>
        <p:spPr bwMode="auto">
          <a:xfrm>
            <a:off x="304800" y="6248401"/>
            <a:ext cx="86868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2" name="Rectangle 8"/>
          <p:cNvSpPr>
            <a:spLocks noChangeArrowheads="1"/>
          </p:cNvSpPr>
          <p:nvPr/>
        </p:nvSpPr>
        <p:spPr bwMode="auto">
          <a:xfrm>
            <a:off x="1524000" y="1295401"/>
            <a:ext cx="74676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3" name="Rectangle 9"/>
          <p:cNvSpPr>
            <a:spLocks noGrp="1" noChangeArrowheads="1"/>
          </p:cNvSpPr>
          <p:nvPr>
            <p:ph type="dt" sz="half" idx="2"/>
          </p:nvPr>
        </p:nvSpPr>
        <p:spPr bwMode="auto">
          <a:xfrm>
            <a:off x="381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400" b="0" smtClean="0">
                <a:solidFill>
                  <a:schemeClr val="bg2"/>
                </a:solidFill>
                <a:latin typeface="+mn-lt"/>
                <a:ea typeface="+mn-ea"/>
              </a:defRPr>
            </a:lvl1pPr>
          </a:lstStyle>
          <a:p>
            <a:pPr>
              <a:defRPr/>
            </a:pPr>
            <a:endParaRPr lang="en-US">
              <a:solidFill>
                <a:srgbClr val="333333"/>
              </a:solidFill>
            </a:endParaRPr>
          </a:p>
        </p:txBody>
      </p:sp>
      <p:sp>
        <p:nvSpPr>
          <p:cNvPr id="1034" name="Rectangle 10"/>
          <p:cNvSpPr>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algn="r"/>
            <a:endParaRPr lang="zh-CN" altLang="en-US" sz="1600">
              <a:solidFill>
                <a:srgbClr val="0066FF"/>
              </a:solidFill>
              <a:latin typeface="Arial" pitchFamily="34" charset="0"/>
              <a:ea typeface="华文新魏" pitchFamily="2" charset="-122"/>
            </a:endParaRPr>
          </a:p>
        </p:txBody>
      </p:sp>
      <p:sp>
        <p:nvSpPr>
          <p:cNvPr id="1035" name="Text Box 11"/>
          <p:cNvSpPr txBox="1">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algn="r" eaLnBrk="1" hangingPunct="1">
              <a:spcBef>
                <a:spcPct val="50000"/>
              </a:spcBef>
              <a:defRPr/>
            </a:pPr>
            <a:endParaRPr lang="zh-CN" altLang="en-US" sz="1600" smtClean="0">
              <a:solidFill>
                <a:srgbClr val="0066FF"/>
              </a:solidFill>
              <a:latin typeface="Arial" pitchFamily="34" charset="0"/>
              <a:ea typeface="华文新魏" pitchFamily="2" charset="-122"/>
            </a:endParaRPr>
          </a:p>
        </p:txBody>
      </p:sp>
      <p:sp>
        <p:nvSpPr>
          <p:cNvPr id="1036" name="Text Box 12"/>
          <p:cNvSpPr txBox="1">
            <a:spLocks noChangeArrowheads="1"/>
          </p:cNvSpPr>
          <p:nvPr/>
        </p:nvSpPr>
        <p:spPr bwMode="auto">
          <a:xfrm>
            <a:off x="6858000" y="6336269"/>
            <a:ext cx="213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r>
              <a:rPr lang="zh-CN" altLang="en-US" sz="1800" smtClean="0">
                <a:solidFill>
                  <a:srgbClr val="0000FF"/>
                </a:solidFill>
                <a:latin typeface="Arial" pitchFamily="34" charset="0"/>
                <a:ea typeface="华文新魏" pitchFamily="2" charset="-122"/>
              </a:rPr>
              <a:t>同济大学电信学院</a:t>
            </a:r>
          </a:p>
        </p:txBody>
      </p:sp>
    </p:spTree>
    <p:extLst>
      <p:ext uri="{BB962C8B-B14F-4D97-AF65-F5344CB8AC3E}">
        <p14:creationId xmlns:p14="http://schemas.microsoft.com/office/powerpoint/2010/main" val="2190631218"/>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p:titleStyle>
    <p:bodyStyle>
      <a:lvl1pPr marL="0" indent="0" algn="l" defTabSz="720000" rtl="0" eaLnBrk="0" fontAlgn="base" hangingPunct="0">
        <a:spcBef>
          <a:spcPct val="20000"/>
        </a:spcBef>
        <a:spcAft>
          <a:spcPct val="0"/>
        </a:spcAft>
        <a:buClr>
          <a:schemeClr val="accent2"/>
        </a:buClr>
        <a:buSzPct val="85000"/>
        <a:buFont typeface="Wingdings" pitchFamily="2" charset="2"/>
        <a:buNone/>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ltLang="zh-CN" b="0">
              <a:solidFill>
                <a:srgbClr val="000000"/>
              </a:solidFill>
              <a:latin typeface="Arial" charset="0"/>
              <a:ea typeface="宋体" charset="-122"/>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ltLang="zh-CN" b="0">
              <a:solidFill>
                <a:srgbClr val="000000"/>
              </a:solidFill>
              <a:latin typeface="Arial" charset="0"/>
              <a:ea typeface="宋体" charset="-122"/>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FAA15164-D737-40E2-A8EF-583DAEC4467E}" type="slidenum">
              <a:rPr lang="en-US" altLang="zh-CN" b="0">
                <a:solidFill>
                  <a:srgbClr val="000000"/>
                </a:solidFill>
                <a:latin typeface="Arial" charset="0"/>
                <a:ea typeface="宋体" charset="-122"/>
              </a:rPr>
              <a:pPr>
                <a:defRPr/>
              </a:pPr>
              <a:t>‹#›</a:t>
            </a:fld>
            <a:endParaRPr lang="en-US" altLang="zh-CN" b="0">
              <a:solidFill>
                <a:srgbClr val="000000"/>
              </a:solidFill>
              <a:latin typeface="Arial" charset="0"/>
              <a:ea typeface="宋体" charset="-122"/>
            </a:endParaRPr>
          </a:p>
        </p:txBody>
      </p:sp>
    </p:spTree>
    <p:extLst>
      <p:ext uri="{BB962C8B-B14F-4D97-AF65-F5344CB8AC3E}">
        <p14:creationId xmlns:p14="http://schemas.microsoft.com/office/powerpoint/2010/main" val="1781994492"/>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黑体" pitchFamily="2" charset="-122"/>
        </a:defRPr>
      </a:lvl2pPr>
      <a:lvl3pPr algn="ctr" rtl="0" eaLnBrk="0" fontAlgn="base" hangingPunct="0">
        <a:spcBef>
          <a:spcPct val="0"/>
        </a:spcBef>
        <a:spcAft>
          <a:spcPct val="0"/>
        </a:spcAft>
        <a:defRPr sz="4400">
          <a:solidFill>
            <a:schemeClr val="tx2"/>
          </a:solidFill>
          <a:latin typeface="Arial" charset="0"/>
          <a:ea typeface="黑体" pitchFamily="2" charset="-122"/>
        </a:defRPr>
      </a:lvl3pPr>
      <a:lvl4pPr algn="ctr" rtl="0" eaLnBrk="0" fontAlgn="base" hangingPunct="0">
        <a:spcBef>
          <a:spcPct val="0"/>
        </a:spcBef>
        <a:spcAft>
          <a:spcPct val="0"/>
        </a:spcAft>
        <a:defRPr sz="4400">
          <a:solidFill>
            <a:schemeClr val="tx2"/>
          </a:solidFill>
          <a:latin typeface="Arial" charset="0"/>
          <a:ea typeface="黑体" pitchFamily="2" charset="-122"/>
        </a:defRPr>
      </a:lvl4pPr>
      <a:lvl5pPr algn="ctr" rtl="0" eaLnBrk="0" fontAlgn="base" hangingPunct="0">
        <a:spcBef>
          <a:spcPct val="0"/>
        </a:spcBef>
        <a:spcAft>
          <a:spcPct val="0"/>
        </a:spcAft>
        <a:defRPr sz="4400">
          <a:solidFill>
            <a:schemeClr val="tx2"/>
          </a:solidFill>
          <a:latin typeface="Arial" charset="0"/>
          <a:ea typeface="黑体" pitchFamily="2" charset="-122"/>
        </a:defRPr>
      </a:lvl5pPr>
      <a:lvl6pPr marL="457200" algn="ctr" rtl="0" fontAlgn="base">
        <a:spcBef>
          <a:spcPct val="0"/>
        </a:spcBef>
        <a:spcAft>
          <a:spcPct val="0"/>
        </a:spcAft>
        <a:defRPr sz="4400">
          <a:solidFill>
            <a:schemeClr val="tx2"/>
          </a:solidFill>
          <a:latin typeface="Arial" charset="0"/>
          <a:ea typeface="黑体" pitchFamily="2" charset="-122"/>
        </a:defRPr>
      </a:lvl6pPr>
      <a:lvl7pPr marL="914400" algn="ctr" rtl="0" fontAlgn="base">
        <a:spcBef>
          <a:spcPct val="0"/>
        </a:spcBef>
        <a:spcAft>
          <a:spcPct val="0"/>
        </a:spcAft>
        <a:defRPr sz="4400">
          <a:solidFill>
            <a:schemeClr val="tx2"/>
          </a:solidFill>
          <a:latin typeface="Arial" charset="0"/>
          <a:ea typeface="黑体" pitchFamily="2" charset="-122"/>
        </a:defRPr>
      </a:lvl7pPr>
      <a:lvl8pPr marL="1371600" algn="ctr" rtl="0" fontAlgn="base">
        <a:spcBef>
          <a:spcPct val="0"/>
        </a:spcBef>
        <a:spcAft>
          <a:spcPct val="0"/>
        </a:spcAft>
        <a:defRPr sz="4400">
          <a:solidFill>
            <a:schemeClr val="tx2"/>
          </a:solidFill>
          <a:latin typeface="Arial" charset="0"/>
          <a:ea typeface="黑体" pitchFamily="2" charset="-122"/>
        </a:defRPr>
      </a:lvl8pPr>
      <a:lvl9pPr marL="1828800" algn="ctr" rtl="0" fontAlgn="base">
        <a:spcBef>
          <a:spcPct val="0"/>
        </a:spcBef>
        <a:spcAft>
          <a:spcPct val="0"/>
        </a:spcAft>
        <a:defRPr sz="4400">
          <a:solidFill>
            <a:schemeClr val="tx2"/>
          </a:solidFill>
          <a:latin typeface="Arial" charset="0"/>
          <a:ea typeface="黑体" pitchFamily="2" charset="-122"/>
        </a:defRPr>
      </a:lvl9pPr>
    </p:titleStyle>
    <p:body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15240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smtClean="0"/>
          </a:p>
        </p:txBody>
      </p:sp>
      <p:sp>
        <p:nvSpPr>
          <p:cNvPr id="13315" name="Rectangle 3"/>
          <p:cNvSpPr>
            <a:spLocks noGrp="1" noChangeArrowheads="1"/>
          </p:cNvSpPr>
          <p:nvPr>
            <p:ph type="body" idx="1"/>
          </p:nvPr>
        </p:nvSpPr>
        <p:spPr bwMode="auto">
          <a:xfrm>
            <a:off x="228600" y="1676400"/>
            <a:ext cx="8686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smtClean="0"/>
          </a:p>
        </p:txBody>
      </p:sp>
      <p:sp>
        <p:nvSpPr>
          <p:cNvPr id="3076" name="Rectangle 4"/>
          <p:cNvSpPr>
            <a:spLocks noGrp="1" noChangeArrowheads="1"/>
          </p:cNvSpPr>
          <p:nvPr>
            <p:ph type="ftr" sz="quarter" idx="3"/>
          </p:nvPr>
        </p:nvSpPr>
        <p:spPr bwMode="auto">
          <a:xfrm>
            <a:off x="3276600" y="6324600"/>
            <a:ext cx="2895600" cy="336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ctr">
              <a:spcBef>
                <a:spcPct val="0"/>
              </a:spcBef>
              <a:buClrTx/>
              <a:buSzTx/>
              <a:buFontTx/>
              <a:buNone/>
              <a:defRPr kumimoji="0" sz="1600">
                <a:solidFill>
                  <a:schemeClr val="bg2"/>
                </a:solidFill>
                <a:latin typeface="+mn-lt"/>
                <a:ea typeface="华文新魏" pitchFamily="2" charset="-122"/>
              </a:defRPr>
            </a:lvl1pPr>
          </a:lstStyle>
          <a:p>
            <a:pPr>
              <a:defRPr/>
            </a:pPr>
            <a:endParaRPr lang="zh-CN" altLang="zh-CN">
              <a:solidFill>
                <a:srgbClr val="333333"/>
              </a:solidFill>
            </a:endParaRPr>
          </a:p>
        </p:txBody>
      </p:sp>
      <p:pic>
        <p:nvPicPr>
          <p:cNvPr id="13317" name="Picture 5" descr="E:\电信学院\同济logo\百年同济logo.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400" y="304800"/>
            <a:ext cx="12620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Text Box 6"/>
          <p:cNvSpPr txBox="1">
            <a:spLocks noChangeArrowheads="1"/>
          </p:cNvSpPr>
          <p:nvPr/>
        </p:nvSpPr>
        <p:spPr bwMode="auto">
          <a:xfrm>
            <a:off x="304800" y="3200400"/>
            <a:ext cx="549275" cy="3657600"/>
          </a:xfrm>
          <a:prstGeom prst="rect">
            <a:avLst/>
          </a:prstGeom>
          <a:noFill/>
          <a:ln w="9525">
            <a:noFill/>
            <a:miter lim="800000"/>
            <a:headEnd/>
            <a:tailEnd/>
          </a:ln>
          <a:effectLst/>
        </p:spPr>
        <p:txBody>
          <a:bodyPr vert="eaVert">
            <a:spAutoFit/>
          </a:bodyPr>
          <a:lstStyle/>
          <a:p>
            <a:pPr>
              <a:spcBef>
                <a:spcPct val="50000"/>
              </a:spcBef>
              <a:defRPr/>
            </a:pPr>
            <a:endParaRPr kumimoji="1" lang="zh-CN" altLang="zh-CN" sz="2400" b="0">
              <a:solidFill>
                <a:srgbClr val="3D3D3D"/>
              </a:solidFill>
              <a:latin typeface="Arial" charset="0"/>
              <a:ea typeface="宋体" charset="-122"/>
            </a:endParaRPr>
          </a:p>
        </p:txBody>
      </p:sp>
      <p:sp>
        <p:nvSpPr>
          <p:cNvPr id="3079" name="Rectangle 7"/>
          <p:cNvSpPr>
            <a:spLocks noChangeArrowheads="1"/>
          </p:cNvSpPr>
          <p:nvPr/>
        </p:nvSpPr>
        <p:spPr bwMode="auto">
          <a:xfrm>
            <a:off x="304800" y="6248400"/>
            <a:ext cx="8686800" cy="74613"/>
          </a:xfrm>
          <a:prstGeom prst="rect">
            <a:avLst/>
          </a:prstGeom>
          <a:solidFill>
            <a:srgbClr val="FF0000"/>
          </a:solidFill>
          <a:ln w="9525">
            <a:noFill/>
            <a:miter lim="800000"/>
            <a:headEnd/>
            <a:tailEnd/>
          </a:ln>
          <a:effectLst/>
        </p:spPr>
        <p:txBody>
          <a:bodyPr wrap="none" anchor="ctr"/>
          <a:lstStyle/>
          <a:p>
            <a:pPr algn="ctr">
              <a:defRPr/>
            </a:pPr>
            <a:endParaRPr kumimoji="1" lang="zh-CN" altLang="zh-CN" sz="2400" b="0">
              <a:solidFill>
                <a:srgbClr val="FD1B15"/>
              </a:solidFill>
              <a:latin typeface="Arial" charset="0"/>
              <a:ea typeface="宋体" charset="-122"/>
            </a:endParaRPr>
          </a:p>
        </p:txBody>
      </p:sp>
      <p:sp>
        <p:nvSpPr>
          <p:cNvPr id="3080" name="Rectangle 8"/>
          <p:cNvSpPr>
            <a:spLocks noChangeArrowheads="1"/>
          </p:cNvSpPr>
          <p:nvPr/>
        </p:nvSpPr>
        <p:spPr bwMode="auto">
          <a:xfrm>
            <a:off x="1524000" y="1295400"/>
            <a:ext cx="7467600" cy="74613"/>
          </a:xfrm>
          <a:prstGeom prst="rect">
            <a:avLst/>
          </a:prstGeom>
          <a:solidFill>
            <a:srgbClr val="FF0000"/>
          </a:solidFill>
          <a:ln w="9525">
            <a:noFill/>
            <a:miter lim="800000"/>
            <a:headEnd/>
            <a:tailEnd/>
          </a:ln>
          <a:effectLst/>
        </p:spPr>
        <p:txBody>
          <a:bodyPr wrap="none" anchor="ctr"/>
          <a:lstStyle/>
          <a:p>
            <a:pPr algn="ctr">
              <a:defRPr/>
            </a:pPr>
            <a:endParaRPr kumimoji="1" lang="zh-CN" altLang="zh-CN" sz="2400" b="0">
              <a:solidFill>
                <a:srgbClr val="FD1B15"/>
              </a:solidFill>
              <a:latin typeface="Arial" charset="0"/>
              <a:ea typeface="宋体" charset="-122"/>
            </a:endParaRPr>
          </a:p>
        </p:txBody>
      </p:sp>
      <p:sp>
        <p:nvSpPr>
          <p:cNvPr id="3081" name="Rectangle 9"/>
          <p:cNvSpPr>
            <a:spLocks noGrp="1" noChangeArrowheads="1"/>
          </p:cNvSpPr>
          <p:nvPr>
            <p:ph type="dt" sz="half" idx="2"/>
          </p:nvPr>
        </p:nvSpPr>
        <p:spPr bwMode="auto">
          <a:xfrm>
            <a:off x="3810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SzTx/>
              <a:buFontTx/>
              <a:buNone/>
              <a:defRPr kumimoji="0" sz="1400" b="0">
                <a:solidFill>
                  <a:schemeClr val="bg2"/>
                </a:solidFill>
                <a:latin typeface="+mn-lt"/>
                <a:ea typeface="+mn-ea"/>
              </a:defRPr>
            </a:lvl1pPr>
          </a:lstStyle>
          <a:p>
            <a:pPr>
              <a:defRPr/>
            </a:pPr>
            <a:endParaRPr lang="en-US" altLang="zh-CN">
              <a:solidFill>
                <a:srgbClr val="333333"/>
              </a:solidFill>
            </a:endParaRPr>
          </a:p>
        </p:txBody>
      </p:sp>
      <p:sp>
        <p:nvSpPr>
          <p:cNvPr id="3082" name="Rectangle 10"/>
          <p:cNvSpPr>
            <a:spLocks noChangeArrowheads="1"/>
          </p:cNvSpPr>
          <p:nvPr/>
        </p:nvSpPr>
        <p:spPr bwMode="auto">
          <a:xfrm>
            <a:off x="7086600" y="6324600"/>
            <a:ext cx="1828800" cy="336550"/>
          </a:xfrm>
          <a:prstGeom prst="rect">
            <a:avLst/>
          </a:prstGeom>
          <a:noFill/>
          <a:ln w="9525">
            <a:noFill/>
            <a:miter lim="800000"/>
            <a:headEnd/>
            <a:tailEnd/>
          </a:ln>
          <a:effectLst/>
        </p:spPr>
        <p:txBody>
          <a:bodyPr anchor="b">
            <a:spAutoFit/>
          </a:bodyPr>
          <a:lstStyle/>
          <a:p>
            <a:pPr algn="r">
              <a:defRPr/>
            </a:pPr>
            <a:endParaRPr lang="zh-CN" altLang="zh-CN" sz="1600">
              <a:solidFill>
                <a:srgbClr val="0066FF"/>
              </a:solidFill>
              <a:latin typeface="Arial" charset="0"/>
              <a:ea typeface="华文新魏" pitchFamily="2" charset="-122"/>
            </a:endParaRPr>
          </a:p>
        </p:txBody>
      </p:sp>
      <p:sp>
        <p:nvSpPr>
          <p:cNvPr id="3083" name="Text Box 11"/>
          <p:cNvSpPr txBox="1">
            <a:spLocks noChangeArrowheads="1"/>
          </p:cNvSpPr>
          <p:nvPr/>
        </p:nvSpPr>
        <p:spPr bwMode="auto">
          <a:xfrm>
            <a:off x="7086600" y="6324600"/>
            <a:ext cx="1828800" cy="336550"/>
          </a:xfrm>
          <a:prstGeom prst="rect">
            <a:avLst/>
          </a:prstGeom>
          <a:noFill/>
          <a:ln w="9525">
            <a:noFill/>
            <a:miter lim="800000"/>
            <a:headEnd/>
            <a:tailEnd/>
          </a:ln>
          <a:effectLst/>
        </p:spPr>
        <p:txBody>
          <a:bodyPr anchor="b">
            <a:spAutoFit/>
          </a:bodyPr>
          <a:lstStyle/>
          <a:p>
            <a:pPr algn="r">
              <a:spcBef>
                <a:spcPct val="50000"/>
              </a:spcBef>
              <a:defRPr/>
            </a:pPr>
            <a:endParaRPr lang="zh-CN" altLang="zh-CN" sz="1600">
              <a:solidFill>
                <a:srgbClr val="0066FF"/>
              </a:solidFill>
              <a:latin typeface="Arial" charset="0"/>
              <a:ea typeface="华文新魏" pitchFamily="2" charset="-122"/>
            </a:endParaRPr>
          </a:p>
        </p:txBody>
      </p:sp>
      <p:sp>
        <p:nvSpPr>
          <p:cNvPr id="3084" name="Text Box 12"/>
          <p:cNvSpPr txBox="1">
            <a:spLocks noChangeArrowheads="1"/>
          </p:cNvSpPr>
          <p:nvPr/>
        </p:nvSpPr>
        <p:spPr bwMode="auto">
          <a:xfrm>
            <a:off x="6858000" y="6338888"/>
            <a:ext cx="2133600" cy="366712"/>
          </a:xfrm>
          <a:prstGeom prst="rect">
            <a:avLst/>
          </a:prstGeom>
          <a:noFill/>
          <a:ln w="9525">
            <a:noFill/>
            <a:miter lim="800000"/>
            <a:headEnd/>
            <a:tailEnd/>
          </a:ln>
          <a:effectLst/>
        </p:spPr>
        <p:txBody>
          <a:bodyPr anchor="b">
            <a:spAutoFit/>
          </a:bodyPr>
          <a:lstStyle/>
          <a:p>
            <a:pPr>
              <a:spcBef>
                <a:spcPct val="50000"/>
              </a:spcBef>
              <a:defRPr/>
            </a:pPr>
            <a:r>
              <a:rPr lang="zh-CN" altLang="en-US" sz="1800">
                <a:solidFill>
                  <a:srgbClr val="0000FF"/>
                </a:solidFill>
                <a:latin typeface="Arial" charset="0"/>
                <a:ea typeface="华文新魏" pitchFamily="2" charset="-122"/>
              </a:rPr>
              <a:t>同济大学电信学院</a:t>
            </a:r>
          </a:p>
        </p:txBody>
      </p:sp>
    </p:spTree>
    <p:extLst>
      <p:ext uri="{BB962C8B-B14F-4D97-AF65-F5344CB8AC3E}">
        <p14:creationId xmlns:p14="http://schemas.microsoft.com/office/powerpoint/2010/main" val="3505387225"/>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iming>
    <p:tnLst>
      <p:par>
        <p:cTn id="1" dur="indefinite" restart="never" nodeType="tmRoot"/>
      </p:par>
    </p:tnLst>
  </p:timing>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宋体" charset="-122"/>
        </a:defRPr>
      </a:lvl2pPr>
      <a:lvl3pPr algn="ctr" rtl="0" eaLnBrk="0" fontAlgn="base" hangingPunct="0">
        <a:spcBef>
          <a:spcPct val="0"/>
        </a:spcBef>
        <a:spcAft>
          <a:spcPct val="0"/>
        </a:spcAft>
        <a:defRPr kumimoji="1" sz="4400">
          <a:solidFill>
            <a:schemeClr val="tx2"/>
          </a:solidFill>
          <a:latin typeface="Arial" charset="0"/>
          <a:ea typeface="宋体" charset="-122"/>
        </a:defRPr>
      </a:lvl3pPr>
      <a:lvl4pPr algn="ctr" rtl="0" eaLnBrk="0" fontAlgn="base" hangingPunct="0">
        <a:spcBef>
          <a:spcPct val="0"/>
        </a:spcBef>
        <a:spcAft>
          <a:spcPct val="0"/>
        </a:spcAft>
        <a:defRPr kumimoji="1" sz="4400">
          <a:solidFill>
            <a:schemeClr val="tx2"/>
          </a:solidFill>
          <a:latin typeface="Arial" charset="0"/>
          <a:ea typeface="宋体" charset="-122"/>
        </a:defRPr>
      </a:lvl4pPr>
      <a:lvl5pPr algn="ctr" rtl="0" eaLnBrk="0" fontAlgn="base" hangingPunct="0">
        <a:spcBef>
          <a:spcPct val="0"/>
        </a:spcBef>
        <a:spcAft>
          <a:spcPct val="0"/>
        </a:spcAft>
        <a:defRPr kumimoji="1" sz="4400">
          <a:solidFill>
            <a:schemeClr val="tx2"/>
          </a:solidFill>
          <a:latin typeface="Arial" charset="0"/>
          <a:ea typeface="宋体" charset="-122"/>
        </a:defRPr>
      </a:lvl5pPr>
      <a:lvl6pPr marL="457200" algn="ctr" rtl="0" fontAlgn="base">
        <a:spcBef>
          <a:spcPct val="0"/>
        </a:spcBef>
        <a:spcAft>
          <a:spcPct val="0"/>
        </a:spcAft>
        <a:defRPr kumimoji="1" sz="4400">
          <a:solidFill>
            <a:schemeClr val="tx2"/>
          </a:solidFill>
          <a:latin typeface="Arial" charset="0"/>
          <a:ea typeface="宋体" charset="-122"/>
        </a:defRPr>
      </a:lvl6pPr>
      <a:lvl7pPr marL="914400" algn="ctr" rtl="0" fontAlgn="base">
        <a:spcBef>
          <a:spcPct val="0"/>
        </a:spcBef>
        <a:spcAft>
          <a:spcPct val="0"/>
        </a:spcAft>
        <a:defRPr kumimoji="1" sz="4400">
          <a:solidFill>
            <a:schemeClr val="tx2"/>
          </a:solidFill>
          <a:latin typeface="Arial" charset="0"/>
          <a:ea typeface="宋体" charset="-122"/>
        </a:defRPr>
      </a:lvl7pPr>
      <a:lvl8pPr marL="1371600" algn="ctr" rtl="0" fontAlgn="base">
        <a:spcBef>
          <a:spcPct val="0"/>
        </a:spcBef>
        <a:spcAft>
          <a:spcPct val="0"/>
        </a:spcAft>
        <a:defRPr kumimoji="1" sz="4400">
          <a:solidFill>
            <a:schemeClr val="tx2"/>
          </a:solidFill>
          <a:latin typeface="Arial" charset="0"/>
          <a:ea typeface="宋体" charset="-122"/>
        </a:defRPr>
      </a:lvl8pPr>
      <a:lvl9pPr marL="1828800" algn="ctr" rtl="0" fontAlgn="base">
        <a:spcBef>
          <a:spcPct val="0"/>
        </a:spcBef>
        <a:spcAft>
          <a:spcPct val="0"/>
        </a:spcAft>
        <a:defRPr kumimoji="1"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lr>
          <a:schemeClr val="accent2"/>
        </a:buClr>
        <a:buSzPct val="85000"/>
        <a:buFont typeface="Wingding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smtClean="0"/>
          </a:p>
        </p:txBody>
      </p:sp>
      <p:sp>
        <p:nvSpPr>
          <p:cNvPr id="1027" name="Rectangle 3"/>
          <p:cNvSpPr>
            <a:spLocks noGrp="1" noChangeArrowheads="1"/>
          </p:cNvSpPr>
          <p:nvPr>
            <p:ph type="body" idx="1"/>
          </p:nvPr>
        </p:nvSpPr>
        <p:spPr bwMode="auto">
          <a:xfrm>
            <a:off x="228600" y="1676400"/>
            <a:ext cx="8686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smtClean="0"/>
          </a:p>
        </p:txBody>
      </p:sp>
      <p:sp>
        <p:nvSpPr>
          <p:cNvPr id="1028" name="Rectangle 4"/>
          <p:cNvSpPr>
            <a:spLocks noGrp="1" noChangeArrowheads="1"/>
          </p:cNvSpPr>
          <p:nvPr>
            <p:ph type="ftr" sz="quarter" idx="3"/>
          </p:nvPr>
        </p:nvSpPr>
        <p:spPr bwMode="auto">
          <a:xfrm>
            <a:off x="3276600" y="6322596"/>
            <a:ext cx="2895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ctr">
              <a:defRPr sz="1600" smtClean="0">
                <a:solidFill>
                  <a:schemeClr val="bg2"/>
                </a:solidFill>
                <a:latin typeface="+mn-lt"/>
                <a:ea typeface="华文新魏" pitchFamily="2" charset="-122"/>
              </a:defRPr>
            </a:lvl1pPr>
          </a:lstStyle>
          <a:p>
            <a:pPr>
              <a:defRPr/>
            </a:pPr>
            <a:endParaRPr lang="zh-CN" altLang="en-US">
              <a:solidFill>
                <a:srgbClr val="333333"/>
              </a:solidFill>
            </a:endParaRPr>
          </a:p>
        </p:txBody>
      </p:sp>
      <p:pic>
        <p:nvPicPr>
          <p:cNvPr id="1029" name="Picture 5" descr="E:\电信学院\同济logo\百年同济logo.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400" y="304800"/>
            <a:ext cx="12620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 Box 6"/>
          <p:cNvSpPr txBox="1">
            <a:spLocks noChangeArrowheads="1"/>
          </p:cNvSpPr>
          <p:nvPr/>
        </p:nvSpPr>
        <p:spPr bwMode="auto">
          <a:xfrm>
            <a:off x="300078" y="3200400"/>
            <a:ext cx="55399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endParaRPr lang="zh-CN" altLang="en-US" sz="2400" b="0" smtClean="0">
              <a:solidFill>
                <a:srgbClr val="3D3D3D"/>
              </a:solidFill>
              <a:latin typeface="Arial" pitchFamily="34" charset="0"/>
              <a:ea typeface="宋体" pitchFamily="2" charset="-122"/>
            </a:endParaRPr>
          </a:p>
        </p:txBody>
      </p:sp>
      <p:sp>
        <p:nvSpPr>
          <p:cNvPr id="1031" name="Rectangle 7"/>
          <p:cNvSpPr>
            <a:spLocks noChangeArrowheads="1"/>
          </p:cNvSpPr>
          <p:nvPr/>
        </p:nvSpPr>
        <p:spPr bwMode="auto">
          <a:xfrm>
            <a:off x="304800" y="6248401"/>
            <a:ext cx="86868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2" name="Rectangle 8"/>
          <p:cNvSpPr>
            <a:spLocks noChangeArrowheads="1"/>
          </p:cNvSpPr>
          <p:nvPr/>
        </p:nvSpPr>
        <p:spPr bwMode="auto">
          <a:xfrm>
            <a:off x="1524000" y="1295401"/>
            <a:ext cx="74676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3" name="Rectangle 9"/>
          <p:cNvSpPr>
            <a:spLocks noGrp="1" noChangeArrowheads="1"/>
          </p:cNvSpPr>
          <p:nvPr>
            <p:ph type="dt" sz="half" idx="2"/>
          </p:nvPr>
        </p:nvSpPr>
        <p:spPr bwMode="auto">
          <a:xfrm>
            <a:off x="381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400" b="0" smtClean="0">
                <a:solidFill>
                  <a:schemeClr val="bg2"/>
                </a:solidFill>
                <a:latin typeface="+mn-lt"/>
                <a:ea typeface="+mn-ea"/>
              </a:defRPr>
            </a:lvl1pPr>
          </a:lstStyle>
          <a:p>
            <a:pPr>
              <a:defRPr/>
            </a:pPr>
            <a:endParaRPr lang="en-US">
              <a:solidFill>
                <a:srgbClr val="333333"/>
              </a:solidFill>
            </a:endParaRPr>
          </a:p>
        </p:txBody>
      </p:sp>
      <p:sp>
        <p:nvSpPr>
          <p:cNvPr id="1034" name="Rectangle 10"/>
          <p:cNvSpPr>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algn="r"/>
            <a:endParaRPr lang="zh-CN" altLang="en-US" sz="1600">
              <a:solidFill>
                <a:srgbClr val="0066FF"/>
              </a:solidFill>
              <a:latin typeface="Arial" pitchFamily="34" charset="0"/>
              <a:ea typeface="华文新魏" pitchFamily="2" charset="-122"/>
            </a:endParaRPr>
          </a:p>
        </p:txBody>
      </p:sp>
      <p:sp>
        <p:nvSpPr>
          <p:cNvPr id="1035" name="Text Box 11"/>
          <p:cNvSpPr txBox="1">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algn="r" eaLnBrk="1" hangingPunct="1">
              <a:spcBef>
                <a:spcPct val="50000"/>
              </a:spcBef>
              <a:defRPr/>
            </a:pPr>
            <a:endParaRPr lang="zh-CN" altLang="en-US" sz="1600" smtClean="0">
              <a:solidFill>
                <a:srgbClr val="0066FF"/>
              </a:solidFill>
              <a:latin typeface="Arial" pitchFamily="34" charset="0"/>
              <a:ea typeface="华文新魏" pitchFamily="2" charset="-122"/>
            </a:endParaRPr>
          </a:p>
        </p:txBody>
      </p:sp>
      <p:sp>
        <p:nvSpPr>
          <p:cNvPr id="1036" name="Text Box 12"/>
          <p:cNvSpPr txBox="1">
            <a:spLocks noChangeArrowheads="1"/>
          </p:cNvSpPr>
          <p:nvPr/>
        </p:nvSpPr>
        <p:spPr bwMode="auto">
          <a:xfrm>
            <a:off x="6858000" y="6336269"/>
            <a:ext cx="213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r>
              <a:rPr lang="zh-CN" altLang="en-US" sz="1800" smtClean="0">
                <a:solidFill>
                  <a:srgbClr val="0000FF"/>
                </a:solidFill>
                <a:latin typeface="Arial" pitchFamily="34" charset="0"/>
                <a:ea typeface="华文新魏" pitchFamily="2" charset="-122"/>
              </a:rPr>
              <a:t>同济大学电信学院</a:t>
            </a:r>
          </a:p>
        </p:txBody>
      </p:sp>
    </p:spTree>
    <p:extLst>
      <p:ext uri="{BB962C8B-B14F-4D97-AF65-F5344CB8AC3E}">
        <p14:creationId xmlns:p14="http://schemas.microsoft.com/office/powerpoint/2010/main" val="1911357976"/>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p:titleStyle>
    <p:bodyStyle>
      <a:lvl1pPr marL="0" indent="0" algn="l" defTabSz="720000" rtl="0" eaLnBrk="0" fontAlgn="base" hangingPunct="0">
        <a:spcBef>
          <a:spcPct val="20000"/>
        </a:spcBef>
        <a:spcAft>
          <a:spcPct val="0"/>
        </a:spcAft>
        <a:buClr>
          <a:schemeClr val="accent2"/>
        </a:buClr>
        <a:buSzPct val="85000"/>
        <a:buFont typeface="Wingdings" pitchFamily="2" charset="2"/>
        <a:buNone/>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25945;&#23398;&#21160;&#30011;/5.20.html"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25945;&#23398;&#21160;&#30011;/5.23.html"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png"/><Relationship Id="rId4"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hyperlink" Target="&#25945;&#23398;&#21160;&#30011;/5.33.html" TargetMode="External"/><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hyperlink" Target="&#25945;&#23398;&#21160;&#30011;/5.33.html" TargetMode="External"/><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hyperlink" Target="&#25945;&#23398;&#21160;&#30011;/5.33.html" TargetMode="External"/><Relationship Id="rId2" Type="http://schemas.openxmlformats.org/officeDocument/2006/relationships/image" Target="../media/image17.gif"/><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p:txBody>
          <a:bodyPr/>
          <a:lstStyle/>
          <a:p>
            <a:pPr eaLnBrk="1" hangingPunct="1"/>
            <a:r>
              <a:rPr lang="en-US" altLang="zh-CN" sz="2400" b="1" dirty="0" smtClean="0">
                <a:latin typeface="黑体" pitchFamily="49" charset="-122"/>
                <a:ea typeface="黑体" pitchFamily="49" charset="-122"/>
              </a:rPr>
              <a:t>5.2  </a:t>
            </a:r>
            <a:r>
              <a:rPr lang="zh-CN" altLang="en-US" sz="2400" b="1" dirty="0" smtClean="0">
                <a:latin typeface="黑体" pitchFamily="49" charset="-122"/>
                <a:ea typeface="黑体" pitchFamily="49" charset="-122"/>
              </a:rPr>
              <a:t>控制器的组成</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1" dirty="0" smtClean="0">
                <a:solidFill>
                  <a:schemeClr val="tx1"/>
                </a:solidFill>
                <a:latin typeface="楷体_GB2312" pitchFamily="49" charset="-122"/>
                <a:ea typeface="楷体_GB2312" pitchFamily="49" charset="-122"/>
              </a:rPr>
              <a:t>5.2.2  </a:t>
            </a:r>
            <a:r>
              <a:rPr lang="zh-CN" altLang="en-US" sz="1800" b="1" dirty="0" smtClean="0">
                <a:solidFill>
                  <a:schemeClr val="tx1"/>
                </a:solidFill>
                <a:latin typeface="楷体_GB2312" pitchFamily="49" charset="-122"/>
                <a:ea typeface="楷体_GB2312" pitchFamily="49" charset="-122"/>
              </a:rPr>
              <a:t>控制器的组成</a:t>
            </a:r>
          </a:p>
        </p:txBody>
      </p:sp>
      <p:sp>
        <p:nvSpPr>
          <p:cNvPr id="38915" name="Rectangle 3"/>
          <p:cNvSpPr>
            <a:spLocks noGrp="1" noChangeArrowheads="1"/>
          </p:cNvSpPr>
          <p:nvPr>
            <p:ph type="body" idx="4294967295"/>
          </p:nvPr>
        </p:nvSpPr>
        <p:spPr>
          <a:xfrm>
            <a:off x="228600" y="1524000"/>
            <a:ext cx="8686800" cy="4572000"/>
          </a:xfrm>
        </p:spPr>
        <p:txBody>
          <a:bodyPr/>
          <a:lstStyle/>
          <a:p>
            <a:pPr eaLnBrk="1" hangingPunct="1">
              <a:buNone/>
            </a:pPr>
            <a:r>
              <a:rPr lang="en-US" altLang="zh-CN" sz="2800" b="1" dirty="0" smtClean="0">
                <a:solidFill>
                  <a:schemeClr val="tx2"/>
                </a:solidFill>
                <a:latin typeface="楷体_GB2312" pitchFamily="49" charset="-122"/>
                <a:ea typeface="楷体_GB2312" pitchFamily="49" charset="-122"/>
              </a:rPr>
              <a:t>4. </a:t>
            </a:r>
            <a:r>
              <a:rPr lang="zh-CN" altLang="en-US" sz="2800" b="1" dirty="0" smtClean="0">
                <a:solidFill>
                  <a:schemeClr val="tx2"/>
                </a:solidFill>
                <a:latin typeface="楷体_GB2312" pitchFamily="49" charset="-122"/>
                <a:ea typeface="楷体_GB2312" pitchFamily="49" charset="-122"/>
              </a:rPr>
              <a:t>操作控制器</a:t>
            </a:r>
            <a:endParaRPr lang="en-US" altLang="zh-CN" sz="2800" b="1" dirty="0" smtClean="0">
              <a:solidFill>
                <a:schemeClr val="tx2"/>
              </a:solidFill>
              <a:latin typeface="楷体_GB2312" pitchFamily="49" charset="-122"/>
              <a:ea typeface="楷体_GB2312" pitchFamily="49" charset="-122"/>
            </a:endParaRPr>
          </a:p>
          <a:p>
            <a:pPr eaLnBrk="1" hangingPunct="1">
              <a:buNone/>
            </a:pPr>
            <a:r>
              <a:rPr lang="en-US" altLang="zh-CN" sz="2800" dirty="0" smtClean="0">
                <a:ea typeface="楷体_GB2312"/>
              </a:rPr>
              <a:t>	</a:t>
            </a:r>
            <a:r>
              <a:rPr lang="zh-CN" altLang="en-US" sz="2800" dirty="0" smtClean="0">
                <a:ea typeface="楷体_GB2312"/>
              </a:rPr>
              <a:t>通过</a:t>
            </a:r>
            <a:r>
              <a:rPr lang="zh-CN" altLang="en-US" sz="2800" dirty="0">
                <a:ea typeface="楷体_GB2312"/>
              </a:rPr>
              <a:t>上</a:t>
            </a:r>
            <a:r>
              <a:rPr lang="zh-CN" altLang="en-US" sz="2800" dirty="0" smtClean="0">
                <a:ea typeface="楷体_GB2312"/>
              </a:rPr>
              <a:t>节（</a:t>
            </a:r>
            <a:r>
              <a:rPr lang="en-US" altLang="zh-CN" sz="2800" dirty="0" smtClean="0">
                <a:ea typeface="楷体_GB2312"/>
              </a:rPr>
              <a:t>5.1.3</a:t>
            </a:r>
            <a:r>
              <a:rPr lang="zh-CN" altLang="en-US" sz="2800" dirty="0" smtClean="0">
                <a:ea typeface="楷体_GB2312"/>
              </a:rPr>
              <a:t>节）的</a:t>
            </a:r>
            <a:r>
              <a:rPr lang="zh-CN" altLang="en-US" sz="2800" dirty="0">
                <a:ea typeface="楷体_GB2312"/>
              </a:rPr>
              <a:t>学习可知，</a:t>
            </a:r>
            <a:r>
              <a:rPr lang="en-US" altLang="zh-CN" sz="2800" dirty="0">
                <a:ea typeface="楷体_GB2312"/>
              </a:rPr>
              <a:t>CPU</a:t>
            </a:r>
            <a:r>
              <a:rPr lang="zh-CN" altLang="en-US" sz="2800" dirty="0">
                <a:ea typeface="楷体_GB2312"/>
              </a:rPr>
              <a:t>中的</a:t>
            </a:r>
            <a:r>
              <a:rPr lang="en-US" altLang="zh-CN" sz="2800" dirty="0">
                <a:ea typeface="楷体_GB2312"/>
              </a:rPr>
              <a:t>6</a:t>
            </a:r>
            <a:r>
              <a:rPr lang="zh-CN" altLang="en-US" sz="2800" dirty="0">
                <a:ea typeface="楷体_GB2312"/>
              </a:rPr>
              <a:t>类主要寄存器 ，每</a:t>
            </a:r>
            <a:r>
              <a:rPr lang="zh-CN" altLang="en-US" sz="2800" dirty="0" smtClean="0">
                <a:ea typeface="楷体_GB2312"/>
              </a:rPr>
              <a:t>一类都完成</a:t>
            </a:r>
            <a:r>
              <a:rPr lang="zh-CN" altLang="en-US" sz="2800" dirty="0">
                <a:ea typeface="楷体_GB2312"/>
              </a:rPr>
              <a:t>一种特定的功能。然而信息怎样才能在各寄存器之间传送呢？也就是说，数据的流动是由什么部件控制的呢</a:t>
            </a:r>
            <a:r>
              <a:rPr lang="zh-CN" altLang="en-US" sz="2800" dirty="0" smtClean="0">
                <a:ea typeface="楷体_GB2312"/>
              </a:rPr>
              <a:t>？</a:t>
            </a:r>
            <a:endParaRPr lang="en-US" altLang="zh-CN" sz="2800" dirty="0" smtClean="0">
              <a:ea typeface="楷体_GB2312"/>
            </a:endParaRPr>
          </a:p>
          <a:p>
            <a:pPr>
              <a:buClr>
                <a:schemeClr val="bg1"/>
              </a:buClr>
              <a:buSzTx/>
              <a:buNone/>
            </a:pPr>
            <a:r>
              <a:rPr lang="en-US" altLang="zh-CN" sz="2800" dirty="0" smtClean="0">
                <a:ea typeface="楷体_GB2312"/>
              </a:rPr>
              <a:t>	</a:t>
            </a:r>
            <a:r>
              <a:rPr lang="zh-CN" altLang="en-US" sz="2800" dirty="0" smtClean="0">
                <a:ea typeface="楷体_GB2312"/>
              </a:rPr>
              <a:t>通常</a:t>
            </a:r>
            <a:r>
              <a:rPr lang="zh-CN" altLang="en-US" sz="2800" dirty="0">
                <a:ea typeface="楷体_GB2312"/>
              </a:rPr>
              <a:t>把许多寄存器</a:t>
            </a:r>
            <a:r>
              <a:rPr lang="en-US" altLang="zh-CN" sz="2800" dirty="0">
                <a:ea typeface="楷体_GB2312"/>
              </a:rPr>
              <a:t>(</a:t>
            </a:r>
            <a:r>
              <a:rPr lang="zh-CN" altLang="en-US" sz="2800" dirty="0">
                <a:ea typeface="楷体_GB2312"/>
              </a:rPr>
              <a:t>部件</a:t>
            </a:r>
            <a:r>
              <a:rPr lang="en-US" altLang="zh-CN" sz="2800" dirty="0">
                <a:ea typeface="楷体_GB2312"/>
              </a:rPr>
              <a:t>)</a:t>
            </a:r>
            <a:r>
              <a:rPr lang="zh-CN" altLang="en-US" sz="2800" dirty="0">
                <a:ea typeface="楷体_GB2312"/>
              </a:rPr>
              <a:t>之间传送信息的通路，称为</a:t>
            </a:r>
            <a:r>
              <a:rPr lang="zh-CN" altLang="en-US" sz="2800" b="1" dirty="0">
                <a:ea typeface="楷体_GB2312"/>
              </a:rPr>
              <a:t>数据通路 </a:t>
            </a:r>
            <a:r>
              <a:rPr lang="zh-CN" altLang="en-US" sz="2800" dirty="0">
                <a:ea typeface="楷体_GB2312"/>
              </a:rPr>
              <a:t>。</a:t>
            </a:r>
          </a:p>
          <a:p>
            <a:pPr>
              <a:buClr>
                <a:schemeClr val="bg1"/>
              </a:buClr>
              <a:buSzTx/>
              <a:buNone/>
            </a:pPr>
            <a:r>
              <a:rPr lang="en-US" altLang="zh-CN" sz="2500" dirty="0">
                <a:ea typeface="楷体_GB2312"/>
              </a:rPr>
              <a:t>	</a:t>
            </a:r>
            <a:r>
              <a:rPr lang="zh-CN" altLang="en-US" sz="2800" dirty="0" smtClean="0">
                <a:ea typeface="楷体_GB2312"/>
              </a:rPr>
              <a:t>信息</a:t>
            </a:r>
            <a:r>
              <a:rPr lang="zh-CN" altLang="en-US" sz="2800" dirty="0">
                <a:ea typeface="楷体_GB2312"/>
              </a:rPr>
              <a:t>从什么地方开始，中间经过哪个寄存器或多路开关，最后传送到哪个寄存器，都要加以控制。</a:t>
            </a:r>
          </a:p>
          <a:p>
            <a:pPr eaLnBrk="1" hangingPunct="1"/>
            <a:endParaRPr lang="zh-CN" altLang="zh-CN" sz="2800" dirty="0" smtClean="0">
              <a:ea typeface="楷体_GB2312"/>
            </a:endParaRPr>
          </a:p>
          <a:p>
            <a:pPr eaLnBrk="1" hangingPunct="1"/>
            <a:endParaRPr lang="zh-CN" altLang="en-US" sz="2800" dirty="0" smtClean="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6130025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sz="2400" b="1" dirty="0">
                <a:solidFill>
                  <a:srgbClr val="000000"/>
                </a:solidFill>
                <a:latin typeface="黑体" pitchFamily="49" charset="-122"/>
                <a:ea typeface="黑体" pitchFamily="49" charset="-122"/>
              </a:rPr>
              <a:t>5.2  </a:t>
            </a:r>
            <a:r>
              <a:rPr lang="zh-CN" altLang="en-US" sz="2400" b="1" dirty="0">
                <a:solidFill>
                  <a:srgbClr val="000000"/>
                </a:solidFill>
                <a:latin typeface="黑体" pitchFamily="49" charset="-122"/>
                <a:ea typeface="黑体" pitchFamily="49" charset="-122"/>
              </a:rPr>
              <a:t>控制器的组成</a:t>
            </a:r>
            <a:r>
              <a:rPr lang="zh-CN" altLang="en-US" sz="2400" b="1" dirty="0">
                <a:solidFill>
                  <a:srgbClr val="3D3D3D"/>
                </a:solidFill>
                <a:latin typeface="黑体" pitchFamily="49" charset="-122"/>
                <a:ea typeface="黑体" pitchFamily="49" charset="-122"/>
              </a:rPr>
              <a:t/>
            </a:r>
            <a:br>
              <a:rPr lang="zh-CN" altLang="en-US" sz="2400" b="1" dirty="0">
                <a:solidFill>
                  <a:srgbClr val="3D3D3D"/>
                </a:solidFill>
                <a:latin typeface="黑体" pitchFamily="49" charset="-122"/>
                <a:ea typeface="黑体" pitchFamily="49" charset="-122"/>
              </a:rPr>
            </a:br>
            <a:r>
              <a:rPr lang="en-US" altLang="zh-CN" sz="1800" b="1" dirty="0">
                <a:solidFill>
                  <a:srgbClr val="3D3D3D"/>
                </a:solidFill>
                <a:latin typeface="楷体_GB2312" pitchFamily="49" charset="-122"/>
                <a:ea typeface="楷体_GB2312" pitchFamily="49" charset="-122"/>
              </a:rPr>
              <a:t>5.2.2  </a:t>
            </a:r>
            <a:r>
              <a:rPr lang="zh-CN" altLang="en-US" sz="1800" b="1" dirty="0">
                <a:solidFill>
                  <a:srgbClr val="3D3D3D"/>
                </a:solidFill>
                <a:latin typeface="楷体_GB2312" pitchFamily="49" charset="-122"/>
                <a:ea typeface="楷体_GB2312" pitchFamily="49" charset="-122"/>
              </a:rPr>
              <a:t>控制器的组成</a:t>
            </a:r>
            <a:endParaRPr lang="zh-CN" altLang="en-US" sz="3600" b="1" dirty="0" smtClean="0">
              <a:latin typeface="黑体" pitchFamily="49" charset="-122"/>
              <a:ea typeface="黑体" pitchFamily="49" charset="-122"/>
            </a:endParaRPr>
          </a:p>
        </p:txBody>
      </p:sp>
      <p:sp>
        <p:nvSpPr>
          <p:cNvPr id="9219" name="Rectangle 3"/>
          <p:cNvSpPr>
            <a:spLocks noGrp="1" noChangeArrowheads="1"/>
          </p:cNvSpPr>
          <p:nvPr>
            <p:ph type="body" idx="1"/>
          </p:nvPr>
        </p:nvSpPr>
        <p:spPr/>
        <p:txBody>
          <a:bodyPr/>
          <a:lstStyle/>
          <a:p>
            <a:pPr>
              <a:buClr>
                <a:schemeClr val="bg1"/>
              </a:buClr>
              <a:buSzTx/>
              <a:buFontTx/>
              <a:buNone/>
            </a:pPr>
            <a:r>
              <a:rPr lang="en-US" altLang="zh-CN" sz="2800" dirty="0" smtClean="0">
                <a:ea typeface="楷体_GB2312"/>
              </a:rPr>
              <a:t>	</a:t>
            </a:r>
            <a:r>
              <a:rPr lang="zh-CN" altLang="en-US" sz="2500" dirty="0" smtClean="0">
                <a:ea typeface="楷体_GB2312"/>
              </a:rPr>
              <a:t> </a:t>
            </a:r>
            <a:r>
              <a:rPr lang="zh-CN" altLang="en-US" sz="2800" dirty="0" smtClean="0">
                <a:ea typeface="楷体_GB2312"/>
              </a:rPr>
              <a:t>在</a:t>
            </a:r>
            <a:r>
              <a:rPr lang="zh-CN" altLang="en-US" sz="2800" dirty="0">
                <a:ea typeface="楷体_GB2312"/>
              </a:rPr>
              <a:t>各寄存器之间建立数据通路的任务，是由称为</a:t>
            </a:r>
            <a:r>
              <a:rPr lang="zh-CN" altLang="en-US" sz="2800" b="1" dirty="0">
                <a:ea typeface="楷体_GB2312"/>
              </a:rPr>
              <a:t>操作控制器</a:t>
            </a:r>
            <a:r>
              <a:rPr lang="zh-CN" altLang="en-US" sz="2800" dirty="0">
                <a:ea typeface="楷体_GB2312"/>
              </a:rPr>
              <a:t>的部件来完成的。</a:t>
            </a:r>
          </a:p>
          <a:p>
            <a:pPr>
              <a:buClr>
                <a:schemeClr val="bg1"/>
              </a:buClr>
              <a:buSzTx/>
              <a:buFontTx/>
              <a:buNone/>
            </a:pPr>
            <a:r>
              <a:rPr lang="zh-CN" altLang="en-US" sz="2500" dirty="0" smtClean="0">
                <a:ea typeface="楷体_GB2312"/>
              </a:rPr>
              <a:t> </a:t>
            </a:r>
            <a:r>
              <a:rPr lang="en-US" altLang="zh-CN" sz="2500" dirty="0" smtClean="0">
                <a:ea typeface="楷体_GB2312"/>
              </a:rPr>
              <a:t>	</a:t>
            </a:r>
            <a:r>
              <a:rPr lang="zh-CN" altLang="en-US" sz="2800" b="1" dirty="0" smtClean="0">
                <a:ea typeface="楷体_GB2312"/>
              </a:rPr>
              <a:t>操作控制</a:t>
            </a:r>
            <a:r>
              <a:rPr lang="zh-CN" altLang="en-US" sz="2800" b="1" dirty="0">
                <a:ea typeface="楷体_GB2312"/>
              </a:rPr>
              <a:t>器的功能</a:t>
            </a:r>
            <a:r>
              <a:rPr lang="zh-CN" altLang="en-US" sz="2800" dirty="0">
                <a:ea typeface="楷体_GB2312"/>
              </a:rPr>
              <a:t>：就是根据指令操作码和时序信号，产生各种操作控制信号，以便正确地建立数据通路</a:t>
            </a:r>
            <a:r>
              <a:rPr lang="zh-CN" altLang="en-US" sz="2800" dirty="0" smtClean="0">
                <a:ea typeface="楷体_GB2312"/>
              </a:rPr>
              <a:t>，把有关数据打入到一个寄存器，把从而</a:t>
            </a:r>
            <a:r>
              <a:rPr lang="zh-CN" altLang="en-US" sz="2800" dirty="0">
                <a:ea typeface="楷体_GB2312"/>
              </a:rPr>
              <a:t>完成取指令和执行指令的</a:t>
            </a:r>
            <a:r>
              <a:rPr lang="zh-CN" altLang="en-US" sz="2800" dirty="0" smtClean="0">
                <a:ea typeface="楷体_GB2312"/>
              </a:rPr>
              <a:t>控制。</a:t>
            </a:r>
            <a:endParaRPr lang="en-US" altLang="zh-CN" sz="2800" dirty="0" smtClean="0">
              <a:ea typeface="楷体_GB2312"/>
            </a:endParaRPr>
          </a:p>
          <a:p>
            <a:pPr>
              <a:buClr>
                <a:schemeClr val="bg1"/>
              </a:buClr>
              <a:buSzTx/>
            </a:pPr>
            <a:r>
              <a:rPr lang="en-US" altLang="zh-CN" sz="2800" dirty="0" smtClean="0">
                <a:ea typeface="楷体_GB2312"/>
              </a:rPr>
              <a:t>	</a:t>
            </a:r>
            <a:r>
              <a:rPr lang="zh-CN" altLang="en-US" sz="2800" dirty="0" smtClean="0">
                <a:ea typeface="楷体_GB2312"/>
              </a:rPr>
              <a:t>根据</a:t>
            </a:r>
            <a:r>
              <a:rPr lang="zh-CN" altLang="en-US" sz="2800" dirty="0">
                <a:ea typeface="楷体_GB2312"/>
              </a:rPr>
              <a:t>设计方法不同，操作控制器可分为时序逻辑型、存储逻辑型两种。第一种称为</a:t>
            </a:r>
            <a:r>
              <a:rPr lang="zh-CN" altLang="en-US" sz="2800" b="1" dirty="0">
                <a:ea typeface="楷体_GB2312"/>
              </a:rPr>
              <a:t>硬布线控制器</a:t>
            </a:r>
            <a:r>
              <a:rPr lang="zh-CN" altLang="en-US" sz="2800" dirty="0">
                <a:ea typeface="楷体_GB2312"/>
              </a:rPr>
              <a:t>，它是采用时序逻辑技术来实现的；第二种称为</a:t>
            </a:r>
            <a:r>
              <a:rPr lang="zh-CN" altLang="en-US" sz="2800" b="1" dirty="0">
                <a:ea typeface="楷体_GB2312"/>
              </a:rPr>
              <a:t>微程序控制器</a:t>
            </a:r>
            <a:r>
              <a:rPr lang="zh-CN" altLang="en-US" sz="2800" dirty="0">
                <a:ea typeface="楷体_GB2312"/>
              </a:rPr>
              <a:t>，它是采用存储逻辑来实现的。</a:t>
            </a:r>
            <a:endParaRPr lang="en-US" altLang="zh-CN" sz="2800" dirty="0">
              <a:ea typeface="楷体_GB2312"/>
            </a:endParaRPr>
          </a:p>
          <a:p>
            <a:pPr>
              <a:buClr>
                <a:schemeClr val="bg1"/>
              </a:buClr>
              <a:buSzTx/>
              <a:buFontTx/>
              <a:buNone/>
            </a:pPr>
            <a:r>
              <a:rPr lang="zh-CN" altLang="en-US" sz="2800" b="1" dirty="0" smtClean="0">
                <a:solidFill>
                  <a:schemeClr val="bg1"/>
                </a:solidFill>
              </a:rPr>
              <a:t>各种操作实施</a:t>
            </a:r>
            <a:r>
              <a:rPr lang="zh-CN" altLang="en-US" sz="1800" b="1" dirty="0" smtClean="0">
                <a:solidFill>
                  <a:schemeClr val="bg1"/>
                </a:solidFill>
              </a:rPr>
              <a:t>时间上的控制。</a:t>
            </a:r>
          </a:p>
          <a:p>
            <a:pPr indent="0">
              <a:buNone/>
            </a:pPr>
            <a:endParaRPr lang="zh-CN" dirty="0" smtClean="0"/>
          </a:p>
        </p:txBody>
      </p:sp>
    </p:spTree>
    <p:extLst>
      <p:ext uri="{BB962C8B-B14F-4D97-AF65-F5344CB8AC3E}">
        <p14:creationId xmlns:p14="http://schemas.microsoft.com/office/powerpoint/2010/main" val="21281064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微程序控制器同硬布线控制器相比较，具有规整性、灵活性、可维护性等一系列优点，因而在计算机设计中逐渐取代了早期采用的硬布线控制器，并已被广泛地应用。简单来说，就是用软件替代硬件</a:t>
            </a:r>
            <a:r>
              <a:rPr lang="zh-CN" altLang="en-US" sz="2800" dirty="0" smtClean="0">
                <a:solidFill>
                  <a:srgbClr val="000000"/>
                </a:solidFill>
                <a:latin typeface="楷体_GB2312" pitchFamily="49" charset="-122"/>
                <a:ea typeface="楷体_GB2312" pitchFamily="49" charset="-122"/>
              </a:rPr>
              <a:t>。</a:t>
            </a:r>
            <a:endParaRPr lang="en-US" altLang="zh-CN"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微程序控制</a:t>
            </a:r>
            <a:r>
              <a:rPr lang="zh-CN" altLang="en-US" sz="2800" dirty="0">
                <a:solidFill>
                  <a:srgbClr val="000000"/>
                </a:solidFill>
                <a:latin typeface="楷体_GB2312" pitchFamily="49" charset="-122"/>
                <a:ea typeface="楷体_GB2312" pitchFamily="49" charset="-122"/>
              </a:rPr>
              <a:t>的</a:t>
            </a:r>
            <a:r>
              <a:rPr lang="zh-CN" altLang="en-US" sz="2800" b="1" dirty="0">
                <a:solidFill>
                  <a:srgbClr val="000000"/>
                </a:solidFill>
                <a:latin typeface="楷体_GB2312" pitchFamily="49" charset="-122"/>
                <a:ea typeface="楷体_GB2312" pitchFamily="49" charset="-122"/>
              </a:rPr>
              <a:t>基本思想</a:t>
            </a:r>
            <a:r>
              <a:rPr lang="zh-CN" altLang="en-US" sz="2800" dirty="0">
                <a:solidFill>
                  <a:srgbClr val="000000"/>
                </a:solidFill>
                <a:latin typeface="楷体_GB2312" pitchFamily="49" charset="-122"/>
                <a:ea typeface="楷体_GB2312" pitchFamily="49" charset="-122"/>
              </a:rPr>
              <a:t>：就是将操作控制信号编成“微指令”，存放在控制存储器中，当计算机运行时，一条一条地读出这些微指令，从而产生机器所需要的各种操作控制信号，使操作部件完成指定的操作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操作控制器之微程序控制器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Tree>
    <p:extLst>
      <p:ext uri="{BB962C8B-B14F-4D97-AF65-F5344CB8AC3E}">
        <p14:creationId xmlns:p14="http://schemas.microsoft.com/office/powerpoint/2010/main" val="36759795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kumimoji="0" lang="en-US" altLang="zh-CN" sz="2800" b="1" smtClean="0">
                <a:latin typeface="黑体" pitchFamily="49" charset="-122"/>
                <a:ea typeface="黑体" pitchFamily="49" charset="-122"/>
              </a:rPr>
              <a:t>5.4  </a:t>
            </a:r>
            <a:r>
              <a:rPr kumimoji="0" lang="zh-CN" altLang="en-US" sz="2800" b="1" smtClean="0">
                <a:latin typeface="黑体" pitchFamily="49" charset="-122"/>
                <a:ea typeface="黑体" pitchFamily="49" charset="-122"/>
              </a:rPr>
              <a:t>微程序控制器</a:t>
            </a:r>
            <a:br>
              <a:rPr kumimoji="0" lang="zh-CN" altLang="en-US" sz="2800" b="1" smtClean="0">
                <a:latin typeface="黑体" pitchFamily="49" charset="-122"/>
                <a:ea typeface="黑体" pitchFamily="49" charset="-122"/>
              </a:rPr>
            </a:br>
            <a:r>
              <a:rPr lang="en-US" altLang="zh-CN" sz="2000" smtClean="0">
                <a:latin typeface="楷体_GB2312" pitchFamily="49" charset="-122"/>
                <a:ea typeface="楷体_GB2312" pitchFamily="49" charset="-122"/>
              </a:rPr>
              <a:t>5.4.1</a:t>
            </a:r>
            <a:r>
              <a:rPr lang="zh-CN" altLang="en-US" sz="2000" smtClean="0">
                <a:latin typeface="楷体_GB2312" pitchFamily="49" charset="-122"/>
                <a:ea typeface="楷体_GB2312" pitchFamily="49" charset="-122"/>
              </a:rPr>
              <a:t>微程序控制的基本概念</a:t>
            </a:r>
          </a:p>
        </p:txBody>
      </p:sp>
      <p:sp>
        <p:nvSpPr>
          <p:cNvPr id="62467" name="Rectangle 3"/>
          <p:cNvSpPr>
            <a:spLocks noGrp="1" noChangeArrowheads="1"/>
          </p:cNvSpPr>
          <p:nvPr>
            <p:ph idx="1"/>
          </p:nvPr>
        </p:nvSpPr>
        <p:spPr>
          <a:xfrm>
            <a:off x="228600" y="1600200"/>
            <a:ext cx="8686800" cy="4572000"/>
          </a:xfrm>
        </p:spPr>
        <p:txBody>
          <a:bodyPr>
            <a:normAutofit lnSpcReduction="10000"/>
          </a:bodyPr>
          <a:lstStyle/>
          <a:p>
            <a:pPr indent="0" eaLnBrk="1" hangingPunct="1">
              <a:lnSpc>
                <a:spcPct val="90000"/>
              </a:lnSpc>
              <a:buNone/>
            </a:pPr>
            <a:r>
              <a:rPr lang="en-US" altLang="zh-CN" sz="2800" b="1" dirty="0" smtClean="0">
                <a:solidFill>
                  <a:schemeClr val="tx2"/>
                </a:solidFill>
                <a:latin typeface="楷体_GB2312" pitchFamily="49" charset="-122"/>
                <a:ea typeface="楷体_GB2312" pitchFamily="49" charset="-122"/>
              </a:rPr>
              <a:t>1.</a:t>
            </a:r>
            <a:r>
              <a:rPr lang="zh-CN" altLang="en-US" sz="2800" b="1" dirty="0" smtClean="0">
                <a:solidFill>
                  <a:schemeClr val="tx2"/>
                </a:solidFill>
                <a:latin typeface="楷体_GB2312" pitchFamily="49" charset="-122"/>
                <a:ea typeface="楷体_GB2312" pitchFamily="49" charset="-122"/>
              </a:rPr>
              <a:t>微命令和微操作</a:t>
            </a:r>
            <a:r>
              <a:rPr lang="en-US" altLang="zh-CN" sz="2800" b="1" dirty="0" smtClean="0">
                <a:solidFill>
                  <a:schemeClr val="tx2"/>
                </a:solidFill>
                <a:latin typeface="楷体_GB2312" pitchFamily="49" charset="-122"/>
                <a:ea typeface="楷体_GB2312" pitchFamily="49" charset="-122"/>
              </a:rPr>
              <a:t>    </a:t>
            </a:r>
          </a:p>
          <a:p>
            <a:pPr indent="0" eaLnBrk="1" hangingPunct="1">
              <a:lnSpc>
                <a:spcPct val="90000"/>
              </a:lnSpc>
              <a:buNone/>
            </a:pPr>
            <a:r>
              <a:rPr lang="zh-CN" altLang="en-US" sz="2800" dirty="0" smtClean="0">
                <a:solidFill>
                  <a:schemeClr val="tx2"/>
                </a:solidFill>
                <a:latin typeface="楷体_GB2312" pitchFamily="49" charset="-122"/>
                <a:ea typeface="楷体_GB2312" pitchFamily="49" charset="-122"/>
              </a:rPr>
              <a:t>    从</a:t>
            </a:r>
            <a:r>
              <a:rPr lang="zh-CN" altLang="en-US" sz="2800" dirty="0">
                <a:solidFill>
                  <a:schemeClr val="tx2"/>
                </a:solidFill>
                <a:latin typeface="楷体_GB2312" pitchFamily="49" charset="-122"/>
                <a:ea typeface="楷体_GB2312" pitchFamily="49" charset="-122"/>
              </a:rPr>
              <a:t>控制的角度来看，计算机可分为两大部分：</a:t>
            </a:r>
          </a:p>
          <a:p>
            <a:pPr indent="0" eaLnBrk="1" hangingPunct="1">
              <a:lnSpc>
                <a:spcPct val="90000"/>
              </a:lnSpc>
              <a:buNone/>
            </a:pPr>
            <a:r>
              <a:rPr lang="zh-CN" altLang="en-US" sz="2800" b="1" dirty="0">
                <a:solidFill>
                  <a:schemeClr val="tx2"/>
                </a:solidFill>
                <a:latin typeface="楷体_GB2312" pitchFamily="49" charset="-122"/>
                <a:ea typeface="楷体_GB2312" pitchFamily="49" charset="-122"/>
              </a:rPr>
              <a:t>控制部件</a:t>
            </a:r>
            <a:r>
              <a:rPr lang="zh-CN" altLang="en-US" sz="2800" dirty="0">
                <a:solidFill>
                  <a:schemeClr val="tx2"/>
                </a:solidFill>
                <a:latin typeface="楷体_GB2312" pitchFamily="49" charset="-122"/>
                <a:ea typeface="楷体_GB2312" pitchFamily="49" charset="-122"/>
              </a:rPr>
              <a:t>：发出控制信号的部件</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控制器</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a:t>
            </a:r>
          </a:p>
          <a:p>
            <a:pPr indent="0" eaLnBrk="1" hangingPunct="1">
              <a:spcBef>
                <a:spcPts val="0"/>
              </a:spcBef>
              <a:buNone/>
            </a:pPr>
            <a:r>
              <a:rPr lang="zh-CN" altLang="en-US" sz="2800" b="1" dirty="0">
                <a:solidFill>
                  <a:schemeClr val="tx2"/>
                </a:solidFill>
                <a:latin typeface="楷体_GB2312" pitchFamily="49" charset="-122"/>
                <a:ea typeface="楷体_GB2312" pitchFamily="49" charset="-122"/>
              </a:rPr>
              <a:t>执行部件</a:t>
            </a:r>
            <a:r>
              <a:rPr lang="zh-CN" altLang="en-US" sz="2800" dirty="0">
                <a:solidFill>
                  <a:schemeClr val="tx2"/>
                </a:solidFill>
                <a:latin typeface="楷体_GB2312" pitchFamily="49" charset="-122"/>
                <a:ea typeface="楷体_GB2312" pitchFamily="49" charset="-122"/>
              </a:rPr>
              <a:t>：根据控制信号执行相应操作的</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运算器、存储器、输入输出设备等</a:t>
            </a:r>
            <a:r>
              <a:rPr lang="en-US" altLang="zh-CN" sz="2800" dirty="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a:t>
            </a:r>
            <a:endParaRPr lang="en-US" altLang="zh-CN" sz="2800" dirty="0" smtClean="0">
              <a:solidFill>
                <a:schemeClr val="tx2"/>
              </a:solidFill>
              <a:latin typeface="楷体_GB2312" pitchFamily="49" charset="-122"/>
              <a:ea typeface="楷体_GB2312" pitchFamily="49" charset="-122"/>
            </a:endParaRPr>
          </a:p>
          <a:p>
            <a:pPr indent="0" eaLnBrk="1" hangingPunct="1">
              <a:buNone/>
            </a:pPr>
            <a:r>
              <a:rPr lang="zh-CN" altLang="en-US" sz="2800" dirty="0" smtClean="0">
                <a:solidFill>
                  <a:schemeClr val="tx2"/>
                </a:solidFill>
                <a:latin typeface="楷体_GB2312" pitchFamily="49" charset="-122"/>
                <a:ea typeface="楷体_GB2312" pitchFamily="49" charset="-122"/>
              </a:rPr>
              <a:t>    控制部件与执行部件之间是怎样联系的呢？</a:t>
            </a:r>
            <a:endParaRPr lang="en-US" altLang="zh-CN" sz="2800" dirty="0" smtClean="0">
              <a:solidFill>
                <a:schemeClr val="tx2"/>
              </a:solidFill>
              <a:latin typeface="楷体_GB2312" pitchFamily="49" charset="-122"/>
              <a:ea typeface="楷体_GB2312" pitchFamily="49" charset="-122"/>
            </a:endParaRPr>
          </a:p>
          <a:p>
            <a:pPr indent="0" eaLnBrk="1" hangingPunct="1">
              <a:buNone/>
            </a:pPr>
            <a:r>
              <a:rPr lang="en-US" altLang="zh-CN" sz="2800" dirty="0" smtClean="0">
                <a:solidFill>
                  <a:schemeClr val="tx2"/>
                </a:solidFill>
                <a:latin typeface="楷体_GB2312" pitchFamily="49" charset="-122"/>
                <a:ea typeface="楷体_GB2312" pitchFamily="49" charset="-122"/>
              </a:rPr>
              <a:t>(1</a:t>
            </a:r>
            <a:r>
              <a:rPr lang="en-US" altLang="zh-CN" sz="2800" dirty="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控制部件与执行部件的一种联系，就是通过控制线。</a:t>
            </a:r>
            <a:endParaRPr lang="en-US" altLang="zh-CN" sz="2800" dirty="0" smtClean="0">
              <a:solidFill>
                <a:schemeClr val="tx2"/>
              </a:solidFill>
              <a:latin typeface="楷体_GB2312" pitchFamily="49" charset="-122"/>
              <a:ea typeface="楷体_GB2312" pitchFamily="49" charset="-122"/>
            </a:endParaRPr>
          </a:p>
          <a:p>
            <a:pPr indent="0" eaLnBrk="1" hangingPunct="1">
              <a:lnSpc>
                <a:spcPct val="110000"/>
              </a:lnSpc>
              <a:buNone/>
            </a:pPr>
            <a:r>
              <a:rPr lang="zh-CN" altLang="en-US" sz="2800" dirty="0">
                <a:solidFill>
                  <a:schemeClr val="tx2"/>
                </a:solidFill>
                <a:latin typeface="楷体_GB2312" pitchFamily="49" charset="-122"/>
                <a:ea typeface="楷体_GB2312" pitchFamily="49" charset="-122"/>
              </a:rPr>
              <a:t> </a:t>
            </a:r>
            <a:r>
              <a:rPr lang="zh-CN" altLang="en-US" sz="2800" dirty="0" smtClean="0">
                <a:solidFill>
                  <a:schemeClr val="tx2"/>
                </a:solidFill>
                <a:latin typeface="楷体_GB2312" pitchFamily="49" charset="-122"/>
                <a:ea typeface="楷体_GB2312" pitchFamily="49" charset="-122"/>
              </a:rPr>
              <a:t>   控制部件通过控制线向执行部件发出各种控制命令，通常把这种控制命令叫做</a:t>
            </a:r>
            <a:r>
              <a:rPr lang="zh-CN" altLang="en-US" sz="2800" b="1" dirty="0" smtClean="0">
                <a:solidFill>
                  <a:schemeClr val="tx2"/>
                </a:solidFill>
                <a:latin typeface="楷体_GB2312" pitchFamily="49" charset="-122"/>
                <a:ea typeface="楷体_GB2312" pitchFamily="49" charset="-122"/>
              </a:rPr>
              <a:t>微命令。</a:t>
            </a:r>
            <a:r>
              <a:rPr lang="zh-CN" altLang="en-US" sz="2800" dirty="0" smtClean="0">
                <a:solidFill>
                  <a:schemeClr val="tx2"/>
                </a:solidFill>
                <a:latin typeface="楷体_GB2312" pitchFamily="49" charset="-122"/>
                <a:ea typeface="楷体_GB2312" pitchFamily="49" charset="-122"/>
              </a:rPr>
              <a:t>而执行部件接受微命令后所进行的操作，叫做</a:t>
            </a:r>
            <a:r>
              <a:rPr lang="zh-CN" altLang="en-US" sz="2800" b="1" dirty="0">
                <a:solidFill>
                  <a:schemeClr val="tx2"/>
                </a:solidFill>
                <a:latin typeface="楷体_GB2312" pitchFamily="49" charset="-122"/>
                <a:ea typeface="楷体_GB2312" pitchFamily="49" charset="-122"/>
              </a:rPr>
              <a:t>微</a:t>
            </a:r>
            <a:r>
              <a:rPr lang="zh-CN" altLang="en-US" sz="2800" b="1" dirty="0" smtClean="0">
                <a:solidFill>
                  <a:schemeClr val="tx2"/>
                </a:solidFill>
                <a:latin typeface="楷体_GB2312" pitchFamily="49" charset="-122"/>
                <a:ea typeface="楷体_GB2312" pitchFamily="49" charset="-122"/>
              </a:rPr>
              <a:t>操作。</a:t>
            </a:r>
            <a:endParaRPr lang="zh-CN" altLang="en-US" sz="28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7173329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控制部件与执行部件之间的另一种联系是反馈信息。</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执行部件通过反馈线向控制部件反映操作情况，以便使控制部件根据执行部件的“状态”来下达新的微命令，这也叫做“状态测试”</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479749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微操作在执行部件中是</a:t>
            </a:r>
            <a:r>
              <a:rPr lang="zh-CN" altLang="en-US" sz="2800" b="1" dirty="0" smtClean="0">
                <a:solidFill>
                  <a:srgbClr val="000000"/>
                </a:solidFill>
                <a:latin typeface="楷体_GB2312" pitchFamily="49" charset="-122"/>
                <a:ea typeface="楷体_GB2312" pitchFamily="49" charset="-122"/>
              </a:rPr>
              <a:t>最基本的操作</a:t>
            </a:r>
            <a:r>
              <a:rPr lang="zh-CN" altLang="en-US" sz="2800" dirty="0" smtClean="0">
                <a:solidFill>
                  <a:srgbClr val="000000"/>
                </a:solidFill>
                <a:latin typeface="楷体_GB2312" pitchFamily="49" charset="-122"/>
                <a:ea typeface="楷体_GB2312" pitchFamily="49" charset="-122"/>
              </a:rPr>
              <a:t>。由于数据通路的结构关系，微操作可分为相容性和相斥性两种。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相容性的微</a:t>
            </a:r>
            <a:r>
              <a:rPr lang="zh-CN" altLang="en-US" sz="2800" b="1" dirty="0">
                <a:solidFill>
                  <a:srgbClr val="000000"/>
                </a:solidFill>
                <a:latin typeface="楷体_GB2312" pitchFamily="49" charset="-122"/>
                <a:ea typeface="楷体_GB2312" pitchFamily="49" charset="-122"/>
              </a:rPr>
              <a:t>操作</a:t>
            </a:r>
            <a:r>
              <a:rPr lang="zh-CN" altLang="en-US" sz="2800" dirty="0" smtClean="0">
                <a:solidFill>
                  <a:srgbClr val="000000"/>
                </a:solidFill>
                <a:latin typeface="楷体_GB2312" pitchFamily="49" charset="-122"/>
                <a:ea typeface="楷体_GB2312" pitchFamily="49" charset="-122"/>
              </a:rPr>
              <a:t>：是指在</a:t>
            </a:r>
            <a:r>
              <a:rPr lang="zh-CN" altLang="en-US" sz="2800" dirty="0">
                <a:solidFill>
                  <a:srgbClr val="000000"/>
                </a:solidFill>
                <a:latin typeface="楷体_GB2312" pitchFamily="49" charset="-122"/>
                <a:ea typeface="楷体_GB2312" pitchFamily="49" charset="-122"/>
              </a:rPr>
              <a:t>同时或同</a:t>
            </a:r>
            <a:r>
              <a:rPr lang="zh-CN" altLang="en-US" sz="2800" dirty="0" smtClean="0">
                <a:solidFill>
                  <a:srgbClr val="000000"/>
                </a:solidFill>
                <a:latin typeface="楷体_GB2312" pitchFamily="49" charset="-122"/>
                <a:ea typeface="楷体_GB2312" pitchFamily="49" charset="-122"/>
              </a:rPr>
              <a:t>一个</a:t>
            </a:r>
            <a:r>
              <a:rPr lang="en-US" altLang="zh-CN" sz="2800" dirty="0" smtClean="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周期内可以并行执行的微操作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相斥性</a:t>
            </a:r>
            <a:r>
              <a:rPr lang="zh-CN" altLang="en-US" sz="2800" b="1" dirty="0">
                <a:solidFill>
                  <a:srgbClr val="000000"/>
                </a:solidFill>
                <a:latin typeface="楷体_GB2312" pitchFamily="49" charset="-122"/>
                <a:ea typeface="楷体_GB2312" pitchFamily="49" charset="-122"/>
              </a:rPr>
              <a:t>的微</a:t>
            </a:r>
            <a:r>
              <a:rPr lang="zh-CN" altLang="en-US" sz="2800" b="1" dirty="0" smtClean="0">
                <a:solidFill>
                  <a:srgbClr val="000000"/>
                </a:solidFill>
                <a:latin typeface="楷体_GB2312" pitchFamily="49" charset="-122"/>
                <a:ea typeface="楷体_GB2312" pitchFamily="49" charset="-122"/>
              </a:rPr>
              <a:t>操作</a:t>
            </a:r>
            <a:r>
              <a:rPr lang="zh-CN" altLang="en-US" sz="2800" dirty="0" smtClean="0">
                <a:solidFill>
                  <a:srgbClr val="000000"/>
                </a:solidFill>
                <a:latin typeface="楷体_GB2312" pitchFamily="49" charset="-122"/>
                <a:ea typeface="楷体_GB2312" pitchFamily="49" charset="-122"/>
              </a:rPr>
              <a:t>：是指不能在同时或</a:t>
            </a:r>
            <a:r>
              <a:rPr lang="zh-CN" altLang="en-US" sz="2800" dirty="0" smtClean="0">
                <a:solidFill>
                  <a:srgbClr val="000000"/>
                </a:solidFill>
                <a:latin typeface="楷体_GB2312" pitchFamily="49" charset="-122"/>
                <a:ea typeface="楷体_GB2312" pitchFamily="49" charset="-122"/>
              </a:rPr>
              <a:t>不能</a:t>
            </a:r>
            <a:r>
              <a:rPr lang="zh-CN" altLang="en-US" sz="2800" dirty="0">
                <a:solidFill>
                  <a:srgbClr val="000000"/>
                </a:solidFill>
                <a:latin typeface="楷体_GB2312" pitchFamily="49" charset="-122"/>
                <a:ea typeface="楷体_GB2312" pitchFamily="49" charset="-122"/>
              </a:rPr>
              <a:t>在</a:t>
            </a:r>
            <a:r>
              <a:rPr lang="zh-CN" altLang="en-US" sz="2800" dirty="0" smtClean="0">
                <a:solidFill>
                  <a:srgbClr val="000000"/>
                </a:solidFill>
                <a:latin typeface="楷体_GB2312" pitchFamily="49" charset="-122"/>
                <a:ea typeface="楷体_GB2312" pitchFamily="49" charset="-122"/>
              </a:rPr>
              <a:t>同</a:t>
            </a:r>
            <a:r>
              <a:rPr lang="zh-CN" altLang="en-US" sz="2800" dirty="0" smtClean="0">
                <a:solidFill>
                  <a:srgbClr val="000000"/>
                </a:solidFill>
                <a:latin typeface="楷体_GB2312" pitchFamily="49" charset="-122"/>
                <a:ea typeface="楷体_GB2312" pitchFamily="49" charset="-122"/>
              </a:rPr>
              <a:t>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周期内并行执行的微操作。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479749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示出了一个简单运算器模型。其中：</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为算术逻辑运算单元</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为三个寄存器。</a:t>
            </a:r>
            <a:r>
              <a:rPr lang="zh-CN" altLang="en-US" sz="2800" dirty="0">
                <a:solidFill>
                  <a:srgbClr val="000000"/>
                </a:solidFill>
                <a:latin typeface="楷体_GB2312" pitchFamily="49" charset="-122"/>
                <a:ea typeface="楷体_GB2312" pitchFamily="49" charset="-122"/>
              </a:rPr>
              <a:t>三</a:t>
            </a:r>
            <a:r>
              <a:rPr lang="zh-CN" altLang="en-US" sz="2800" dirty="0" smtClean="0">
                <a:solidFill>
                  <a:srgbClr val="000000"/>
                </a:solidFill>
                <a:latin typeface="楷体_GB2312" pitchFamily="49" charset="-122"/>
                <a:ea typeface="楷体_GB2312" pitchFamily="49" charset="-122"/>
              </a:rPr>
              <a:t>个寄存器的内容都可以通过多路开关从</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X</a:t>
            </a:r>
            <a:r>
              <a:rPr lang="zh-CN" altLang="en-US" sz="2800" dirty="0" smtClean="0">
                <a:solidFill>
                  <a:srgbClr val="000000"/>
                </a:solidFill>
                <a:latin typeface="楷体_GB2312" pitchFamily="49" charset="-122"/>
                <a:ea typeface="楷体_GB2312" pitchFamily="49" charset="-122"/>
              </a:rPr>
              <a:t>输入端或</a:t>
            </a:r>
            <a:r>
              <a:rPr lang="en-US" altLang="zh-CN" sz="28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输入端送至</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，而</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的输出可以</a:t>
            </a:r>
            <a:r>
              <a:rPr lang="zh-CN" altLang="en-US" sz="2800" dirty="0" smtClean="0">
                <a:solidFill>
                  <a:srgbClr val="000000"/>
                </a:solidFill>
                <a:latin typeface="楷体_GB2312" pitchFamily="49" charset="-122"/>
                <a:ea typeface="楷体_GB2312" pitchFamily="49" charset="-122"/>
              </a:rPr>
              <a:t>送往任何一个寄存器或同时送往</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三</a:t>
            </a:r>
            <a:r>
              <a:rPr lang="zh-CN" altLang="en-US" sz="2800" dirty="0">
                <a:solidFill>
                  <a:srgbClr val="000000"/>
                </a:solidFill>
                <a:latin typeface="楷体_GB2312" pitchFamily="49" charset="-122"/>
                <a:ea typeface="楷体_GB2312" pitchFamily="49" charset="-122"/>
              </a:rPr>
              <a:t>个寄存器</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Cy</a:t>
            </a:r>
            <a:r>
              <a:rPr lang="zh-CN" altLang="en-US" sz="2800" dirty="0" smtClean="0">
                <a:solidFill>
                  <a:srgbClr val="000000"/>
                </a:solidFill>
                <a:latin typeface="楷体_GB2312" pitchFamily="49" charset="-122"/>
                <a:ea typeface="楷体_GB2312" pitchFamily="49" charset="-122"/>
              </a:rPr>
              <a:t>是进位标志，值为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时代表有进位；</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代表无进位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zh-CN" altLang="en-US" sz="2800" dirty="0" smtClean="0">
                <a:solidFill>
                  <a:srgbClr val="000000"/>
                </a:solidFill>
                <a:latin typeface="楷体_GB2312" pitchFamily="49" charset="-122"/>
                <a:ea typeface="楷体_GB2312" pitchFamily="49" charset="-122"/>
              </a:rPr>
              <a:t>代表加、减和传送三种操作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、两个矩形框，代表多路开关。</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多路开关的每个控制门都是一个常闭的开关，它的一个输入端是来自于寄存器的信息；另一个输入端是来自于操作控制端（控制信号）。一旦两个输入端都有输入信号时，才产生一个输出信号。这样就可以使用控制信号，来控制信息的的流动。</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所以，图中每个开关门都由控制器中相应的微命令来控制，例如，开关门</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由控制器中编号为</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的微命令控制，开关门</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由编号为</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的微命令控制。</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0179825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484" y="44624"/>
            <a:ext cx="7462900" cy="6387166"/>
          </a:xfrm>
          <a:prstGeom prst="rect">
            <a:avLst/>
          </a:prstGeom>
        </p:spPr>
      </p:pic>
      <p:sp>
        <p:nvSpPr>
          <p:cNvPr id="5" name="TextBox 4"/>
          <p:cNvSpPr txBox="1"/>
          <p:nvPr/>
        </p:nvSpPr>
        <p:spPr>
          <a:xfrm>
            <a:off x="1979712" y="6309321"/>
            <a:ext cx="5760640"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5.20 </a:t>
            </a:r>
            <a:r>
              <a:rPr lang="zh-CN" altLang="en-US" dirty="0" smtClean="0">
                <a:solidFill>
                  <a:schemeClr val="tx1"/>
                </a:solidFill>
              </a:rPr>
              <a:t>简单运算器数据通路图</a:t>
            </a:r>
            <a:endParaRPr lang="zh-CN" altLang="en-US" dirty="0">
              <a:solidFill>
                <a:schemeClr val="tx1"/>
              </a:solidFill>
            </a:endParaRPr>
          </a:p>
        </p:txBody>
      </p:sp>
      <p:sp>
        <p:nvSpPr>
          <p:cNvPr id="3" name="右箭头 2">
            <a:hlinkClick r:id="rId3" action="ppaction://hlinkfile"/>
          </p:cNvPr>
          <p:cNvSpPr/>
          <p:nvPr/>
        </p:nvSpPr>
        <p:spPr>
          <a:xfrm>
            <a:off x="7740352" y="6286665"/>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演示</a:t>
            </a:r>
            <a:r>
              <a:rPr lang="zh-CN" altLang="en-US" sz="1600" dirty="0" smtClean="0">
                <a:solidFill>
                  <a:schemeClr val="tx1"/>
                </a:solidFill>
              </a:rPr>
              <a:t>动画</a:t>
            </a:r>
            <a:endParaRPr lang="zh-CN" altLang="en-US" sz="1600" dirty="0">
              <a:solidFill>
                <a:schemeClr val="tx1"/>
              </a:solidFill>
            </a:endParaRPr>
          </a:p>
        </p:txBody>
      </p:sp>
    </p:spTree>
    <p:extLst>
      <p:ext uri="{BB962C8B-B14F-4D97-AF65-F5344CB8AC3E}">
        <p14:creationId xmlns:p14="http://schemas.microsoft.com/office/powerpoint/2010/main" val="16426315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ALU</a:t>
            </a:r>
            <a:r>
              <a:rPr lang="zh-CN" altLang="en-US" sz="2800" dirty="0" smtClean="0">
                <a:solidFill>
                  <a:srgbClr val="000000"/>
                </a:solidFill>
                <a:latin typeface="楷体_GB2312" pitchFamily="49" charset="-122"/>
                <a:ea typeface="楷体_GB2312" pitchFamily="49" charset="-122"/>
              </a:rPr>
              <a:t>的操作（加、减、传送）在同一个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周期中，只能选择一种，不能并行，所以，</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zh-CN" altLang="en-US" sz="2800" dirty="0" smtClean="0">
                <a:solidFill>
                  <a:srgbClr val="000000"/>
                </a:solidFill>
                <a:latin typeface="楷体_GB2312" pitchFamily="49" charset="-122"/>
                <a:ea typeface="楷体_GB2312" pitchFamily="49" charset="-122"/>
              </a:rPr>
              <a:t>（传送）三个微操作是相斥性的微操作。类似地，</a:t>
            </a:r>
            <a:r>
              <a:rPr lang="en-US" altLang="zh-CN" sz="2800" dirty="0" smtClean="0">
                <a:solidFill>
                  <a:srgbClr val="000000"/>
                </a:solidFill>
                <a:latin typeface="楷体_GB2312" pitchFamily="49" charset="-122"/>
                <a:ea typeface="楷体_GB2312" pitchFamily="49" charset="-122"/>
              </a:rPr>
              <a:t>4,6,8</a:t>
            </a:r>
            <a:r>
              <a:rPr lang="zh-CN" altLang="en-US" sz="2800" dirty="0" smtClean="0">
                <a:solidFill>
                  <a:srgbClr val="000000"/>
                </a:solidFill>
                <a:latin typeface="楷体_GB2312" pitchFamily="49" charset="-122"/>
                <a:ea typeface="楷体_GB2312" pitchFamily="49" charset="-122"/>
              </a:rPr>
              <a:t>三个微操作是相斥性的，</a:t>
            </a:r>
            <a:r>
              <a:rPr lang="en-US" altLang="zh-CN" sz="2800" dirty="0" smtClean="0">
                <a:solidFill>
                  <a:srgbClr val="000000"/>
                </a:solidFill>
                <a:latin typeface="楷体_GB2312" pitchFamily="49" charset="-122"/>
                <a:ea typeface="楷体_GB2312" pitchFamily="49" charset="-122"/>
              </a:rPr>
              <a:t>5,7,9</a:t>
            </a:r>
            <a:r>
              <a:rPr lang="zh-CN" altLang="en-US" sz="2800" dirty="0" smtClean="0">
                <a:solidFill>
                  <a:srgbClr val="000000"/>
                </a:solidFill>
                <a:latin typeface="楷体_GB2312" pitchFamily="49" charset="-122"/>
                <a:ea typeface="楷体_GB2312" pitchFamily="49" charset="-122"/>
              </a:rPr>
              <a:t>三个微操作也是相斥性的。</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微操作</a:t>
            </a:r>
            <a:r>
              <a:rPr lang="en-US" altLang="zh-CN" sz="2800" dirty="0" smtClean="0">
                <a:solidFill>
                  <a:srgbClr val="000000"/>
                </a:solidFill>
                <a:latin typeface="楷体_GB2312" pitchFamily="49" charset="-122"/>
                <a:ea typeface="楷体_GB2312" pitchFamily="49" charset="-122"/>
              </a:rPr>
              <a:t>1,2,3</a:t>
            </a:r>
            <a:r>
              <a:rPr lang="zh-CN" altLang="en-US" sz="2800" dirty="0" smtClean="0">
                <a:solidFill>
                  <a:srgbClr val="000000"/>
                </a:solidFill>
                <a:latin typeface="楷体_GB2312" pitchFamily="49" charset="-122"/>
                <a:ea typeface="楷体_GB2312" pitchFamily="49" charset="-122"/>
              </a:rPr>
              <a:t>是可以同时进行的，所以是相容性的微操作。另外，</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X</a:t>
            </a:r>
            <a:r>
              <a:rPr lang="zh-CN" altLang="en-US" sz="2800" dirty="0" smtClean="0">
                <a:solidFill>
                  <a:srgbClr val="000000"/>
                </a:solidFill>
                <a:latin typeface="楷体_GB2312" pitchFamily="49" charset="-122"/>
                <a:ea typeface="楷体_GB2312" pitchFamily="49" charset="-122"/>
              </a:rPr>
              <a:t>输入微操作</a:t>
            </a:r>
            <a:r>
              <a:rPr lang="en-US" altLang="zh-CN" sz="2800" dirty="0" smtClean="0">
                <a:solidFill>
                  <a:srgbClr val="000000"/>
                </a:solidFill>
                <a:latin typeface="楷体_GB2312" pitchFamily="49" charset="-122"/>
                <a:ea typeface="楷体_GB2312" pitchFamily="49" charset="-122"/>
              </a:rPr>
              <a:t>4,6,8</a:t>
            </a:r>
            <a:r>
              <a:rPr lang="zh-CN" altLang="en-US" sz="2800" dirty="0" smtClean="0">
                <a:solidFill>
                  <a:srgbClr val="000000"/>
                </a:solidFill>
                <a:latin typeface="楷体_GB2312" pitchFamily="49" charset="-122"/>
                <a:ea typeface="楷体_GB2312" pitchFamily="49" charset="-122"/>
              </a:rPr>
              <a:t>分别与</a:t>
            </a:r>
            <a:r>
              <a:rPr lang="en-US" altLang="zh-CN" sz="28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输入的</a:t>
            </a:r>
            <a:r>
              <a:rPr lang="en-US" altLang="zh-CN" sz="2800" dirty="0" smtClean="0">
                <a:solidFill>
                  <a:srgbClr val="000000"/>
                </a:solidFill>
                <a:latin typeface="楷体_GB2312" pitchFamily="49" charset="-122"/>
                <a:ea typeface="楷体_GB2312" pitchFamily="49" charset="-122"/>
              </a:rPr>
              <a:t>5,7,9</a:t>
            </a:r>
            <a:r>
              <a:rPr lang="zh-CN" altLang="en-US" sz="2800" dirty="0" smtClean="0">
                <a:solidFill>
                  <a:srgbClr val="000000"/>
                </a:solidFill>
                <a:latin typeface="楷体_GB2312" pitchFamily="49" charset="-122"/>
                <a:ea typeface="楷体_GB2312" pitchFamily="49" charset="-122"/>
              </a:rPr>
              <a:t>任意两个微操作，也都是相容性的。</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6426315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2.</a:t>
            </a:r>
            <a:r>
              <a:rPr lang="zh-CN" altLang="en-US" sz="2800" b="1" dirty="0" smtClean="0">
                <a:solidFill>
                  <a:srgbClr val="000000"/>
                </a:solidFill>
                <a:latin typeface="楷体_GB2312" pitchFamily="49" charset="-122"/>
                <a:ea typeface="楷体_GB2312" pitchFamily="49" charset="-122"/>
              </a:rPr>
              <a:t>微指令和微程序</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机器的一个</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周期中，一</a:t>
            </a:r>
            <a:r>
              <a:rPr lang="zh-CN" altLang="en-US" sz="2800" dirty="0" smtClean="0">
                <a:solidFill>
                  <a:srgbClr val="000000"/>
                </a:solidFill>
                <a:latin typeface="楷体_GB2312" pitchFamily="49" charset="-122"/>
                <a:ea typeface="楷体_GB2312" pitchFamily="49" charset="-122"/>
              </a:rPr>
              <a:t>组用于实现</a:t>
            </a:r>
            <a:r>
              <a:rPr lang="zh-CN" altLang="en-US" sz="2800" dirty="0">
                <a:solidFill>
                  <a:srgbClr val="000000"/>
                </a:solidFill>
                <a:latin typeface="楷体_GB2312" pitchFamily="49" charset="-122"/>
                <a:ea typeface="楷体_GB2312" pitchFamily="49" charset="-122"/>
              </a:rPr>
              <a:t>一定操作功能的微命令的</a:t>
            </a:r>
            <a:r>
              <a:rPr lang="zh-CN" altLang="en-US" sz="2800" dirty="0" smtClean="0">
                <a:solidFill>
                  <a:srgbClr val="000000"/>
                </a:solidFill>
                <a:latin typeface="楷体_GB2312" pitchFamily="49" charset="-122"/>
                <a:ea typeface="楷体_GB2312" pitchFamily="49" charset="-122"/>
              </a:rPr>
              <a:t>组合，构成一条</a:t>
            </a:r>
            <a:r>
              <a:rPr lang="zh-CN" altLang="en-US" sz="2800" b="1" dirty="0" smtClean="0">
                <a:solidFill>
                  <a:srgbClr val="000000"/>
                </a:solidFill>
                <a:latin typeface="楷体_GB2312" pitchFamily="49" charset="-122"/>
                <a:ea typeface="楷体_GB2312" pitchFamily="49" charset="-122"/>
              </a:rPr>
              <a:t>微指令</a:t>
            </a:r>
            <a:r>
              <a:rPr lang="zh-CN" altLang="en-US" sz="2800" dirty="0" smtClean="0">
                <a:solidFill>
                  <a:srgbClr val="000000"/>
                </a:solidFill>
                <a:latin typeface="楷体_GB2312" pitchFamily="49" charset="-122"/>
                <a:ea typeface="楷体_GB2312" pitchFamily="49" charset="-122"/>
              </a:rPr>
              <a:t>。简单来说，就是一个</a:t>
            </a:r>
            <a:r>
              <a:rPr lang="en-US" altLang="zh-CN" sz="2800" dirty="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周期内的微命令的集合，叫做一条微指令</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图</a:t>
            </a:r>
            <a:r>
              <a:rPr lang="en-US" altLang="zh-CN" sz="2800" dirty="0" smtClean="0">
                <a:solidFill>
                  <a:srgbClr val="000000"/>
                </a:solidFill>
                <a:latin typeface="楷体_GB2312" pitchFamily="49" charset="-122"/>
                <a:ea typeface="楷体_GB2312" pitchFamily="49" charset="-122"/>
              </a:rPr>
              <a:t>5.21</a:t>
            </a:r>
            <a:r>
              <a:rPr lang="zh-CN" altLang="en-US" sz="2800" dirty="0" smtClean="0">
                <a:solidFill>
                  <a:srgbClr val="000000"/>
                </a:solidFill>
                <a:latin typeface="楷体_GB2312" pitchFamily="49" charset="-122"/>
                <a:ea typeface="楷体_GB2312" pitchFamily="49" charset="-122"/>
              </a:rPr>
              <a:t>表示一个具体的微指令结构，微指令字长为</a:t>
            </a:r>
            <a:r>
              <a:rPr lang="en-US" altLang="zh-CN" sz="2800" dirty="0" smtClean="0">
                <a:solidFill>
                  <a:srgbClr val="000000"/>
                </a:solidFill>
                <a:latin typeface="楷体_GB2312" pitchFamily="49" charset="-122"/>
                <a:ea typeface="楷体_GB2312" pitchFamily="49" charset="-122"/>
              </a:rPr>
              <a:t>23</a:t>
            </a:r>
            <a:r>
              <a:rPr lang="zh-CN" altLang="en-US" sz="2800" dirty="0" smtClean="0">
                <a:solidFill>
                  <a:srgbClr val="000000"/>
                </a:solidFill>
                <a:latin typeface="楷体_GB2312" pitchFamily="49" charset="-122"/>
                <a:ea typeface="楷体_GB2312" pitchFamily="49" charset="-122"/>
              </a:rPr>
              <a:t>位，它由操作控制和顺序控制两大部分。</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操作控制部分用来发出管理和指挥全机工作的控制信号。</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在图</a:t>
            </a:r>
            <a:r>
              <a:rPr lang="en-US" altLang="zh-CN" sz="2800" dirty="0" smtClean="0">
                <a:solidFill>
                  <a:srgbClr val="000000"/>
                </a:solidFill>
                <a:latin typeface="楷体_GB2312" pitchFamily="49" charset="-122"/>
                <a:ea typeface="楷体_GB2312" pitchFamily="49" charset="-122"/>
              </a:rPr>
              <a:t>5.21</a:t>
            </a:r>
            <a:r>
              <a:rPr lang="zh-CN" altLang="en-US" sz="2800" dirty="0" smtClean="0">
                <a:solidFill>
                  <a:srgbClr val="000000"/>
                </a:solidFill>
                <a:latin typeface="楷体_GB2312" pitchFamily="49" charset="-122"/>
                <a:ea typeface="楷体_GB2312" pitchFamily="49" charset="-122"/>
              </a:rPr>
              <a:t>的实例中，该字段为</a:t>
            </a:r>
            <a:r>
              <a:rPr lang="en-US" altLang="zh-CN" sz="2800" dirty="0" smtClean="0">
                <a:solidFill>
                  <a:srgbClr val="000000"/>
                </a:solidFill>
                <a:latin typeface="楷体_GB2312" pitchFamily="49" charset="-122"/>
                <a:ea typeface="楷体_GB2312" pitchFamily="49" charset="-122"/>
              </a:rPr>
              <a:t>17</a:t>
            </a:r>
            <a:r>
              <a:rPr lang="zh-CN" altLang="en-US" sz="2800" dirty="0" smtClean="0">
                <a:solidFill>
                  <a:srgbClr val="000000"/>
                </a:solidFill>
                <a:latin typeface="楷体_GB2312" pitchFamily="49" charset="-122"/>
                <a:ea typeface="楷体_GB2312" pitchFamily="49" charset="-122"/>
              </a:rPr>
              <a:t>位，每一位表示一个微命令。每个微命令的编号同图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所示的数据通路想对应，具体功能示于微指令格式的左上部。</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控制信号的详细意义，如表</a:t>
            </a:r>
            <a:r>
              <a:rPr lang="en-US" altLang="zh-CN" sz="2800" dirty="0" smtClean="0">
                <a:solidFill>
                  <a:srgbClr val="000000"/>
                </a:solidFill>
                <a:latin typeface="楷体_GB2312" pitchFamily="49" charset="-122"/>
                <a:ea typeface="楷体_GB2312" pitchFamily="49" charset="-122"/>
              </a:rPr>
              <a:t>5.2</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620688"/>
            <a:ext cx="8936975" cy="5446737"/>
          </a:xfrm>
          <a:prstGeom prst="rect">
            <a:avLst/>
          </a:prstGeom>
        </p:spPr>
      </p:pic>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643"/>
          <p:cNvGraphicFramePr>
            <a:graphicFrameLocks noGrp="1"/>
          </p:cNvGraphicFramePr>
          <p:nvPr>
            <p:extLst>
              <p:ext uri="{D42A27DB-BD31-4B8C-83A1-F6EECF244321}">
                <p14:modId xmlns:p14="http://schemas.microsoft.com/office/powerpoint/2010/main" val="1645097184"/>
              </p:ext>
            </p:extLst>
          </p:nvPr>
        </p:nvGraphicFramePr>
        <p:xfrm>
          <a:off x="251520" y="955441"/>
          <a:ext cx="8663520" cy="5569903"/>
        </p:xfrm>
        <a:graphic>
          <a:graphicData uri="http://schemas.openxmlformats.org/drawingml/2006/table">
            <a:tbl>
              <a:tblPr/>
              <a:tblGrid>
                <a:gridCol w="576263"/>
                <a:gridCol w="1655663"/>
                <a:gridCol w="2232570"/>
                <a:gridCol w="576064"/>
                <a:gridCol w="1130053"/>
                <a:gridCol w="310107"/>
                <a:gridCol w="2182800"/>
              </a:tblGrid>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序号</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控制信号</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功能</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序号</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控制信号</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功能</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运算结果送通用寄存器</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13</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RD</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读（指存或数存）</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运算结果送通用寄存器</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14</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LDDR</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DBUS→DR</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数据总线上的数据送数据寄存器</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3</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运算结果送通用寄存器</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15</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LDIR</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IBUS→IR</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取指到指令寄存器</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4</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→X</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寄存器内容送</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的</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X</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端</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16</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LDAR</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DBUS→AR</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数据总线上的数据送地址寄存器</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54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5</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寄存器内容送</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的</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端</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17</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PC+1</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程序计数器加</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1</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4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6</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→X</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数据总线上的数据送数据寄存器</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18</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P</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rPr>
                        <a:t>1</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rPr>
                        <a:t>判别测试标志</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4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7</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数据寄存器中的数据送数据总线</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19</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P</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rPr>
                        <a:t>2</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rPr>
                        <a:t>判别测试标志</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8</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DR→X</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寄存器地址送通用寄存器</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20</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rPr>
                        <a:t>直接地址</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h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9</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寄存器地址送通用寄存器</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21</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10</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进行加法运算</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22</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11</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M</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进行传送操作</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23</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12</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进行减法运算</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r>
            </a:tbl>
          </a:graphicData>
        </a:graphic>
      </p:graphicFrame>
      <p:sp>
        <p:nvSpPr>
          <p:cNvPr id="7" name="Rectangle 2"/>
          <p:cNvSpPr txBox="1">
            <a:spLocks noChangeArrowheads="1"/>
          </p:cNvSpPr>
          <p:nvPr/>
        </p:nvSpPr>
        <p:spPr>
          <a:xfrm>
            <a:off x="1907704" y="249337"/>
            <a:ext cx="5544616" cy="587375"/>
          </a:xfrm>
          <a:prstGeom prst="rect">
            <a:avLst/>
          </a:prstGeom>
          <a:noFill/>
          <a:ln/>
        </p:spPr>
        <p:txBody>
          <a:bodyPr/>
          <a:lstStyle>
            <a:lvl1pPr marL="0" indent="0" algn="l" rtl="0" eaLnBrk="0" fontAlgn="base" hangingPunct="0">
              <a:spcBef>
                <a:spcPct val="20000"/>
              </a:spcBef>
              <a:spcAft>
                <a:spcPct val="0"/>
              </a:spcAft>
              <a:buClr>
                <a:schemeClr val="accent2"/>
              </a:buClr>
              <a:buSzPct val="85000"/>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ctr">
              <a:buFontTx/>
              <a:buNone/>
            </a:pPr>
            <a:r>
              <a:rPr lang="zh-CN" altLang="en-US" dirty="0" smtClean="0"/>
              <a:t>表</a:t>
            </a:r>
            <a:r>
              <a:rPr lang="en-US" altLang="zh-CN" dirty="0" smtClean="0"/>
              <a:t>5.1 </a:t>
            </a:r>
            <a:r>
              <a:rPr lang="zh-CN" altLang="en-US" dirty="0" smtClean="0"/>
              <a:t>控制信号一览表</a:t>
            </a:r>
            <a:endParaRPr lang="zh-CN" altLang="en-US" dirty="0"/>
          </a:p>
        </p:txBody>
      </p:sp>
    </p:spTree>
    <p:extLst>
      <p:ext uri="{BB962C8B-B14F-4D97-AF65-F5344CB8AC3E}">
        <p14:creationId xmlns:p14="http://schemas.microsoft.com/office/powerpoint/2010/main" val="23195754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当操作控制字段某一位信息为“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”时，表示发出微指令；而某一位信息为“</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”时，表示不发出微命令。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例如，当微指令字第一位信息为“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”时，表示发出</a:t>
            </a:r>
            <a:r>
              <a:rPr lang="en-US" altLang="zh-CN" sz="2800" dirty="0" smtClean="0">
                <a:solidFill>
                  <a:srgbClr val="000000"/>
                </a:solidFill>
                <a:latin typeface="楷体_GB2312" pitchFamily="49" charset="-122"/>
                <a:ea typeface="楷体_GB2312" pitchFamily="49" charset="-122"/>
              </a:rPr>
              <a:t>LDR</a:t>
            </a:r>
            <a:r>
              <a:rPr lang="en-US" altLang="zh-CN" sz="2800" baseline="-25000" dirty="0" smtClean="0">
                <a:solidFill>
                  <a:srgbClr val="000000"/>
                </a:solidFill>
                <a:latin typeface="楷体_GB2312" pitchFamily="49" charset="-122"/>
                <a:ea typeface="楷体_GB2312" pitchFamily="49" charset="-122"/>
              </a:rPr>
              <a:t>1</a:t>
            </a:r>
            <a:r>
              <a:rPr lang="zh-CN" altLang="en-US" sz="2800" baseline="300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的微命令，那么运算器将执行</a:t>
            </a:r>
            <a:r>
              <a:rPr lang="en-US" altLang="zh-CN" sz="2800" dirty="0" smtClean="0">
                <a:solidFill>
                  <a:srgbClr val="000000"/>
                </a:solidFill>
                <a:latin typeface="楷体_GB2312" pitchFamily="49" charset="-122"/>
                <a:ea typeface="楷体_GB2312" pitchFamily="49" charset="-122"/>
              </a:rPr>
              <a:t>ALU</a:t>
            </a:r>
            <a:r>
              <a:rPr lang="en-US" altLang="zh-CN" sz="2800" dirty="0" smtClean="0">
                <a:solidFill>
                  <a:srgbClr val="000000"/>
                </a:solidFill>
                <a:latin typeface="Calibri"/>
                <a:ea typeface="楷体_GB2312" pitchFamily="49" charset="-122"/>
                <a:cs typeface="Calibri"/>
              </a:rPr>
              <a:t>→R</a:t>
            </a:r>
            <a:r>
              <a:rPr lang="en-US" altLang="zh-CN" sz="2800" baseline="-25000" dirty="0" smtClean="0">
                <a:solidFill>
                  <a:srgbClr val="000000"/>
                </a:solidFill>
                <a:latin typeface="Calibri"/>
                <a:ea typeface="楷体_GB2312" pitchFamily="49" charset="-122"/>
                <a:cs typeface="Calibri"/>
              </a:rPr>
              <a:t>1</a:t>
            </a:r>
            <a:r>
              <a:rPr lang="zh-CN" altLang="en-US" sz="2800" dirty="0" smtClean="0">
                <a:solidFill>
                  <a:srgbClr val="000000"/>
                </a:solidFill>
                <a:latin typeface="Calibri"/>
                <a:ea typeface="楷体_GB2312" pitchFamily="49" charset="-122"/>
                <a:cs typeface="Calibri"/>
              </a:rPr>
              <a:t>的微操作，把公共总线上的信息打入到寄存器</a:t>
            </a:r>
            <a:r>
              <a:rPr lang="en-US" altLang="zh-CN" sz="2800" dirty="0" smtClean="0">
                <a:solidFill>
                  <a:srgbClr val="000000"/>
                </a:solidFill>
                <a:latin typeface="Calibri"/>
                <a:ea typeface="楷体_GB2312" pitchFamily="49" charset="-122"/>
                <a:cs typeface="Calibri"/>
              </a:rPr>
              <a:t>R</a:t>
            </a:r>
            <a:r>
              <a:rPr lang="en-US" altLang="zh-CN" sz="2800" baseline="-25000" dirty="0" smtClean="0">
                <a:solidFill>
                  <a:srgbClr val="000000"/>
                </a:solidFill>
                <a:latin typeface="Calibri"/>
                <a:ea typeface="楷体_GB2312" pitchFamily="49" charset="-122"/>
                <a:cs typeface="Calibri"/>
              </a:rPr>
              <a:t>1</a:t>
            </a:r>
            <a:r>
              <a:rPr lang="zh-CN" altLang="en-US" sz="2800" baseline="-250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同样，当微指令第</a:t>
            </a:r>
            <a:r>
              <a:rPr lang="en-US" altLang="zh-CN" sz="2800" dirty="0" smtClean="0">
                <a:solidFill>
                  <a:srgbClr val="000000"/>
                </a:solidFill>
                <a:latin typeface="Calibri"/>
                <a:ea typeface="楷体_GB2312" pitchFamily="49" charset="-122"/>
                <a:cs typeface="Calibri"/>
              </a:rPr>
              <a:t>10</a:t>
            </a:r>
            <a:r>
              <a:rPr lang="zh-CN" altLang="en-US" sz="2800" dirty="0" smtClean="0">
                <a:solidFill>
                  <a:srgbClr val="000000"/>
                </a:solidFill>
                <a:latin typeface="Calibri"/>
                <a:ea typeface="楷体_GB2312" pitchFamily="49" charset="-122"/>
                <a:cs typeface="Calibri"/>
              </a:rPr>
              <a:t>位信息为“</a:t>
            </a:r>
            <a:r>
              <a:rPr lang="en-US" altLang="zh-CN" sz="2800" dirty="0" smtClean="0">
                <a:solidFill>
                  <a:srgbClr val="000000"/>
                </a:solidFill>
                <a:latin typeface="Calibri"/>
                <a:ea typeface="楷体_GB2312" pitchFamily="49" charset="-122"/>
                <a:cs typeface="Calibri"/>
              </a:rPr>
              <a:t>1</a:t>
            </a:r>
            <a:r>
              <a:rPr lang="zh-CN" altLang="en-US" sz="2800" dirty="0" smtClean="0">
                <a:solidFill>
                  <a:srgbClr val="000000"/>
                </a:solidFill>
                <a:latin typeface="Calibri"/>
                <a:ea typeface="楷体_GB2312" pitchFamily="49" charset="-122"/>
                <a:cs typeface="Calibri"/>
              </a:rPr>
              <a:t>”时，则表示向</a:t>
            </a:r>
            <a:r>
              <a:rPr lang="en-US" altLang="zh-CN" sz="2800" dirty="0" smtClean="0">
                <a:solidFill>
                  <a:srgbClr val="000000"/>
                </a:solidFill>
                <a:latin typeface="Calibri"/>
                <a:ea typeface="楷体_GB2312" pitchFamily="49" charset="-122"/>
                <a:cs typeface="Calibri"/>
              </a:rPr>
              <a:t>ALU</a:t>
            </a:r>
            <a:r>
              <a:rPr lang="zh-CN" altLang="en-US" sz="2800" dirty="0" smtClean="0">
                <a:solidFill>
                  <a:srgbClr val="000000"/>
                </a:solidFill>
                <a:latin typeface="Calibri"/>
                <a:ea typeface="楷体_GB2312" pitchFamily="49" charset="-122"/>
                <a:cs typeface="Calibri"/>
              </a:rPr>
              <a:t>发出进行“</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”的微命令，因而</a:t>
            </a:r>
            <a:r>
              <a:rPr lang="en-US" altLang="zh-CN" sz="2800" dirty="0" smtClean="0">
                <a:solidFill>
                  <a:srgbClr val="000000"/>
                </a:solidFill>
                <a:latin typeface="Calibri"/>
                <a:ea typeface="楷体_GB2312" pitchFamily="49" charset="-122"/>
                <a:cs typeface="Calibri"/>
              </a:rPr>
              <a:t>ALU</a:t>
            </a:r>
            <a:r>
              <a:rPr lang="zh-CN" altLang="en-US" sz="2800" dirty="0" smtClean="0">
                <a:solidFill>
                  <a:srgbClr val="000000"/>
                </a:solidFill>
                <a:latin typeface="Calibri"/>
                <a:ea typeface="楷体_GB2312" pitchFamily="49" charset="-122"/>
                <a:cs typeface="Calibri"/>
              </a:rPr>
              <a:t>就执行“</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”的微操作。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546381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微指令格式中的</a:t>
            </a:r>
            <a:r>
              <a:rPr lang="zh-CN" altLang="en-US" sz="2800" b="1" dirty="0" smtClean="0">
                <a:solidFill>
                  <a:srgbClr val="000000"/>
                </a:solidFill>
                <a:latin typeface="楷体_GB2312" pitchFamily="49" charset="-122"/>
                <a:ea typeface="楷体_GB2312" pitchFamily="49" charset="-122"/>
              </a:rPr>
              <a:t>顺序控制部分</a:t>
            </a:r>
            <a:r>
              <a:rPr lang="zh-CN" altLang="en-US" sz="2800" dirty="0" smtClean="0">
                <a:solidFill>
                  <a:srgbClr val="000000"/>
                </a:solidFill>
                <a:latin typeface="楷体_GB2312" pitchFamily="49" charset="-122"/>
                <a:ea typeface="楷体_GB2312" pitchFamily="49" charset="-122"/>
              </a:rPr>
              <a:t>用来决定产生下一条微指令的地址。</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下面我们将会知道，一条机器指令的功能是用许多条微指令组成的序列来实现的，这个微指令序列通常叫做</a:t>
            </a:r>
            <a:r>
              <a:rPr lang="zh-CN" altLang="en-US" sz="2800" b="1" dirty="0" smtClean="0">
                <a:solidFill>
                  <a:srgbClr val="000000"/>
                </a:solidFill>
                <a:latin typeface="楷体_GB2312" pitchFamily="49" charset="-122"/>
                <a:ea typeface="楷体_GB2312" pitchFamily="49" charset="-122"/>
              </a:rPr>
              <a:t>微程序。</a:t>
            </a:r>
            <a:r>
              <a:rPr lang="zh-CN" altLang="en-US" sz="2800" dirty="0" smtClean="0">
                <a:solidFill>
                  <a:srgbClr val="000000"/>
                </a:solidFill>
                <a:latin typeface="楷体_GB2312" pitchFamily="49" charset="-122"/>
                <a:ea typeface="楷体_GB2312" pitchFamily="49" charset="-122"/>
              </a:rPr>
              <a:t>既然微程序是由微指令组成的，那么当执行当前一条微指令时，必须指出后继微指令的地址，以便当前一条微指令执行完毕后，取出下一条微指令。</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决定后继微指令地址的方法不只一种。在我们所举的例子中，由微指令顺序控制字段的</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位信息来决定。</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其中</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位（</a:t>
            </a:r>
            <a:r>
              <a:rPr lang="en-US" altLang="zh-CN" sz="2800" dirty="0" smtClean="0">
                <a:solidFill>
                  <a:srgbClr val="000000"/>
                </a:solidFill>
                <a:latin typeface="楷体_GB2312" pitchFamily="49" charset="-122"/>
                <a:ea typeface="楷体_GB2312" pitchFamily="49" charset="-122"/>
              </a:rPr>
              <a:t>20~23</a:t>
            </a:r>
            <a:r>
              <a:rPr lang="zh-CN" altLang="en-US" sz="2800" dirty="0" smtClean="0">
                <a:solidFill>
                  <a:srgbClr val="000000"/>
                </a:solidFill>
                <a:latin typeface="楷体_GB2312" pitchFamily="49" charset="-122"/>
                <a:ea typeface="楷体_GB2312" pitchFamily="49" charset="-122"/>
              </a:rPr>
              <a:t>）用来直接给出下一条微指令的地址。第</a:t>
            </a:r>
            <a:r>
              <a:rPr lang="en-US" altLang="zh-CN" sz="2800" dirty="0" smtClean="0">
                <a:solidFill>
                  <a:srgbClr val="000000"/>
                </a:solidFill>
                <a:latin typeface="楷体_GB2312" pitchFamily="49" charset="-122"/>
                <a:ea typeface="楷体_GB2312" pitchFamily="49" charset="-122"/>
              </a:rPr>
              <a:t>18,19</a:t>
            </a:r>
            <a:r>
              <a:rPr lang="zh-CN" altLang="en-US" sz="2800" dirty="0" smtClean="0">
                <a:solidFill>
                  <a:srgbClr val="000000"/>
                </a:solidFill>
                <a:latin typeface="楷体_GB2312" pitchFamily="49" charset="-122"/>
                <a:ea typeface="楷体_GB2312" pitchFamily="49" charset="-122"/>
              </a:rPr>
              <a:t>两位作为判别测试标志。</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当此两位为“</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”时，表示不进行测试，直接按顺序控制字段第</a:t>
            </a:r>
            <a:r>
              <a:rPr lang="en-US" altLang="zh-CN" sz="2800" dirty="0" smtClean="0">
                <a:solidFill>
                  <a:srgbClr val="000000"/>
                </a:solidFill>
                <a:latin typeface="楷体_GB2312" pitchFamily="49" charset="-122"/>
                <a:ea typeface="楷体_GB2312" pitchFamily="49" charset="-122"/>
              </a:rPr>
              <a:t>20~23</a:t>
            </a:r>
            <a:r>
              <a:rPr lang="zh-CN" altLang="en-US" sz="2800" dirty="0" smtClean="0">
                <a:solidFill>
                  <a:srgbClr val="000000"/>
                </a:solidFill>
                <a:latin typeface="楷体_GB2312" pitchFamily="49" charset="-122"/>
                <a:ea typeface="楷体_GB2312" pitchFamily="49" charset="-122"/>
              </a:rPr>
              <a:t>位给出的地址取下一条微指令；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当第</a:t>
            </a:r>
            <a:r>
              <a:rPr lang="en-US" altLang="zh-CN" sz="2800" dirty="0" smtClean="0">
                <a:solidFill>
                  <a:srgbClr val="000000"/>
                </a:solidFill>
                <a:latin typeface="楷体_GB2312" pitchFamily="49" charset="-122"/>
                <a:ea typeface="楷体_GB2312" pitchFamily="49" charset="-122"/>
              </a:rPr>
              <a:t>18</a:t>
            </a:r>
            <a:r>
              <a:rPr lang="zh-CN" altLang="en-US" sz="2800" dirty="0" smtClean="0">
                <a:solidFill>
                  <a:srgbClr val="000000"/>
                </a:solidFill>
                <a:latin typeface="楷体_GB2312" pitchFamily="49" charset="-122"/>
                <a:ea typeface="楷体_GB2312" pitchFamily="49" charset="-122"/>
              </a:rPr>
              <a:t>位或</a:t>
            </a:r>
            <a:r>
              <a:rPr lang="en-US" altLang="zh-CN" sz="2800" dirty="0" smtClean="0">
                <a:solidFill>
                  <a:srgbClr val="000000"/>
                </a:solidFill>
                <a:latin typeface="楷体_GB2312" pitchFamily="49" charset="-122"/>
                <a:ea typeface="楷体_GB2312" pitchFamily="49" charset="-122"/>
              </a:rPr>
              <a:t>19</a:t>
            </a:r>
            <a:r>
              <a:rPr lang="zh-CN" altLang="en-US" sz="2800" dirty="0" smtClean="0">
                <a:solidFill>
                  <a:srgbClr val="000000"/>
                </a:solidFill>
                <a:latin typeface="楷体_GB2312" pitchFamily="49" charset="-122"/>
                <a:ea typeface="楷体_GB2312" pitchFamily="49" charset="-122"/>
              </a:rPr>
              <a:t>位为“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”时，表示要进行</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或</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的判别测试，根据测试结果，需要对第</a:t>
            </a:r>
            <a:r>
              <a:rPr lang="en-US" altLang="zh-CN" sz="2800" dirty="0" smtClean="0">
                <a:solidFill>
                  <a:srgbClr val="000000"/>
                </a:solidFill>
                <a:latin typeface="楷体_GB2312" pitchFamily="49" charset="-122"/>
                <a:ea typeface="楷体_GB2312" pitchFamily="49" charset="-122"/>
              </a:rPr>
              <a:t>20~23</a:t>
            </a:r>
            <a:r>
              <a:rPr lang="zh-CN" altLang="en-US" sz="2800" dirty="0" smtClean="0">
                <a:solidFill>
                  <a:srgbClr val="000000"/>
                </a:solidFill>
                <a:latin typeface="楷体_GB2312" pitchFamily="49" charset="-122"/>
                <a:ea typeface="楷体_GB2312" pitchFamily="49" charset="-122"/>
              </a:rPr>
              <a:t>位的某一位或几位进行修改，然后按修改后的地址取下一条微指令。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b="1" dirty="0" smtClean="0">
                <a:solidFill>
                  <a:srgbClr val="000000"/>
                </a:solidFill>
                <a:latin typeface="楷体_GB2312" pitchFamily="49" charset="-122"/>
                <a:ea typeface="楷体_GB2312" pitchFamily="49" charset="-122"/>
              </a:rPr>
              <a:t>3.</a:t>
            </a:r>
            <a:r>
              <a:rPr lang="zh-CN" altLang="en-US" sz="2800" b="1" dirty="0" smtClean="0">
                <a:solidFill>
                  <a:srgbClr val="000000"/>
                </a:solidFill>
                <a:latin typeface="楷体_GB2312" pitchFamily="49" charset="-122"/>
                <a:ea typeface="楷体_GB2312" pitchFamily="49" charset="-122"/>
              </a:rPr>
              <a:t>微程序控制器原理框图</a:t>
            </a:r>
            <a:endParaRPr lang="en-US" altLang="zh-CN" sz="2800" b="1"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微程序控制</a:t>
            </a:r>
            <a:r>
              <a:rPr lang="zh-CN" altLang="en-US" sz="2800" dirty="0">
                <a:solidFill>
                  <a:srgbClr val="000000"/>
                </a:solidFill>
                <a:latin typeface="楷体_GB2312" pitchFamily="49" charset="-122"/>
                <a:ea typeface="楷体_GB2312" pitchFamily="49" charset="-122"/>
              </a:rPr>
              <a:t>器原理框图如图</a:t>
            </a:r>
            <a:r>
              <a:rPr lang="en-US" altLang="zh-CN" sz="2800" dirty="0">
                <a:solidFill>
                  <a:srgbClr val="000000"/>
                </a:solidFill>
                <a:latin typeface="楷体_GB2312" pitchFamily="49" charset="-122"/>
                <a:ea typeface="楷体_GB2312" pitchFamily="49" charset="-122"/>
              </a:rPr>
              <a:t>5.24</a:t>
            </a:r>
            <a:r>
              <a:rPr lang="zh-CN" altLang="en-US" sz="2800" dirty="0">
                <a:solidFill>
                  <a:srgbClr val="000000"/>
                </a:solidFill>
                <a:latin typeface="楷体_GB2312" pitchFamily="49" charset="-122"/>
                <a:ea typeface="楷体_GB2312" pitchFamily="49" charset="-122"/>
              </a:rPr>
              <a:t>，它主要由控制存储器、微指令寄存器和地址转移逻辑三大部分组</a:t>
            </a:r>
            <a:r>
              <a:rPr lang="zh-CN" altLang="en-US" sz="2800" dirty="0" smtClean="0">
                <a:solidFill>
                  <a:srgbClr val="000000"/>
                </a:solidFill>
                <a:latin typeface="楷体_GB2312" pitchFamily="49" charset="-122"/>
                <a:ea typeface="楷体_GB2312" pitchFamily="49" charset="-122"/>
              </a:rPr>
              <a:t>成</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、控制存储器</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控制</a:t>
            </a:r>
            <a:r>
              <a:rPr lang="zh-CN" altLang="en-US" sz="2800" dirty="0">
                <a:solidFill>
                  <a:srgbClr val="000000"/>
                </a:solidFill>
                <a:latin typeface="楷体_GB2312" pitchFamily="49" charset="-122"/>
                <a:ea typeface="楷体_GB2312" pitchFamily="49" charset="-122"/>
              </a:rPr>
              <a:t>存储器用来存放实现全部指令系统的微程序，它是一种只读存储器</a:t>
            </a:r>
            <a:r>
              <a:rPr lang="zh-CN" altLang="en-US" sz="2800" dirty="0" smtClean="0">
                <a:solidFill>
                  <a:srgbClr val="000000"/>
                </a:solidFill>
                <a:latin typeface="楷体_GB2312" pitchFamily="49" charset="-122"/>
                <a:ea typeface="楷体_GB2312" pitchFamily="49" charset="-122"/>
              </a:rPr>
              <a:t>。一旦</a:t>
            </a:r>
            <a:r>
              <a:rPr lang="zh-CN" altLang="en-US" sz="2800" dirty="0">
                <a:solidFill>
                  <a:srgbClr val="000000"/>
                </a:solidFill>
                <a:latin typeface="楷体_GB2312" pitchFamily="49" charset="-122"/>
                <a:ea typeface="楷体_GB2312" pitchFamily="49" charset="-122"/>
              </a:rPr>
              <a:t>微程序固化，机器运行时则只读不写。其工作过程是：每读出一条微指令，则执行这条微指令；接着又读出下一条微指令，又执行这一条微指令</a:t>
            </a: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2317"/>
            <a:ext cx="9144000" cy="6393366"/>
          </a:xfrm>
          <a:prstGeom prst="rect">
            <a:avLst/>
          </a:prstGeom>
        </p:spPr>
      </p:pic>
      <p:sp>
        <p:nvSpPr>
          <p:cNvPr id="6" name="右箭头 5">
            <a:hlinkClick r:id="rId3" action="ppaction://hlinkfile"/>
          </p:cNvPr>
          <p:cNvSpPr/>
          <p:nvPr/>
        </p:nvSpPr>
        <p:spPr>
          <a:xfrm>
            <a:off x="7884368" y="6137142"/>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播放动画</a:t>
            </a:r>
            <a:endParaRPr lang="zh-CN" altLang="en-US" sz="1600" dirty="0">
              <a:solidFill>
                <a:schemeClr val="tx1"/>
              </a:solidFill>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读出</a:t>
            </a:r>
            <a:r>
              <a:rPr lang="zh-CN" altLang="en-US" sz="2800" dirty="0">
                <a:solidFill>
                  <a:srgbClr val="000000"/>
                </a:solidFill>
                <a:latin typeface="楷体_GB2312" pitchFamily="49" charset="-122"/>
                <a:ea typeface="楷体_GB2312" pitchFamily="49" charset="-122"/>
              </a:rPr>
              <a:t>一条微指令并执 行微指令的时间总和称为一个微指令周期。通常，在串行方式的微程序控制器中，微指令周期就是只读存储器的工作周期</a:t>
            </a:r>
            <a:r>
              <a:rPr lang="zh-CN" altLang="en-US" sz="2800" dirty="0" smtClean="0">
                <a:solidFill>
                  <a:srgbClr val="000000"/>
                </a:solidFill>
                <a:latin typeface="楷体_GB2312" pitchFamily="49" charset="-122"/>
                <a:ea typeface="楷体_GB2312" pitchFamily="49" charset="-122"/>
              </a:rPr>
              <a:t>。控制</a:t>
            </a:r>
            <a:r>
              <a:rPr lang="zh-CN" altLang="en-US" sz="2800" dirty="0">
                <a:solidFill>
                  <a:srgbClr val="000000"/>
                </a:solidFill>
                <a:latin typeface="楷体_GB2312" pitchFamily="49" charset="-122"/>
                <a:ea typeface="楷体_GB2312" pitchFamily="49" charset="-122"/>
              </a:rPr>
              <a:t>存储器的字长就是微指令字的长度，其存储容量视机器指令系统而定，即取决于微程序的数量。对控制存储器的要求是速度快，读出周期要短</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1736214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微指令</a:t>
            </a:r>
            <a:r>
              <a:rPr lang="zh-CN" altLang="en-US" sz="2800" dirty="0">
                <a:solidFill>
                  <a:srgbClr val="000000"/>
                </a:solidFill>
                <a:latin typeface="楷体_GB2312" pitchFamily="49" charset="-122"/>
                <a:ea typeface="楷体_GB2312" pitchFamily="49" charset="-122"/>
              </a:rPr>
              <a:t>寄存器</a:t>
            </a:r>
          </a:p>
          <a:p>
            <a:pPr eaLnBrk="1" hangingPunct="1">
              <a:buNone/>
            </a:pPr>
            <a:r>
              <a:rPr lang="zh-CN" altLang="en-US" sz="2800" dirty="0" smtClean="0">
                <a:solidFill>
                  <a:srgbClr val="000000"/>
                </a:solidFill>
                <a:latin typeface="楷体_GB2312" pitchFamily="49" charset="-122"/>
                <a:ea typeface="楷体_GB2312" pitchFamily="49" charset="-122"/>
              </a:rPr>
              <a:t>    微指令</a:t>
            </a:r>
            <a:r>
              <a:rPr lang="zh-CN" altLang="en-US" sz="2800" dirty="0">
                <a:solidFill>
                  <a:srgbClr val="000000"/>
                </a:solidFill>
                <a:latin typeface="楷体_GB2312" pitchFamily="49" charset="-122"/>
                <a:ea typeface="楷体_GB2312" pitchFamily="49" charset="-122"/>
              </a:rPr>
              <a:t>寄存器用来存放由控制存储器读出的一条微指令信息。其中微地址寄存器决定将要访问的下一条微指令的地址，而微命令寄存器则保存一条微指令的操作控制字段和判别测试字段的信息</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微命令寄存器正好对应微指令的命令字段部分（</a:t>
            </a:r>
            <a:r>
              <a:rPr lang="en-US" altLang="zh-CN" sz="2800" dirty="0" smtClean="0">
                <a:solidFill>
                  <a:srgbClr val="000000"/>
                </a:solidFill>
                <a:latin typeface="楷体_GB2312" pitchFamily="49" charset="-122"/>
                <a:ea typeface="楷体_GB2312" pitchFamily="49" charset="-122"/>
              </a:rPr>
              <a:t>P</a:t>
            </a:r>
            <a:r>
              <a:rPr lang="zh-CN" altLang="en-US" sz="2800" dirty="0" smtClean="0">
                <a:solidFill>
                  <a:srgbClr val="000000"/>
                </a:solidFill>
                <a:latin typeface="楷体_GB2312" pitchFamily="49" charset="-122"/>
                <a:ea typeface="楷体_GB2312" pitchFamily="49" charset="-122"/>
              </a:rPr>
              <a:t>字段和控制字段）</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微</a:t>
            </a:r>
            <a:r>
              <a:rPr lang="zh-CN" altLang="en-US" sz="2800" dirty="0" smtClean="0">
                <a:solidFill>
                  <a:srgbClr val="000000"/>
                </a:solidFill>
                <a:latin typeface="楷体_GB2312" pitchFamily="49" charset="-122"/>
                <a:ea typeface="楷体_GB2312" pitchFamily="49" charset="-122"/>
              </a:rPr>
              <a:t>地址寄存器正好对应微指令的地址字段</a:t>
            </a:r>
            <a:r>
              <a:rPr lang="zh-CN" altLang="en-US" sz="2800" smtClean="0">
                <a:solidFill>
                  <a:srgbClr val="000000"/>
                </a:solidFill>
                <a:latin typeface="楷体_GB2312" pitchFamily="49" charset="-122"/>
                <a:ea typeface="楷体_GB2312" pitchFamily="49" charset="-122"/>
              </a:rPr>
              <a:t>部分（直接地址或条件转移地址）</a:t>
            </a: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2803820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、地址</a:t>
            </a:r>
            <a:r>
              <a:rPr lang="zh-CN" altLang="en-US" sz="2800" dirty="0">
                <a:solidFill>
                  <a:srgbClr val="000000"/>
                </a:solidFill>
                <a:latin typeface="楷体_GB2312" pitchFamily="49" charset="-122"/>
                <a:ea typeface="楷体_GB2312" pitchFamily="49" charset="-122"/>
              </a:rPr>
              <a:t>转移逻辑 </a:t>
            </a:r>
          </a:p>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一般情况下，微指令由控制存储器读出后直接给出下一条微指令的地址，通常我们简称微地址</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下址字段</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，这个微地址信息就存放在微地址寄存器</a:t>
            </a:r>
            <a:r>
              <a:rPr lang="zh-CN" altLang="en-US" sz="2800">
                <a:solidFill>
                  <a:srgbClr val="000000"/>
                </a:solidFill>
                <a:latin typeface="楷体_GB2312" pitchFamily="49" charset="-122"/>
                <a:ea typeface="楷体_GB2312" pitchFamily="49" charset="-122"/>
              </a:rPr>
              <a:t>中</a:t>
            </a:r>
            <a:r>
              <a:rPr lang="zh-CN" altLang="en-US" sz="2800" smtClean="0">
                <a:solidFill>
                  <a:srgbClr val="000000"/>
                </a:solidFill>
                <a:latin typeface="楷体_GB2312" pitchFamily="49" charset="-122"/>
                <a:ea typeface="楷体_GB2312" pitchFamily="49" charset="-122"/>
              </a:rPr>
              <a:t>。</a:t>
            </a:r>
            <a:endParaRPr lang="en-US" altLang="zh-CN" sz="2800" smtClean="0">
              <a:solidFill>
                <a:srgbClr val="000000"/>
              </a:solidFill>
              <a:latin typeface="楷体_GB2312" pitchFamily="49" charset="-122"/>
              <a:ea typeface="楷体_GB2312" pitchFamily="49" charset="-122"/>
            </a:endParaRPr>
          </a:p>
          <a:p>
            <a:pPr eaLnBrk="1" hangingPunct="1">
              <a:buNone/>
            </a:pPr>
            <a:r>
              <a:rPr lang="en-US" altLang="zh-CN" sz="2800">
                <a:solidFill>
                  <a:srgbClr val="000000"/>
                </a:solidFill>
                <a:latin typeface="楷体_GB2312" pitchFamily="49" charset="-122"/>
                <a:ea typeface="楷体_GB2312" pitchFamily="49" charset="-122"/>
              </a:rPr>
              <a:t> </a:t>
            </a:r>
            <a:r>
              <a:rPr lang="en-US" altLang="zh-CN" sz="2800" smtClean="0">
                <a:solidFill>
                  <a:srgbClr val="000000"/>
                </a:solidFill>
                <a:latin typeface="楷体_GB2312" pitchFamily="49" charset="-122"/>
                <a:ea typeface="楷体_GB2312" pitchFamily="49" charset="-122"/>
              </a:rPr>
              <a:t>   </a:t>
            </a:r>
            <a:r>
              <a:rPr lang="zh-CN" altLang="en-US" sz="2800" smtClean="0">
                <a:solidFill>
                  <a:srgbClr val="000000"/>
                </a:solidFill>
                <a:latin typeface="楷体_GB2312" pitchFamily="49" charset="-122"/>
                <a:ea typeface="楷体_GB2312" pitchFamily="49" charset="-122"/>
              </a:rPr>
              <a:t>如果</a:t>
            </a:r>
            <a:r>
              <a:rPr lang="zh-CN" altLang="en-US" sz="2800" dirty="0">
                <a:solidFill>
                  <a:srgbClr val="000000"/>
                </a:solidFill>
                <a:latin typeface="楷体_GB2312" pitchFamily="49" charset="-122"/>
                <a:ea typeface="楷体_GB2312" pitchFamily="49" charset="-122"/>
              </a:rPr>
              <a:t>微程序不出现分支，那么下一条微指令的地址就直接由微地址寄存器给出。当微程序出现分支时，意味着微程序出现条件转移。在这种情况下，通过判别测试字段</a:t>
            </a:r>
            <a:r>
              <a:rPr lang="en-US" altLang="zh-CN" sz="2800" dirty="0">
                <a:solidFill>
                  <a:srgbClr val="000000"/>
                </a:solidFill>
                <a:latin typeface="楷体_GB2312" pitchFamily="49" charset="-122"/>
                <a:ea typeface="楷体_GB2312" pitchFamily="49" charset="-122"/>
              </a:rPr>
              <a:t>P</a:t>
            </a:r>
            <a:r>
              <a:rPr lang="zh-CN" altLang="en-US" sz="2800" dirty="0">
                <a:solidFill>
                  <a:srgbClr val="000000"/>
                </a:solidFill>
                <a:latin typeface="楷体_GB2312" pitchFamily="49" charset="-122"/>
                <a:ea typeface="楷体_GB2312" pitchFamily="49" charset="-122"/>
              </a:rPr>
              <a:t>和执行部件的“状态条件”反馈信息，去修改微地址寄存器的内容，并按改好的内容去读下一条微指令</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	地址转移逻辑就承担自动完成修改微地址的任务。</a:t>
            </a: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2803820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4.</a:t>
            </a:r>
            <a:r>
              <a:rPr lang="zh-CN" altLang="en-US" sz="2800" b="1" dirty="0" smtClean="0">
                <a:solidFill>
                  <a:srgbClr val="000000"/>
                </a:solidFill>
                <a:latin typeface="楷体_GB2312" pitchFamily="49" charset="-122"/>
                <a:ea typeface="楷体_GB2312" pitchFamily="49" charset="-122"/>
              </a:rPr>
              <a:t>微程序举例</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一条机器指令是由若干条微指令组成的序列来实现的。因此，一条机器指令对应着一个微程序，而微程序的总和便可实现整个的指令系统。</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现在我们举“十进制加法”指令为例，具体看一看微程序控制的过程。</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1567645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“十进制加法”指令的功能是用</a:t>
            </a:r>
            <a:r>
              <a:rPr lang="en-US" altLang="zh-CN" sz="2800" dirty="0" smtClean="0">
                <a:solidFill>
                  <a:srgbClr val="000000"/>
                </a:solidFill>
                <a:latin typeface="楷体_GB2312" pitchFamily="49" charset="-122"/>
                <a:ea typeface="楷体_GB2312" pitchFamily="49" charset="-122"/>
              </a:rPr>
              <a:t>8421BCD</a:t>
            </a:r>
            <a:r>
              <a:rPr lang="zh-CN" altLang="en-US" sz="2800" dirty="0" smtClean="0">
                <a:solidFill>
                  <a:srgbClr val="000000"/>
                </a:solidFill>
                <a:latin typeface="楷体_GB2312" pitchFamily="49" charset="-122"/>
                <a:ea typeface="楷体_GB2312" pitchFamily="49" charset="-122"/>
              </a:rPr>
              <a:t>码来完成十进制数的加法运算。</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8421</a:t>
            </a:r>
            <a:r>
              <a:rPr lang="zh-CN" altLang="en-US" sz="2800" dirty="0">
                <a:solidFill>
                  <a:srgbClr val="000000"/>
                </a:solidFill>
                <a:latin typeface="楷体_GB2312" pitchFamily="49" charset="-122"/>
                <a:ea typeface="楷体_GB2312" pitchFamily="49" charset="-122"/>
              </a:rPr>
              <a:t>码就是将十进制的数以</a:t>
            </a:r>
            <a:r>
              <a:rPr lang="en-US" altLang="zh-CN" sz="2800" dirty="0">
                <a:solidFill>
                  <a:srgbClr val="000000"/>
                </a:solidFill>
                <a:latin typeface="楷体_GB2312" pitchFamily="49" charset="-122"/>
                <a:ea typeface="楷体_GB2312" pitchFamily="49" charset="-122"/>
              </a:rPr>
              <a:t>8421</a:t>
            </a:r>
            <a:r>
              <a:rPr lang="zh-CN" altLang="en-US" sz="2800" dirty="0">
                <a:solidFill>
                  <a:srgbClr val="000000"/>
                </a:solidFill>
                <a:latin typeface="楷体_GB2312" pitchFamily="49" charset="-122"/>
                <a:ea typeface="楷体_GB2312" pitchFamily="49" charset="-122"/>
              </a:rPr>
              <a:t>的形式展开成二进制</a:t>
            </a:r>
            <a:r>
              <a:rPr lang="zh-CN" altLang="en-US" sz="2800" dirty="0" smtClean="0">
                <a:solidFill>
                  <a:srgbClr val="000000"/>
                </a:solidFill>
                <a:latin typeface="楷体_GB2312" pitchFamily="49" charset="-122"/>
                <a:ea typeface="楷体_GB2312" pitchFamily="49" charset="-122"/>
              </a:rPr>
              <a:t>，比如十进制</a:t>
            </a:r>
            <a:r>
              <a:rPr lang="zh-CN" altLang="en-US" sz="2800" dirty="0">
                <a:solidFill>
                  <a:srgbClr val="000000"/>
                </a:solidFill>
                <a:latin typeface="楷体_GB2312" pitchFamily="49" charset="-122"/>
                <a:ea typeface="楷体_GB2312" pitchFamily="49" charset="-122"/>
              </a:rPr>
              <a:t>是</a:t>
            </a:r>
            <a:r>
              <a:rPr lang="en-US" altLang="zh-CN" sz="2800" dirty="0">
                <a:solidFill>
                  <a:srgbClr val="000000"/>
                </a:solidFill>
                <a:latin typeface="楷体_GB2312" pitchFamily="49" charset="-122"/>
                <a:ea typeface="楷体_GB2312" pitchFamily="49" charset="-122"/>
              </a:rPr>
              <a:t>0</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十个数组成</a:t>
            </a:r>
            <a:r>
              <a:rPr lang="zh-CN" altLang="en-US" sz="2800" dirty="0" smtClean="0">
                <a:solidFill>
                  <a:srgbClr val="000000"/>
                </a:solidFill>
                <a:latin typeface="楷体_GB2312" pitchFamily="49" charset="-122"/>
                <a:ea typeface="楷体_GB2312" pitchFamily="49" charset="-122"/>
              </a:rPr>
              <a:t>，这十</a:t>
            </a:r>
            <a:r>
              <a:rPr lang="zh-CN" altLang="en-US" sz="2800" dirty="0">
                <a:solidFill>
                  <a:srgbClr val="000000"/>
                </a:solidFill>
                <a:latin typeface="楷体_GB2312" pitchFamily="49" charset="-122"/>
                <a:ea typeface="楷体_GB2312" pitchFamily="49" charset="-122"/>
              </a:rPr>
              <a:t>个数每个数都有自己的</a:t>
            </a:r>
            <a:r>
              <a:rPr lang="en-US" altLang="zh-CN" sz="2800" dirty="0">
                <a:solidFill>
                  <a:srgbClr val="000000"/>
                </a:solidFill>
                <a:latin typeface="楷体_GB2312" pitchFamily="49" charset="-122"/>
                <a:ea typeface="楷体_GB2312" pitchFamily="49" charset="-122"/>
              </a:rPr>
              <a:t>8421</a:t>
            </a:r>
            <a:r>
              <a:rPr lang="zh-CN" altLang="en-US" sz="2800" dirty="0">
                <a:solidFill>
                  <a:srgbClr val="000000"/>
                </a:solidFill>
                <a:latin typeface="楷体_GB2312" pitchFamily="49" charset="-122"/>
                <a:ea typeface="楷体_GB2312" pitchFamily="49" charset="-122"/>
              </a:rPr>
              <a:t>码</a:t>
            </a:r>
            <a:r>
              <a:rPr lang="zh-CN" altLang="en-US" sz="2800" dirty="0" smtClean="0">
                <a:solidFill>
                  <a:srgbClr val="000000"/>
                </a:solidFill>
                <a:latin typeface="楷体_GB2312" pitchFamily="49" charset="-122"/>
                <a:ea typeface="楷体_GB2312" pitchFamily="49" charset="-122"/>
              </a:rPr>
              <a:t>：比如： </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0</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0000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0001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0010</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 </a:t>
            </a: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0011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0100 </a:t>
            </a:r>
          </a:p>
          <a:p>
            <a:pPr eaLnBrk="1" hangingPunct="1">
              <a:buNone/>
            </a:pPr>
            <a:r>
              <a:rPr lang="en-US" altLang="zh-CN" sz="2800" dirty="0" smtClean="0">
                <a:solidFill>
                  <a:srgbClr val="000000"/>
                </a:solidFill>
                <a:latin typeface="楷体_GB2312" pitchFamily="49" charset="-122"/>
                <a:ea typeface="楷体_GB2312" pitchFamily="49" charset="-122"/>
              </a:rPr>
              <a:t>5</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0101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0110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7</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0111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 </a:t>
            </a:r>
            <a:r>
              <a:rPr lang="en-US" altLang="zh-CN" sz="2800" dirty="0">
                <a:solidFill>
                  <a:srgbClr val="000000"/>
                </a:solidFill>
                <a:latin typeface="楷体_GB2312" pitchFamily="49" charset="-122"/>
                <a:ea typeface="楷体_GB2312" pitchFamily="49" charset="-122"/>
              </a:rPr>
              <a:t>8</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1000</a:t>
            </a: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1001</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5535181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十进制运算时，当相加二数之和大于</a:t>
            </a: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时，便产生进位。可是</a:t>
            </a:r>
            <a:r>
              <a:rPr lang="zh-CN" altLang="en-US" sz="2800" dirty="0" smtClean="0">
                <a:solidFill>
                  <a:srgbClr val="000000"/>
                </a:solidFill>
                <a:latin typeface="楷体_GB2312" pitchFamily="49" charset="-122"/>
                <a:ea typeface="楷体_GB2312" pitchFamily="49" charset="-122"/>
              </a:rPr>
              <a:t>用</a:t>
            </a:r>
            <a:r>
              <a:rPr lang="en-US" altLang="zh-CN" sz="2800" dirty="0" smtClean="0">
                <a:solidFill>
                  <a:srgbClr val="000000"/>
                </a:solidFill>
                <a:latin typeface="楷体_GB2312" pitchFamily="49" charset="-122"/>
                <a:ea typeface="楷体_GB2312" pitchFamily="49" charset="-122"/>
              </a:rPr>
              <a:t>8421BCD</a:t>
            </a:r>
            <a:r>
              <a:rPr lang="zh-CN" altLang="en-US" sz="2800" dirty="0">
                <a:solidFill>
                  <a:srgbClr val="000000"/>
                </a:solidFill>
                <a:latin typeface="楷体_GB2312" pitchFamily="49" charset="-122"/>
                <a:ea typeface="楷体_GB2312" pitchFamily="49" charset="-122"/>
              </a:rPr>
              <a:t>码完成十进制数运算时，当和数大于</a:t>
            </a: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时，必须对和数进行加</a:t>
            </a: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修正。</a:t>
            </a:r>
          </a:p>
          <a:p>
            <a:pPr eaLnBrk="1" hangingPunct="1">
              <a:buNone/>
            </a:pPr>
            <a:r>
              <a:rPr lang="zh-CN" altLang="en-US" sz="2800" dirty="0" smtClean="0">
                <a:solidFill>
                  <a:srgbClr val="000000"/>
                </a:solidFill>
                <a:latin typeface="楷体_GB2312" pitchFamily="49" charset="-122"/>
                <a:ea typeface="楷体_GB2312" pitchFamily="49" charset="-122"/>
              </a:rPr>
              <a:t>    这是因为，采用</a:t>
            </a:r>
            <a:r>
              <a:rPr lang="en-US" altLang="zh-CN" sz="2800" dirty="0" smtClean="0">
                <a:solidFill>
                  <a:srgbClr val="000000"/>
                </a:solidFill>
                <a:latin typeface="楷体_GB2312" pitchFamily="49" charset="-122"/>
                <a:ea typeface="楷体_GB2312" pitchFamily="49" charset="-122"/>
              </a:rPr>
              <a:t>8421BCD</a:t>
            </a:r>
            <a:r>
              <a:rPr lang="zh-CN" altLang="en-US" sz="2800" dirty="0" smtClean="0">
                <a:solidFill>
                  <a:srgbClr val="000000"/>
                </a:solidFill>
                <a:latin typeface="楷体_GB2312" pitchFamily="49" charset="-122"/>
                <a:ea typeface="楷体_GB2312" pitchFamily="49" charset="-122"/>
              </a:rPr>
              <a:t>码后，在二数相加的和数小于等于</a:t>
            </a:r>
            <a:r>
              <a:rPr lang="en-US" altLang="zh-CN" sz="2800" dirty="0" smtClean="0">
                <a:solidFill>
                  <a:srgbClr val="000000"/>
                </a:solidFill>
                <a:latin typeface="楷体_GB2312" pitchFamily="49" charset="-122"/>
                <a:ea typeface="楷体_GB2312" pitchFamily="49" charset="-122"/>
              </a:rPr>
              <a:t>9</a:t>
            </a:r>
            <a:r>
              <a:rPr lang="zh-CN" altLang="en-US" sz="2800" dirty="0" smtClean="0">
                <a:solidFill>
                  <a:srgbClr val="000000"/>
                </a:solidFill>
                <a:latin typeface="楷体_GB2312" pitchFamily="49" charset="-122"/>
                <a:ea typeface="楷体_GB2312" pitchFamily="49" charset="-122"/>
              </a:rPr>
              <a:t>时，十进制运算的结果的正确的；而当二数相加的和数大于</a:t>
            </a:r>
            <a:r>
              <a:rPr lang="en-US" altLang="zh-CN" sz="2800" dirty="0" smtClean="0">
                <a:solidFill>
                  <a:srgbClr val="000000"/>
                </a:solidFill>
                <a:latin typeface="楷体_GB2312" pitchFamily="49" charset="-122"/>
                <a:ea typeface="楷体_GB2312" pitchFamily="49" charset="-122"/>
              </a:rPr>
              <a:t>9</a:t>
            </a:r>
            <a:r>
              <a:rPr lang="zh-CN" altLang="en-US" sz="2800" dirty="0" smtClean="0">
                <a:solidFill>
                  <a:srgbClr val="000000"/>
                </a:solidFill>
                <a:latin typeface="楷体_GB2312" pitchFamily="49" charset="-122"/>
                <a:ea typeface="楷体_GB2312" pitchFamily="49" charset="-122"/>
              </a:rPr>
              <a:t>时，结果不正确，必须加</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修正后才能得出正确结果。比如：</a:t>
            </a:r>
            <a:r>
              <a:rPr lang="en-US" altLang="zh-CN" sz="2800" dirty="0" smtClean="0">
                <a:solidFill>
                  <a:srgbClr val="000000"/>
                </a:solidFill>
                <a:latin typeface="楷体_GB2312" pitchFamily="49" charset="-122"/>
                <a:ea typeface="楷体_GB2312" pitchFamily="49" charset="-122"/>
              </a:rPr>
              <a:t>(1) </a:t>
            </a:r>
            <a:r>
              <a:rPr lang="zh-CN" altLang="en-US" sz="2800" dirty="0" smtClean="0">
                <a:solidFill>
                  <a:srgbClr val="000000"/>
                </a:solidFill>
                <a:latin typeface="楷体_GB2312" pitchFamily="49" charset="-122"/>
                <a:ea typeface="楷体_GB2312" pitchFamily="49" charset="-122"/>
              </a:rPr>
              <a:t>计算 </a:t>
            </a:r>
            <a:r>
              <a:rPr lang="en-US" altLang="zh-CN" sz="2800" dirty="0" smtClean="0">
                <a:solidFill>
                  <a:srgbClr val="000000"/>
                </a:solidFill>
                <a:latin typeface="楷体_GB2312" pitchFamily="49" charset="-122"/>
                <a:ea typeface="楷体_GB2312" pitchFamily="49" charset="-122"/>
              </a:rPr>
              <a:t>5+8</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 </a:t>
            </a:r>
            <a:r>
              <a:rPr lang="zh-CN" altLang="en-US" sz="2800" dirty="0" smtClean="0">
                <a:solidFill>
                  <a:srgbClr val="000000"/>
                </a:solidFill>
                <a:latin typeface="楷体_GB2312" pitchFamily="49" charset="-122"/>
                <a:ea typeface="楷体_GB2312" pitchFamily="49" charset="-122"/>
              </a:rPr>
              <a:t>计算 </a:t>
            </a:r>
            <a:r>
              <a:rPr lang="en-US" altLang="zh-CN" sz="2800" dirty="0" smtClean="0">
                <a:solidFill>
                  <a:srgbClr val="000000"/>
                </a:solidFill>
                <a:latin typeface="楷体_GB2312" pitchFamily="49" charset="-122"/>
                <a:ea typeface="楷体_GB2312" pitchFamily="49" charset="-122"/>
              </a:rPr>
              <a:t>8+8</a:t>
            </a:r>
          </a:p>
        </p:txBody>
      </p:sp>
    </p:spTree>
    <p:extLst>
      <p:ext uri="{BB962C8B-B14F-4D97-AF65-F5344CB8AC3E}">
        <p14:creationId xmlns:p14="http://schemas.microsoft.com/office/powerpoint/2010/main" val="29216678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比如：</a:t>
            </a:r>
            <a:r>
              <a:rPr lang="en-US" altLang="zh-CN" sz="2800" dirty="0">
                <a:solidFill>
                  <a:srgbClr val="000000"/>
                </a:solidFill>
                <a:latin typeface="楷体_GB2312" pitchFamily="49" charset="-122"/>
                <a:ea typeface="楷体_GB2312" pitchFamily="49" charset="-122"/>
              </a:rPr>
              <a:t>(1) </a:t>
            </a:r>
            <a:r>
              <a:rPr lang="zh-CN" altLang="en-US" sz="2800" dirty="0">
                <a:solidFill>
                  <a:srgbClr val="000000"/>
                </a:solidFill>
                <a:latin typeface="楷体_GB2312" pitchFamily="49" charset="-122"/>
                <a:ea typeface="楷体_GB2312" pitchFamily="49" charset="-122"/>
              </a:rPr>
              <a:t>计算 </a:t>
            </a:r>
            <a:r>
              <a:rPr lang="en-US" altLang="zh-CN" sz="2800" dirty="0">
                <a:solidFill>
                  <a:srgbClr val="000000"/>
                </a:solidFill>
                <a:latin typeface="楷体_GB2312" pitchFamily="49" charset="-122"/>
                <a:ea typeface="楷体_GB2312" pitchFamily="49" charset="-122"/>
              </a:rPr>
              <a:t>5+8</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 </a:t>
            </a:r>
            <a:r>
              <a:rPr lang="zh-CN" altLang="en-US" sz="2800" dirty="0">
                <a:solidFill>
                  <a:srgbClr val="000000"/>
                </a:solidFill>
                <a:latin typeface="楷体_GB2312" pitchFamily="49" charset="-122"/>
                <a:ea typeface="楷体_GB2312" pitchFamily="49" charset="-122"/>
              </a:rPr>
              <a:t>计算 </a:t>
            </a:r>
            <a:r>
              <a:rPr lang="en-US" altLang="zh-CN" sz="2800" dirty="0" smtClean="0">
                <a:solidFill>
                  <a:srgbClr val="000000"/>
                </a:solidFill>
                <a:latin typeface="楷体_GB2312" pitchFamily="49" charset="-122"/>
                <a:ea typeface="楷体_GB2312" pitchFamily="49" charset="-122"/>
              </a:rPr>
              <a:t>8+8</a:t>
            </a:r>
          </a:p>
          <a:p>
            <a:pPr eaLnBrk="1" hangingPunct="1">
              <a:buNone/>
            </a:pPr>
            <a:r>
              <a:rPr lang="zh-CN" altLang="en-US" sz="2800" dirty="0" smtClean="0">
                <a:solidFill>
                  <a:schemeClr val="tx2"/>
                </a:solidFill>
                <a:latin typeface="楷体_GB2312" pitchFamily="49" charset="-122"/>
                <a:ea typeface="楷体_GB2312" pitchFamily="49" charset="-122"/>
              </a:rPr>
              <a:t>解：</a:t>
            </a:r>
            <a:r>
              <a:rPr lang="en-US" altLang="zh-CN" sz="2800" dirty="0" smtClean="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1</a:t>
            </a:r>
            <a:r>
              <a:rPr lang="en-US" altLang="zh-CN" sz="2800" dirty="0" smtClean="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将</a:t>
            </a:r>
            <a:r>
              <a:rPr lang="en-US" altLang="zh-CN" sz="2800" dirty="0" smtClean="0">
                <a:solidFill>
                  <a:schemeClr val="tx2"/>
                </a:solidFill>
                <a:latin typeface="楷体_GB2312" pitchFamily="49" charset="-122"/>
                <a:ea typeface="楷体_GB2312" pitchFamily="49" charset="-122"/>
              </a:rPr>
              <a:t>5</a:t>
            </a:r>
            <a:r>
              <a:rPr lang="zh-CN" altLang="en-US" sz="2800" dirty="0" smtClean="0">
                <a:solidFill>
                  <a:schemeClr val="tx2"/>
                </a:solidFill>
                <a:latin typeface="楷体_GB2312" pitchFamily="49" charset="-122"/>
                <a:ea typeface="楷体_GB2312" pitchFamily="49" charset="-122"/>
              </a:rPr>
              <a:t>和</a:t>
            </a:r>
            <a:r>
              <a:rPr lang="en-US" altLang="zh-CN" sz="2800" dirty="0" smtClean="0">
                <a:solidFill>
                  <a:schemeClr val="tx2"/>
                </a:solidFill>
                <a:latin typeface="楷体_GB2312" pitchFamily="49" charset="-122"/>
                <a:ea typeface="楷体_GB2312" pitchFamily="49" charset="-122"/>
              </a:rPr>
              <a:t>8</a:t>
            </a:r>
            <a:r>
              <a:rPr lang="zh-CN" altLang="en-US" sz="2800" dirty="0" smtClean="0">
                <a:solidFill>
                  <a:schemeClr val="tx2"/>
                </a:solidFill>
                <a:latin typeface="楷体_GB2312" pitchFamily="49" charset="-122"/>
                <a:ea typeface="楷体_GB2312" pitchFamily="49" charset="-122"/>
              </a:rPr>
              <a:t>以</a:t>
            </a:r>
            <a:r>
              <a:rPr lang="en-US" altLang="zh-CN" sz="2800" dirty="0" smtClean="0">
                <a:solidFill>
                  <a:schemeClr val="tx2"/>
                </a:solidFill>
                <a:latin typeface="楷体_GB2312" pitchFamily="49" charset="-122"/>
                <a:ea typeface="楷体_GB2312" pitchFamily="49" charset="-122"/>
              </a:rPr>
              <a:t>8421BCD</a:t>
            </a:r>
            <a:r>
              <a:rPr lang="zh-CN" altLang="en-US" sz="2800" dirty="0">
                <a:solidFill>
                  <a:schemeClr val="tx2"/>
                </a:solidFill>
                <a:latin typeface="楷体_GB2312" pitchFamily="49" charset="-122"/>
                <a:ea typeface="楷体_GB2312" pitchFamily="49" charset="-122"/>
              </a:rPr>
              <a:t>输入机器，则运算如下：</a:t>
            </a:r>
          </a:p>
          <a:p>
            <a:pPr eaLnBrk="1" hangingPunct="1">
              <a:buNone/>
            </a:pPr>
            <a:r>
              <a:rPr lang="en-US" altLang="zh-CN" sz="2800" dirty="0" smtClean="0">
                <a:solidFill>
                  <a:schemeClr val="tx2"/>
                </a:solidFill>
                <a:latin typeface="楷体_GB2312" pitchFamily="49" charset="-122"/>
                <a:ea typeface="楷体_GB2312" pitchFamily="49" charset="-122"/>
              </a:rPr>
              <a:t>   0 </a:t>
            </a:r>
            <a:r>
              <a:rPr lang="en-US" altLang="zh-CN" sz="2800" dirty="0">
                <a:solidFill>
                  <a:schemeClr val="tx2"/>
                </a:solidFill>
                <a:latin typeface="楷体_GB2312" pitchFamily="49" charset="-122"/>
                <a:ea typeface="楷体_GB2312" pitchFamily="49" charset="-122"/>
              </a:rPr>
              <a:t>1 0 1</a:t>
            </a:r>
          </a:p>
          <a:p>
            <a:pPr eaLnBrk="1" hangingPunct="1">
              <a:buNone/>
            </a:pPr>
            <a:r>
              <a:rPr lang="en-US" altLang="zh-CN" sz="2800" dirty="0">
                <a:solidFill>
                  <a:schemeClr val="tx2"/>
                </a:solidFill>
                <a:latin typeface="楷体_GB2312" pitchFamily="49" charset="-122"/>
                <a:ea typeface="楷体_GB2312" pitchFamily="49" charset="-122"/>
              </a:rPr>
              <a:t>+) 1 0 0 0</a:t>
            </a:r>
          </a:p>
          <a:p>
            <a:pPr eaLnBrk="1" hangingPunct="1">
              <a:buNone/>
            </a:pPr>
            <a:r>
              <a:rPr lang="en-US" altLang="zh-CN" sz="2800" dirty="0" smtClean="0">
                <a:solidFill>
                  <a:schemeClr val="tx2"/>
                </a:solidFill>
                <a:latin typeface="楷体_GB2312" pitchFamily="49" charset="-122"/>
                <a:ea typeface="楷体_GB2312" pitchFamily="49" charset="-122"/>
              </a:rPr>
              <a:t>   1 </a:t>
            </a:r>
            <a:r>
              <a:rPr lang="en-US" altLang="zh-CN" sz="2800" dirty="0">
                <a:solidFill>
                  <a:schemeClr val="tx2"/>
                </a:solidFill>
                <a:latin typeface="楷体_GB2312" pitchFamily="49" charset="-122"/>
                <a:ea typeface="楷体_GB2312" pitchFamily="49" charset="-122"/>
              </a:rPr>
              <a:t>1 0 </a:t>
            </a:r>
            <a:r>
              <a:rPr lang="en-US" altLang="zh-CN" sz="2800" dirty="0" smtClean="0">
                <a:solidFill>
                  <a:schemeClr val="tx2"/>
                </a:solidFill>
                <a:latin typeface="楷体_GB2312" pitchFamily="49" charset="-122"/>
                <a:ea typeface="楷体_GB2312" pitchFamily="49" charset="-122"/>
              </a:rPr>
              <a:t>1 ---- </a:t>
            </a:r>
            <a:r>
              <a:rPr lang="zh-CN" altLang="en-US" sz="2800" dirty="0">
                <a:solidFill>
                  <a:schemeClr val="tx2"/>
                </a:solidFill>
                <a:latin typeface="楷体_GB2312" pitchFamily="49" charset="-122"/>
                <a:ea typeface="楷体_GB2312" pitchFamily="49" charset="-122"/>
              </a:rPr>
              <a:t>结果大于 </a:t>
            </a:r>
            <a:r>
              <a:rPr lang="en-US" altLang="zh-CN" sz="2800" dirty="0">
                <a:solidFill>
                  <a:schemeClr val="tx2"/>
                </a:solidFill>
                <a:latin typeface="楷体_GB2312" pitchFamily="49" charset="-122"/>
                <a:ea typeface="楷体_GB2312" pitchFamily="49" charset="-122"/>
              </a:rPr>
              <a:t>9</a:t>
            </a:r>
          </a:p>
          <a:p>
            <a:pPr eaLnBrk="1" hangingPunct="1">
              <a:buNone/>
            </a:pPr>
            <a:r>
              <a:rPr lang="en-US" altLang="zh-CN" sz="2800" dirty="0">
                <a:solidFill>
                  <a:schemeClr val="tx2"/>
                </a:solidFill>
                <a:latin typeface="楷体_GB2312" pitchFamily="49" charset="-122"/>
                <a:ea typeface="楷体_GB2312" pitchFamily="49" charset="-122"/>
              </a:rPr>
              <a:t>+) 0 1 1 0 </a:t>
            </a:r>
            <a:r>
              <a:rPr lang="en-US" altLang="zh-CN" sz="2800" dirty="0" smtClean="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加 </a:t>
            </a:r>
            <a:r>
              <a:rPr lang="en-US" altLang="zh-CN" sz="2800" dirty="0">
                <a:solidFill>
                  <a:schemeClr val="tx2"/>
                </a:solidFill>
                <a:latin typeface="楷体_GB2312" pitchFamily="49" charset="-122"/>
                <a:ea typeface="楷体_GB2312" pitchFamily="49" charset="-122"/>
              </a:rPr>
              <a:t>6 </a:t>
            </a:r>
            <a:r>
              <a:rPr lang="zh-CN" altLang="en-US" sz="2800" dirty="0">
                <a:solidFill>
                  <a:schemeClr val="tx2"/>
                </a:solidFill>
                <a:latin typeface="楷体_GB2312" pitchFamily="49" charset="-122"/>
                <a:ea typeface="楷体_GB2312" pitchFamily="49" charset="-122"/>
              </a:rPr>
              <a:t>修正</a:t>
            </a:r>
          </a:p>
          <a:p>
            <a:pPr eaLnBrk="1" hangingPunct="1">
              <a:buNone/>
            </a:pPr>
            <a:r>
              <a:rPr lang="en-US" altLang="zh-CN" sz="2800" dirty="0" smtClean="0">
                <a:solidFill>
                  <a:schemeClr val="tx2"/>
                </a:solidFill>
                <a:latin typeface="楷体_GB2312" pitchFamily="49" charset="-122"/>
                <a:ea typeface="楷体_GB2312" pitchFamily="49" charset="-122"/>
              </a:rPr>
              <a:t> 1 </a:t>
            </a:r>
            <a:r>
              <a:rPr lang="en-US" altLang="zh-CN" sz="2800" dirty="0">
                <a:solidFill>
                  <a:schemeClr val="tx2"/>
                </a:solidFill>
                <a:latin typeface="楷体_GB2312" pitchFamily="49" charset="-122"/>
                <a:ea typeface="楷体_GB2312" pitchFamily="49" charset="-122"/>
              </a:rPr>
              <a:t>0 0 1 1 </a:t>
            </a:r>
            <a:r>
              <a:rPr lang="en-US" altLang="zh-CN" sz="2800" dirty="0" smtClean="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即</a:t>
            </a:r>
            <a:r>
              <a:rPr lang="en-US" altLang="zh-CN" sz="2800" dirty="0">
                <a:solidFill>
                  <a:schemeClr val="tx2"/>
                </a:solidFill>
                <a:latin typeface="楷体_GB2312" pitchFamily="49" charset="-122"/>
                <a:ea typeface="楷体_GB2312" pitchFamily="49" charset="-122"/>
              </a:rPr>
              <a:t>13 </a:t>
            </a:r>
            <a:r>
              <a:rPr lang="zh-CN" altLang="en-US" sz="2800" dirty="0">
                <a:solidFill>
                  <a:schemeClr val="tx2"/>
                </a:solidFill>
                <a:latin typeface="楷体_GB2312" pitchFamily="49" charset="-122"/>
                <a:ea typeface="楷体_GB2312" pitchFamily="49" charset="-122"/>
              </a:rPr>
              <a:t>的 </a:t>
            </a:r>
            <a:r>
              <a:rPr lang="en-US" altLang="zh-CN" sz="2800" dirty="0">
                <a:solidFill>
                  <a:schemeClr val="tx2"/>
                </a:solidFill>
                <a:latin typeface="楷体_GB2312" pitchFamily="49" charset="-122"/>
                <a:ea typeface="楷体_GB2312" pitchFamily="49" charset="-122"/>
              </a:rPr>
              <a:t>BCD</a:t>
            </a:r>
            <a:r>
              <a:rPr lang="zh-CN" altLang="en-US" sz="2800" dirty="0">
                <a:solidFill>
                  <a:schemeClr val="tx2"/>
                </a:solidFill>
                <a:latin typeface="楷体_GB2312" pitchFamily="49" charset="-122"/>
                <a:ea typeface="楷体_GB2312" pitchFamily="49" charset="-122"/>
              </a:rPr>
              <a:t>码</a:t>
            </a:r>
          </a:p>
          <a:p>
            <a:pPr eaLnBrk="1" hangingPunct="1">
              <a:buNone/>
            </a:pPr>
            <a:r>
              <a:rPr lang="zh-CN" altLang="en-US" sz="2800" dirty="0" smtClean="0">
                <a:solidFill>
                  <a:schemeClr val="tx2"/>
                </a:solidFill>
                <a:latin typeface="楷体_GB2312" pitchFamily="49" charset="-122"/>
                <a:ea typeface="楷体_GB2312" pitchFamily="49" charset="-122"/>
              </a:rPr>
              <a:t>所以最终结果</a:t>
            </a:r>
            <a:r>
              <a:rPr lang="zh-CN" altLang="en-US" sz="2800" dirty="0">
                <a:solidFill>
                  <a:schemeClr val="tx2"/>
                </a:solidFill>
                <a:latin typeface="楷体_GB2312" pitchFamily="49" charset="-122"/>
                <a:ea typeface="楷体_GB2312" pitchFamily="49" charset="-122"/>
              </a:rPr>
              <a:t>是 </a:t>
            </a:r>
            <a:r>
              <a:rPr lang="en-US" altLang="zh-CN" sz="2800" dirty="0">
                <a:solidFill>
                  <a:schemeClr val="tx2"/>
                </a:solidFill>
                <a:latin typeface="楷体_GB2312" pitchFamily="49" charset="-122"/>
                <a:ea typeface="楷体_GB2312" pitchFamily="49" charset="-122"/>
              </a:rPr>
              <a:t>0011</a:t>
            </a:r>
            <a:r>
              <a:rPr lang="zh-CN" altLang="en-US" sz="2800" dirty="0">
                <a:solidFill>
                  <a:schemeClr val="tx2"/>
                </a:solidFill>
                <a:latin typeface="楷体_GB2312" pitchFamily="49" charset="-122"/>
                <a:ea typeface="楷体_GB2312" pitchFamily="49" charset="-122"/>
              </a:rPr>
              <a:t>，即十进制数</a:t>
            </a:r>
            <a:r>
              <a:rPr lang="en-US" altLang="zh-CN" sz="2800" dirty="0">
                <a:solidFill>
                  <a:schemeClr val="tx2"/>
                </a:solidFill>
                <a:latin typeface="楷体_GB2312" pitchFamily="49" charset="-122"/>
                <a:ea typeface="楷体_GB2312" pitchFamily="49" charset="-122"/>
              </a:rPr>
              <a:t>3</a:t>
            </a:r>
            <a:r>
              <a:rPr lang="zh-CN" altLang="en-US" sz="2800" dirty="0">
                <a:solidFill>
                  <a:schemeClr val="tx2"/>
                </a:solidFill>
                <a:latin typeface="楷体_GB2312" pitchFamily="49" charset="-122"/>
                <a:ea typeface="楷体_GB2312" pitchFamily="49" charset="-122"/>
              </a:rPr>
              <a:t>，还产生了进位</a:t>
            </a:r>
            <a:r>
              <a:rPr lang="zh-CN" altLang="en-US" sz="2800" dirty="0" smtClean="0">
                <a:solidFill>
                  <a:schemeClr val="tx2"/>
                </a:solidFill>
                <a:latin typeface="楷体_GB2312" pitchFamily="49" charset="-122"/>
                <a:ea typeface="楷体_GB2312" pitchFamily="49" charset="-122"/>
              </a:rPr>
              <a:t>。而</a:t>
            </a:r>
            <a:r>
              <a:rPr lang="en-US" altLang="zh-CN" sz="2800" dirty="0" smtClean="0">
                <a:solidFill>
                  <a:schemeClr val="tx2"/>
                </a:solidFill>
                <a:latin typeface="楷体_GB2312" pitchFamily="49" charset="-122"/>
                <a:ea typeface="楷体_GB2312" pitchFamily="49" charset="-122"/>
              </a:rPr>
              <a:t>5+8=13</a:t>
            </a:r>
            <a:r>
              <a:rPr lang="zh-CN" altLang="en-US" sz="2800" dirty="0" smtClean="0">
                <a:solidFill>
                  <a:schemeClr val="tx2"/>
                </a:solidFill>
                <a:latin typeface="楷体_GB2312" pitchFamily="49" charset="-122"/>
                <a:ea typeface="楷体_GB2312" pitchFamily="49" charset="-122"/>
              </a:rPr>
              <a:t>，所以结论</a:t>
            </a:r>
            <a:r>
              <a:rPr lang="zh-CN" altLang="en-US" sz="2800" dirty="0">
                <a:solidFill>
                  <a:schemeClr val="tx2"/>
                </a:solidFill>
                <a:latin typeface="楷体_GB2312" pitchFamily="49" charset="-122"/>
                <a:ea typeface="楷体_GB2312" pitchFamily="49" charset="-122"/>
              </a:rPr>
              <a:t>正确</a:t>
            </a:r>
            <a:r>
              <a:rPr lang="zh-CN" altLang="en-US" sz="2800" dirty="0" smtClean="0">
                <a:solidFill>
                  <a:schemeClr val="tx2"/>
                </a:solidFill>
                <a:latin typeface="楷体_GB2312" pitchFamily="49" charset="-122"/>
                <a:ea typeface="楷体_GB2312" pitchFamily="49" charset="-122"/>
              </a:rPr>
              <a:t>。</a:t>
            </a:r>
            <a:endParaRPr lang="zh-CN" altLang="en-US" sz="2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1567645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将</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以</a:t>
            </a:r>
            <a:r>
              <a:rPr lang="en-US" altLang="zh-CN" sz="2800" dirty="0" smtClean="0">
                <a:solidFill>
                  <a:srgbClr val="000000"/>
                </a:solidFill>
                <a:latin typeface="楷体_GB2312" pitchFamily="49" charset="-122"/>
                <a:ea typeface="楷体_GB2312" pitchFamily="49" charset="-122"/>
              </a:rPr>
              <a:t>8421BCD</a:t>
            </a:r>
            <a:r>
              <a:rPr lang="zh-CN" altLang="en-US" sz="2800" dirty="0" smtClean="0">
                <a:solidFill>
                  <a:srgbClr val="000000"/>
                </a:solidFill>
                <a:latin typeface="楷体_GB2312" pitchFamily="49" charset="-122"/>
                <a:ea typeface="楷体_GB2312" pitchFamily="49" charset="-122"/>
              </a:rPr>
              <a:t>输入机器，则运算如下：</a:t>
            </a:r>
          </a:p>
          <a:p>
            <a:pPr eaLnBrk="1" hangingPunct="1">
              <a:buNone/>
            </a:pPr>
            <a:r>
              <a:rPr lang="en-US" altLang="zh-CN" sz="2800" dirty="0" smtClean="0">
                <a:solidFill>
                  <a:srgbClr val="000000"/>
                </a:solidFill>
                <a:latin typeface="楷体_GB2312" pitchFamily="49" charset="-122"/>
                <a:ea typeface="楷体_GB2312" pitchFamily="49" charset="-122"/>
              </a:rPr>
              <a:t>   1 0 0 0</a:t>
            </a:r>
          </a:p>
          <a:p>
            <a:pPr eaLnBrk="1" hangingPunct="1">
              <a:buNone/>
            </a:pPr>
            <a:r>
              <a:rPr lang="en-US" altLang="zh-CN"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1 0 0 0</a:t>
            </a:r>
          </a:p>
          <a:p>
            <a:pPr eaLnBrk="1" hangingPunct="1">
              <a:buNone/>
            </a:pPr>
            <a:r>
              <a:rPr lang="en-US" altLang="zh-CN" sz="2800" dirty="0" smtClean="0">
                <a:solidFill>
                  <a:srgbClr val="000000"/>
                </a:solidFill>
                <a:latin typeface="楷体_GB2312" pitchFamily="49" charset="-122"/>
                <a:ea typeface="楷体_GB2312" pitchFamily="49" charset="-122"/>
              </a:rPr>
              <a:t>   1 </a:t>
            </a:r>
            <a:r>
              <a:rPr lang="en-US" altLang="zh-CN" sz="2800" dirty="0">
                <a:solidFill>
                  <a:srgbClr val="000000"/>
                </a:solidFill>
                <a:latin typeface="楷体_GB2312" pitchFamily="49" charset="-122"/>
                <a:ea typeface="楷体_GB2312" pitchFamily="49" charset="-122"/>
              </a:rPr>
              <a:t>0 0 0 0 </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结果</a:t>
            </a:r>
            <a:r>
              <a:rPr lang="zh-CN" altLang="en-US" sz="2800" dirty="0">
                <a:solidFill>
                  <a:srgbClr val="000000"/>
                </a:solidFill>
                <a:latin typeface="楷体_GB2312" pitchFamily="49" charset="-122"/>
                <a:ea typeface="楷体_GB2312" pitchFamily="49" charset="-122"/>
              </a:rPr>
              <a:t>大于</a:t>
            </a:r>
            <a:r>
              <a:rPr lang="en-US" altLang="zh-CN" sz="2800" dirty="0">
                <a:solidFill>
                  <a:srgbClr val="000000"/>
                </a:solidFill>
                <a:latin typeface="楷体_GB2312" pitchFamily="49" charset="-122"/>
                <a:ea typeface="楷体_GB2312" pitchFamily="49" charset="-122"/>
              </a:rPr>
              <a:t>9</a:t>
            </a:r>
          </a:p>
          <a:p>
            <a:pPr eaLnBrk="1" hangingPunct="1">
              <a:buNone/>
            </a:pP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0 </a:t>
            </a:r>
            <a:r>
              <a:rPr lang="en-US" altLang="zh-CN" sz="2800" dirty="0">
                <a:solidFill>
                  <a:srgbClr val="000000"/>
                </a:solidFill>
                <a:latin typeface="楷体_GB2312" pitchFamily="49" charset="-122"/>
                <a:ea typeface="楷体_GB2312" pitchFamily="49" charset="-122"/>
              </a:rPr>
              <a:t>1 1 0 </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加</a:t>
            </a: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修正</a:t>
            </a:r>
          </a:p>
          <a:p>
            <a:pPr eaLnBrk="1" hangingPunct="1">
              <a:buNone/>
            </a:pPr>
            <a:r>
              <a:rPr lang="en-US" altLang="zh-CN" sz="2800" dirty="0" smtClean="0">
                <a:solidFill>
                  <a:srgbClr val="000000"/>
                </a:solidFill>
                <a:latin typeface="楷体_GB2312" pitchFamily="49" charset="-122"/>
                <a:ea typeface="楷体_GB2312" pitchFamily="49" charset="-122"/>
              </a:rPr>
              <a:t>   1 </a:t>
            </a:r>
            <a:r>
              <a:rPr lang="en-US" altLang="zh-CN" sz="2800" dirty="0">
                <a:solidFill>
                  <a:srgbClr val="000000"/>
                </a:solidFill>
                <a:latin typeface="楷体_GB2312" pitchFamily="49" charset="-122"/>
                <a:ea typeface="楷体_GB2312" pitchFamily="49" charset="-122"/>
              </a:rPr>
              <a:t>0 1 1 0 </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即</a:t>
            </a:r>
            <a:r>
              <a:rPr lang="en-US" altLang="zh-CN" sz="2800" dirty="0" smtClean="0">
                <a:solidFill>
                  <a:srgbClr val="000000"/>
                </a:solidFill>
                <a:latin typeface="楷体_GB2312" pitchFamily="49" charset="-122"/>
                <a:ea typeface="楷体_GB2312" pitchFamily="49" charset="-122"/>
              </a:rPr>
              <a:t>16</a:t>
            </a:r>
            <a:r>
              <a:rPr lang="zh-CN" altLang="en-US" sz="2800" dirty="0">
                <a:solidFill>
                  <a:srgbClr val="000000"/>
                </a:solidFill>
                <a:latin typeface="楷体_GB2312" pitchFamily="49" charset="-122"/>
                <a:ea typeface="楷体_GB2312" pitchFamily="49" charset="-122"/>
              </a:rPr>
              <a:t>的</a:t>
            </a:r>
            <a:r>
              <a:rPr lang="en-US" altLang="zh-CN" sz="2800" dirty="0">
                <a:solidFill>
                  <a:srgbClr val="000000"/>
                </a:solidFill>
                <a:latin typeface="楷体_GB2312" pitchFamily="49" charset="-122"/>
                <a:ea typeface="楷体_GB2312" pitchFamily="49" charset="-122"/>
              </a:rPr>
              <a:t>BCD</a:t>
            </a:r>
            <a:r>
              <a:rPr lang="zh-CN" altLang="en-US" sz="2800" dirty="0" smtClean="0">
                <a:solidFill>
                  <a:srgbClr val="000000"/>
                </a:solidFill>
                <a:latin typeface="楷体_GB2312" pitchFamily="49" charset="-122"/>
                <a:ea typeface="楷体_GB2312" pitchFamily="49" charset="-122"/>
              </a:rPr>
              <a:t>码</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所以最终结果</a:t>
            </a:r>
            <a:r>
              <a:rPr lang="zh-CN" altLang="en-US" sz="2800" dirty="0">
                <a:solidFill>
                  <a:srgbClr val="000000"/>
                </a:solidFill>
                <a:latin typeface="楷体_GB2312" pitchFamily="49" charset="-122"/>
                <a:ea typeface="楷体_GB2312" pitchFamily="49" charset="-122"/>
              </a:rPr>
              <a:t>是</a:t>
            </a:r>
            <a:r>
              <a:rPr lang="en-US" altLang="zh-CN" sz="2800" dirty="0">
                <a:solidFill>
                  <a:srgbClr val="000000"/>
                </a:solidFill>
                <a:latin typeface="楷体_GB2312" pitchFamily="49" charset="-122"/>
                <a:ea typeface="楷体_GB2312" pitchFamily="49" charset="-122"/>
              </a:rPr>
              <a:t>0110</a:t>
            </a:r>
            <a:r>
              <a:rPr lang="zh-CN" altLang="en-US" sz="2800" dirty="0">
                <a:solidFill>
                  <a:srgbClr val="000000"/>
                </a:solidFill>
                <a:latin typeface="楷体_GB2312" pitchFamily="49" charset="-122"/>
                <a:ea typeface="楷体_GB2312" pitchFamily="49" charset="-122"/>
              </a:rPr>
              <a:t>，即十进制的</a:t>
            </a: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而且还产生</a:t>
            </a:r>
            <a:r>
              <a:rPr lang="zh-CN" altLang="en-US" sz="2800" dirty="0">
                <a:solidFill>
                  <a:srgbClr val="000000"/>
                </a:solidFill>
                <a:latin typeface="楷体_GB2312" pitchFamily="49" charset="-122"/>
                <a:ea typeface="楷体_GB2312" pitchFamily="49" charset="-122"/>
              </a:rPr>
              <a:t>进位</a:t>
            </a:r>
            <a:r>
              <a:rPr lang="zh-CN" altLang="en-US" sz="2800" dirty="0" smtClean="0">
                <a:solidFill>
                  <a:srgbClr val="000000"/>
                </a:solidFill>
                <a:latin typeface="楷体_GB2312" pitchFamily="49" charset="-122"/>
                <a:ea typeface="楷体_GB2312" pitchFamily="49" charset="-122"/>
              </a:rPr>
              <a:t>。而</a:t>
            </a:r>
            <a:r>
              <a:rPr lang="en-US" altLang="zh-CN" sz="2800" dirty="0" smtClean="0">
                <a:solidFill>
                  <a:srgbClr val="000000"/>
                </a:solidFill>
                <a:latin typeface="楷体_GB2312" pitchFamily="49" charset="-122"/>
                <a:ea typeface="楷体_GB2312" pitchFamily="49" charset="-122"/>
              </a:rPr>
              <a:t>8+8=16</a:t>
            </a:r>
            <a:r>
              <a:rPr lang="zh-CN" altLang="en-US" sz="2800" dirty="0" smtClean="0">
                <a:solidFill>
                  <a:srgbClr val="000000"/>
                </a:solidFill>
                <a:latin typeface="楷体_GB2312" pitchFamily="49" charset="-122"/>
                <a:ea typeface="楷体_GB2312" pitchFamily="49" charset="-122"/>
              </a:rPr>
              <a:t>，所以结论</a:t>
            </a:r>
            <a:r>
              <a:rPr lang="zh-CN" altLang="en-US" sz="2800" dirty="0">
                <a:solidFill>
                  <a:srgbClr val="000000"/>
                </a:solidFill>
                <a:latin typeface="楷体_GB2312" pitchFamily="49" charset="-122"/>
                <a:ea typeface="楷体_GB2312" pitchFamily="49" charset="-122"/>
              </a:rPr>
              <a:t>正确</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41033291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假定指令存放在指存中，数据</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及常数</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已存放在图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中的</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三寄存器中，因此，完成十进制加法的微程序流程图示于图</a:t>
            </a:r>
            <a:r>
              <a:rPr lang="en-US" altLang="zh-CN" sz="2800" dirty="0" smtClean="0">
                <a:solidFill>
                  <a:srgbClr val="000000"/>
                </a:solidFill>
                <a:latin typeface="楷体_GB2312" pitchFamily="49" charset="-122"/>
                <a:ea typeface="楷体_GB2312" pitchFamily="49" charset="-122"/>
              </a:rPr>
              <a:t>5.24</a:t>
            </a:r>
            <a:r>
              <a:rPr lang="zh-CN" altLang="en-US" sz="2800" dirty="0" smtClean="0">
                <a:solidFill>
                  <a:srgbClr val="000000"/>
                </a:solidFill>
                <a:latin typeface="楷体_GB2312" pitchFamily="49" charset="-122"/>
                <a:ea typeface="楷体_GB2312" pitchFamily="49" charset="-122"/>
              </a:rPr>
              <a:t>中。执行周期要求先进行</a:t>
            </a:r>
            <a:r>
              <a:rPr lang="en-US" altLang="zh-CN" sz="2800" dirty="0" smtClean="0">
                <a:solidFill>
                  <a:srgbClr val="000000"/>
                </a:solidFill>
                <a:latin typeface="楷体_GB2312" pitchFamily="49" charset="-122"/>
                <a:ea typeface="楷体_GB2312" pitchFamily="49" charset="-122"/>
              </a:rPr>
              <a:t>a+b+6</a:t>
            </a:r>
            <a:r>
              <a:rPr lang="zh-CN" altLang="en-US" sz="2800" dirty="0" smtClean="0">
                <a:solidFill>
                  <a:srgbClr val="000000"/>
                </a:solidFill>
                <a:latin typeface="楷体_GB2312" pitchFamily="49" charset="-122"/>
                <a:ea typeface="楷体_GB2312" pitchFamily="49" charset="-122"/>
              </a:rPr>
              <a:t>运算，然后判断结果有无进位；当进位标志</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不减</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；当</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，减去</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，从而获得正确结果。</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1033291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7" y="15875"/>
            <a:ext cx="5486357" cy="6192294"/>
          </a:xfrm>
          <a:prstGeom prst="rect">
            <a:avLst/>
          </a:prstGeom>
        </p:spPr>
      </p:pic>
      <p:pic>
        <p:nvPicPr>
          <p:cNvPr id="76803" name="Picture 3" descr="C:\Users\Administrator\AppData\Local\Temp\mx330C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478" y="6275784"/>
            <a:ext cx="5276850" cy="609600"/>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2" descr="data:image/png;base64,iVBORw0KGgoAAAANSUhEUgAAAioAAABACAYAAAA0wFymAAAb6klEQVR4Xu1dPdQdNxF96eEQSmiABkrCgT5Oz09SAgVOE0ocoI/TQwglNJgCKDGQPkkfDqGEBtNASTjQm72fv+EbX480M1rtvn327Dk+Tvy0WulqNHM1M5Kee/jwg4enegqBQqAQKAQKgUKgEDggAs8VUTngqFSTCoFCoBAoBAqBQuAKgSIqJQiFQCFQCBQChUAhcFgEiqgcdmiqYYVAIVAIFAKFQCFQRKVkoBAoBAqBQqAQKAQOi0ARlcMOTTWsECgECoFCoBAoBIqolAwUAoVAIVAIFAKFwGERKKJy2KGphhUChUAhUAgUAoVAEZWSgUKgECgECoFCoBA4LAJFVA47NNWwQqAQKAQKgUKgECiiUjJQCBQChUAhUAgUAodFoIjKYYemGrYLAre+ezq9/8ebT73x2ul0d/lzKQ/aj+fWl0+nz37qdLr9tSdbfvfnp9Obyx953v3Zo/JbPnd+fDp9+NebL7y3fHPm8+FfTqeP/ntT49b9mdn2Z72ut3/9CIE73/KR0HL09vdPpxe+4L/z3jKfX/7B8ufWIzl/4fOx9/ya+yXw3adRDtEv+QNd+adf7YOnQruIylrhrPcvGwEotN+9f9OHvYnKg3+cTvffiyltC+nnvnLzry8uStkiBOcgKkwAH34wV05m1y+ET1p5+6s26Zvbi2PUdu8Pp9O9d27aEiUEI63/6D8LoV7I9L8XkvnFhUDce6Nv9PQ4Rwk2iNDrb+0zpzF/3/7N0o8FQ/TpDEZ8ZBhS7/Bc+8lCGCMkM/WRfuE8UQGzeul6FTexIauqigrwqo/Uy08lAmzE9yIqmEdQbr+8NhC//dGjFWD2iRAVVtx7zBet3FoEKttXXZ7HbS0RYsK6B0aj/c94JCLf2JPIstH7zkII791tt1KPS3RMuD8zyQM8eeJdgMfw7/98vO0s6yBm2rMYGY9eGXiHnv/42lpy72Mh9coPb97ZYj47LSqikhuyKv20IcBKbZQwZHEBSXn1zZu3PrOEbR4s/5Z9IkSFFxdRhd9rC1aSLyyue3Gv42+tQC+NqMwmPtlxjJbXRiPikYjUy4ZohnxY32XCjPbDA9gzvHpcou3Ssjc6r4SMoB8gG8CISUkL218sXiIJwc5e2EcxiIx7pszzy/yGx0ief727K2EqopIZrCr79CGw52qS0YMLXCu/ESUEsvDn61yQ1kpnC6LiEa1LJipnWDGGJhZW88BVGwy8uNYLuIV8cIf4G5/42COSIjkneh5q/FtERRN0njd6XnkemxbwIOKf+3poWP5fCKQIHg/kqUhoBGP2pW/n6umVHtERM75+++6N9xf17bWgu277eqICQbAS+GaA06pDu8xRJjJ4EDwdh822D8J3lEQpMHxgoJMJ0R8kU14lVX462zu/PFyw+ntbxrH91swrcU6iwsZ+xEBqQtBSylsYIlZcehWJ0SmiMk9GdU0sr/Ibxv7tZY6OhAW2kA/dZiZYICkI9+hQ5yyiAt34yZduvs5ymRkVvQhovQevEHDvhWQ0qcI4ZfQz7JaEh9GGbIhztkcng1+rbMRe07vriUqUzQNwZHCD1IzE4nuTNdLxtQMW7eeMgWzVgUkIA6GTP62yMHhIUstMiF672WUbJYdbYjGr7nMSFfSBlWFElnXfNSFoyegWhki7gmF4ELaaGfrxdg3NDtW0DOUsOZtZj+xqYc8KVvT3l1ynyM4Y3Z4t5EPqt7xAFnnQ+Gs5jnhU/vb7G13HfdG/ZccA4R4kysoCVf7WC+XI4qLn/fHaxP0pouIhdv07Axc14HoFBsUG19joNtAR42IZ22CXr4pF+5mpM1NWZ8tH3gPGHy7Z72vJiuQisFLMGtRIm89RZkSWZraTvSrfeHExNguhjz7nICqc04BVJS8+0C8Ja8GAel5X9lhycisr6NlEBcTop4tRwhMxPtHx2aoc9AHarFfb+JZFGr02bEVUQFJeXpIwdXjze9985IHgZw1R0bKh6wEWHy1kY/aTJbVFVB4fgQHbsY9HheN0HJ/MCtKIcWm5TKPfPjdRYVd7pN0wICArax42GFLXgLCtacZm747I0uzGcK4KrwJ566z+PuaWkEgQAouYwqhJHgvehVy0QgSRbbkjsuhhxvPLMziziUqE8PX6oJMvvb7y72vCyl4IDoTxAe1M4e9zeCEanmid24P6LU9KL18kS1T0eGmiov89S/qj43bJRGUPO4a50HsGdi7tQ1TYvQ0Byrgn7ywsXCvWEeMy8k5UcLcuxytYfA972bFKFVxgjOCm1Ad7odyaGG0vXFZEZd6oi1dFPA9suPSKbN5X7Zo8RcY5ALPa0yMqlodjhKj0FCi8E0Lmonl3OmdtzULIw9zDWOTHmuu8HdirK/N7z/PEYWqLpAAz8arPIio6JIn2RfIKs0TxkogKJwWvlbWMfEwsuz1RWRtysVjxCOnglcea2OXEAQhVxcqm5T5FZbw6H92eZ9WlG1tEJTR04UIwNq3wyJGICs89GEfLi6MNvyQcAgwoTmuFz8bCMwYjRGUmjhxWWKPnZhgP4GqNw7mIigg+xgkLLd6GLORK+j6DqIzmIWbx92STJ/05Qz9oi/5+tq9hBbZtwW2JSms7XbRPrXjrCFGZfZJltA9ryzEj9mLQlsIcOfDIWyEWUVk7svH3e54AffhiNJkW3riWRxPu/FZeE+dJ9Ujw2l0/njE4N1Fhb4KVu9cbYe353NJ4nCv040m3XlCByIKo6hwh8YQAV7niQoekdA6ULDp1npH3ff17Fn9PNi+RqKBPWz5ZrxW1ZTuiAqUGZaVj417sE8RG72hpHdX7LBEVJh7euQDW/v/skcdch+Q+6DtxiqhsOa3jdUdWS7OSJTk5sidXTztRYU9vdneGHredz6R4QrhmyUdUajmUDa8cvGwcto7WJ7rIOz+FPRtSf4+cW23IEBXWpb38MOtbnF82EgmI6IiZ3karH1kyuBtRsfag94wbE5te/HOEqOj2rAmHRCfPrHK8SoiQDha6rJCw9wnjBsyLqMwa1Xn1RAzebEMEWcCKFonaraTcIxKVHuoRZd4KT6DeNUQlQvpBEjN5fRkJmy0fvW+znhfdxPcNZdqPM53w6IPVLEz1GHvbfHvnbmkvj7WjTScZj4ajWv2PyErPo9OyBc8kUWntCuiFLbRB9sIbI0QlctR4ZnLsVdYiDV6C2BqiwqsdWTmOtGMvjNZ8Z0SW1nxv9ruR+Peehkj6d0lEJXpI2LmIihwRAFKI5FNvq3dWxvaUD43hzAWjth9WvTzGHlFZQzD0IntNPdY4bkVUWjsLMzt0YDt0BEW3P7tY3tyjwiQFri4Iieylt+534LMkvMEYMS4WUcEq5b66OVfAeX7Zf6931GQn/szyIwRhlKhgnOB5krHShHGkHTNx2KquEVla05ZIzgC2CEfOv+Ft/615M8sQZbbgZs9RAaZ6Jeq510dyVFrjFsVHb9Vnz+ZWHhXMSZxFor2ZkpzsLViichrtf7S+VrmovI58R4d9rN1P2fFZQzA0UTnCpYQRb+EI5vodyzkBHLBjF3I6cmKyqn9ujgo3Vg4dE3efnPegyQqTlMh22hHjogcLu2ZgDPgwIh6slSxw7dhfvY/JrY+u9xiuNcE84icN7YWZjkZUIgY/MgDajYvyXh5VpE42uvqdyC6M6HhFDUy0nNc3L8Hae9/7vXXHy6ztyWuJih47HqOsIYx4wtBe1o+6D/B24vC0CKntYT9LPnrf4JDPzDNOGCNLb2fHpxX6QT8k6Rf99UI/nszv8fsaoiJEGX9bF0hauajWFQkr+zmXqMCo3l5uhIX7hw91Y2HC7/Ba6EGPkBR0OEtUWEhBlCCIfNqqBeYlnFKp221lvkduuuTVDh8WdzSiEjH4KyfHqtdbchNpd3SXFst1a5xnGaJnhai0cDwHUYEQQlcBez6FVgQUCy+EhEZXrbPkozdheBGrycSo90LmGB/JgHbwGOpvrDkIk0Pjl2AfRokKkxC+rRuYwsuo7SjwwDUOo7LYkKG5REU+gkllnVrY264cJSkziIoGA4xYrqhvXed97qz8qMXk0A3e83YJSd0eEfF+j7ZxVrmIwZ/1rZF6WgoMCpvPEYEh0seMe/FzaU90lTjLELUSHq0QxCWHflr4n4uo6PHmpHb5bY2HYpZ8tOaJdWDlLKICz/iry+KYn57Haw25YMK1pq4RvTLyzihRsbx54oCAzLz+1k1r8O/w7s3On7r+wjZEpQUmOo6JppUyyqKTUHZRN+Zajwq+CXYI5sduUysmPDPpa0TQou+0Qm+ea5i3QFsHyhVRiY7Co3IZBdbLt9g6G9/q1YyQ5yUl02pD2pvreuW+V+jHGh+0F55T0aO8is2GRUeP0Ndta93b1lqcahlDmTvK6EVnGsLgwILtCd7nxaU2upm5qdti3bfmnc774RJdmP144X/+ntYhkV2j+n2LZHL97GmZ3d+lvn2ISougWB2S/JHeVrwsUWFD7O0qslyRR/eqWAe9RbxUPPla2ByNqHDujpalTJJhVpZYZlvtQEJ2dDtpEZUnNcGeybTet6R1WuH3Qgso73nFojkqLaWPeSvbxHs3V29gNMwqrf5ayfkSJphBhllPw6sk53D1rmQY9T5ZHgYhKnListY9oyEtb8yiOWyW3GbfRR3W5ZJSNzz2cDBMDvU8wbUePvzgoYfLY78z+C2BkzBKy4MiMVWsDKxcEQnJwLXHCj9rXNhljUxkvu2VQeBzYKIhlBSYkwpbEyjaXu9SM2ni0YjKJOjS+U6zvqvrKaJyXqKid/P0rqfoncMRDcPNMh5SD/QsG4lzhEWZqHB+g+hzyUmcQVTEiKK/0OfwHMuhcaz/elvLo3PawhVEBee4yPZeTRqfFqICfEDEsPmEtx9HFsNRfDvl5npU0BkMztXdDsvfTECwWr+zbH/VlwzqlUEvuRUCgQfhGr58b4QleuCx8Rh1F3rfWfu7RVKiKwaeSL0+FlFZO1Lt93tEBWPUekAytfsfWfnWw+PcO0If72dP6rS+eUmhH70o6bnGj0hULOxboR8rZABPLAy8t3ATY9W6iZlDP5zUDx0NORQiMYuoCFkBWUPb5EoJ1mWajI58u0U6eGOGJki9kJZ1RQD6grbJ0/LWghhFvbW9LeE9r7QlV3LRJNtpT59wXQP6ZR5R6V3KBYKCiQBhhjChLJJu9OQACCAgOgmPO2hdYIUyWxAVKzbnuXO3M2V2zdYuDOucmla72GvU221SRGW70R09EySaJDc7WRL19QgUkBpJptXnx3jhmFHMrFGMhGG8A8PO5VFZK5WSdzNivHvf1iFl7+JBbZijuSoWKefj6rW+1rpuxF60vFRyQ7M+/j9T/0w5jixSdNvO4XlDGwfSKOYRFTSAwwhw98F7og9P0+BYv4uSu/fO44ccoawc2Z0N/YxMZotBH4WoCLPV9yKhj5mtYYyhp6iKqIxIUeydEWXFK6Xe5J9NVLbapqyJ8l5EJUowdDm+ORmjHK1HJCJCjmLSM16KF2PQscg3iHhXIl9F/RhH6G08XvglEypp6WKNq9yLwyQzclyD7h/jBK+JbBUXz83oFS0jcz+CvZRhTPVdQecgKtbcCfRnLlHBB+FigyvRyi3pHV6EwQep0S4tCBjeAdgIGYm77FkmKtYBO8C9F1u3BOH5W4+H5rzLsmAYtcuPy2fckQHB3K3IHrLkdWZEWfFc6l1WdilERRufvYiKDlH0Qp8aQ6vcuYkKjE72/ArrFHFrJ6Qnv73f4eWQXYcZogKDxuENOZ03emu35E9Ed3VZ/ZDrC0T3yYGQ4kERWWAyE/UajMz9zHhwpEPPMch+dlcSH6UgKRmtNsFe6byWrJ26rnc+UemBCGOHCQ1vSetOgEguyB7G5YgelRZJ8bwh1pjM3vaacXdmJtrWZfeQJa8PI8pKx9y97fNbExWMPT9QgjLH5cj3Xhn8dg6iorcc95TokYmKyE9mBwZ7GbydkJ4MR37PEBXLDojO6tkI/Q3JF9GELGsotadETlqH/WKigv5Dlq5SGBLniYzM/QjWUkbXP+jNeOxz2fYyGY4eZkl93Jeo6I+DtCAnBUxUr9QjRjdjXGTbmHw7um30iDkqlqtuNOu6iMojicjIUkZBZMpmJz8bGW+H19ZExXLDR5JpdRlWont4VBiXaPjsSB4VzsuIJtKzzA0akIyYp0I/o0TF8p5o73Gmn63weEs28W0kikYTXS39Mzu9IDIPM4OY0VWsp7wFVacd+xAVTKYrxrmEhPjR25jx33wmgNX4jHHhshGPjSVA0fcyg54pa+UFjJIUfFe200XbUKGfKFL5cpnJj9rZneu5mS+BqPD82oOo8Gqvl7vgtedcoR8me8gH8Q545LOTLD0CnY3rULCwu794x2Y8e3hU0E69CNP5JBlDyaHVVo5kxC7MXBRmiYwmad6CJjLGGV3VInqR71CZfYiKuFdlLz1yTayELR3P7HUmQ1RYgUSFVbvW0ZYZgzwwQFevWGGoNSRlpB2VTDuCWuydzOS3Duj76L3+dy6dqKB3rKAzmFno8GrPMzj6e1b44BxEhY1p9NRR3Rfr3hvWfdF6PWn3iIr+3fIMWaEfjCMefZYMt1/aFe0HJ6rjfa1vPdLKOJyLqLC3LRKtyIyhNS/1+xgHXKgruUW9PDrnu9sTFWvQ0Si5lNBKus2C1cuP4MFC3R5g1lHJexMDjQFfupWNs3p4Rn4vohJBaaxMxujyOETk8hKJChub2USFMfeMmGdk9yYqrKM8oiWSye9ZutA69t7TmRHJ9zD0fmeiIjl7cvSFtKF1R03EW486UC8ONxMDm/X2HYWocPrCjDzCjK7SOGBMVtwDtD1RYfeqJdDwcsDLwrt+WsKf8aigDlbunqG3wizZLW2RiRspw23ZI+nNalcRlchojZWJTn5rl4Zs/ex9+RKJCsvbTKJiLUQ8Q+wZUQvj3pjIwWQoM2JAtCzwTfW97+pdTr0VNhu5zPlMEb1tfVuPufW7JirYZQgygQMPLZ3Ii7usN0FvXODxyXpUrDOH5PC96Nwf0Sx86N4MG7Zlezt93J6oCEOV02o5eZYbFzkLJEtULIbdWolaSbRe2Gc0YdcTPkuhevkIXp2jvxdRGUXOfy8y+S3CHzVws1dWkfZGkvj0joqoR0DQjLQhYjBRxpvfKOOdbJo5A4TbFR1HeY+/FTXCWg6skA+3K7vA8yTdI3s6n8LCRIgKFrbQjbIJA0Tl3t2bdAJL33uLU6vt0OvY8IFdPPrJEpUeLmvk2MN79GyXc7X37ESFG4AJI3/4ON6IwsoSFXzf2jEDBaXdUVAASFTUbYp4MLg9kT54QobfW5dgRd7lMq3j1aN1FVGJIpUv5ykryCUMpZbLjOIdmS9rlVWLqMjqEobmlWVFLE92zniYtdpvkf8IUdD9scJEexEVbr9O8uyNmQ7nRD0wfIYI6o9g1WpHj6iwruPVP+cUyTeQywKSIjkqrVQDlJ+1yLsEojK6G8zTXqPzzqvX+X0fj0pPaWCCg7TISX+R7WMjipfjjhHgoARg4L0s+q2IihWCirTbKpPNFuc6iqiMIt9+DzKJMZaL2qQkDAl2WuibWPWlYFHjJPWNzJetiErvKPIMmR5VmOyZim7n1e22jPVeRCV6iageP8gZVtdyL1TUA4M6OHyQlT3djh5R0fha3h7rihb2hIHstC65RTuiBM2b6ZdAVBgvLwfL63NLl6y1K8Hvnpeo6EZa12RHmDnKZFg+32/T+gYmJE5pjOyJL6ISFLcDFpttxKNdxMoP2z9bBx+iHrmZVcsg2vvysoqMyKW0hW8PX3uKcIQktDwqVmgV7cwYT5SPtIHHwiITXm4K6uDVfISoeAo8ek+T7oO1ZRYJor2HD4mMhHzwjpxYyp6vkbGyjJweb5YJy6gywbVIyqvLfNIPvI5ItNX5QDPIyiUQFc7RydjInjyNzLuoTuyUW09U5FKmCY0JVwGFIxnZWaKCiYcJj9ijrDD0h0FQEA7SNzx7DWNDgEQpjmt6dVi/c70jdcg7mdWq9R0+bnmtsVvTl5nvnoOo8CrV6w+MC+QRSldvw/Te2+r3iLLq5ajwdk1230fazZ4FjxhYYQwrfAYCef/9x1sQ0TdMIrz2ZImKRbI848MhQzHS2DKKR27PlUUidGOPOGtURhIzLY8Ke3taoXYd8tJEBv8OWeB7z3QZa75libHu+9GJCsvKjBNppf+RuR+Zv8ky64lK8oObFPcmbOujVja2drdv0tiq9FAI7ElUWl4UGGq5y+rqiomFSFtJ53L/CWRU5FR2D4yAqlfOeF/mAw75QntaDxNoiwT3iAoMx9VK/7ofXmiVk9Xx/+zi7xED9iqgX60QhpXDwjhYRjqrwDNExdouHPGMzAwdMwbRkFnLwAtRYMLZIxCQz6uD6JaFJB6EN9BHznO0NkpYyeiQgbuv5bfNekQF4xW9BTp7d47g2VsMe96nEV2Bd6z0CY+Qj36L3nu2icokEKuaC0aAV1uzEu4sSKzk6NaOEygFeP3wjuX52xLyyC4Y7/uRXT9eHfK7dRaSftdbMQqx0avu3uKm5/FqJTFvRVQskoW+RxZnrQRUC3cYbSGMV8fAL148hBfx3/j3EY8Of6eVoyKeH5SPnHWCOYG6eF5YuV26Da2jMjKJ6ahP7wCL3KQdlfNMuVbyuRVajeR98re9OYfy3rzL9Mcpu56oaAGf2LBuVcxCI5N2r7bVdy4LAV59rHEJR3oORQKFiVVglBBIOALvRl3zkba0yswgazOJChsHbncURyGKnjfA2jkiIWGswK0n4mUaHRMhrdZFeF6d1imtcvP51QnhiXwnrity2GCLKPA8Qx+vCMutdo9aYR68gT5Fbn5mshKVHd0q74yfNYnV3njK7y2iAjmUDSrQMdGT2K3vcp7L6LyL9qlTbj1R2VqxW43f010/AeSq4sAI7E1UAAUMIW5gHcljkjAIlJG4wmd7XEZWYDzEGtc1ylLqtbxR+C2b34J6Irk+aL94FhBqOEJukISAEGqLJlMLgbo6AfzaSzI6HWWVLbdhZ8Pk3oFu0XbxjhbYoExOoSwWgOFI7p5HVDhUqfslHqpoXyWPiMtHLtfF2ENue+Sv146eZ1FukvbCttF+OuUuk6jM3sUwCcyq5gIRgCw9WE63lEfnf1xKdzR5kTZz/kmmLyPKm+vn5Ou1dUoyLIxL1hOQ6XuV7SMAkjBK3LRMgDitOFL9iuxj1xw8XCOGOLPLlBFhndHysl26LFmeISwM5K6+nUgKYMwTlUsHv9pfCBQChUAhUAgUAj4COsE+6sXza02XKKKShqxeKAQKgUKgECgECoG9ECiishfS9Z1CoBAoBAqBQqAQSCNQRCUNWb1QCBQChUAhUAgUAnshUERlL6TrO4VAIVAIFAKFQCGQRqCIShqyeqEQKAQKgUKgECgE9kKgiMpeSNd3CoFCoBAoBAqBQiCNQBGVNGT1QiFQCBQChUAhUAjshUARlb2Qru8UAoVAIVAIFAKFQBqBIippyOqFQqAQKAQKgUKgENgLgSIqeyFd3ykECoFCoBAoBAqBNAL/A4hJU57mcWoKAAAAAElFTkSuQmCC"/>
          <p:cNvSpPr>
            <a:spLocks noChangeAspect="1" noChangeArrowheads="1"/>
          </p:cNvSpPr>
          <p:nvPr/>
        </p:nvSpPr>
        <p:spPr bwMode="auto">
          <a:xfrm>
            <a:off x="155575" y="-2889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41033291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可以看到，十进制加法微程序流程图由四条微指令组成，每一条微指令用一个长方框表示。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FF0000"/>
                </a:solidFill>
                <a:latin typeface="楷体_GB2312" pitchFamily="49" charset="-122"/>
                <a:ea typeface="楷体_GB2312" pitchFamily="49" charset="-122"/>
              </a:rPr>
              <a:t>第一条微指令</a:t>
            </a:r>
            <a:r>
              <a:rPr lang="zh-CN" altLang="en-US" sz="2800" dirty="0" smtClean="0">
                <a:solidFill>
                  <a:srgbClr val="000000"/>
                </a:solidFill>
                <a:latin typeface="楷体_GB2312" pitchFamily="49" charset="-122"/>
                <a:ea typeface="楷体_GB2312" pitchFamily="49" charset="-122"/>
              </a:rPr>
              <a:t>为“取指”周期，它是一条专门用来取机器指令的微指令，任务有三：</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①从内存</a:t>
            </a:r>
            <a:r>
              <a:rPr lang="zh-CN" altLang="en-US" sz="2800" b="1" dirty="0" smtClean="0">
                <a:solidFill>
                  <a:srgbClr val="000000"/>
                </a:solidFill>
                <a:latin typeface="楷体_GB2312" pitchFamily="49" charset="-122"/>
                <a:ea typeface="楷体_GB2312" pitchFamily="49" charset="-122"/>
              </a:rPr>
              <a:t>取出一条机器指令</a:t>
            </a:r>
            <a:r>
              <a:rPr lang="zh-CN" altLang="en-US" sz="2800" dirty="0" smtClean="0">
                <a:solidFill>
                  <a:srgbClr val="000000"/>
                </a:solidFill>
                <a:latin typeface="楷体_GB2312" pitchFamily="49" charset="-122"/>
                <a:ea typeface="楷体_GB2312" pitchFamily="49" charset="-122"/>
              </a:rPr>
              <a:t>，并将指令放到指令寄存器</a:t>
            </a:r>
            <a:r>
              <a:rPr lang="en-US" altLang="zh-CN" sz="2800" dirty="0" smtClean="0">
                <a:solidFill>
                  <a:srgbClr val="000000"/>
                </a:solidFill>
                <a:latin typeface="楷体_GB2312" pitchFamily="49" charset="-122"/>
                <a:ea typeface="楷体_GB2312" pitchFamily="49" charset="-122"/>
              </a:rPr>
              <a:t>IR</a:t>
            </a:r>
            <a:r>
              <a:rPr lang="zh-CN" altLang="en-US" sz="2800" dirty="0" smtClean="0">
                <a:solidFill>
                  <a:srgbClr val="000000"/>
                </a:solidFill>
                <a:latin typeface="楷体_GB2312" pitchFamily="49" charset="-122"/>
                <a:ea typeface="楷体_GB2312" pitchFamily="49" charset="-122"/>
              </a:rPr>
              <a:t>。在我们的例子中，取出的是“十进制加法”指令。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②对程序计数器加</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，做好取下一条机器指令的准备。</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6144762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③对</a:t>
            </a:r>
            <a:r>
              <a:rPr lang="zh-CN" altLang="en-US" sz="2800" dirty="0">
                <a:solidFill>
                  <a:srgbClr val="000000"/>
                </a:solidFill>
                <a:latin typeface="楷体_GB2312" pitchFamily="49" charset="-122"/>
                <a:ea typeface="楷体_GB2312" pitchFamily="49" charset="-122"/>
              </a:rPr>
              <a:t>机器指令的操作码用</a:t>
            </a:r>
            <a:r>
              <a:rPr lang="en-US" altLang="zh-CN" sz="2800" dirty="0">
                <a:solidFill>
                  <a:srgbClr val="000000"/>
                </a:solidFill>
                <a:latin typeface="楷体_GB2312" pitchFamily="49" charset="-122"/>
                <a:ea typeface="楷体_GB2312" pitchFamily="49" charset="-122"/>
              </a:rPr>
              <a:t>P</a:t>
            </a:r>
            <a:r>
              <a:rPr lang="en-US" altLang="zh-CN" sz="2800" baseline="-250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进行判别测试，然后</a:t>
            </a:r>
          </a:p>
          <a:p>
            <a:pPr eaLnBrk="1" hangingPunct="1">
              <a:buNone/>
            </a:pPr>
            <a:r>
              <a:rPr lang="zh-CN" altLang="en-US" sz="2800" dirty="0" smtClean="0">
                <a:solidFill>
                  <a:srgbClr val="000000"/>
                </a:solidFill>
                <a:latin typeface="楷体_GB2312" pitchFamily="49" charset="-122"/>
                <a:ea typeface="楷体_GB2312" pitchFamily="49" charset="-122"/>
              </a:rPr>
              <a:t>修改微地址寄存器内容，给出下一条微指令的地址。</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在我们所示的微程序流程图中，每一条微指令的地址用数字示于长方框的右上角。</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注意，菱形符号代表判别测试，它的动作依附于第一条微指令。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FF0000"/>
                </a:solidFill>
                <a:latin typeface="楷体_GB2312" pitchFamily="49" charset="-122"/>
                <a:ea typeface="楷体_GB2312" pitchFamily="49" charset="-122"/>
              </a:rPr>
              <a:t>    第二条微指令</a:t>
            </a:r>
            <a:r>
              <a:rPr lang="zh-CN" altLang="en-US" sz="2800" dirty="0" smtClean="0">
                <a:latin typeface="楷体_GB2312" pitchFamily="49" charset="-122"/>
                <a:ea typeface="楷体_GB2312" pitchFamily="49" charset="-122"/>
              </a:rPr>
              <a:t>完成</a:t>
            </a:r>
            <a:r>
              <a:rPr lang="en-US" altLang="zh-CN" sz="2800" dirty="0" err="1" smtClean="0">
                <a:latin typeface="楷体_GB2312" pitchFamily="49" charset="-122"/>
                <a:ea typeface="楷体_GB2312" pitchFamily="49" charset="-122"/>
              </a:rPr>
              <a:t>a+b</a:t>
            </a:r>
            <a:r>
              <a:rPr lang="zh-CN" altLang="en-US" sz="2800" dirty="0" smtClean="0">
                <a:latin typeface="楷体_GB2312" pitchFamily="49" charset="-122"/>
                <a:ea typeface="楷体_GB2312" pitchFamily="49" charset="-122"/>
              </a:rPr>
              <a:t>运算。</a:t>
            </a:r>
            <a:endParaRPr lang="en-US" altLang="zh-CN" sz="2800" dirty="0" smtClean="0">
              <a:latin typeface="楷体_GB2312" pitchFamily="49" charset="-122"/>
              <a:ea typeface="楷体_GB2312" pitchFamily="49" charset="-122"/>
            </a:endParaRPr>
          </a:p>
          <a:p>
            <a:pPr eaLnBrk="1" hangingPunct="1">
              <a:buNone/>
            </a:pPr>
            <a:r>
              <a:rPr lang="en-US" altLang="zh-CN" sz="2800" dirty="0">
                <a:latin typeface="楷体_GB2312" pitchFamily="49" charset="-122"/>
                <a:ea typeface="楷体_GB2312" pitchFamily="49" charset="-122"/>
              </a:rPr>
              <a:t> </a:t>
            </a:r>
            <a:r>
              <a:rPr lang="en-US" altLang="zh-CN" sz="2800" dirty="0" smtClean="0">
                <a:latin typeface="楷体_GB2312" pitchFamily="49" charset="-122"/>
                <a:ea typeface="楷体_GB2312" pitchFamily="49" charset="-122"/>
              </a:rPr>
              <a:t>   </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6144762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FF0000"/>
                </a:solidFill>
                <a:latin typeface="楷体_GB2312" pitchFamily="49" charset="-122"/>
                <a:ea typeface="楷体_GB2312" pitchFamily="49" charset="-122"/>
              </a:rPr>
              <a:t>第三</a:t>
            </a:r>
            <a:r>
              <a:rPr lang="zh-CN" altLang="en-US" sz="2800" dirty="0">
                <a:solidFill>
                  <a:srgbClr val="FF0000"/>
                </a:solidFill>
                <a:latin typeface="楷体_GB2312" pitchFamily="49" charset="-122"/>
                <a:ea typeface="楷体_GB2312" pitchFamily="49" charset="-122"/>
              </a:rPr>
              <a:t>条微指令完成</a:t>
            </a:r>
            <a:r>
              <a:rPr lang="en-US" altLang="zh-CN" sz="2800" dirty="0">
                <a:latin typeface="楷体_GB2312" pitchFamily="49" charset="-122"/>
                <a:ea typeface="楷体_GB2312" pitchFamily="49" charset="-122"/>
              </a:rPr>
              <a:t>a+b+6</a:t>
            </a:r>
            <a:r>
              <a:rPr lang="zh-CN" altLang="en-US" sz="2800" dirty="0">
                <a:latin typeface="楷体_GB2312" pitchFamily="49" charset="-122"/>
                <a:ea typeface="楷体_GB2312" pitchFamily="49" charset="-122"/>
              </a:rPr>
              <a:t>运算，同时进行判别测试。</a:t>
            </a:r>
            <a:endParaRPr lang="en-US" altLang="zh-CN" sz="2800" dirty="0">
              <a:solidFill>
                <a:srgbClr val="FF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不过这一次的判别标志不是</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而是</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用来测试进位标志</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。根据测试结果，微程序或者转向</a:t>
            </a:r>
            <a:r>
              <a:rPr lang="zh-CN" altLang="en-US" sz="2800" dirty="0">
                <a:solidFill>
                  <a:srgbClr val="000000"/>
                </a:solidFill>
                <a:latin typeface="楷体_GB2312" pitchFamily="49" charset="-122"/>
                <a:ea typeface="楷体_GB2312" pitchFamily="49" charset="-122"/>
              </a:rPr>
              <a:t>第四条</a:t>
            </a:r>
            <a:r>
              <a:rPr lang="zh-CN" altLang="en-US" sz="2800" dirty="0" smtClean="0">
                <a:solidFill>
                  <a:srgbClr val="000000"/>
                </a:solidFill>
                <a:latin typeface="楷体_GB2312" pitchFamily="49" charset="-122"/>
                <a:ea typeface="楷体_GB2312" pitchFamily="49" charset="-122"/>
              </a:rPr>
              <a:t>微指令，或者</a:t>
            </a:r>
            <a:r>
              <a:rPr lang="zh-CN" altLang="en-US" sz="2800" dirty="0">
                <a:solidFill>
                  <a:srgbClr val="000000"/>
                </a:solidFill>
                <a:latin typeface="楷体_GB2312" pitchFamily="49" charset="-122"/>
                <a:ea typeface="楷体_GB2312" pitchFamily="49" charset="-122"/>
              </a:rPr>
              <a:t>公操作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当微程序转向公操作（用符合</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表示）时，如果没有外围设备请求服务，那么又转向取下一条机器指令。与此对应，第三条微指令和第四条微指令的下一个微地址就又指向第一条微指令，即“取指”微指令。</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假设我们已经按微程序流程图编好了微程序，并已事先存放到控制存储器中。同时假定用图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所示的运算器做执行部件。机器启动时，只要给出微程序在控制存储器的首地址，就可以调出所需要的微程序。</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为此，首先给出第一条微指令的地址</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（这里假定是</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），经地址译码，控制存储器选中所对应的“取指”微指令，并将其读到微指令寄存器中。</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第一条微指令的二进制编码是：</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270246446"/>
              </p:ext>
            </p:extLst>
          </p:nvPr>
        </p:nvGraphicFramePr>
        <p:xfrm>
          <a:off x="395536" y="5445224"/>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000       000        000         000        11110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10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在这条微指令中，操作控制字段有五个微命令：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第</a:t>
            </a:r>
            <a:r>
              <a:rPr lang="en-US" altLang="zh-CN" sz="2800" dirty="0" smtClean="0">
                <a:solidFill>
                  <a:srgbClr val="000000"/>
                </a:solidFill>
                <a:latin typeface="楷体_GB2312" pitchFamily="49" charset="-122"/>
                <a:ea typeface="楷体_GB2312" pitchFamily="49" charset="-122"/>
              </a:rPr>
              <a:t>13</a:t>
            </a:r>
            <a:r>
              <a:rPr lang="zh-CN" altLang="en-US" sz="2800" dirty="0" smtClean="0">
                <a:solidFill>
                  <a:srgbClr val="000000"/>
                </a:solidFill>
                <a:latin typeface="楷体_GB2312" pitchFamily="49" charset="-122"/>
                <a:ea typeface="楷体_GB2312" pitchFamily="49" charset="-122"/>
              </a:rPr>
              <a:t>位发出</a:t>
            </a:r>
            <a:r>
              <a:rPr lang="en-US" altLang="zh-CN" sz="2800" dirty="0" smtClean="0">
                <a:solidFill>
                  <a:srgbClr val="000000"/>
                </a:solidFill>
                <a:latin typeface="楷体_GB2312" pitchFamily="49" charset="-122"/>
                <a:ea typeface="楷体_GB2312" pitchFamily="49" charset="-122"/>
              </a:rPr>
              <a:t>PC</a:t>
            </a:r>
            <a:r>
              <a:rPr lang="en-US" altLang="zh-CN" sz="2800" dirty="0" smtClean="0">
                <a:solidFill>
                  <a:srgbClr val="000000"/>
                </a:solidFill>
                <a:latin typeface="Calibri"/>
                <a:ea typeface="楷体_GB2312" pitchFamily="49" charset="-122"/>
                <a:cs typeface="Calibri"/>
              </a:rPr>
              <a:t>→ABUS</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I</a:t>
            </a:r>
            <a:r>
              <a:rPr lang="zh-CN" altLang="en-US" sz="2800" dirty="0" smtClean="0">
                <a:solidFill>
                  <a:srgbClr val="000000"/>
                </a:solidFill>
                <a:latin typeface="Calibri"/>
                <a:ea typeface="楷体_GB2312" pitchFamily="49" charset="-122"/>
                <a:cs typeface="Calibri"/>
              </a:rPr>
              <a:t>），将</a:t>
            </a:r>
            <a:r>
              <a:rPr lang="en-US" altLang="zh-CN" sz="2800" dirty="0" smtClean="0">
                <a:solidFill>
                  <a:srgbClr val="000000"/>
                </a:solidFill>
                <a:latin typeface="Calibri"/>
                <a:ea typeface="楷体_GB2312" pitchFamily="49" charset="-122"/>
                <a:cs typeface="Calibri"/>
              </a:rPr>
              <a:t>PC</a:t>
            </a:r>
            <a:r>
              <a:rPr lang="zh-CN" altLang="en-US" sz="2800" dirty="0" smtClean="0">
                <a:solidFill>
                  <a:srgbClr val="000000"/>
                </a:solidFill>
                <a:latin typeface="Calibri"/>
                <a:ea typeface="楷体_GB2312" pitchFamily="49" charset="-122"/>
                <a:cs typeface="Calibri"/>
              </a:rPr>
              <a:t>内容送到指存地址总线</a:t>
            </a:r>
            <a:r>
              <a:rPr lang="en-US" altLang="zh-CN" sz="2800" dirty="0" smtClean="0">
                <a:solidFill>
                  <a:srgbClr val="000000"/>
                </a:solidFill>
                <a:latin typeface="Calibri"/>
                <a:ea typeface="楷体_GB2312" pitchFamily="49" charset="-122"/>
                <a:cs typeface="Calibri"/>
              </a:rPr>
              <a:t>ABUS</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I</a:t>
            </a:r>
            <a:r>
              <a:rPr lang="zh-CN" altLang="en-US" sz="2800" dirty="0" smtClean="0">
                <a:solidFill>
                  <a:srgbClr val="000000"/>
                </a:solidFill>
                <a:latin typeface="Calibri"/>
                <a:ea typeface="楷体_GB2312" pitchFamily="49" charset="-122"/>
                <a:cs typeface="Calibri"/>
              </a:rPr>
              <a:t>）；</a:t>
            </a:r>
            <a:endParaRPr lang="en-US" altLang="zh-CN" sz="2800" dirty="0" smtClean="0">
              <a:solidFill>
                <a:srgbClr val="000000"/>
              </a:solidFill>
              <a:latin typeface="Calibri"/>
              <a:ea typeface="楷体_GB2312" pitchFamily="49" charset="-122"/>
              <a:cs typeface="Calibri"/>
            </a:endParaRPr>
          </a:p>
          <a:p>
            <a:pPr eaLnBrk="1" hangingPunct="1">
              <a:buNone/>
            </a:pPr>
            <a:r>
              <a:rPr lang="zh-CN" altLang="en-US" sz="2800" dirty="0" smtClean="0">
                <a:solidFill>
                  <a:srgbClr val="000000"/>
                </a:solidFill>
                <a:latin typeface="Calibri"/>
                <a:ea typeface="楷体_GB2312" pitchFamily="49" charset="-122"/>
                <a:cs typeface="Calibri"/>
              </a:rPr>
              <a:t>         第</a:t>
            </a:r>
            <a:r>
              <a:rPr lang="en-US" altLang="zh-CN" sz="2800" dirty="0" smtClean="0">
                <a:solidFill>
                  <a:srgbClr val="000000"/>
                </a:solidFill>
                <a:latin typeface="Calibri"/>
                <a:ea typeface="楷体_GB2312" pitchFamily="49" charset="-122"/>
                <a:cs typeface="Calibri"/>
              </a:rPr>
              <a:t>14</a:t>
            </a:r>
            <a:r>
              <a:rPr lang="zh-CN" altLang="en-US" sz="2800" dirty="0" smtClean="0">
                <a:solidFill>
                  <a:srgbClr val="000000"/>
                </a:solidFill>
                <a:latin typeface="Calibri"/>
                <a:ea typeface="楷体_GB2312" pitchFamily="49" charset="-122"/>
                <a:cs typeface="Calibri"/>
              </a:rPr>
              <a:t>位发出指存读命令</a:t>
            </a:r>
            <a:r>
              <a:rPr lang="en-US" altLang="zh-CN" sz="2800" dirty="0" smtClean="0">
                <a:solidFill>
                  <a:srgbClr val="000000"/>
                </a:solidFill>
                <a:latin typeface="Calibri"/>
                <a:ea typeface="楷体_GB2312" pitchFamily="49" charset="-122"/>
                <a:cs typeface="Calibri"/>
              </a:rPr>
              <a:t>RD</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I</a:t>
            </a:r>
            <a:r>
              <a:rPr lang="zh-CN" altLang="en-US" sz="2800" dirty="0" smtClean="0">
                <a:solidFill>
                  <a:srgbClr val="000000"/>
                </a:solidFill>
                <a:latin typeface="Calibri"/>
                <a:ea typeface="楷体_GB2312" pitchFamily="49" charset="-122"/>
                <a:cs typeface="Calibri"/>
              </a:rPr>
              <a:t>），于是指存执行读操作，从指存单元取出“十进制加法”指令放到指令总线</a:t>
            </a:r>
            <a:r>
              <a:rPr lang="en-US" altLang="zh-CN" sz="2800" dirty="0" smtClean="0">
                <a:solidFill>
                  <a:srgbClr val="000000"/>
                </a:solidFill>
                <a:latin typeface="Calibri"/>
                <a:ea typeface="楷体_GB2312" pitchFamily="49" charset="-122"/>
                <a:cs typeface="Calibri"/>
              </a:rPr>
              <a:t>IBUS</a:t>
            </a:r>
            <a:r>
              <a:rPr lang="zh-CN" altLang="en-US" sz="2800" dirty="0" smtClean="0">
                <a:solidFill>
                  <a:srgbClr val="000000"/>
                </a:solidFill>
                <a:latin typeface="Calibri"/>
                <a:ea typeface="楷体_GB2312" pitchFamily="49" charset="-122"/>
                <a:cs typeface="Calibri"/>
              </a:rPr>
              <a:t>上，其数据通路可参阅</a:t>
            </a:r>
            <a:r>
              <a:rPr lang="en-US" altLang="zh-CN" sz="2800" dirty="0" smtClean="0">
                <a:solidFill>
                  <a:srgbClr val="000000"/>
                </a:solidFill>
                <a:latin typeface="Calibri"/>
                <a:ea typeface="楷体_GB2312" pitchFamily="49" charset="-122"/>
                <a:cs typeface="Calibri"/>
              </a:rPr>
              <a:t>5.5</a:t>
            </a:r>
            <a:r>
              <a:rPr lang="zh-CN" altLang="en-US" sz="2800" dirty="0" smtClean="0">
                <a:solidFill>
                  <a:srgbClr val="000000"/>
                </a:solidFill>
                <a:latin typeface="Calibri"/>
                <a:ea typeface="楷体_GB2312" pitchFamily="49" charset="-122"/>
                <a:cs typeface="Calibri"/>
              </a:rPr>
              <a:t>。 </a:t>
            </a:r>
            <a:endParaRPr lang="en-US" altLang="zh-CN" sz="2800" dirty="0" smtClean="0">
              <a:solidFill>
                <a:srgbClr val="000000"/>
              </a:solidFill>
              <a:latin typeface="Calibri"/>
              <a:ea typeface="楷体_GB2312" pitchFamily="49" charset="-122"/>
              <a:cs typeface="Calibri"/>
            </a:endParaRPr>
          </a:p>
          <a:p>
            <a:pPr eaLnBrk="1" hangingPunct="1">
              <a:buNone/>
            </a:pPr>
            <a:r>
              <a:rPr lang="en-US" altLang="zh-CN" sz="2800" dirty="0">
                <a:solidFill>
                  <a:srgbClr val="000000"/>
                </a:solidFill>
                <a:latin typeface="Calibri"/>
                <a:ea typeface="楷体_GB2312" pitchFamily="49" charset="-122"/>
                <a:cs typeface="Calibri"/>
              </a:rPr>
              <a:t> </a:t>
            </a:r>
            <a:r>
              <a:rPr lang="en-US" altLang="zh-CN" sz="2800" dirty="0" smtClean="0">
                <a:solidFill>
                  <a:srgbClr val="000000"/>
                </a:solidFill>
                <a:latin typeface="Calibri"/>
                <a:ea typeface="楷体_GB2312" pitchFamily="49" charset="-122"/>
                <a:cs typeface="Calibri"/>
              </a:rPr>
              <a:t>        </a:t>
            </a:r>
            <a:r>
              <a:rPr lang="zh-CN" altLang="en-US" sz="2800" dirty="0" smtClean="0">
                <a:solidFill>
                  <a:srgbClr val="000000"/>
                </a:solidFill>
                <a:latin typeface="Calibri"/>
                <a:ea typeface="楷体_GB2312" pitchFamily="49" charset="-122"/>
                <a:cs typeface="Calibri"/>
              </a:rPr>
              <a:t>第</a:t>
            </a:r>
            <a:r>
              <a:rPr lang="en-US" altLang="zh-CN" sz="2800" dirty="0" smtClean="0">
                <a:solidFill>
                  <a:srgbClr val="000000"/>
                </a:solidFill>
                <a:latin typeface="Calibri"/>
                <a:ea typeface="楷体_GB2312" pitchFamily="49" charset="-122"/>
                <a:cs typeface="Calibri"/>
              </a:rPr>
              <a:t>15</a:t>
            </a:r>
            <a:r>
              <a:rPr lang="zh-CN" altLang="en-US" sz="2800" dirty="0" smtClean="0">
                <a:solidFill>
                  <a:srgbClr val="000000"/>
                </a:solidFill>
                <a:latin typeface="Calibri"/>
                <a:ea typeface="楷体_GB2312" pitchFamily="49" charset="-122"/>
                <a:cs typeface="Calibri"/>
              </a:rPr>
              <a:t>位发出</a:t>
            </a:r>
            <a:r>
              <a:rPr lang="en-US" altLang="zh-CN" sz="2800" dirty="0" smtClean="0">
                <a:solidFill>
                  <a:srgbClr val="000000"/>
                </a:solidFill>
                <a:latin typeface="Calibri"/>
                <a:ea typeface="楷体_GB2312" pitchFamily="49" charset="-122"/>
                <a:cs typeface="Calibri"/>
              </a:rPr>
              <a:t>LDIR</a:t>
            </a:r>
            <a:r>
              <a:rPr lang="en-US" altLang="zh-CN" sz="2800" baseline="300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，将</a:t>
            </a:r>
            <a:r>
              <a:rPr lang="en-US" altLang="zh-CN" sz="2800" dirty="0" smtClean="0">
                <a:solidFill>
                  <a:srgbClr val="000000"/>
                </a:solidFill>
                <a:latin typeface="Calibri"/>
                <a:ea typeface="楷体_GB2312" pitchFamily="49" charset="-122"/>
                <a:cs typeface="Calibri"/>
              </a:rPr>
              <a:t>IBUS</a:t>
            </a:r>
            <a:r>
              <a:rPr lang="zh-CN" altLang="en-US" sz="2800" dirty="0" smtClean="0">
                <a:solidFill>
                  <a:srgbClr val="000000"/>
                </a:solidFill>
                <a:latin typeface="Calibri"/>
                <a:ea typeface="楷体_GB2312" pitchFamily="49" charset="-122"/>
                <a:cs typeface="Calibri"/>
              </a:rPr>
              <a:t>上的“十进制加法”指令打入到指令寄存器</a:t>
            </a:r>
            <a:r>
              <a:rPr lang="en-US" altLang="zh-CN" sz="2800" dirty="0" smtClean="0">
                <a:solidFill>
                  <a:srgbClr val="000000"/>
                </a:solidFill>
                <a:latin typeface="Calibri"/>
                <a:ea typeface="楷体_GB2312" pitchFamily="49" charset="-122"/>
                <a:cs typeface="Calibri"/>
              </a:rPr>
              <a:t>IR</a:t>
            </a:r>
            <a:r>
              <a:rPr lang="zh-CN" altLang="en-US" sz="2800" dirty="0" smtClean="0">
                <a:solidFill>
                  <a:srgbClr val="000000"/>
                </a:solidFill>
                <a:latin typeface="Calibri"/>
                <a:ea typeface="楷体_GB2312" pitchFamily="49" charset="-122"/>
                <a:cs typeface="Calibri"/>
              </a:rPr>
              <a:t>。假定“十进制加法”指令的操作码为</a:t>
            </a:r>
            <a:r>
              <a:rPr lang="en-US" altLang="zh-CN" sz="2800" dirty="0" smtClean="0">
                <a:solidFill>
                  <a:srgbClr val="000000"/>
                </a:solidFill>
                <a:latin typeface="Calibri"/>
                <a:ea typeface="楷体_GB2312" pitchFamily="49" charset="-122"/>
                <a:cs typeface="Calibri"/>
              </a:rPr>
              <a:t>1010</a:t>
            </a:r>
            <a:r>
              <a:rPr lang="zh-CN" altLang="en-US" sz="2800" dirty="0" smtClean="0">
                <a:solidFill>
                  <a:srgbClr val="000000"/>
                </a:solidFill>
                <a:latin typeface="Calibri"/>
                <a:ea typeface="楷体_GB2312" pitchFamily="49" charset="-122"/>
                <a:cs typeface="Calibri"/>
              </a:rPr>
              <a:t>，那么指令寄存器的</a:t>
            </a:r>
            <a:r>
              <a:rPr lang="en-US" altLang="zh-CN" sz="2800" dirty="0" smtClean="0">
                <a:solidFill>
                  <a:srgbClr val="000000"/>
                </a:solidFill>
                <a:latin typeface="Calibri"/>
                <a:ea typeface="楷体_GB2312" pitchFamily="49" charset="-122"/>
                <a:cs typeface="Calibri"/>
              </a:rPr>
              <a:t>OP</a:t>
            </a:r>
            <a:r>
              <a:rPr lang="zh-CN" altLang="en-US" sz="2800" dirty="0" smtClean="0">
                <a:solidFill>
                  <a:srgbClr val="000000"/>
                </a:solidFill>
                <a:latin typeface="Calibri"/>
                <a:ea typeface="楷体_GB2312" pitchFamily="49" charset="-122"/>
                <a:cs typeface="Calibri"/>
              </a:rPr>
              <a:t>字段，现在就是</a:t>
            </a:r>
            <a:r>
              <a:rPr lang="en-US" altLang="zh-CN" sz="2800" dirty="0" smtClean="0">
                <a:solidFill>
                  <a:srgbClr val="000000"/>
                </a:solidFill>
                <a:latin typeface="Calibri"/>
                <a:ea typeface="楷体_GB2312" pitchFamily="49" charset="-122"/>
                <a:cs typeface="Calibri"/>
              </a:rPr>
              <a:t>1010</a:t>
            </a:r>
            <a:r>
              <a:rPr lang="zh-CN" altLang="en-US" sz="2800" dirty="0" smtClean="0">
                <a:solidFill>
                  <a:srgbClr val="000000"/>
                </a:solidFill>
                <a:latin typeface="Calibri"/>
                <a:ea typeface="楷体_GB2312" pitchFamily="49" charset="-122"/>
                <a:cs typeface="Calibri"/>
              </a:rPr>
              <a:t>。</a:t>
            </a:r>
            <a:endParaRPr lang="en-US" altLang="zh-CN" sz="2800" dirty="0" smtClean="0">
              <a:solidFill>
                <a:srgbClr val="000000"/>
              </a:solidFill>
              <a:latin typeface="Calibri"/>
              <a:ea typeface="楷体_GB2312" pitchFamily="49" charset="-122"/>
              <a:cs typeface="Calibri"/>
            </a:endParaRPr>
          </a:p>
          <a:p>
            <a:pPr eaLnBrk="1" hangingPunct="1">
              <a:buNone/>
            </a:pP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第</a:t>
            </a:r>
            <a:r>
              <a:rPr lang="en-US" altLang="zh-CN" sz="2800" dirty="0" smtClean="0">
                <a:solidFill>
                  <a:srgbClr val="000000"/>
                </a:solidFill>
                <a:latin typeface="楷体_GB2312" pitchFamily="49" charset="-122"/>
                <a:ea typeface="楷体_GB2312" pitchFamily="49" charset="-122"/>
              </a:rPr>
              <a:t>16</a:t>
            </a:r>
            <a:r>
              <a:rPr lang="zh-CN" altLang="en-US" sz="2800" dirty="0" smtClean="0">
                <a:solidFill>
                  <a:srgbClr val="000000"/>
                </a:solidFill>
                <a:latin typeface="楷体_GB2312" pitchFamily="49" charset="-122"/>
                <a:ea typeface="楷体_GB2312" pitchFamily="49" charset="-122"/>
              </a:rPr>
              <a:t>位发出</a:t>
            </a:r>
            <a:r>
              <a:rPr lang="en-US" altLang="zh-CN" sz="2800" dirty="0" smtClean="0">
                <a:solidFill>
                  <a:srgbClr val="000000"/>
                </a:solidFill>
                <a:latin typeface="楷体_GB2312" pitchFamily="49" charset="-122"/>
                <a:ea typeface="楷体_GB2312" pitchFamily="49" charset="-122"/>
              </a:rPr>
              <a:t>PC+1</a:t>
            </a:r>
            <a:r>
              <a:rPr lang="zh-CN" altLang="en-US" sz="2800" dirty="0" smtClean="0">
                <a:solidFill>
                  <a:srgbClr val="000000"/>
                </a:solidFill>
                <a:latin typeface="楷体_GB2312" pitchFamily="49" charset="-122"/>
                <a:ea typeface="楷体_GB2312" pitchFamily="49" charset="-122"/>
              </a:rPr>
              <a:t>微命令，使程序计数器加</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，做好取下一条机器指令的准备。</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另一方面，微指令的顺序控制字段指明下一条微指令的地址是</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，但是由于判别字段中的第</a:t>
            </a:r>
            <a:r>
              <a:rPr lang="en-US" altLang="zh-CN" sz="2800" dirty="0" smtClean="0">
                <a:solidFill>
                  <a:srgbClr val="000000"/>
                </a:solidFill>
                <a:latin typeface="楷体_GB2312" pitchFamily="49" charset="-122"/>
                <a:ea typeface="楷体_GB2312" pitchFamily="49" charset="-122"/>
              </a:rPr>
              <a:t>18</a:t>
            </a:r>
            <a:r>
              <a:rPr lang="zh-CN" altLang="en-US" sz="2800" dirty="0" smtClean="0">
                <a:solidFill>
                  <a:srgbClr val="000000"/>
                </a:solidFill>
                <a:latin typeface="楷体_GB2312" pitchFamily="49" charset="-122"/>
                <a:ea typeface="楷体_GB2312" pitchFamily="49" charset="-122"/>
              </a:rPr>
              <a:t>位为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，表明是</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测试，因此</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不是下一条微指令的真正的地址。</a:t>
            </a:r>
            <a:r>
              <a:rPr lang="en-US" altLang="zh-CN" sz="2800" dirty="0">
                <a:solidFill>
                  <a:srgbClr val="000000"/>
                </a:solidFill>
                <a:latin typeface="楷体_GB2312" pitchFamily="49" charset="-122"/>
                <a:ea typeface="楷体_GB2312" pitchFamily="49" charset="-122"/>
              </a:rPr>
              <a:t>P</a:t>
            </a:r>
            <a:r>
              <a:rPr lang="en-US" altLang="zh-CN" sz="2800" baseline="-25000" dirty="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测试的“状态条件</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是指令寄存器的操作码字段，即用</a:t>
            </a:r>
            <a:r>
              <a:rPr lang="en-US" altLang="zh-CN" sz="2800" dirty="0" smtClean="0">
                <a:solidFill>
                  <a:srgbClr val="000000"/>
                </a:solidFill>
                <a:latin typeface="楷体_GB2312" pitchFamily="49" charset="-122"/>
                <a:ea typeface="楷体_GB2312" pitchFamily="49" charset="-122"/>
              </a:rPr>
              <a:t>OP</a:t>
            </a:r>
            <a:r>
              <a:rPr lang="zh-CN" altLang="en-US" sz="2800" dirty="0" smtClean="0">
                <a:solidFill>
                  <a:srgbClr val="000000"/>
                </a:solidFill>
                <a:latin typeface="楷体_GB2312" pitchFamily="49" charset="-122"/>
                <a:ea typeface="楷体_GB2312" pitchFamily="49" charset="-122"/>
              </a:rPr>
              <a:t>字段作为形成下</a:t>
            </a:r>
            <a:r>
              <a:rPr lang="zh-CN" altLang="en-US" sz="2800" dirty="0">
                <a:solidFill>
                  <a:srgbClr val="000000"/>
                </a:solidFill>
                <a:latin typeface="楷体_GB2312" pitchFamily="49" charset="-122"/>
                <a:ea typeface="楷体_GB2312" pitchFamily="49" charset="-122"/>
              </a:rPr>
              <a:t>一</a:t>
            </a:r>
            <a:r>
              <a:rPr lang="zh-CN" altLang="en-US" sz="2800" dirty="0" smtClean="0">
                <a:solidFill>
                  <a:srgbClr val="000000"/>
                </a:solidFill>
                <a:latin typeface="楷体_GB2312" pitchFamily="49" charset="-122"/>
                <a:ea typeface="楷体_GB2312" pitchFamily="49" charset="-122"/>
              </a:rPr>
              <a:t>条微指令的地址，于是微地址寄存器的内容修改成</a:t>
            </a:r>
            <a:r>
              <a:rPr lang="en-US" altLang="zh-CN" sz="2800" dirty="0" smtClean="0">
                <a:solidFill>
                  <a:srgbClr val="000000"/>
                </a:solidFill>
                <a:latin typeface="楷体_GB2312" pitchFamily="49" charset="-122"/>
                <a:ea typeface="楷体_GB2312" pitchFamily="49" charset="-122"/>
              </a:rPr>
              <a:t>1010</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在第二个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周期开始时，按照</a:t>
            </a:r>
            <a:r>
              <a:rPr lang="en-US" altLang="zh-CN" sz="2800" dirty="0" smtClean="0">
                <a:solidFill>
                  <a:srgbClr val="000000"/>
                </a:solidFill>
                <a:latin typeface="楷体_GB2312" pitchFamily="49" charset="-122"/>
                <a:ea typeface="楷体_GB2312" pitchFamily="49" charset="-122"/>
              </a:rPr>
              <a:t>1010</a:t>
            </a:r>
            <a:r>
              <a:rPr lang="zh-CN" altLang="en-US" sz="2800" dirty="0" smtClean="0">
                <a:solidFill>
                  <a:srgbClr val="000000"/>
                </a:solidFill>
                <a:latin typeface="楷体_GB2312" pitchFamily="49" charset="-122"/>
                <a:ea typeface="楷体_GB2312" pitchFamily="49" charset="-122"/>
              </a:rPr>
              <a:t>这个微地址读出第二条微指令，它的二进制编码是：</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1800" dirty="0" smtClean="0">
              <a:solidFill>
                <a:schemeClr val="tx2"/>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在这条微指令中，操作控制部分发出如下四条微命令：</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1</a:t>
            </a:r>
            <a:r>
              <a:rPr lang="en-US" altLang="zh-CN" sz="2800" dirty="0" smtClean="0">
                <a:solidFill>
                  <a:srgbClr val="000000"/>
                </a:solidFill>
                <a:latin typeface="Calibri"/>
                <a:ea typeface="楷体_GB2312" pitchFamily="49" charset="-122"/>
                <a:cs typeface="Calibri"/>
              </a:rPr>
              <a:t>→X</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→Y</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LDR</a:t>
            </a:r>
            <a:r>
              <a:rPr lang="en-US" altLang="zh-CN" sz="2800" baseline="-25000" dirty="0" smtClean="0">
                <a:solidFill>
                  <a:srgbClr val="000000"/>
                </a:solidFill>
                <a:latin typeface="Calibri"/>
                <a:ea typeface="楷体_GB2312" pitchFamily="49" charset="-122"/>
                <a:cs typeface="Calibri"/>
              </a:rPr>
              <a:t>2</a:t>
            </a:r>
            <a:r>
              <a:rPr lang="en-US" altLang="zh-CN" sz="2800" baseline="30000" dirty="0" smtClean="0">
                <a:solidFill>
                  <a:srgbClr val="000000"/>
                </a:solidFill>
                <a:latin typeface="Calibri"/>
                <a:ea typeface="楷体_GB2312" pitchFamily="49" charset="-122"/>
                <a:cs typeface="Calibri"/>
              </a:rPr>
              <a:t>’</a:t>
            </a:r>
            <a:r>
              <a:rPr lang="zh-CN" altLang="en-US" sz="2800" dirty="0" smtClean="0">
                <a:solidFill>
                  <a:srgbClr val="000000"/>
                </a:solidFill>
                <a:latin typeface="楷体_GB2312" pitchFamily="49" charset="-122"/>
                <a:ea typeface="楷体_GB2312" pitchFamily="49" charset="-122"/>
              </a:rPr>
              <a:t>，于是运算器完成</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1</a:t>
            </a:r>
            <a:r>
              <a:rPr lang="en-US" altLang="zh-CN"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a:solidFill>
                  <a:srgbClr val="000000"/>
                </a:solidFill>
                <a:latin typeface="Calibri"/>
                <a:ea typeface="楷体_GB2312" pitchFamily="49" charset="-122"/>
                <a:cs typeface="Calibri"/>
              </a:rPr>
              <a:t> </a:t>
            </a:r>
            <a:r>
              <a:rPr lang="en-US" altLang="zh-CN" sz="2800" dirty="0" smtClean="0">
                <a:solidFill>
                  <a:srgbClr val="000000"/>
                </a:solidFill>
                <a:latin typeface="Calibri"/>
                <a:ea typeface="楷体_GB2312" pitchFamily="49" charset="-122"/>
                <a:cs typeface="Calibri"/>
              </a:rPr>
              <a:t>→</a:t>
            </a: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的操作，其数据通路如图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与此同时，这条微指令的顺序控制部分由于判别测试字段</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和</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均为</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，表示不进行测试，于是直接给出下一条微指令的地址为</a:t>
            </a:r>
            <a:r>
              <a:rPr lang="en-US" altLang="zh-CN" sz="2800" dirty="0" smtClean="0">
                <a:solidFill>
                  <a:srgbClr val="000000"/>
                </a:solidFill>
                <a:latin typeface="楷体_GB2312" pitchFamily="49" charset="-122"/>
                <a:ea typeface="楷体_GB2312" pitchFamily="49" charset="-122"/>
              </a:rPr>
              <a:t>1001</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292714121"/>
              </p:ext>
            </p:extLst>
          </p:nvPr>
        </p:nvGraphicFramePr>
        <p:xfrm>
          <a:off x="395536" y="2708920"/>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010       100        100         100        00000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1001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在第三个</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周期开始时，按照</a:t>
            </a:r>
            <a:r>
              <a:rPr lang="en-US" altLang="zh-CN" sz="2800" dirty="0" smtClean="0">
                <a:solidFill>
                  <a:srgbClr val="000000"/>
                </a:solidFill>
                <a:latin typeface="楷体_GB2312" pitchFamily="49" charset="-122"/>
                <a:ea typeface="楷体_GB2312" pitchFamily="49" charset="-122"/>
              </a:rPr>
              <a:t>1001</a:t>
            </a:r>
            <a:r>
              <a:rPr lang="zh-CN" altLang="en-US" sz="2800" dirty="0" smtClean="0">
                <a:solidFill>
                  <a:srgbClr val="000000"/>
                </a:solidFill>
                <a:latin typeface="楷体_GB2312" pitchFamily="49" charset="-122"/>
                <a:ea typeface="楷体_GB2312" pitchFamily="49" charset="-122"/>
              </a:rPr>
              <a:t>这个</a:t>
            </a:r>
            <a:r>
              <a:rPr lang="zh-CN" altLang="en-US" sz="2800" dirty="0">
                <a:solidFill>
                  <a:srgbClr val="000000"/>
                </a:solidFill>
                <a:latin typeface="楷体_GB2312" pitchFamily="49" charset="-122"/>
                <a:ea typeface="楷体_GB2312" pitchFamily="49" charset="-122"/>
              </a:rPr>
              <a:t>微地址读出</a:t>
            </a:r>
            <a:r>
              <a:rPr lang="zh-CN" altLang="en-US" sz="2800" dirty="0" smtClean="0">
                <a:solidFill>
                  <a:srgbClr val="000000"/>
                </a:solidFill>
                <a:latin typeface="楷体_GB2312" pitchFamily="49" charset="-122"/>
                <a:ea typeface="楷体_GB2312" pitchFamily="49" charset="-122"/>
              </a:rPr>
              <a:t>第三条</a:t>
            </a:r>
            <a:r>
              <a:rPr lang="zh-CN" altLang="en-US" sz="2800" dirty="0">
                <a:solidFill>
                  <a:srgbClr val="000000"/>
                </a:solidFill>
                <a:latin typeface="楷体_GB2312" pitchFamily="49" charset="-122"/>
                <a:ea typeface="楷体_GB2312" pitchFamily="49" charset="-122"/>
              </a:rPr>
              <a:t>微指令，它的</a:t>
            </a:r>
            <a:r>
              <a:rPr lang="zh-CN" altLang="en-US" sz="2800" dirty="0" smtClean="0">
                <a:solidFill>
                  <a:srgbClr val="000000"/>
                </a:solidFill>
                <a:latin typeface="楷体_GB2312" pitchFamily="49" charset="-122"/>
                <a:ea typeface="楷体_GB2312" pitchFamily="49" charset="-122"/>
              </a:rPr>
              <a:t>二进制编码是：</a:t>
            </a:r>
            <a:endParaRPr lang="zh-CN" altLang="en-US" sz="2800" dirty="0">
              <a:solidFill>
                <a:srgbClr val="000000"/>
              </a:solidFill>
              <a:latin typeface="楷体_GB2312" pitchFamily="49" charset="-122"/>
              <a:ea typeface="楷体_GB2312" pitchFamily="49" charset="-122"/>
            </a:endParaRPr>
          </a:p>
          <a:p>
            <a:pPr eaLnBrk="1" hangingPunct="1">
              <a:buNone/>
            </a:pPr>
            <a:endParaRPr lang="en-US" altLang="zh-CN" sz="1800" dirty="0" smtClean="0">
              <a:solidFill>
                <a:schemeClr val="tx2"/>
              </a:solidFill>
              <a:latin typeface="楷体_GB2312" pitchFamily="49" charset="-122"/>
              <a:ea typeface="楷体_GB2312" pitchFamily="49" charset="-122"/>
            </a:endParaRPr>
          </a:p>
          <a:p>
            <a:pPr eaLnBrk="1" hangingPunct="1">
              <a:buNone/>
            </a:pPr>
            <a:endParaRPr lang="en-US" altLang="zh-CN" sz="1800" dirty="0">
              <a:solidFill>
                <a:schemeClr val="tx2"/>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这条微指令中，操作控制部分发出如下四条微命令：</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X</a:t>
            </a:r>
            <a:r>
              <a:rPr lang="zh-CN" altLang="en-US" sz="2800" dirty="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Y</a:t>
            </a:r>
            <a:r>
              <a:rPr lang="zh-CN" altLang="en-US" sz="2800" dirty="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a:t>
            </a:r>
            <a:r>
              <a:rPr lang="zh-CN" altLang="en-US" sz="2800" dirty="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LDR</a:t>
            </a:r>
            <a:r>
              <a:rPr lang="en-US" altLang="zh-CN" sz="2800" baseline="-25000" dirty="0">
                <a:solidFill>
                  <a:srgbClr val="000000"/>
                </a:solidFill>
                <a:latin typeface="Calibri"/>
                <a:ea typeface="楷体_GB2312" pitchFamily="49" charset="-122"/>
                <a:cs typeface="Calibri"/>
              </a:rPr>
              <a:t>2</a:t>
            </a:r>
            <a:r>
              <a:rPr lang="en-US" altLang="zh-CN" sz="2800" baseline="30000" dirty="0">
                <a:solidFill>
                  <a:srgbClr val="000000"/>
                </a:solidFill>
                <a:latin typeface="Calibri"/>
                <a:ea typeface="楷体_GB2312" pitchFamily="49" charset="-122"/>
                <a:cs typeface="Calibri"/>
              </a:rPr>
              <a:t>’</a:t>
            </a:r>
            <a:r>
              <a:rPr lang="zh-CN" altLang="en-US" sz="2800" dirty="0">
                <a:solidFill>
                  <a:srgbClr val="000000"/>
                </a:solidFill>
                <a:latin typeface="楷体_GB2312" pitchFamily="49" charset="-122"/>
                <a:ea typeface="楷体_GB2312" pitchFamily="49" charset="-122"/>
              </a:rPr>
              <a:t>，于是运算器完成</a:t>
            </a:r>
            <a:endParaRPr lang="en-US" altLang="zh-CN"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 </a:t>
            </a:r>
            <a:r>
              <a:rPr lang="en-US" altLang="zh-CN" sz="2800" dirty="0">
                <a:solidFill>
                  <a:srgbClr val="000000"/>
                </a:solidFill>
                <a:latin typeface="Calibri"/>
                <a:ea typeface="楷体_GB2312" pitchFamily="49" charset="-122"/>
                <a:cs typeface="Calibri"/>
              </a:rPr>
              <a:t>→</a:t>
            </a: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的操作。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顺序控制部分由于判别字段中</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，表明进行</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测试，测试的“状态条件”为进位标志</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。换句话说，此时微地址</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需要进行修改，我们假定用</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的状态</a:t>
            </a:r>
            <a:endParaRPr lang="en-US" altLang="zh-CN" sz="2800" dirty="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72994308"/>
              </p:ext>
            </p:extLst>
          </p:nvPr>
        </p:nvGraphicFramePr>
        <p:xfrm>
          <a:off x="395536" y="2708920"/>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010       001        001        100        00000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1001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来修改微地址寄存器的最后一位：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当</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时，下一条微指令的地址为</a:t>
            </a:r>
            <a:r>
              <a:rPr lang="en-US" altLang="zh-CN" sz="2800" dirty="0" smtClean="0">
                <a:solidFill>
                  <a:srgbClr val="000000"/>
                </a:solidFill>
                <a:latin typeface="楷体_GB2312" pitchFamily="49" charset="-122"/>
                <a:ea typeface="楷体_GB2312" pitchFamily="49" charset="-122"/>
              </a:rPr>
              <a:t>0001</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当</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a:t>
            </a:r>
            <a:r>
              <a:rPr lang="zh-CN" altLang="en-US" sz="2800" dirty="0">
                <a:solidFill>
                  <a:srgbClr val="000000"/>
                </a:solidFill>
                <a:latin typeface="楷体_GB2312" pitchFamily="49" charset="-122"/>
                <a:ea typeface="楷体_GB2312" pitchFamily="49" charset="-122"/>
              </a:rPr>
              <a:t>，下一条微指令的地址为</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a:t>
            </a:r>
            <a:endParaRPr lang="en-US" altLang="zh-CN" sz="2800"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显然，在测试这一个状态时，有两条微指令作为要执行的下一条微指令的“候选”微指令。</a:t>
            </a:r>
          </a:p>
        </p:txBody>
      </p:sp>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a:t>
            </a: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现在我们假设</a:t>
            </a: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y</a:t>
            </a:r>
            <a:r>
              <a:rPr lang="en-US" altLang="zh-CN" sz="2800" dirty="0">
                <a:solidFill>
                  <a:srgbClr val="000000"/>
                </a:solidFill>
                <a:latin typeface="楷体_GB2312" pitchFamily="49" charset="-122"/>
                <a:ea typeface="楷体_GB2312" pitchFamily="49" charset="-122"/>
              </a:rPr>
              <a:t>=0</a:t>
            </a:r>
            <a:r>
              <a:rPr lang="zh-CN" altLang="en-US" sz="2800" dirty="0">
                <a:solidFill>
                  <a:srgbClr val="000000"/>
                </a:solidFill>
                <a:latin typeface="楷体_GB2312" pitchFamily="49" charset="-122"/>
                <a:ea typeface="楷体_GB2312" pitchFamily="49" charset="-122"/>
              </a:rPr>
              <a:t>，则要执行的下一条微指令地址为</a:t>
            </a:r>
            <a:r>
              <a:rPr lang="en-US" altLang="zh-CN" sz="2800" dirty="0">
                <a:solidFill>
                  <a:srgbClr val="000000"/>
                </a:solidFill>
                <a:latin typeface="楷体_GB2312" pitchFamily="49" charset="-122"/>
                <a:ea typeface="楷体_GB2312" pitchFamily="49" charset="-122"/>
              </a:rPr>
              <a:t>0001</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在第四个</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周期开始时，</a:t>
            </a:r>
            <a:r>
              <a:rPr lang="zh-CN" altLang="en-US" sz="2800" dirty="0" smtClean="0">
                <a:solidFill>
                  <a:srgbClr val="000000"/>
                </a:solidFill>
                <a:latin typeface="楷体_GB2312" pitchFamily="49" charset="-122"/>
                <a:ea typeface="楷体_GB2312" pitchFamily="49" charset="-122"/>
              </a:rPr>
              <a:t>按照</a:t>
            </a:r>
            <a:r>
              <a:rPr lang="en-US" altLang="zh-CN" sz="2800" dirty="0" smtClean="0">
                <a:solidFill>
                  <a:srgbClr val="000000"/>
                </a:solidFill>
                <a:latin typeface="楷体_GB2312" pitchFamily="49" charset="-122"/>
                <a:ea typeface="楷体_GB2312" pitchFamily="49" charset="-122"/>
              </a:rPr>
              <a:t>0001</a:t>
            </a:r>
            <a:r>
              <a:rPr lang="zh-CN" altLang="en-US" sz="2800" dirty="0">
                <a:solidFill>
                  <a:srgbClr val="000000"/>
                </a:solidFill>
                <a:latin typeface="楷体_GB2312" pitchFamily="49" charset="-122"/>
                <a:ea typeface="楷体_GB2312" pitchFamily="49" charset="-122"/>
              </a:rPr>
              <a:t>这个微地址读出</a:t>
            </a:r>
            <a:r>
              <a:rPr lang="zh-CN" altLang="en-US" sz="2800" dirty="0" smtClean="0">
                <a:solidFill>
                  <a:srgbClr val="000000"/>
                </a:solidFill>
                <a:latin typeface="楷体_GB2312" pitchFamily="49" charset="-122"/>
                <a:ea typeface="楷体_GB2312" pitchFamily="49" charset="-122"/>
              </a:rPr>
              <a:t>第四条</a:t>
            </a:r>
            <a:r>
              <a:rPr lang="zh-CN" altLang="en-US" sz="2800" dirty="0">
                <a:solidFill>
                  <a:srgbClr val="000000"/>
                </a:solidFill>
                <a:latin typeface="楷体_GB2312" pitchFamily="49" charset="-122"/>
                <a:ea typeface="楷体_GB2312" pitchFamily="49" charset="-122"/>
              </a:rPr>
              <a:t>微指令，它的二进制编码</a:t>
            </a:r>
            <a:r>
              <a:rPr lang="zh-CN" altLang="en-US" sz="2800" dirty="0" smtClean="0">
                <a:solidFill>
                  <a:srgbClr val="000000"/>
                </a:solidFill>
                <a:latin typeface="楷体_GB2312" pitchFamily="49" charset="-122"/>
                <a:ea typeface="楷体_GB2312" pitchFamily="49" charset="-122"/>
              </a:rPr>
              <a:t>是</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lvl="0" eaLnBrk="1" hangingPunct="1">
              <a:buClr>
                <a:srgbClr val="969696"/>
              </a:buClr>
              <a:buNone/>
            </a:pPr>
            <a:r>
              <a:rPr lang="zh-CN" altLang="en-US"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微指令</a:t>
            </a:r>
            <a:r>
              <a:rPr lang="zh-CN" altLang="en-US" sz="2800" dirty="0" smtClean="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→X</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→Y</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LDR</a:t>
            </a:r>
            <a:r>
              <a:rPr lang="en-US" altLang="zh-CN" sz="2800" baseline="-25000" dirty="0" smtClean="0">
                <a:solidFill>
                  <a:srgbClr val="000000"/>
                </a:solidFill>
                <a:latin typeface="Calibri"/>
                <a:ea typeface="楷体_GB2312" pitchFamily="49" charset="-122"/>
                <a:cs typeface="Calibri"/>
              </a:rPr>
              <a:t>2</a:t>
            </a:r>
            <a:r>
              <a:rPr lang="en-US" altLang="zh-CN" sz="2800" baseline="300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rPr>
              <a:t>的微命令，运算器完成</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 </a:t>
            </a:r>
            <a:r>
              <a:rPr lang="en-US" altLang="zh-CN" sz="2800" dirty="0">
                <a:solidFill>
                  <a:srgbClr val="000000"/>
                </a:solidFill>
                <a:latin typeface="Calibri"/>
                <a:ea typeface="楷体_GB2312" pitchFamily="49" charset="-122"/>
                <a:cs typeface="Calibri"/>
              </a:rPr>
              <a:t>→</a:t>
            </a:r>
            <a:r>
              <a:rPr lang="en-US" altLang="zh-CN" sz="2800" dirty="0">
                <a:solidFill>
                  <a:srgbClr val="000000"/>
                </a:solidFill>
                <a:latin typeface="楷体_GB2312" pitchFamily="49" charset="-122"/>
                <a:ea typeface="楷体_GB2312" pitchFamily="49" charset="-122"/>
              </a:rPr>
              <a:t> R</a:t>
            </a:r>
            <a:r>
              <a:rPr lang="en-US" altLang="zh-CN" sz="2800" baseline="-250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的操作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lvl="0" eaLnBrk="1" hangingPunct="1">
              <a:buClr>
                <a:srgbClr val="969696"/>
              </a:buClr>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顺序控制部分直接给出下一条微指令的地址为</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，按该地址取出的微指令是“取指”微命令。</a:t>
            </a:r>
            <a:endParaRPr lang="en-US" altLang="zh-CN" sz="2800" dirty="0" smtClean="0">
              <a:solidFill>
                <a:srgbClr val="000000"/>
              </a:solidFill>
              <a:latin typeface="楷体_GB2312" pitchFamily="49" charset="-122"/>
              <a:ea typeface="楷体_GB2312" pitchFamily="49" charset="-122"/>
            </a:endParaRPr>
          </a:p>
          <a:p>
            <a:pPr lvl="0" eaLnBrk="1" hangingPunct="1">
              <a:buClr>
                <a:srgbClr val="969696"/>
              </a:buClr>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endParaRPr lang="zh-CN" altLang="en-US" sz="1800" dirty="0">
              <a:solidFill>
                <a:schemeClr val="tx2"/>
              </a:solidFill>
              <a:latin typeface="楷体_GB2312" pitchFamily="49" charset="-122"/>
              <a:ea typeface="楷体_GB2312"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483319036"/>
              </p:ext>
            </p:extLst>
          </p:nvPr>
        </p:nvGraphicFramePr>
        <p:xfrm>
          <a:off x="395536" y="3356992"/>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010       001        001        001        00000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如果第三条微指令进行测试时</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，那么微地址仍保持为</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，将不执行第四条微指令而直接由第三条微指令转向公操作。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当下一个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周期开始时，“取指”微指令又从内存读出第二条机器指令。如果这条机器指令是</a:t>
            </a:r>
            <a:r>
              <a:rPr lang="en-US" altLang="zh-CN" sz="2800" dirty="0" smtClean="0">
                <a:solidFill>
                  <a:srgbClr val="000000"/>
                </a:solidFill>
                <a:latin typeface="楷体_GB2312" pitchFamily="49" charset="-122"/>
                <a:ea typeface="楷体_GB2312" pitchFamily="49" charset="-122"/>
              </a:rPr>
              <a:t>STO</a:t>
            </a:r>
            <a:r>
              <a:rPr lang="zh-CN" altLang="en-US" sz="2800" dirty="0" smtClean="0">
                <a:solidFill>
                  <a:srgbClr val="000000"/>
                </a:solidFill>
                <a:latin typeface="楷体_GB2312" pitchFamily="49" charset="-122"/>
                <a:ea typeface="楷体_GB2312" pitchFamily="49" charset="-122"/>
              </a:rPr>
              <a:t>指令，那么经过</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测试，就转向执行</a:t>
            </a:r>
            <a:r>
              <a:rPr lang="en-US" altLang="zh-CN" sz="2800" dirty="0" smtClean="0">
                <a:solidFill>
                  <a:srgbClr val="000000"/>
                </a:solidFill>
                <a:latin typeface="楷体_GB2312" pitchFamily="49" charset="-122"/>
                <a:ea typeface="楷体_GB2312" pitchFamily="49" charset="-122"/>
              </a:rPr>
              <a:t>STO</a:t>
            </a:r>
            <a:r>
              <a:rPr lang="zh-CN" altLang="en-US" sz="2800" dirty="0" smtClean="0">
                <a:solidFill>
                  <a:srgbClr val="000000"/>
                </a:solidFill>
                <a:latin typeface="楷体_GB2312" pitchFamily="49" charset="-122"/>
                <a:ea typeface="楷体_GB2312" pitchFamily="49" charset="-122"/>
              </a:rPr>
              <a:t>指令的微程序。</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以上是由四条微指令序列组成的简单微程序。从这个简单的控制模型中，我们就可以看到微程序的主要思想及大概过程。</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8638856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a:solidFill>
                  <a:srgbClr val="000000"/>
                </a:solidFill>
                <a:latin typeface="楷体_GB2312" pitchFamily="49" charset="-122"/>
                <a:ea typeface="楷体_GB2312" pitchFamily="49" charset="-122"/>
              </a:rPr>
              <a:t>5.CPU</a:t>
            </a:r>
            <a:r>
              <a:rPr lang="zh-CN" altLang="en-US" sz="2800" b="1" dirty="0">
                <a:solidFill>
                  <a:srgbClr val="000000"/>
                </a:solidFill>
                <a:latin typeface="楷体_GB2312" pitchFamily="49" charset="-122"/>
                <a:ea typeface="楷体_GB2312" pitchFamily="49" charset="-122"/>
              </a:rPr>
              <a:t>周期与微指令周期的关系</a:t>
            </a:r>
            <a:endParaRPr lang="en-US" altLang="zh-CN" sz="2800" b="1"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微指令周期等于读出微指令的时间加上执行该微指令的时间。为了保证整个机器控制信号的同步，</a:t>
            </a:r>
            <a:r>
              <a:rPr lang="zh-CN" altLang="en-US" sz="2800" b="1" dirty="0" smtClean="0">
                <a:solidFill>
                  <a:srgbClr val="000000"/>
                </a:solidFill>
                <a:latin typeface="楷体_GB2312" pitchFamily="49" charset="-122"/>
                <a:ea typeface="楷体_GB2312" pitchFamily="49" charset="-122"/>
              </a:rPr>
              <a:t>通常设计微指令周期（时间）等于</a:t>
            </a:r>
            <a:r>
              <a:rPr lang="en-US" altLang="zh-CN" sz="2800" b="1" dirty="0" smtClean="0">
                <a:solidFill>
                  <a:srgbClr val="000000"/>
                </a:solidFill>
                <a:latin typeface="楷体_GB2312" pitchFamily="49" charset="-122"/>
                <a:ea typeface="楷体_GB2312" pitchFamily="49" charset="-122"/>
              </a:rPr>
              <a:t>CPU</a:t>
            </a:r>
            <a:r>
              <a:rPr lang="zh-CN" altLang="en-US" sz="2800" b="1" dirty="0" smtClean="0">
                <a:solidFill>
                  <a:srgbClr val="000000"/>
                </a:solidFill>
                <a:latin typeface="楷体_GB2312" pitchFamily="49" charset="-122"/>
                <a:ea typeface="楷体_GB2312" pitchFamily="49" charset="-122"/>
              </a:rPr>
              <a:t>周期（时间）</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5.25</a:t>
            </a:r>
            <a:r>
              <a:rPr lang="zh-CN" altLang="en-US" sz="2800" dirty="0" smtClean="0">
                <a:solidFill>
                  <a:srgbClr val="000000"/>
                </a:solidFill>
                <a:latin typeface="楷体_GB2312" pitchFamily="49" charset="-122"/>
                <a:ea typeface="楷体_GB2312" pitchFamily="49" charset="-122"/>
              </a:rPr>
              <a:t>示出了某计算机中</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周期与微指令周期的时间关系。</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周期为</a:t>
            </a:r>
            <a:r>
              <a:rPr lang="en-US" altLang="zh-CN" sz="2800" dirty="0" smtClean="0">
                <a:solidFill>
                  <a:srgbClr val="000000"/>
                </a:solidFill>
                <a:latin typeface="楷体_GB2312" pitchFamily="49" charset="-122"/>
                <a:ea typeface="楷体_GB2312" pitchFamily="49" charset="-122"/>
              </a:rPr>
              <a:t>0.8</a:t>
            </a:r>
            <a:r>
              <a:rPr lang="el-GR" altLang="zh-CN" sz="2800" dirty="0">
                <a:solidFill>
                  <a:srgbClr val="000000"/>
                </a:solidFill>
                <a:latin typeface="arial"/>
              </a:rPr>
              <a:t>μ</a:t>
            </a:r>
            <a:r>
              <a:rPr lang="en-US" altLang="zh-CN" sz="2800" dirty="0" smtClean="0">
                <a:solidFill>
                  <a:srgbClr val="000000"/>
                </a:solidFill>
                <a:latin typeface="arial"/>
              </a:rPr>
              <a:t>s</a:t>
            </a:r>
            <a:r>
              <a:rPr lang="zh-CN" altLang="en-US" sz="2800" dirty="0" smtClean="0">
                <a:solidFill>
                  <a:srgbClr val="000000"/>
                </a:solidFill>
                <a:latin typeface="arial"/>
              </a:rPr>
              <a:t>，它包含四个等间隔的节拍脉冲</a:t>
            </a:r>
            <a:r>
              <a:rPr lang="en-US" altLang="zh-CN" sz="2800" dirty="0" smtClean="0">
                <a:solidFill>
                  <a:srgbClr val="000000"/>
                </a:solidFill>
                <a:latin typeface="arial"/>
              </a:rPr>
              <a:t>T</a:t>
            </a:r>
            <a:r>
              <a:rPr lang="en-US" altLang="zh-CN" sz="2800" baseline="-25000" dirty="0" smtClean="0">
                <a:solidFill>
                  <a:srgbClr val="000000"/>
                </a:solidFill>
                <a:latin typeface="arial"/>
              </a:rPr>
              <a:t>1</a:t>
            </a:r>
            <a:r>
              <a:rPr lang="en-US" altLang="zh-CN" sz="2800" dirty="0" smtClean="0">
                <a:solidFill>
                  <a:srgbClr val="000000"/>
                </a:solidFill>
                <a:latin typeface="arial"/>
              </a:rPr>
              <a:t>~T</a:t>
            </a:r>
            <a:r>
              <a:rPr lang="en-US" altLang="zh-CN" sz="2800" baseline="-25000" dirty="0" smtClean="0">
                <a:solidFill>
                  <a:srgbClr val="000000"/>
                </a:solidFill>
                <a:latin typeface="arial"/>
              </a:rPr>
              <a:t>4</a:t>
            </a:r>
            <a:r>
              <a:rPr lang="zh-CN" altLang="en-US" sz="2800" dirty="0" smtClean="0">
                <a:solidFill>
                  <a:srgbClr val="000000"/>
                </a:solidFill>
                <a:latin typeface="arial"/>
              </a:rPr>
              <a:t>，每个脉冲宽度为</a:t>
            </a:r>
            <a:r>
              <a:rPr lang="en-US" altLang="zh-CN" sz="2800" dirty="0" smtClean="0">
                <a:solidFill>
                  <a:srgbClr val="000000"/>
                </a:solidFill>
                <a:latin typeface="arial"/>
              </a:rPr>
              <a:t>200ns</a:t>
            </a:r>
            <a:r>
              <a:rPr lang="zh-CN" altLang="en-US" sz="2800" dirty="0" smtClean="0">
                <a:solidFill>
                  <a:srgbClr val="000000"/>
                </a:solidFill>
                <a:latin typeface="arial"/>
              </a:rPr>
              <a:t>。用</a:t>
            </a:r>
            <a:r>
              <a:rPr lang="en-US" altLang="zh-CN" sz="2800" dirty="0" smtClean="0">
                <a:solidFill>
                  <a:srgbClr val="000000"/>
                </a:solidFill>
                <a:latin typeface="arial"/>
              </a:rPr>
              <a:t>T</a:t>
            </a:r>
            <a:r>
              <a:rPr lang="en-US" altLang="zh-CN" sz="2800" baseline="-25000" dirty="0" smtClean="0">
                <a:solidFill>
                  <a:srgbClr val="000000"/>
                </a:solidFill>
                <a:latin typeface="arial"/>
              </a:rPr>
              <a:t>4</a:t>
            </a:r>
            <a:r>
              <a:rPr lang="zh-CN" altLang="en-US" sz="2800" dirty="0" smtClean="0">
                <a:solidFill>
                  <a:srgbClr val="000000"/>
                </a:solidFill>
                <a:latin typeface="arial"/>
              </a:rPr>
              <a:t>作为读取微指令的时间，用</a:t>
            </a:r>
            <a:r>
              <a:rPr lang="en-US" altLang="zh-CN" sz="2800" dirty="0" smtClean="0">
                <a:solidFill>
                  <a:srgbClr val="000000"/>
                </a:solidFill>
                <a:latin typeface="arial"/>
              </a:rPr>
              <a:t>T</a:t>
            </a:r>
            <a:r>
              <a:rPr lang="en-US" altLang="zh-CN" sz="2800" baseline="-25000" dirty="0" smtClean="0">
                <a:solidFill>
                  <a:srgbClr val="000000"/>
                </a:solidFill>
                <a:latin typeface="arial"/>
              </a:rPr>
              <a:t>1</a:t>
            </a:r>
            <a:r>
              <a:rPr lang="en-US" altLang="zh-CN" sz="2800" dirty="0" smtClean="0">
                <a:solidFill>
                  <a:srgbClr val="000000"/>
                </a:solidFill>
                <a:latin typeface="arial"/>
              </a:rPr>
              <a:t>+T</a:t>
            </a:r>
            <a:r>
              <a:rPr lang="en-US" altLang="zh-CN" sz="2800" baseline="-25000" dirty="0" smtClean="0">
                <a:solidFill>
                  <a:srgbClr val="000000"/>
                </a:solidFill>
                <a:latin typeface="arial"/>
              </a:rPr>
              <a:t>2</a:t>
            </a:r>
            <a:r>
              <a:rPr lang="en-US" altLang="zh-CN" sz="2800" dirty="0" smtClean="0">
                <a:solidFill>
                  <a:srgbClr val="000000"/>
                </a:solidFill>
                <a:latin typeface="arial"/>
              </a:rPr>
              <a:t>+T</a:t>
            </a:r>
            <a:r>
              <a:rPr lang="en-US" altLang="zh-CN" sz="2800" baseline="-25000" dirty="0" smtClean="0">
                <a:solidFill>
                  <a:srgbClr val="000000"/>
                </a:solidFill>
                <a:latin typeface="arial"/>
              </a:rPr>
              <a:t>3</a:t>
            </a:r>
            <a:r>
              <a:rPr lang="zh-CN" altLang="en-US" sz="2800" dirty="0" smtClean="0">
                <a:solidFill>
                  <a:srgbClr val="000000"/>
                </a:solidFill>
                <a:latin typeface="arial"/>
              </a:rPr>
              <a:t>时间作为执行微命令的时间。</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3609"/>
            <a:ext cx="9144000" cy="5550782"/>
          </a:xfrm>
          <a:prstGeom prst="rect">
            <a:avLst/>
          </a:prstGeom>
        </p:spPr>
      </p:pic>
    </p:spTree>
    <p:extLst>
      <p:ext uri="{BB962C8B-B14F-4D97-AF65-F5344CB8AC3E}">
        <p14:creationId xmlns:p14="http://schemas.microsoft.com/office/powerpoint/2010/main" val="1255660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5.</a:t>
            </a:r>
            <a:r>
              <a:rPr lang="zh-CN" altLang="en-US" sz="2800" b="1" dirty="0" smtClean="0">
                <a:solidFill>
                  <a:srgbClr val="000000"/>
                </a:solidFill>
                <a:latin typeface="楷体_GB2312" pitchFamily="49" charset="-122"/>
                <a:ea typeface="楷体_GB2312" pitchFamily="49" charset="-122"/>
              </a:rPr>
              <a:t>机器指令与微指令的关系</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前面讲述的内容，一会是取机器指令，一会是取微指令，它们之间到底是什么关系？现在让我们对前面学习的内容归纳总结一下：</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第一、一条机器指令对应一个微程序，而这个微程序是由若干条微指令（按一定序列）组成的。因此，一条机器指令所完成的操作被划分成若干条微指令来完成。</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第二、从指令与微指令，程序与微程序，地址与微地址的一一对应关系来看，前者与内存储器有关，后者与控制存储器有关。与此相关，也有对应的硬件设备，如图</a:t>
            </a:r>
            <a:r>
              <a:rPr lang="en-US" altLang="zh-CN" sz="2800" dirty="0" smtClean="0">
                <a:solidFill>
                  <a:srgbClr val="000000"/>
                </a:solidFill>
                <a:latin typeface="楷体_GB2312" pitchFamily="49" charset="-122"/>
                <a:ea typeface="楷体_GB2312" pitchFamily="49" charset="-122"/>
              </a:rPr>
              <a:t>5.26</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287" y="0"/>
            <a:ext cx="8565425" cy="6858000"/>
          </a:xfrm>
          <a:prstGeom prst="rect">
            <a:avLst/>
          </a:prstGeom>
        </p:spPr>
      </p:pic>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第三、我们在讲述</a:t>
            </a:r>
            <a:r>
              <a:rPr lang="en-US" altLang="zh-CN" sz="2800" dirty="0" smtClean="0">
                <a:solidFill>
                  <a:srgbClr val="000000"/>
                </a:solidFill>
                <a:latin typeface="楷体_GB2312" pitchFamily="49" charset="-122"/>
                <a:ea typeface="楷体_GB2312" pitchFamily="49" charset="-122"/>
              </a:rPr>
              <a:t>5.2</a:t>
            </a:r>
            <a:r>
              <a:rPr lang="zh-CN" altLang="en-US" sz="2800" dirty="0" smtClean="0">
                <a:solidFill>
                  <a:srgbClr val="000000"/>
                </a:solidFill>
                <a:latin typeface="楷体_GB2312" pitchFamily="49" charset="-122"/>
                <a:ea typeface="楷体_GB2312" pitchFamily="49" charset="-122"/>
              </a:rPr>
              <a:t>节时，曾讲述了指令与机器周期概念，并归纳了五条典型指令的指令周期（参见图</a:t>
            </a:r>
            <a:r>
              <a:rPr lang="en-US" altLang="zh-CN" sz="2800" dirty="0" smtClean="0">
                <a:solidFill>
                  <a:srgbClr val="000000"/>
                </a:solidFill>
                <a:latin typeface="楷体_GB2312" pitchFamily="49" charset="-122"/>
                <a:ea typeface="楷体_GB2312" pitchFamily="49" charset="-122"/>
              </a:rPr>
              <a:t>5.14</a:t>
            </a:r>
            <a:r>
              <a:rPr lang="zh-CN" altLang="en-US" sz="2800" dirty="0" smtClean="0">
                <a:solidFill>
                  <a:srgbClr val="000000"/>
                </a:solidFill>
                <a:latin typeface="楷体_GB2312" pitchFamily="49" charset="-122"/>
                <a:ea typeface="楷体_GB2312" pitchFamily="49" charset="-122"/>
              </a:rPr>
              <a:t>）。现在我们看到，图</a:t>
            </a:r>
            <a:r>
              <a:rPr lang="en-US" altLang="zh-CN" sz="2800" dirty="0" smtClean="0">
                <a:solidFill>
                  <a:srgbClr val="000000"/>
                </a:solidFill>
                <a:latin typeface="楷体_GB2312" pitchFamily="49" charset="-122"/>
                <a:ea typeface="楷体_GB2312" pitchFamily="49" charset="-122"/>
              </a:rPr>
              <a:t>5.14</a:t>
            </a:r>
            <a:r>
              <a:rPr lang="zh-CN" altLang="en-US" sz="2800" dirty="0" smtClean="0">
                <a:solidFill>
                  <a:srgbClr val="000000"/>
                </a:solidFill>
                <a:latin typeface="楷体_GB2312" pitchFamily="49" charset="-122"/>
                <a:ea typeface="楷体_GB2312" pitchFamily="49" charset="-122"/>
              </a:rPr>
              <a:t>就是这五条指令的微程序流程图，每一个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周期就对应一条微指令。这就告诉我们如何设计微程序，也将使我们进一步体验到机器指令与微指令的关系。</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332"/>
            <a:ext cx="9144000" cy="6589336"/>
          </a:xfrm>
          <a:prstGeom prst="rect">
            <a:avLst/>
          </a:prstGeom>
        </p:spPr>
      </p:pic>
    </p:spTree>
    <p:extLst>
      <p:ext uri="{BB962C8B-B14F-4D97-AF65-F5344CB8AC3E}">
        <p14:creationId xmlns:p14="http://schemas.microsoft.com/office/powerpoint/2010/main" val="358906894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我们已经了解了微程序控制器的基本原理。这使我们认识到，如何确定微指令的结构，乃是微程序设计的关键。</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设计微指令结构应该追求的目标是：</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zh-CN" sz="2800" dirty="0" smtClean="0">
                <a:solidFill>
                  <a:srgbClr val="000000"/>
                </a:solidFill>
                <a:latin typeface="楷体_GB2312" pitchFamily="49" charset="-122"/>
                <a:ea typeface="楷体_GB2312" pitchFamily="49" charset="-122"/>
              </a:rPr>
              <a:t>①</a:t>
            </a:r>
            <a:r>
              <a:rPr lang="zh-CN" altLang="en-US" sz="2800" dirty="0" smtClean="0">
                <a:solidFill>
                  <a:srgbClr val="000000"/>
                </a:solidFill>
                <a:latin typeface="楷体_GB2312" pitchFamily="49" charset="-122"/>
                <a:ea typeface="楷体_GB2312" pitchFamily="49" charset="-122"/>
              </a:rPr>
              <a:t>有利于缩短微指令字长度；</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②</a:t>
            </a:r>
            <a:r>
              <a:rPr lang="zh-CN" altLang="en-US" sz="2800" dirty="0" smtClean="0">
                <a:solidFill>
                  <a:srgbClr val="000000"/>
                </a:solidFill>
                <a:latin typeface="楷体_GB2312" pitchFamily="49" charset="-122"/>
                <a:ea typeface="楷体_GB2312" pitchFamily="49" charset="-122"/>
                <a:cs typeface="Calibri"/>
              </a:rPr>
              <a:t>有利于减小控制存储器的容量；</a:t>
            </a:r>
            <a:endParaRPr lang="en-US" altLang="zh-CN" sz="2800" dirty="0" smtClean="0">
              <a:solidFill>
                <a:srgbClr val="000000"/>
              </a:solidFill>
              <a:latin typeface="楷体_GB2312" pitchFamily="49" charset="-122"/>
              <a:ea typeface="楷体_GB2312" pitchFamily="49" charset="-122"/>
              <a:cs typeface="Calibri"/>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③</a:t>
            </a:r>
            <a:r>
              <a:rPr lang="zh-CN" altLang="en-US" sz="2800" dirty="0" smtClean="0">
                <a:solidFill>
                  <a:srgbClr val="000000"/>
                </a:solidFill>
                <a:latin typeface="楷体_GB2312" pitchFamily="49" charset="-122"/>
                <a:ea typeface="楷体_GB2312" pitchFamily="49" charset="-122"/>
                <a:cs typeface="Calibri"/>
              </a:rPr>
              <a:t>有利于提高微程序的执行速度；</a:t>
            </a:r>
            <a:endParaRPr lang="en-US" altLang="zh-CN" sz="2800" dirty="0" smtClean="0">
              <a:solidFill>
                <a:srgbClr val="000000"/>
              </a:solidFill>
              <a:latin typeface="楷体_GB2312" pitchFamily="49" charset="-122"/>
              <a:ea typeface="楷体_GB2312" pitchFamily="49" charset="-122"/>
              <a:cs typeface="Calibri"/>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④</a:t>
            </a:r>
            <a:r>
              <a:rPr lang="zh-CN" altLang="en-US" sz="2800" dirty="0" smtClean="0">
                <a:solidFill>
                  <a:srgbClr val="000000"/>
                </a:solidFill>
                <a:latin typeface="楷体_GB2312" pitchFamily="49" charset="-122"/>
                <a:ea typeface="楷体_GB2312" pitchFamily="49" charset="-122"/>
                <a:cs typeface="Calibri"/>
              </a:rPr>
              <a:t>有利于对微指令的修改；</a:t>
            </a:r>
            <a:endParaRPr lang="en-US" altLang="zh-CN" sz="2800" dirty="0" smtClean="0">
              <a:solidFill>
                <a:srgbClr val="000000"/>
              </a:solidFill>
              <a:latin typeface="楷体_GB2312" pitchFamily="49" charset="-122"/>
              <a:ea typeface="楷体_GB2312" pitchFamily="49" charset="-122"/>
              <a:cs typeface="Calibri"/>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⑤</a:t>
            </a:r>
            <a:r>
              <a:rPr lang="zh-CN" altLang="en-US" sz="2800" dirty="0" smtClean="0">
                <a:solidFill>
                  <a:srgbClr val="000000"/>
                </a:solidFill>
                <a:latin typeface="楷体_GB2312" pitchFamily="49" charset="-122"/>
                <a:ea typeface="楷体_GB2312" pitchFamily="49" charset="-122"/>
                <a:cs typeface="Calibri"/>
              </a:rPr>
              <a:t>有利于提高微程序设计的灵活性；</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en-US" altLang="zh-CN" sz="2800" b="1" dirty="0" smtClean="0">
                <a:solidFill>
                  <a:srgbClr val="000000"/>
                </a:solidFill>
                <a:latin typeface="楷体_GB2312" pitchFamily="49" charset="-122"/>
                <a:ea typeface="楷体_GB2312" pitchFamily="49" charset="-122"/>
              </a:rPr>
              <a:t>1.</a:t>
            </a:r>
            <a:r>
              <a:rPr lang="zh-CN" altLang="en-US" sz="2800" b="1" dirty="0" smtClean="0">
                <a:solidFill>
                  <a:srgbClr val="000000"/>
                </a:solidFill>
                <a:latin typeface="楷体_GB2312" pitchFamily="49" charset="-122"/>
                <a:ea typeface="楷体_GB2312" pitchFamily="49" charset="-122"/>
              </a:rPr>
              <a:t>微指令</a:t>
            </a:r>
            <a:r>
              <a:rPr lang="zh-CN" altLang="en-US" sz="2800" b="1" dirty="0">
                <a:solidFill>
                  <a:srgbClr val="000000"/>
                </a:solidFill>
                <a:latin typeface="楷体_GB2312" pitchFamily="49" charset="-122"/>
                <a:ea typeface="楷体_GB2312" pitchFamily="49" charset="-122"/>
              </a:rPr>
              <a:t>编码</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微命令</a:t>
            </a:r>
            <a:r>
              <a:rPr lang="zh-CN" altLang="en-US" sz="2800" dirty="0">
                <a:solidFill>
                  <a:srgbClr val="000000"/>
                </a:solidFill>
                <a:latin typeface="楷体_GB2312" pitchFamily="49" charset="-122"/>
                <a:ea typeface="楷体_GB2312" pitchFamily="49" charset="-122"/>
              </a:rPr>
              <a:t>编码就是对微指令中的操作控制字段采用的表示方法。通常有以下三种方法：</a:t>
            </a:r>
          </a:p>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）直接</a:t>
            </a:r>
            <a:r>
              <a:rPr lang="zh-CN" altLang="en-US" sz="2800" dirty="0">
                <a:solidFill>
                  <a:srgbClr val="000000"/>
                </a:solidFill>
                <a:latin typeface="楷体_GB2312" pitchFamily="49" charset="-122"/>
                <a:ea typeface="楷体_GB2312" pitchFamily="49" charset="-122"/>
              </a:rPr>
              <a:t>表示法</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600" dirty="0" smtClean="0">
                <a:solidFill>
                  <a:srgbClr val="000000"/>
                </a:solidFill>
                <a:latin typeface="楷体_GB2312" pitchFamily="49" charset="-122"/>
                <a:ea typeface="楷体_GB2312" pitchFamily="49" charset="-122"/>
              </a:rPr>
              <a:t>采用直接表示法的微指令结构如图</a:t>
            </a:r>
            <a:r>
              <a:rPr lang="en-US" altLang="zh-CN" sz="2600" dirty="0" smtClean="0">
                <a:solidFill>
                  <a:srgbClr val="000000"/>
                </a:solidFill>
                <a:latin typeface="楷体_GB2312" pitchFamily="49" charset="-122"/>
                <a:ea typeface="楷体_GB2312" pitchFamily="49" charset="-122"/>
              </a:rPr>
              <a:t>5.21</a:t>
            </a:r>
            <a:r>
              <a:rPr lang="zh-CN" altLang="en-US" sz="2600" dirty="0" smtClean="0">
                <a:solidFill>
                  <a:srgbClr val="000000"/>
                </a:solidFill>
                <a:latin typeface="楷体_GB2312" pitchFamily="49" charset="-122"/>
                <a:ea typeface="楷体_GB2312" pitchFamily="49" charset="-122"/>
              </a:rPr>
              <a:t>所示，其</a:t>
            </a:r>
            <a:r>
              <a:rPr lang="zh-CN" altLang="en-US" sz="2600" dirty="0">
                <a:solidFill>
                  <a:srgbClr val="000000"/>
                </a:solidFill>
                <a:latin typeface="楷体_GB2312" pitchFamily="49" charset="-122"/>
                <a:ea typeface="楷体_GB2312" pitchFamily="49" charset="-122"/>
              </a:rPr>
              <a:t>特点是操作控制字段中</a:t>
            </a:r>
            <a:r>
              <a:rPr lang="zh-CN" altLang="en-US" sz="2600" dirty="0" smtClean="0">
                <a:solidFill>
                  <a:srgbClr val="000000"/>
                </a:solidFill>
                <a:latin typeface="楷体_GB2312" pitchFamily="49" charset="-122"/>
                <a:ea typeface="楷体_GB2312" pitchFamily="49" charset="-122"/>
              </a:rPr>
              <a:t>的每</a:t>
            </a:r>
            <a:r>
              <a:rPr lang="zh-CN" altLang="en-US" sz="2600" dirty="0">
                <a:solidFill>
                  <a:srgbClr val="000000"/>
                </a:solidFill>
                <a:latin typeface="楷体_GB2312" pitchFamily="49" charset="-122"/>
                <a:ea typeface="楷体_GB2312" pitchFamily="49" charset="-122"/>
              </a:rPr>
              <a:t>一位代表一个</a:t>
            </a:r>
            <a:r>
              <a:rPr lang="zh-CN" altLang="en-US" sz="2600" dirty="0" smtClean="0">
                <a:solidFill>
                  <a:srgbClr val="000000"/>
                </a:solidFill>
                <a:latin typeface="楷体_GB2312" pitchFamily="49" charset="-122"/>
                <a:ea typeface="楷体_GB2312" pitchFamily="49" charset="-122"/>
              </a:rPr>
              <a:t>微命令。在</a:t>
            </a:r>
            <a:r>
              <a:rPr lang="zh-CN" altLang="en-US" sz="2600" dirty="0">
                <a:solidFill>
                  <a:srgbClr val="000000"/>
                </a:solidFill>
                <a:latin typeface="楷体_GB2312" pitchFamily="49" charset="-122"/>
                <a:ea typeface="楷体_GB2312" pitchFamily="49" charset="-122"/>
              </a:rPr>
              <a:t>设计微指令时，是否发出某个微命令，只要将控制字段中相应位置成“</a:t>
            </a:r>
            <a:r>
              <a:rPr lang="en-US" altLang="zh-CN" sz="2600" dirty="0">
                <a:solidFill>
                  <a:srgbClr val="000000"/>
                </a:solidFill>
                <a:latin typeface="楷体_GB2312" pitchFamily="49" charset="-122"/>
                <a:ea typeface="楷体_GB2312" pitchFamily="49" charset="-122"/>
              </a:rPr>
              <a:t>1”</a:t>
            </a:r>
            <a:r>
              <a:rPr lang="zh-CN" altLang="en-US" sz="2600" dirty="0">
                <a:solidFill>
                  <a:srgbClr val="000000"/>
                </a:solidFill>
                <a:latin typeface="楷体_GB2312" pitchFamily="49" charset="-122"/>
                <a:ea typeface="楷体_GB2312" pitchFamily="49" charset="-122"/>
              </a:rPr>
              <a:t>或“</a:t>
            </a:r>
            <a:r>
              <a:rPr lang="en-US" altLang="zh-CN" sz="2600" dirty="0">
                <a:solidFill>
                  <a:srgbClr val="000000"/>
                </a:solidFill>
                <a:latin typeface="楷体_GB2312" pitchFamily="49" charset="-122"/>
                <a:ea typeface="楷体_GB2312" pitchFamily="49" charset="-122"/>
              </a:rPr>
              <a:t>0”</a:t>
            </a:r>
            <a:r>
              <a:rPr lang="zh-CN" altLang="en-US" sz="2600" dirty="0">
                <a:solidFill>
                  <a:srgbClr val="000000"/>
                </a:solidFill>
                <a:latin typeface="楷体_GB2312" pitchFamily="49" charset="-122"/>
                <a:ea typeface="楷体_GB2312" pitchFamily="49" charset="-122"/>
              </a:rPr>
              <a:t>，这样就可打开或关闭某个控制门</a:t>
            </a:r>
            <a:r>
              <a:rPr lang="zh-CN" altLang="en-US" sz="2600" dirty="0" smtClean="0">
                <a:solidFill>
                  <a:srgbClr val="000000"/>
                </a:solidFill>
                <a:latin typeface="楷体_GB2312" pitchFamily="49" charset="-122"/>
                <a:ea typeface="楷体_GB2312" pitchFamily="49" charset="-122"/>
              </a:rPr>
              <a:t>。</a:t>
            </a:r>
            <a:endParaRPr lang="en-US" altLang="zh-CN" sz="2600" dirty="0" smtClean="0">
              <a:solidFill>
                <a:srgbClr val="000000"/>
              </a:solidFill>
              <a:latin typeface="楷体_GB2312" pitchFamily="49" charset="-122"/>
              <a:ea typeface="楷体_GB2312" pitchFamily="49" charset="-122"/>
            </a:endParaRPr>
          </a:p>
          <a:p>
            <a:pPr eaLnBrk="1" hangingPunct="1">
              <a:buNone/>
            </a:pPr>
            <a:r>
              <a:rPr lang="en-US" altLang="zh-CN" sz="2600" dirty="0" smtClean="0">
                <a:solidFill>
                  <a:srgbClr val="000000"/>
                </a:solidFill>
                <a:latin typeface="楷体_GB2312" pitchFamily="49" charset="-122"/>
                <a:ea typeface="楷体_GB2312" pitchFamily="49" charset="-122"/>
              </a:rPr>
              <a:t>	</a:t>
            </a:r>
            <a:r>
              <a:rPr lang="zh-CN" altLang="en-US" sz="2600" dirty="0" smtClean="0">
                <a:solidFill>
                  <a:srgbClr val="000000"/>
                </a:solidFill>
                <a:latin typeface="楷体_GB2312" pitchFamily="49" charset="-122"/>
                <a:ea typeface="楷体_GB2312" pitchFamily="49" charset="-122"/>
              </a:rPr>
              <a:t>这种方法的优点是简单直观，其输出直接用于控制。缺点是微指令字较长，因而使控制存储器容量较大。</a:t>
            </a:r>
            <a:r>
              <a:rPr lang="zh-CN" altLang="en-US" sz="2400" dirty="0" smtClean="0">
                <a:solidFill>
                  <a:srgbClr val="000000"/>
                </a:solidFill>
                <a:latin typeface="楷体_GB2312" pitchFamily="49" charset="-122"/>
                <a:ea typeface="楷体_GB2312" pitchFamily="49" charset="-122"/>
              </a:rPr>
              <a:t></a:t>
            </a:r>
          </a:p>
          <a:p>
            <a:pPr eaLnBrk="1" hangingPunct="1">
              <a:buNone/>
            </a:pPr>
            <a:r>
              <a:rPr lang="zh-CN" altLang="en-US" sz="2800" dirty="0" smtClean="0">
                <a:solidFill>
                  <a:srgbClr val="000000"/>
                </a:solidFill>
                <a:latin typeface="楷体_GB2312" pitchFamily="49" charset="-122"/>
                <a:ea typeface="楷体_GB2312" pitchFamily="49" charset="-122"/>
              </a:rPr>
              <a:t>    </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166174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620688"/>
            <a:ext cx="8936975" cy="5446737"/>
          </a:xfrm>
          <a:prstGeom prst="rect">
            <a:avLst/>
          </a:prstGeom>
        </p:spPr>
      </p:pic>
    </p:spTree>
    <p:extLst>
      <p:ext uri="{BB962C8B-B14F-4D97-AF65-F5344CB8AC3E}">
        <p14:creationId xmlns:p14="http://schemas.microsoft.com/office/powerpoint/2010/main" val="321510345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）字段直接编译法</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字段直接编译</a:t>
            </a:r>
            <a:r>
              <a:rPr lang="zh-CN" altLang="en-US" sz="2800" dirty="0" smtClean="0">
                <a:solidFill>
                  <a:srgbClr val="000000"/>
                </a:solidFill>
                <a:latin typeface="楷体_GB2312" pitchFamily="49" charset="-122"/>
                <a:ea typeface="楷体_GB2312" pitchFamily="49" charset="-122"/>
              </a:rPr>
              <a:t>法是把一组相斥性的微命令信号组成一个小组</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即一个字段</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，然后通过小组</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字段）译码器对每一个微命令信号进行译码 ，译码输出作为操作控制信号</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其微指令结构如图</a:t>
            </a:r>
            <a:r>
              <a:rPr lang="en-US" altLang="zh-CN" sz="2800" dirty="0" smtClean="0">
                <a:solidFill>
                  <a:srgbClr val="000000"/>
                </a:solidFill>
                <a:latin typeface="楷体_GB2312" pitchFamily="49" charset="-122"/>
                <a:ea typeface="楷体_GB2312" pitchFamily="49" charset="-122"/>
              </a:rPr>
              <a:t>5.27</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采用字段译码的编码方法，可以用较小的二进制信息表示较多的微命令信号。一般每个字段要留出一个代码，表示本段不发出任何微命令，因此，</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位二进制译码后可表示</a:t>
            </a:r>
            <a:r>
              <a:rPr lang="en-US" altLang="zh-CN" sz="2800" dirty="0" smtClean="0">
                <a:solidFill>
                  <a:srgbClr val="000000"/>
                </a:solidFill>
                <a:latin typeface="楷体_GB2312" pitchFamily="49" charset="-122"/>
                <a:ea typeface="楷体_GB2312" pitchFamily="49" charset="-122"/>
              </a:rPr>
              <a:t>7</a:t>
            </a:r>
            <a:r>
              <a:rPr lang="zh-CN" altLang="en-US" sz="2800" dirty="0" smtClean="0">
                <a:solidFill>
                  <a:srgbClr val="000000"/>
                </a:solidFill>
                <a:latin typeface="楷体_GB2312" pitchFamily="49" charset="-122"/>
                <a:ea typeface="楷体_GB2312" pitchFamily="49" charset="-122"/>
              </a:rPr>
              <a:t>个微命令，</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位二进制位译码后可表示</a:t>
            </a:r>
            <a:r>
              <a:rPr lang="en-US" altLang="zh-CN" sz="2800" dirty="0" smtClean="0">
                <a:solidFill>
                  <a:srgbClr val="000000"/>
                </a:solidFill>
                <a:latin typeface="楷体_GB2312" pitchFamily="49" charset="-122"/>
                <a:ea typeface="楷体_GB2312" pitchFamily="49" charset="-122"/>
              </a:rPr>
              <a:t>15</a:t>
            </a:r>
            <a:r>
              <a:rPr lang="zh-CN" altLang="en-US" sz="2800" dirty="0" smtClean="0">
                <a:solidFill>
                  <a:srgbClr val="000000"/>
                </a:solidFill>
                <a:latin typeface="楷体_GB2312" pitchFamily="49" charset="-122"/>
                <a:ea typeface="楷体_GB2312" pitchFamily="49" charset="-122"/>
              </a:rPr>
              <a:t>个微命令，通常代码</a:t>
            </a:r>
            <a:r>
              <a:rPr lang="en-US" altLang="zh-CN" sz="2800" dirty="0" smtClean="0">
                <a:solidFill>
                  <a:srgbClr val="000000"/>
                </a:solidFill>
                <a:latin typeface="楷体_GB2312" pitchFamily="49" charset="-122"/>
                <a:ea typeface="楷体_GB2312" pitchFamily="49" charset="-122"/>
              </a:rPr>
              <a:t>000</a:t>
            </a:r>
            <a:r>
              <a:rPr lang="zh-CN" altLang="en-US" sz="2800" dirty="0" smtClean="0">
                <a:solidFill>
                  <a:srgbClr val="000000"/>
                </a:solidFill>
                <a:latin typeface="楷体_GB2312" pitchFamily="49" charset="-122"/>
                <a:ea typeface="楷体_GB2312" pitchFamily="49" charset="-122"/>
              </a:rPr>
              <a:t>表示不发出微命令。</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3820725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graphicFrame>
        <p:nvGraphicFramePr>
          <p:cNvPr id="2" name="对象 1"/>
          <p:cNvGraphicFramePr>
            <a:graphicFrameLocks noGrp="1" noChangeAspect="1"/>
          </p:cNvGraphicFramePr>
          <p:nvPr>
            <p:extLst>
              <p:ext uri="{D42A27DB-BD31-4B8C-83A1-F6EECF244321}">
                <p14:modId xmlns:p14="http://schemas.microsoft.com/office/powerpoint/2010/main" val="3830243075"/>
              </p:ext>
            </p:extLst>
          </p:nvPr>
        </p:nvGraphicFramePr>
        <p:xfrm>
          <a:off x="179512" y="1916832"/>
          <a:ext cx="8686800" cy="3521075"/>
        </p:xfrm>
        <a:graphic>
          <a:graphicData uri="http://schemas.openxmlformats.org/presentationml/2006/ole">
            <mc:AlternateContent xmlns:mc="http://schemas.openxmlformats.org/markup-compatibility/2006">
              <mc:Choice xmlns:v="urn:schemas-microsoft-com:vml" Requires="v">
                <p:oleObj spid="_x0000_s76997" name="位图图像" r:id="rId3" imgW="7914286" imgH="2991268" progId="PBrush">
                  <p:embed/>
                </p:oleObj>
              </mc:Choice>
              <mc:Fallback>
                <p:oleObj name="位图图像" r:id="rId3" imgW="7914286" imgH="2991268" progId="PBrush">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1916832"/>
                        <a:ext cx="8686800" cy="352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Box 3"/>
          <p:cNvSpPr txBox="1"/>
          <p:nvPr/>
        </p:nvSpPr>
        <p:spPr>
          <a:xfrm>
            <a:off x="1979712" y="5733256"/>
            <a:ext cx="4608512"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5.27 </a:t>
            </a:r>
            <a:r>
              <a:rPr lang="zh-CN" altLang="en-US" dirty="0" smtClean="0">
                <a:solidFill>
                  <a:schemeClr val="tx1"/>
                </a:solidFill>
              </a:rPr>
              <a:t>字段直接译码法</a:t>
            </a:r>
            <a:endParaRPr lang="zh-CN" altLang="en-US" dirty="0">
              <a:solidFill>
                <a:schemeClr val="tx1"/>
              </a:solidFill>
            </a:endParaRPr>
          </a:p>
        </p:txBody>
      </p:sp>
      <p:sp>
        <p:nvSpPr>
          <p:cNvPr id="3" name="TextBox 2"/>
          <p:cNvSpPr txBox="1"/>
          <p:nvPr/>
        </p:nvSpPr>
        <p:spPr>
          <a:xfrm>
            <a:off x="2123728" y="4149080"/>
            <a:ext cx="864096" cy="400110"/>
          </a:xfrm>
          <a:prstGeom prst="rect">
            <a:avLst/>
          </a:prstGeom>
          <a:noFill/>
        </p:spPr>
        <p:txBody>
          <a:bodyPr wrap="square" rtlCol="0">
            <a:spAutoFit/>
          </a:bodyPr>
          <a:lstStyle/>
          <a:p>
            <a:r>
              <a:rPr lang="zh-CN" altLang="en-US" sz="2000" dirty="0" smtClean="0"/>
              <a:t>字段</a:t>
            </a:r>
            <a:r>
              <a:rPr lang="en-US" altLang="zh-CN" sz="2000" dirty="0" smtClean="0"/>
              <a:t>1</a:t>
            </a:r>
            <a:endParaRPr lang="zh-CN" altLang="en-US" sz="2000" dirty="0"/>
          </a:p>
        </p:txBody>
      </p:sp>
      <p:sp>
        <p:nvSpPr>
          <p:cNvPr id="7" name="TextBox 6"/>
          <p:cNvSpPr txBox="1"/>
          <p:nvPr/>
        </p:nvSpPr>
        <p:spPr>
          <a:xfrm>
            <a:off x="3131840" y="4149080"/>
            <a:ext cx="864096" cy="400110"/>
          </a:xfrm>
          <a:prstGeom prst="rect">
            <a:avLst/>
          </a:prstGeom>
          <a:noFill/>
        </p:spPr>
        <p:txBody>
          <a:bodyPr wrap="square" rtlCol="0">
            <a:spAutoFit/>
          </a:bodyPr>
          <a:lstStyle/>
          <a:p>
            <a:r>
              <a:rPr lang="zh-CN" altLang="en-US" sz="2000" dirty="0" smtClean="0"/>
              <a:t>字段</a:t>
            </a:r>
            <a:r>
              <a:rPr lang="en-US" altLang="zh-CN" sz="2000" dirty="0" smtClean="0"/>
              <a:t>2</a:t>
            </a:r>
            <a:endParaRPr lang="zh-CN" altLang="en-US" sz="2000" dirty="0"/>
          </a:p>
        </p:txBody>
      </p:sp>
      <p:sp>
        <p:nvSpPr>
          <p:cNvPr id="8" name="TextBox 7"/>
          <p:cNvSpPr txBox="1"/>
          <p:nvPr/>
        </p:nvSpPr>
        <p:spPr>
          <a:xfrm>
            <a:off x="2123728" y="2956882"/>
            <a:ext cx="864096" cy="400110"/>
          </a:xfrm>
          <a:prstGeom prst="rect">
            <a:avLst/>
          </a:prstGeom>
          <a:noFill/>
        </p:spPr>
        <p:txBody>
          <a:bodyPr wrap="square" rtlCol="0">
            <a:spAutoFit/>
          </a:bodyPr>
          <a:lstStyle/>
          <a:p>
            <a:r>
              <a:rPr lang="zh-CN" altLang="en-US" sz="2000" dirty="0" smtClean="0"/>
              <a:t>译码</a:t>
            </a:r>
            <a:endParaRPr lang="zh-CN" altLang="en-US" sz="2000" dirty="0"/>
          </a:p>
        </p:txBody>
      </p:sp>
      <p:sp>
        <p:nvSpPr>
          <p:cNvPr id="9" name="TextBox 8"/>
          <p:cNvSpPr txBox="1"/>
          <p:nvPr/>
        </p:nvSpPr>
        <p:spPr>
          <a:xfrm>
            <a:off x="3275856" y="2956882"/>
            <a:ext cx="864096" cy="400110"/>
          </a:xfrm>
          <a:prstGeom prst="rect">
            <a:avLst/>
          </a:prstGeom>
          <a:noFill/>
        </p:spPr>
        <p:txBody>
          <a:bodyPr wrap="square" rtlCol="0">
            <a:spAutoFit/>
          </a:bodyPr>
          <a:lstStyle/>
          <a:p>
            <a:r>
              <a:rPr lang="zh-CN" altLang="en-US" sz="2000" dirty="0" smtClean="0"/>
              <a:t>译码</a:t>
            </a:r>
            <a:endParaRPr lang="zh-CN" altLang="en-US" sz="2000" dirty="0"/>
          </a:p>
        </p:txBody>
      </p:sp>
    </p:spTree>
    <p:extLst>
      <p:ext uri="{BB962C8B-B14F-4D97-AF65-F5344CB8AC3E}">
        <p14:creationId xmlns:p14="http://schemas.microsoft.com/office/powerpoint/2010/main" val="32199173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）字段间接编译法</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字段</a:t>
            </a:r>
            <a:r>
              <a:rPr lang="zh-CN" altLang="en-US" sz="2800" dirty="0">
                <a:solidFill>
                  <a:srgbClr val="000000"/>
                </a:solidFill>
                <a:latin typeface="楷体_GB2312" pitchFamily="49" charset="-122"/>
                <a:ea typeface="楷体_GB2312" pitchFamily="49" charset="-122"/>
              </a:rPr>
              <a:t>间接编译法是在字段直接编译法的基础上，进一步缩短微指令字长的一种编译法。如果在字段直接编译法中，还规定一个字段的某些微命令，要兼由另一字段中的某些微命令来解释，称为字段间接编译法。如</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5.28</a:t>
            </a:r>
            <a:r>
              <a:rPr lang="zh-CN" altLang="en-US" sz="2800" dirty="0" smtClean="0">
                <a:solidFill>
                  <a:srgbClr val="000000"/>
                </a:solidFill>
                <a:latin typeface="楷体_GB2312" pitchFamily="49" charset="-122"/>
                <a:ea typeface="楷体_GB2312" pitchFamily="49" charset="-122"/>
              </a:rPr>
              <a:t>所</a:t>
            </a:r>
            <a:r>
              <a:rPr lang="zh-CN" altLang="en-US" sz="2800" dirty="0">
                <a:solidFill>
                  <a:srgbClr val="000000"/>
                </a:solidFill>
                <a:latin typeface="楷体_GB2312" pitchFamily="49" charset="-122"/>
                <a:ea typeface="楷体_GB2312" pitchFamily="49" charset="-122"/>
              </a:rPr>
              <a:t>示。</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本</a:t>
            </a:r>
            <a:r>
              <a:rPr lang="zh-CN" altLang="en-US" sz="2800" dirty="0">
                <a:solidFill>
                  <a:srgbClr val="000000"/>
                </a:solidFill>
                <a:latin typeface="楷体_GB2312" pitchFamily="49" charset="-122"/>
                <a:ea typeface="楷体_GB2312" pitchFamily="49" charset="-122"/>
              </a:rPr>
              <a:t>方法进一步减少了指令长度，但很可能会削弱微指令的并行控制能力，因此通常只作为直接编译法的一种辅助手段。</a:t>
            </a:r>
          </a:p>
          <a:p>
            <a:pPr eaLnBrk="1" hangingPunct="1">
              <a:buNone/>
            </a:pPr>
            <a:r>
              <a:rPr lang="en-US" altLang="zh-CN"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1912564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kumimoji="0" lang="en-US" altLang="zh-CN" sz="2800" b="1" smtClean="0">
                <a:latin typeface="黑体" pitchFamily="49" charset="-122"/>
                <a:ea typeface="黑体" pitchFamily="49" charset="-122"/>
              </a:rPr>
              <a:t>5.4  </a:t>
            </a:r>
            <a:r>
              <a:rPr kumimoji="0" lang="zh-CN" altLang="en-US" sz="2800" b="1" smtClean="0">
                <a:latin typeface="黑体" pitchFamily="49" charset="-122"/>
                <a:ea typeface="黑体" pitchFamily="49" charset="-122"/>
              </a:rPr>
              <a:t>微程序控制器</a:t>
            </a:r>
            <a:br>
              <a:rPr kumimoji="0" lang="zh-CN" altLang="en-US" sz="2800" b="1" smtClean="0">
                <a:latin typeface="黑体" pitchFamily="49" charset="-122"/>
                <a:ea typeface="黑体" pitchFamily="49" charset="-122"/>
              </a:rPr>
            </a:br>
            <a:r>
              <a:rPr lang="en-US" altLang="zh-CN" sz="2000" smtClean="0">
                <a:latin typeface="楷体_GB2312" pitchFamily="49" charset="-122"/>
                <a:ea typeface="楷体_GB2312" pitchFamily="49" charset="-122"/>
              </a:rPr>
              <a:t>5.4.2</a:t>
            </a:r>
            <a:r>
              <a:rPr lang="zh-CN" altLang="en-US" sz="2000" smtClean="0">
                <a:latin typeface="楷体_GB2312" pitchFamily="49" charset="-122"/>
                <a:ea typeface="楷体_GB2312" pitchFamily="49" charset="-122"/>
              </a:rPr>
              <a:t>微程序设计技术</a:t>
            </a:r>
          </a:p>
        </p:txBody>
      </p:sp>
      <p:graphicFrame>
        <p:nvGraphicFramePr>
          <p:cNvPr id="9218" name="Object 4"/>
          <p:cNvGraphicFramePr>
            <a:graphicFrameLocks noGrp="1" noChangeAspect="1"/>
          </p:cNvGraphicFramePr>
          <p:nvPr>
            <p:ph idx="1"/>
            <p:extLst>
              <p:ext uri="{D42A27DB-BD31-4B8C-83A1-F6EECF244321}">
                <p14:modId xmlns:p14="http://schemas.microsoft.com/office/powerpoint/2010/main" val="3135382212"/>
              </p:ext>
            </p:extLst>
          </p:nvPr>
        </p:nvGraphicFramePr>
        <p:xfrm>
          <a:off x="1504950" y="1484784"/>
          <a:ext cx="6134100" cy="3933825"/>
        </p:xfrm>
        <a:graphic>
          <a:graphicData uri="http://schemas.openxmlformats.org/presentationml/2006/ole">
            <mc:AlternateContent xmlns:mc="http://schemas.openxmlformats.org/markup-compatibility/2006">
              <mc:Choice xmlns:v="urn:schemas-microsoft-com:vml" Requires="v">
                <p:oleObj spid="_x0000_s78018" name="位图图像" r:id="rId4" imgW="6133333" imgH="3933333" progId="PBrush">
                  <p:embed/>
                </p:oleObj>
              </mc:Choice>
              <mc:Fallback>
                <p:oleObj name="位图图像" r:id="rId4" imgW="6133333" imgH="3933333" progId="PBrush">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4950" y="1484784"/>
                        <a:ext cx="6134100"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Box 3"/>
          <p:cNvSpPr txBox="1"/>
          <p:nvPr/>
        </p:nvSpPr>
        <p:spPr>
          <a:xfrm>
            <a:off x="1979712" y="5661248"/>
            <a:ext cx="4608512"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5.28 </a:t>
            </a:r>
            <a:r>
              <a:rPr lang="zh-CN" altLang="en-US" dirty="0" smtClean="0">
                <a:solidFill>
                  <a:schemeClr val="tx1"/>
                </a:solidFill>
              </a:rPr>
              <a:t>字段间接译码法</a:t>
            </a:r>
            <a:endParaRPr lang="zh-CN" altLang="en-US" dirty="0">
              <a:solidFill>
                <a:schemeClr val="tx1"/>
              </a:solidFill>
            </a:endParaRPr>
          </a:p>
        </p:txBody>
      </p:sp>
    </p:spTree>
    <p:extLst>
      <p:ext uri="{BB962C8B-B14F-4D97-AF65-F5344CB8AC3E}">
        <p14:creationId xmlns:p14="http://schemas.microsoft.com/office/powerpoint/2010/main" val="411119944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5.28</a:t>
            </a:r>
            <a:r>
              <a:rPr lang="zh-CN" altLang="en-US" sz="2800" dirty="0" smtClean="0">
                <a:solidFill>
                  <a:srgbClr val="000000"/>
                </a:solidFill>
                <a:latin typeface="楷体_GB2312" pitchFamily="49" charset="-122"/>
                <a:ea typeface="楷体_GB2312" pitchFamily="49" charset="-122"/>
              </a:rPr>
              <a:t>表示</a:t>
            </a:r>
            <a:r>
              <a:rPr lang="zh-CN" altLang="en-US" sz="2800" dirty="0" smtClean="0">
                <a:solidFill>
                  <a:srgbClr val="000000"/>
                </a:solidFill>
                <a:latin typeface="楷体_GB2312" pitchFamily="49" charset="-122"/>
                <a:ea typeface="楷体_GB2312" pitchFamily="49" charset="-122"/>
              </a:rPr>
              <a:t>字段</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位）的微命令还受字段</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控制，当字段</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b</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微命令时，字段</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1,1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2,1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7,1</a:t>
            </a:r>
            <a:r>
              <a:rPr lang="zh-CN" altLang="en-US" sz="2800" dirty="0" smtClean="0">
                <a:solidFill>
                  <a:srgbClr val="000000"/>
                </a:solidFill>
                <a:latin typeface="楷体_GB2312" pitchFamily="49" charset="-122"/>
                <a:ea typeface="楷体_GB2312" pitchFamily="49" charset="-122"/>
              </a:rPr>
              <a:t>，中的一个微命令；而当字段</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b</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微命令</a:t>
            </a:r>
            <a:r>
              <a:rPr lang="zh-CN" altLang="en-US" sz="2800" dirty="0">
                <a:solidFill>
                  <a:srgbClr val="000000"/>
                </a:solidFill>
                <a:latin typeface="楷体_GB2312" pitchFamily="49" charset="-122"/>
                <a:ea typeface="楷体_GB2312" pitchFamily="49" charset="-122"/>
              </a:rPr>
              <a:t>时，字段</a:t>
            </a:r>
            <a:r>
              <a:rPr lang="en-US" altLang="zh-CN" sz="2800" dirty="0">
                <a:solidFill>
                  <a:srgbClr val="000000"/>
                </a:solidFill>
                <a:latin typeface="楷体_GB2312" pitchFamily="49" charset="-122"/>
                <a:ea typeface="楷体_GB2312" pitchFamily="49" charset="-122"/>
              </a:rPr>
              <a:t>A</a:t>
            </a:r>
            <a:r>
              <a:rPr lang="zh-CN" altLang="en-US" sz="2800" dirty="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1,2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2,2</a:t>
            </a:r>
            <a:r>
              <a:rPr lang="zh-CN" altLang="en-US" sz="2800" dirty="0" smtClean="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7,2</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中的一个</a:t>
            </a:r>
            <a:r>
              <a:rPr lang="zh-CN" altLang="en-US" sz="2800" dirty="0" smtClean="0">
                <a:solidFill>
                  <a:srgbClr val="000000"/>
                </a:solidFill>
                <a:latin typeface="楷体_GB2312" pitchFamily="49" charset="-122"/>
                <a:ea typeface="楷体_GB2312" pitchFamily="49" charset="-122"/>
              </a:rPr>
              <a:t>微命令</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仅当</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为</a:t>
            </a:r>
            <a:r>
              <a:rPr lang="en-US" altLang="zh-CN" sz="2800" dirty="0" smtClean="0">
                <a:solidFill>
                  <a:srgbClr val="000000"/>
                </a:solidFill>
                <a:latin typeface="楷体_GB2312" pitchFamily="49" charset="-122"/>
                <a:ea typeface="楷体_GB2312" pitchFamily="49" charset="-122"/>
              </a:rPr>
              <a:t>000</a:t>
            </a:r>
            <a:r>
              <a:rPr lang="zh-CN" altLang="en-US" sz="2800" dirty="0" smtClean="0">
                <a:solidFill>
                  <a:srgbClr val="000000"/>
                </a:solidFill>
                <a:latin typeface="楷体_GB2312" pitchFamily="49" charset="-122"/>
                <a:ea typeface="楷体_GB2312" pitchFamily="49" charset="-122"/>
              </a:rPr>
              <a:t>时例外，此时什么控制命令都不产生。</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132707712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混合表示法</a:t>
            </a:r>
            <a:endParaRPr lang="en-US" altLang="zh-CN" sz="2800" dirty="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这种方法是把直接表示法与字段编码法混合使用，以便能综合考虑指令字长、灵活性、执行微程序速度等方面的要求。</a:t>
            </a:r>
          </a:p>
          <a:p>
            <a:pPr eaLnBrk="1" hangingPunct="1">
              <a:buNone/>
            </a:pPr>
            <a:r>
              <a:rPr lang="zh-CN" altLang="en-US" sz="2800" dirty="0">
                <a:solidFill>
                  <a:srgbClr val="000000"/>
                </a:solidFill>
                <a:latin typeface="楷体_GB2312" pitchFamily="49" charset="-122"/>
                <a:ea typeface="楷体_GB2312" pitchFamily="49" charset="-122"/>
              </a:rPr>
              <a:t>    另外 在微指令中还可附设一个常数字段来修改微地址寄存器的最后一位</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48645589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与</a:t>
            </a:r>
            <a:r>
              <a:rPr lang="zh-CN" altLang="en-US" sz="2800" dirty="0">
                <a:solidFill>
                  <a:srgbClr val="000000"/>
                </a:solidFill>
                <a:latin typeface="楷体_GB2312" pitchFamily="49" charset="-122"/>
                <a:ea typeface="楷体_GB2312" pitchFamily="49" charset="-122"/>
              </a:rPr>
              <a:t>直接表示法相比，字段译码控制阀可使微指令字大大缩短，但由于增加译码电路，使微程序的执行速度稍稍减慢。</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目前在微程序控制器设计中，字段编码表示法（也即直接译码发）使用较普遍。</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32707712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2.</a:t>
            </a:r>
            <a:r>
              <a:rPr lang="zh-CN" altLang="en-US" sz="2800" b="1" dirty="0" smtClean="0">
                <a:solidFill>
                  <a:srgbClr val="000000"/>
                </a:solidFill>
                <a:latin typeface="楷体_GB2312" pitchFamily="49" charset="-122"/>
                <a:ea typeface="楷体_GB2312" pitchFamily="49" charset="-122"/>
              </a:rPr>
              <a:t>微地址的形成方法</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微指令执行的顺序控制问题，实际上是如何确定下一条微指令的地址问题。通常，产生后继微地址有两种方法： </a:t>
            </a:r>
          </a:p>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）计数器</a:t>
            </a:r>
            <a:r>
              <a:rPr lang="zh-CN" altLang="en-US" sz="2800" dirty="0">
                <a:solidFill>
                  <a:srgbClr val="000000"/>
                </a:solidFill>
                <a:latin typeface="楷体_GB2312" pitchFamily="49" charset="-122"/>
                <a:ea typeface="楷体_GB2312" pitchFamily="49" charset="-122"/>
              </a:rPr>
              <a:t>方式</a:t>
            </a:r>
          </a:p>
          <a:p>
            <a:pPr eaLnBrk="1" hangingPunct="1">
              <a:buNone/>
            </a:pPr>
            <a:r>
              <a:rPr lang="zh-CN" altLang="en-US" sz="2800" dirty="0">
                <a:solidFill>
                  <a:srgbClr val="000000"/>
                </a:solidFill>
                <a:latin typeface="楷体_GB2312" pitchFamily="49" charset="-122"/>
                <a:ea typeface="楷体_GB2312" pitchFamily="49" charset="-122"/>
              </a:rPr>
              <a:t>　　这种方法同用</a:t>
            </a:r>
            <a:r>
              <a:rPr lang="zh-CN" altLang="en-US" sz="2800" dirty="0" smtClean="0">
                <a:solidFill>
                  <a:srgbClr val="000000"/>
                </a:solidFill>
                <a:latin typeface="楷体_GB2312" pitchFamily="49" charset="-122"/>
                <a:ea typeface="楷体_GB2312" pitchFamily="49" charset="-122"/>
              </a:rPr>
              <a:t>程序计数器来</a:t>
            </a:r>
            <a:r>
              <a:rPr lang="zh-CN" altLang="en-US" sz="2800" dirty="0">
                <a:solidFill>
                  <a:srgbClr val="000000"/>
                </a:solidFill>
                <a:latin typeface="楷体_GB2312" pitchFamily="49" charset="-122"/>
                <a:ea typeface="楷体_GB2312" pitchFamily="49" charset="-122"/>
              </a:rPr>
              <a:t>产生机器指令地址的方法相类似</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顺序执行微指令时，后继微地址由现行微地址加上一个增量来产生</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58589103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非顺序执行微指令时</a:t>
            </a:r>
            <a:r>
              <a:rPr lang="zh-CN" altLang="en-US" sz="2800" dirty="0" smtClean="0">
                <a:solidFill>
                  <a:srgbClr val="000000"/>
                </a:solidFill>
                <a:latin typeface="楷体_GB2312" pitchFamily="49" charset="-122"/>
                <a:ea typeface="楷体_GB2312" pitchFamily="49" charset="-122"/>
              </a:rPr>
              <a:t>，现行微指令执行后，转去执行</a:t>
            </a:r>
            <a:r>
              <a:rPr lang="zh-CN" altLang="en-US" sz="2800" b="1" dirty="0">
                <a:solidFill>
                  <a:srgbClr val="000000"/>
                </a:solidFill>
                <a:latin typeface="楷体_GB2312" pitchFamily="49" charset="-122"/>
                <a:ea typeface="楷体_GB2312" pitchFamily="49" charset="-122"/>
              </a:rPr>
              <a:t>可以</a:t>
            </a:r>
            <a:r>
              <a:rPr lang="zh-CN" altLang="en-US" sz="2800" b="1" dirty="0" smtClean="0">
                <a:solidFill>
                  <a:srgbClr val="000000"/>
                </a:solidFill>
                <a:latin typeface="楷体_GB2312" pitchFamily="49" charset="-122"/>
                <a:ea typeface="楷体_GB2312" pitchFamily="49" charset="-122"/>
              </a:rPr>
              <a:t>指定后继微地址的下一条微命令</a:t>
            </a:r>
            <a:r>
              <a:rPr lang="zh-CN" altLang="en-US" sz="2800" dirty="0" smtClean="0">
                <a:solidFill>
                  <a:srgbClr val="000000"/>
                </a:solidFill>
                <a:latin typeface="楷体_GB2312" pitchFamily="49" charset="-122"/>
                <a:ea typeface="楷体_GB2312" pitchFamily="49" charset="-122"/>
              </a:rPr>
              <a:t>。简单来说，就是通过执行一条微指令（</a:t>
            </a:r>
            <a:r>
              <a:rPr lang="zh-CN" altLang="en-US" sz="2800" dirty="0">
                <a:solidFill>
                  <a:srgbClr val="000000"/>
                </a:solidFill>
                <a:latin typeface="楷体_GB2312" pitchFamily="49" charset="-122"/>
                <a:ea typeface="楷体_GB2312" pitchFamily="49" charset="-122"/>
              </a:rPr>
              <a:t>这条微指令可以指定后继微</a:t>
            </a:r>
            <a:r>
              <a:rPr lang="zh-CN" altLang="en-US" sz="2800" dirty="0" smtClean="0">
                <a:solidFill>
                  <a:srgbClr val="000000"/>
                </a:solidFill>
                <a:latin typeface="楷体_GB2312" pitchFamily="49" charset="-122"/>
                <a:ea typeface="楷体_GB2312" pitchFamily="49" charset="-122"/>
              </a:rPr>
              <a:t>地址），来形成后继微地址；</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这种方法中，微地址寄存器通常改为计数器</a:t>
            </a:r>
            <a:r>
              <a:rPr lang="zh-CN" altLang="en-US" sz="2800" dirty="0" smtClean="0">
                <a:solidFill>
                  <a:srgbClr val="000000"/>
                </a:solidFill>
                <a:latin typeface="楷体_GB2312" pitchFamily="49" charset="-122"/>
                <a:ea typeface="楷体_GB2312" pitchFamily="49" charset="-122"/>
              </a:rPr>
              <a:t>。并且，</a:t>
            </a:r>
            <a:r>
              <a:rPr lang="zh-CN" altLang="en-US" sz="2800" dirty="0">
                <a:solidFill>
                  <a:srgbClr val="000000"/>
                </a:solidFill>
                <a:latin typeface="楷体_GB2312" pitchFamily="49" charset="-122"/>
                <a:ea typeface="楷体_GB2312" pitchFamily="49" charset="-122"/>
              </a:rPr>
              <a:t>顺序执行的微指令序列就</a:t>
            </a:r>
            <a:r>
              <a:rPr lang="zh-CN" altLang="en-US" sz="2800" dirty="0" smtClean="0">
                <a:solidFill>
                  <a:srgbClr val="000000"/>
                </a:solidFill>
                <a:latin typeface="楷体_GB2312" pitchFamily="49" charset="-122"/>
                <a:ea typeface="楷体_GB2312" pitchFamily="49" charset="-122"/>
              </a:rPr>
              <a:t>必须安排在</a:t>
            </a:r>
            <a:r>
              <a:rPr lang="zh-CN" altLang="en-US" sz="2800" dirty="0">
                <a:solidFill>
                  <a:srgbClr val="000000"/>
                </a:solidFill>
                <a:latin typeface="楷体_GB2312" pitchFamily="49" charset="-122"/>
                <a:ea typeface="楷体_GB2312" pitchFamily="49" charset="-122"/>
              </a:rPr>
              <a:t>控制存储器的连续单元中。</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计数器</a:t>
            </a:r>
            <a:r>
              <a:rPr lang="zh-CN" altLang="en-US" sz="2800" dirty="0">
                <a:solidFill>
                  <a:srgbClr val="000000"/>
                </a:solidFill>
                <a:latin typeface="楷体_GB2312" pitchFamily="49" charset="-122"/>
                <a:ea typeface="楷体_GB2312" pitchFamily="49" charset="-122"/>
              </a:rPr>
              <a:t>方式的</a:t>
            </a:r>
            <a:r>
              <a:rPr lang="zh-CN" altLang="en-US" sz="2800" b="1" dirty="0">
                <a:solidFill>
                  <a:srgbClr val="000000"/>
                </a:solidFill>
                <a:latin typeface="楷体_GB2312" pitchFamily="49" charset="-122"/>
                <a:ea typeface="楷体_GB2312" pitchFamily="49" charset="-122"/>
              </a:rPr>
              <a:t>基本特点</a:t>
            </a:r>
            <a:r>
              <a:rPr lang="zh-CN" altLang="en-US" sz="2800" dirty="0">
                <a:solidFill>
                  <a:srgbClr val="000000"/>
                </a:solidFill>
                <a:latin typeface="楷体_GB2312" pitchFamily="49" charset="-122"/>
                <a:ea typeface="楷体_GB2312" pitchFamily="49" charset="-122"/>
              </a:rPr>
              <a:t>是：微指令的顺序控制字段较短，微地址产生机构简单。但是多路并行转移功能较弱，速度较慢，灵活性较差。 </a:t>
            </a:r>
          </a:p>
        </p:txBody>
      </p:sp>
    </p:spTree>
    <p:extLst>
      <p:ext uri="{BB962C8B-B14F-4D97-AF65-F5344CB8AC3E}">
        <p14:creationId xmlns:p14="http://schemas.microsoft.com/office/powerpoint/2010/main" val="58589103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）多路转移方式</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a:solidFill>
                  <a:srgbClr val="000000"/>
                </a:solidFill>
                <a:latin typeface="楷体_GB2312" pitchFamily="49" charset="-122"/>
                <a:ea typeface="楷体_GB2312" pitchFamily="49" charset="-122"/>
              </a:rPr>
              <a:t>	一条微指令具有多个转移分支的能力称为</a:t>
            </a:r>
            <a:r>
              <a:rPr lang="zh-CN" altLang="en-US" sz="2800" b="1" dirty="0">
                <a:solidFill>
                  <a:srgbClr val="000000"/>
                </a:solidFill>
                <a:latin typeface="楷体_GB2312" pitchFamily="49" charset="-122"/>
                <a:ea typeface="楷体_GB2312" pitchFamily="49" charset="-122"/>
              </a:rPr>
              <a:t>多路转移</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多路转移方式中</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a:t>
            </a:r>
            <a:r>
              <a:rPr lang="zh-CN" altLang="en-US" sz="2800" dirty="0">
                <a:solidFill>
                  <a:srgbClr val="000000"/>
                </a:solidFill>
                <a:latin typeface="楷体_GB2312" pitchFamily="49" charset="-122"/>
                <a:ea typeface="楷体_GB2312" pitchFamily="49" charset="-122"/>
              </a:rPr>
              <a:t>微程序不产生分支时，后继微地直接由微指令的顺序控制字段给出</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a:t>
            </a:r>
            <a:r>
              <a:rPr lang="zh-CN" altLang="en-US" sz="2800" dirty="0">
                <a:solidFill>
                  <a:srgbClr val="000000"/>
                </a:solidFill>
                <a:latin typeface="楷体_GB2312" pitchFamily="49" charset="-122"/>
                <a:ea typeface="楷体_GB2312" pitchFamily="49" charset="-122"/>
              </a:rPr>
              <a:t>微程序出现分支时，有若干“后选”微地址可供选择：即按顺序控制字段的“判别测试”标志和“状态条件”信息来选择其中一个微地址</a:t>
            </a:r>
            <a:r>
              <a:rPr lang="zh-CN" altLang="en-US" sz="2800" dirty="0" smtClean="0">
                <a:solidFill>
                  <a:srgbClr val="000000"/>
                </a:solidFill>
                <a:latin typeface="楷体_GB2312" pitchFamily="49" charset="-122"/>
                <a:ea typeface="楷体_GB2312" pitchFamily="49" charset="-122"/>
              </a:rPr>
              <a:t>。其原理如图</a:t>
            </a:r>
            <a:r>
              <a:rPr lang="en-US" altLang="zh-CN" sz="2800" dirty="0" smtClean="0">
                <a:solidFill>
                  <a:srgbClr val="000000"/>
                </a:solidFill>
                <a:latin typeface="楷体_GB2312" pitchFamily="49" charset="-122"/>
                <a:ea typeface="楷体_GB2312" pitchFamily="49" charset="-122"/>
              </a:rPr>
              <a:t>5.23</a:t>
            </a:r>
            <a:r>
              <a:rPr lang="zh-CN" altLang="en-US" sz="2800" dirty="0" smtClean="0">
                <a:solidFill>
                  <a:srgbClr val="000000"/>
                </a:solidFill>
                <a:latin typeface="楷体_GB2312" pitchFamily="49" charset="-122"/>
                <a:ea typeface="楷体_GB2312" pitchFamily="49" charset="-122"/>
              </a:rPr>
              <a:t>所示：</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54175794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2317"/>
            <a:ext cx="9144000" cy="6393366"/>
          </a:xfrm>
          <a:prstGeom prst="rect">
            <a:avLst/>
          </a:prstGeom>
        </p:spPr>
      </p:pic>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20000"/>
          </a:bodyPr>
          <a:lstStyle/>
          <a:p>
            <a:pPr eaLnBrk="1" hangingPunct="1">
              <a:lnSpc>
                <a:spcPct val="120000"/>
              </a:lnSpc>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“状态条件”有</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位</a:t>
            </a:r>
            <a:r>
              <a:rPr lang="zh-CN" altLang="en-US" sz="2800" dirty="0">
                <a:solidFill>
                  <a:srgbClr val="000000"/>
                </a:solidFill>
                <a:latin typeface="楷体_GB2312" pitchFamily="49" charset="-122"/>
                <a:ea typeface="楷体_GB2312" pitchFamily="49" charset="-122"/>
              </a:rPr>
              <a:t>标志，可实现微程序</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路</a:t>
            </a:r>
            <a:r>
              <a:rPr lang="zh-CN" altLang="en-US" sz="2800" dirty="0">
                <a:solidFill>
                  <a:srgbClr val="000000"/>
                </a:solidFill>
                <a:latin typeface="楷体_GB2312" pitchFamily="49" charset="-122"/>
                <a:ea typeface="楷体_GB2312" pitchFamily="49" charset="-122"/>
              </a:rPr>
              <a:t>转移，涉及微地址寄存器</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位；“状态条件”有</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位</a:t>
            </a:r>
            <a:r>
              <a:rPr lang="zh-CN" altLang="en-US" sz="2800" dirty="0">
                <a:solidFill>
                  <a:srgbClr val="000000"/>
                </a:solidFill>
                <a:latin typeface="楷体_GB2312" pitchFamily="49" charset="-122"/>
                <a:ea typeface="楷体_GB2312" pitchFamily="49" charset="-122"/>
              </a:rPr>
              <a:t>标志，可实现</a:t>
            </a:r>
            <a:r>
              <a:rPr lang="zh-CN" altLang="en-US" sz="2800" dirty="0" smtClean="0">
                <a:solidFill>
                  <a:srgbClr val="000000"/>
                </a:solidFill>
                <a:latin typeface="楷体_GB2312" pitchFamily="49" charset="-122"/>
                <a:ea typeface="楷体_GB2312" pitchFamily="49" charset="-122"/>
              </a:rPr>
              <a:t>微程序</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路</a:t>
            </a:r>
            <a:r>
              <a:rPr lang="zh-CN" altLang="en-US" sz="2800" dirty="0">
                <a:solidFill>
                  <a:srgbClr val="000000"/>
                </a:solidFill>
                <a:latin typeface="楷体_GB2312" pitchFamily="49" charset="-122"/>
                <a:ea typeface="楷体_GB2312" pitchFamily="49" charset="-122"/>
              </a:rPr>
              <a:t>转移，涉及微地址寄存器</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位。依次类推：</a:t>
            </a:r>
            <a:r>
              <a:rPr lang="zh-CN" altLang="en-US" sz="2800" b="1" dirty="0" smtClean="0">
                <a:solidFill>
                  <a:srgbClr val="000000"/>
                </a:solidFill>
                <a:latin typeface="楷体_GB2312" pitchFamily="49" charset="-122"/>
                <a:ea typeface="楷体_GB2312" pitchFamily="49" charset="-122"/>
              </a:rPr>
              <a:t>“状态条件”</a:t>
            </a:r>
            <a:r>
              <a:rPr lang="zh-CN" altLang="en-US" sz="2800" b="1" dirty="0">
                <a:solidFill>
                  <a:srgbClr val="000000"/>
                </a:solidFill>
                <a:latin typeface="楷体_GB2312" pitchFamily="49" charset="-122"/>
                <a:ea typeface="楷体_GB2312" pitchFamily="49" charset="-122"/>
              </a:rPr>
              <a:t>有</a:t>
            </a:r>
            <a:r>
              <a:rPr lang="en-US" altLang="zh-CN" sz="2800" b="1" dirty="0">
                <a:solidFill>
                  <a:srgbClr val="000000"/>
                </a:solidFill>
                <a:latin typeface="楷体_GB2312" pitchFamily="49" charset="-122"/>
                <a:ea typeface="楷体_GB2312" pitchFamily="49" charset="-122"/>
              </a:rPr>
              <a:t>n</a:t>
            </a:r>
            <a:r>
              <a:rPr lang="zh-CN" altLang="en-US" sz="2800" b="1" dirty="0">
                <a:solidFill>
                  <a:srgbClr val="000000"/>
                </a:solidFill>
                <a:latin typeface="楷体_GB2312" pitchFamily="49" charset="-122"/>
                <a:ea typeface="楷体_GB2312" pitchFamily="49" charset="-122"/>
              </a:rPr>
              <a:t>位标志，可实现微程序</a:t>
            </a:r>
            <a:r>
              <a:rPr lang="en-US" altLang="zh-CN" sz="2800" b="1" dirty="0" smtClean="0">
                <a:solidFill>
                  <a:srgbClr val="000000"/>
                </a:solidFill>
                <a:latin typeface="楷体_GB2312" pitchFamily="49" charset="-122"/>
                <a:ea typeface="楷体_GB2312" pitchFamily="49" charset="-122"/>
              </a:rPr>
              <a:t>2</a:t>
            </a:r>
            <a:r>
              <a:rPr lang="en-US" altLang="zh-CN" sz="2800" b="1" baseline="30000" dirty="0" smtClean="0">
                <a:solidFill>
                  <a:srgbClr val="000000"/>
                </a:solidFill>
                <a:latin typeface="楷体_GB2312" pitchFamily="49" charset="-122"/>
                <a:ea typeface="楷体_GB2312" pitchFamily="49" charset="-122"/>
              </a:rPr>
              <a:t>n</a:t>
            </a:r>
            <a:r>
              <a:rPr lang="zh-CN" altLang="en-US" sz="2800" b="1" dirty="0" smtClean="0">
                <a:solidFill>
                  <a:srgbClr val="000000"/>
                </a:solidFill>
                <a:latin typeface="楷体_GB2312" pitchFamily="49" charset="-122"/>
                <a:ea typeface="楷体_GB2312" pitchFamily="49" charset="-122"/>
              </a:rPr>
              <a:t>方</a:t>
            </a:r>
            <a:r>
              <a:rPr lang="zh-CN" altLang="en-US" sz="2800" b="1" dirty="0">
                <a:solidFill>
                  <a:srgbClr val="000000"/>
                </a:solidFill>
                <a:latin typeface="楷体_GB2312" pitchFamily="49" charset="-122"/>
                <a:ea typeface="楷体_GB2312" pitchFamily="49" charset="-122"/>
              </a:rPr>
              <a:t>路转移，涉及微地址寄存器的</a:t>
            </a:r>
            <a:r>
              <a:rPr lang="en-US" altLang="zh-CN" sz="2800" b="1" dirty="0">
                <a:solidFill>
                  <a:srgbClr val="000000"/>
                </a:solidFill>
                <a:latin typeface="楷体_GB2312" pitchFamily="49" charset="-122"/>
                <a:ea typeface="楷体_GB2312" pitchFamily="49" charset="-122"/>
              </a:rPr>
              <a:t>n</a:t>
            </a:r>
            <a:r>
              <a:rPr lang="zh-CN" altLang="en-US" sz="2800" b="1" dirty="0" smtClean="0">
                <a:solidFill>
                  <a:srgbClr val="000000"/>
                </a:solidFill>
                <a:latin typeface="楷体_GB2312" pitchFamily="49" charset="-122"/>
                <a:ea typeface="楷体_GB2312" pitchFamily="49" charset="-122"/>
              </a:rPr>
              <a:t>位</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lnSpc>
                <a:spcPct val="120000"/>
              </a:lnSpc>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因此</a:t>
            </a:r>
            <a:r>
              <a:rPr lang="zh-CN" altLang="en-US" sz="2800" dirty="0" smtClean="0">
                <a:solidFill>
                  <a:srgbClr val="000000"/>
                </a:solidFill>
                <a:latin typeface="楷体_GB2312" pitchFamily="49" charset="-122"/>
                <a:ea typeface="楷体_GB2312" pitchFamily="49" charset="-122"/>
              </a:rPr>
              <a:t>，执行转移微指令时，根据状态条件可转移到</a:t>
            </a:r>
            <a:r>
              <a:rPr lang="en-US" altLang="zh-CN" sz="2800" dirty="0" smtClean="0">
                <a:solidFill>
                  <a:srgbClr val="000000"/>
                </a:solidFill>
                <a:latin typeface="楷体_GB2312" pitchFamily="49" charset="-122"/>
                <a:ea typeface="楷体_GB2312" pitchFamily="49" charset="-122"/>
              </a:rPr>
              <a:t>2</a:t>
            </a:r>
            <a:r>
              <a:rPr lang="en-US" altLang="zh-CN" sz="2800" baseline="30000" dirty="0" smtClean="0">
                <a:solidFill>
                  <a:srgbClr val="000000"/>
                </a:solidFill>
                <a:latin typeface="楷体_GB2312" pitchFamily="49" charset="-122"/>
                <a:ea typeface="楷体_GB2312" pitchFamily="49" charset="-122"/>
              </a:rPr>
              <a:t>n</a:t>
            </a:r>
            <a:r>
              <a:rPr lang="zh-CN" altLang="en-US" sz="2800" dirty="0" smtClean="0">
                <a:solidFill>
                  <a:srgbClr val="000000"/>
                </a:solidFill>
                <a:latin typeface="楷体_GB2312" pitchFamily="49" charset="-122"/>
                <a:ea typeface="楷体_GB2312" pitchFamily="49" charset="-122"/>
              </a:rPr>
              <a:t>个微地址中的一个。</a:t>
            </a:r>
            <a:endParaRPr lang="zh-CN" altLang="en-US" sz="2800" dirty="0">
              <a:solidFill>
                <a:srgbClr val="000000"/>
              </a:solidFill>
              <a:latin typeface="楷体_GB2312" pitchFamily="49" charset="-122"/>
              <a:ea typeface="楷体_GB2312" pitchFamily="49" charset="-122"/>
            </a:endParaRPr>
          </a:p>
          <a:p>
            <a:pPr eaLnBrk="1" hangingPunct="1">
              <a:lnSpc>
                <a:spcPct val="120000"/>
              </a:lnSpc>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多</a:t>
            </a:r>
            <a:r>
              <a:rPr lang="zh-CN" altLang="en-US" sz="2800" dirty="0">
                <a:solidFill>
                  <a:srgbClr val="000000"/>
                </a:solidFill>
                <a:latin typeface="楷体_GB2312" pitchFamily="49" charset="-122"/>
                <a:ea typeface="楷体_GB2312" pitchFamily="49" charset="-122"/>
              </a:rPr>
              <a:t>路转移方式的特点是：能以较短的顺序控制字段配合，实现多路并行转移，灵活性好，速度较快，但转移地址逻辑需要用组合逻辑方法设计</a:t>
            </a:r>
            <a:r>
              <a:rPr lang="zh-CN" altLang="en-US" sz="2800" dirty="0" smtClean="0">
                <a:solidFill>
                  <a:srgbClr val="000000"/>
                </a:solidFill>
                <a:latin typeface="楷体_GB2312" pitchFamily="49" charset="-122"/>
                <a:ea typeface="楷体_GB2312" pitchFamily="49" charset="-122"/>
              </a:rPr>
              <a:t>。</a:t>
            </a:r>
            <a:endParaRPr lang="en-US" altLang="zh-CN"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435280" cy="4572000"/>
          </a:xfrm>
        </p:spPr>
        <p:txBody>
          <a:bodyPr>
            <a:normAutofit fontScale="25000" lnSpcReduction="20000"/>
          </a:bodyPr>
          <a:lstStyle/>
          <a:p>
            <a:pPr eaLnBrk="1" hangingPunct="1">
              <a:buNone/>
            </a:pPr>
            <a:r>
              <a:rPr lang="en-US" altLang="zh-CN" sz="9600" b="1" dirty="0" smtClean="0">
                <a:solidFill>
                  <a:srgbClr val="000000"/>
                </a:solidFill>
                <a:latin typeface="楷体_GB2312" pitchFamily="49" charset="-122"/>
                <a:ea typeface="楷体_GB2312" pitchFamily="49" charset="-122"/>
              </a:rPr>
              <a:t>3.</a:t>
            </a:r>
            <a:r>
              <a:rPr lang="zh-CN" altLang="en-US" sz="9600" b="1" dirty="0" smtClean="0">
                <a:solidFill>
                  <a:srgbClr val="000000"/>
                </a:solidFill>
                <a:latin typeface="楷体_GB2312" pitchFamily="49" charset="-122"/>
                <a:ea typeface="楷体_GB2312" pitchFamily="49" charset="-122"/>
              </a:rPr>
              <a:t>微指令格式</a:t>
            </a:r>
            <a:endParaRPr lang="en-US" altLang="zh-CN" sz="9600" b="1" dirty="0" smtClean="0">
              <a:solidFill>
                <a:srgbClr val="000000"/>
              </a:solidFill>
              <a:latin typeface="楷体_GB2312" pitchFamily="49" charset="-122"/>
              <a:ea typeface="楷体_GB2312" pitchFamily="49" charset="-122"/>
            </a:endParaRPr>
          </a:p>
          <a:p>
            <a:pPr eaLnBrk="1" hangingPunct="1">
              <a:buNone/>
            </a:pPr>
            <a:r>
              <a:rPr lang="en-US" altLang="zh-CN" sz="8600" dirty="0" smtClean="0">
                <a:solidFill>
                  <a:srgbClr val="000000"/>
                </a:solidFill>
                <a:latin typeface="楷体_GB2312" pitchFamily="49" charset="-122"/>
                <a:ea typeface="楷体_GB2312" pitchFamily="49" charset="-122"/>
              </a:rPr>
              <a:t>	</a:t>
            </a:r>
            <a:r>
              <a:rPr lang="zh-CN" altLang="en-US" sz="11200" dirty="0" smtClean="0">
                <a:solidFill>
                  <a:srgbClr val="000000"/>
                </a:solidFill>
                <a:latin typeface="楷体_GB2312" pitchFamily="49" charset="-122"/>
                <a:ea typeface="楷体_GB2312" pitchFamily="49" charset="-122"/>
              </a:rPr>
              <a:t>微指令</a:t>
            </a:r>
            <a:r>
              <a:rPr lang="zh-CN" altLang="en-US" sz="11200" dirty="0">
                <a:solidFill>
                  <a:srgbClr val="000000"/>
                </a:solidFill>
                <a:latin typeface="楷体_GB2312" pitchFamily="49" charset="-122"/>
                <a:ea typeface="楷体_GB2312" pitchFamily="49" charset="-122"/>
              </a:rPr>
              <a:t>的格式大体分成两类：水平型微指令和垂直型</a:t>
            </a:r>
            <a:r>
              <a:rPr lang="zh-CN" altLang="en-US" sz="11200" dirty="0" smtClean="0">
                <a:solidFill>
                  <a:srgbClr val="000000"/>
                </a:solidFill>
                <a:latin typeface="楷体_GB2312" pitchFamily="49" charset="-122"/>
                <a:ea typeface="楷体_GB2312" pitchFamily="49" charset="-122"/>
              </a:rPr>
              <a:t>微指令。</a:t>
            </a:r>
            <a:endParaRPr lang="en-US" altLang="zh-CN" sz="11200" dirty="0" smtClean="0">
              <a:solidFill>
                <a:srgbClr val="000000"/>
              </a:solidFill>
              <a:latin typeface="楷体_GB2312" pitchFamily="49" charset="-122"/>
              <a:ea typeface="楷体_GB2312" pitchFamily="49" charset="-122"/>
            </a:endParaRPr>
          </a:p>
          <a:p>
            <a:pPr eaLnBrk="1" hangingPunct="1">
              <a:buNone/>
            </a:pPr>
            <a:r>
              <a:rPr lang="en-US" altLang="zh-CN" sz="11200" dirty="0" smtClean="0">
                <a:solidFill>
                  <a:srgbClr val="000000"/>
                </a:solidFill>
                <a:latin typeface="楷体_GB2312" pitchFamily="49" charset="-122"/>
                <a:ea typeface="楷体_GB2312" pitchFamily="49" charset="-122"/>
              </a:rPr>
              <a:t>1</a:t>
            </a:r>
            <a:r>
              <a:rPr lang="zh-CN" altLang="en-US" sz="11200" dirty="0" smtClean="0">
                <a:solidFill>
                  <a:srgbClr val="000000"/>
                </a:solidFill>
                <a:latin typeface="楷体_GB2312" pitchFamily="49" charset="-122"/>
                <a:ea typeface="楷体_GB2312" pitchFamily="49" charset="-122"/>
              </a:rPr>
              <a:t>）水平型</a:t>
            </a:r>
            <a:r>
              <a:rPr lang="zh-CN" altLang="en-US" sz="11200" dirty="0">
                <a:solidFill>
                  <a:srgbClr val="000000"/>
                </a:solidFill>
                <a:latin typeface="楷体_GB2312" pitchFamily="49" charset="-122"/>
                <a:ea typeface="楷体_GB2312" pitchFamily="49" charset="-122"/>
              </a:rPr>
              <a:t>微指令</a:t>
            </a:r>
          </a:p>
          <a:p>
            <a:pPr eaLnBrk="1" hangingPunct="1">
              <a:buNone/>
            </a:pPr>
            <a:r>
              <a:rPr lang="zh-CN" altLang="en-US" sz="11200" dirty="0">
                <a:solidFill>
                  <a:srgbClr val="000000"/>
                </a:solidFill>
                <a:latin typeface="楷体_GB2312" pitchFamily="49" charset="-122"/>
                <a:ea typeface="楷体_GB2312" pitchFamily="49" charset="-122"/>
              </a:rPr>
              <a:t>	</a:t>
            </a:r>
            <a:r>
              <a:rPr lang="zh-CN" altLang="en-US" sz="11200" dirty="0" smtClean="0">
                <a:solidFill>
                  <a:srgbClr val="000000"/>
                </a:solidFill>
                <a:latin typeface="楷体_GB2312" pitchFamily="49" charset="-122"/>
                <a:ea typeface="楷体_GB2312" pitchFamily="49" charset="-122"/>
              </a:rPr>
              <a:t>一</a:t>
            </a:r>
            <a:r>
              <a:rPr lang="zh-CN" altLang="en-US" sz="11200" dirty="0">
                <a:solidFill>
                  <a:srgbClr val="000000"/>
                </a:solidFill>
                <a:latin typeface="楷体_GB2312" pitchFamily="49" charset="-122"/>
                <a:ea typeface="楷体_GB2312" pitchFamily="49" charset="-122"/>
              </a:rPr>
              <a:t>次能定义并执行多个并行操作微命令的微指令，叫做水平型微指令。 其一般格式如下</a:t>
            </a:r>
            <a:r>
              <a:rPr lang="zh-CN" altLang="en-US" sz="11200" dirty="0" smtClean="0">
                <a:solidFill>
                  <a:srgbClr val="000000"/>
                </a:solidFill>
                <a:latin typeface="楷体_GB2312" pitchFamily="49" charset="-122"/>
                <a:ea typeface="楷体_GB2312" pitchFamily="49" charset="-122"/>
              </a:rPr>
              <a:t>：</a:t>
            </a:r>
            <a:endParaRPr lang="en-US" altLang="zh-CN" sz="11200" dirty="0" smtClean="0">
              <a:solidFill>
                <a:srgbClr val="000000"/>
              </a:solidFill>
              <a:latin typeface="楷体_GB2312" pitchFamily="49" charset="-122"/>
              <a:ea typeface="楷体_GB2312" pitchFamily="49" charset="-122"/>
            </a:endParaRPr>
          </a:p>
          <a:p>
            <a:pPr eaLnBrk="1" hangingPunct="1">
              <a:buNone/>
            </a:pPr>
            <a:r>
              <a:rPr lang="en-US" altLang="zh-CN" sz="8600" dirty="0" smtClean="0">
                <a:solidFill>
                  <a:srgbClr val="000000"/>
                </a:solidFill>
                <a:latin typeface="楷体_GB2312" pitchFamily="49" charset="-122"/>
                <a:ea typeface="楷体_GB2312" pitchFamily="49" charset="-122"/>
              </a:rPr>
              <a:t>                                      </a:t>
            </a:r>
          </a:p>
          <a:p>
            <a:pPr eaLnBrk="1" hangingPunct="1">
              <a:buNone/>
            </a:pPr>
            <a:endParaRPr lang="en-US" altLang="zh-CN" sz="8600" dirty="0">
              <a:solidFill>
                <a:srgbClr val="000000"/>
              </a:solidFill>
              <a:latin typeface="楷体_GB2312" pitchFamily="49" charset="-122"/>
              <a:ea typeface="楷体_GB2312" pitchFamily="49" charset="-122"/>
            </a:endParaRPr>
          </a:p>
          <a:p>
            <a:pPr eaLnBrk="1" hangingPunct="1">
              <a:buNone/>
            </a:pPr>
            <a:r>
              <a:rPr lang="en-US" altLang="zh-CN" sz="8600" dirty="0" smtClean="0">
                <a:solidFill>
                  <a:srgbClr val="000000"/>
                </a:solidFill>
                <a:latin typeface="楷体_GB2312" pitchFamily="49" charset="-122"/>
                <a:ea typeface="楷体_GB2312" pitchFamily="49" charset="-122"/>
              </a:rPr>
              <a:t>                                                             	</a:t>
            </a:r>
            <a:r>
              <a:rPr lang="zh-CN" altLang="en-US" sz="11200" dirty="0" smtClean="0">
                <a:solidFill>
                  <a:srgbClr val="000000"/>
                </a:solidFill>
                <a:latin typeface="楷体_GB2312" pitchFamily="49" charset="-122"/>
                <a:ea typeface="楷体_GB2312" pitchFamily="49" charset="-122"/>
              </a:rPr>
              <a:t>按照</a:t>
            </a:r>
            <a:r>
              <a:rPr lang="zh-CN" altLang="en-US" sz="11200" dirty="0">
                <a:solidFill>
                  <a:srgbClr val="000000"/>
                </a:solidFill>
                <a:latin typeface="楷体_GB2312" pitchFamily="49" charset="-122"/>
                <a:ea typeface="楷体_GB2312" pitchFamily="49" charset="-122"/>
              </a:rPr>
              <a:t>控制字段的编码方法不同，水平型微指令又分为三种：全水平型</a:t>
            </a:r>
            <a:r>
              <a:rPr lang="en-US" altLang="zh-CN" sz="11200" dirty="0">
                <a:solidFill>
                  <a:srgbClr val="000000"/>
                </a:solidFill>
                <a:latin typeface="楷体_GB2312" pitchFamily="49" charset="-122"/>
                <a:ea typeface="楷体_GB2312" pitchFamily="49" charset="-122"/>
              </a:rPr>
              <a:t>(</a:t>
            </a:r>
            <a:r>
              <a:rPr lang="zh-CN" altLang="en-US" sz="11200" dirty="0">
                <a:solidFill>
                  <a:srgbClr val="000000"/>
                </a:solidFill>
                <a:latin typeface="楷体_GB2312" pitchFamily="49" charset="-122"/>
                <a:ea typeface="楷体_GB2312" pitchFamily="49" charset="-122"/>
              </a:rPr>
              <a:t>不译法</a:t>
            </a:r>
            <a:r>
              <a:rPr lang="en-US" altLang="zh-CN" sz="11200" dirty="0">
                <a:solidFill>
                  <a:srgbClr val="000000"/>
                </a:solidFill>
                <a:latin typeface="楷体_GB2312" pitchFamily="49" charset="-122"/>
                <a:ea typeface="楷体_GB2312" pitchFamily="49" charset="-122"/>
              </a:rPr>
              <a:t>)</a:t>
            </a:r>
            <a:r>
              <a:rPr lang="zh-CN" altLang="en-US" sz="11200" dirty="0">
                <a:solidFill>
                  <a:srgbClr val="000000"/>
                </a:solidFill>
                <a:latin typeface="楷体_GB2312" pitchFamily="49" charset="-122"/>
                <a:ea typeface="楷体_GB2312" pitchFamily="49" charset="-122"/>
              </a:rPr>
              <a:t>微指令，字段译码法水平型微指令，以及直接和译码相混合的水平型微指令。</a:t>
            </a:r>
          </a:p>
          <a:p>
            <a:pPr eaLnBrk="1" hangingPunct="1">
              <a:buNone/>
            </a:pP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graphicFrame>
        <p:nvGraphicFramePr>
          <p:cNvPr id="2" name="表格 1"/>
          <p:cNvGraphicFramePr>
            <a:graphicFrameLocks noGrp="1"/>
          </p:cNvGraphicFramePr>
          <p:nvPr>
            <p:extLst>
              <p:ext uri="{D42A27DB-BD31-4B8C-83A1-F6EECF244321}">
                <p14:modId xmlns:p14="http://schemas.microsoft.com/office/powerpoint/2010/main" val="1321734663"/>
              </p:ext>
            </p:extLst>
          </p:nvPr>
        </p:nvGraphicFramePr>
        <p:xfrm>
          <a:off x="755576" y="4077072"/>
          <a:ext cx="7416825" cy="457200"/>
        </p:xfrm>
        <a:graphic>
          <a:graphicData uri="http://schemas.openxmlformats.org/drawingml/2006/table">
            <a:tbl>
              <a:tblPr firstRow="1" bandRow="1">
                <a:tableStyleId>{5940675A-B579-460E-94D1-54222C63F5DA}</a:tableStyleId>
              </a:tblPr>
              <a:tblGrid>
                <a:gridCol w="2472275"/>
                <a:gridCol w="2472275"/>
                <a:gridCol w="2472275"/>
              </a:tblGrid>
              <a:tr h="370840">
                <a:tc>
                  <a:txBody>
                    <a:bodyPr/>
                    <a:lstStyle/>
                    <a:p>
                      <a:pPr algn="ctr"/>
                      <a:r>
                        <a:rPr lang="zh-CN" altLang="en-US" sz="2400" dirty="0" smtClean="0"/>
                        <a:t>控制字段</a:t>
                      </a:r>
                      <a:endParaRPr lang="zh-CN" altLang="en-US" sz="2400" dirty="0"/>
                    </a:p>
                  </a:txBody>
                  <a:tcPr/>
                </a:tc>
                <a:tc>
                  <a:txBody>
                    <a:bodyPr/>
                    <a:lstStyle/>
                    <a:p>
                      <a:pPr algn="ctr"/>
                      <a:r>
                        <a:rPr lang="zh-CN" altLang="en-US" sz="2400" dirty="0" smtClean="0"/>
                        <a:t>判别测试字段</a:t>
                      </a:r>
                      <a:endParaRPr lang="zh-CN" altLang="en-US" sz="2400" dirty="0"/>
                    </a:p>
                  </a:txBody>
                  <a:tcPr/>
                </a:tc>
                <a:tc>
                  <a:txBody>
                    <a:bodyPr/>
                    <a:lstStyle/>
                    <a:p>
                      <a:pPr algn="ctr"/>
                      <a:r>
                        <a:rPr lang="zh-CN" altLang="en-US" sz="2400" dirty="0" smtClean="0"/>
                        <a:t>下地址字段</a:t>
                      </a:r>
                      <a:endParaRPr lang="zh-CN" altLang="en-US" sz="2400" dirty="0"/>
                    </a:p>
                  </a:txBody>
                  <a:tcPr/>
                </a:tc>
              </a:tr>
            </a:tbl>
          </a:graphicData>
        </a:graphic>
      </p:graphicFrame>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）垂直型微指令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微指令</a:t>
            </a:r>
            <a:r>
              <a:rPr lang="zh-CN" altLang="en-US" sz="2800" dirty="0">
                <a:solidFill>
                  <a:srgbClr val="000000"/>
                </a:solidFill>
                <a:latin typeface="楷体_GB2312" pitchFamily="49" charset="-122"/>
                <a:ea typeface="楷体_GB2312" pitchFamily="49" charset="-122"/>
              </a:rPr>
              <a:t>中设置微操作码字段，采用微操作码编译法，由微操作码规定微指令的功能 ，称为垂直型微指令</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其</a:t>
            </a:r>
            <a:r>
              <a:rPr lang="zh-CN" altLang="en-US" sz="2800" dirty="0">
                <a:solidFill>
                  <a:srgbClr val="000000"/>
                </a:solidFill>
                <a:latin typeface="楷体_GB2312" pitchFamily="49" charset="-122"/>
                <a:ea typeface="楷体_GB2312" pitchFamily="49" charset="-122"/>
              </a:rPr>
              <a:t>结构类似于机器指令的结构。它有操作码，在一条微指令中只有</a:t>
            </a:r>
            <a:r>
              <a:rPr lang="en-US" altLang="zh-CN" sz="2800" dirty="0">
                <a:solidFill>
                  <a:srgbClr val="000000"/>
                </a:solidFill>
                <a:latin typeface="楷体_GB2312" pitchFamily="49" charset="-122"/>
                <a:ea typeface="楷体_GB2312" pitchFamily="49" charset="-122"/>
              </a:rPr>
              <a:t>1—2</a:t>
            </a:r>
            <a:r>
              <a:rPr lang="zh-CN" altLang="en-US" sz="2800" dirty="0">
                <a:solidFill>
                  <a:srgbClr val="000000"/>
                </a:solidFill>
                <a:latin typeface="楷体_GB2312" pitchFamily="49" charset="-122"/>
                <a:ea typeface="楷体_GB2312" pitchFamily="49" charset="-122"/>
              </a:rPr>
              <a:t>个微操作命令，每条微指令的功能简单，因此，实现一条机器指令的微程序要比水平型微指令编写的微程序长得多。它是采用较长的微程序结构去换取较短的微指令结构。</a:t>
            </a:r>
          </a:p>
          <a:p>
            <a:pPr eaLnBrk="1" hangingPunct="1">
              <a:buNone/>
            </a:pP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下面用</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条垂直型微指令的微指令格式加以说明。设微指令字长为</a:t>
            </a:r>
            <a:r>
              <a:rPr lang="en-US" altLang="zh-CN" sz="2800" dirty="0" smtClean="0">
                <a:solidFill>
                  <a:srgbClr val="000000"/>
                </a:solidFill>
                <a:latin typeface="楷体_GB2312" pitchFamily="49" charset="-122"/>
                <a:ea typeface="楷体_GB2312" pitchFamily="49" charset="-122"/>
              </a:rPr>
              <a:t>16</a:t>
            </a:r>
            <a:r>
              <a:rPr lang="zh-CN" altLang="en-US" sz="2800" dirty="0" smtClean="0">
                <a:solidFill>
                  <a:srgbClr val="000000"/>
                </a:solidFill>
                <a:latin typeface="楷体_GB2312" pitchFamily="49" charset="-122"/>
                <a:ea typeface="楷体_GB2312" pitchFamily="49" charset="-122"/>
              </a:rPr>
              <a:t>位，微操作码</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）寄存器</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寄存器传送型微指令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其功能是把源寄存器数据送目标寄存器。</a:t>
            </a:r>
            <a:r>
              <a:rPr lang="en-US" altLang="zh-CN" sz="2800" dirty="0" smtClean="0">
                <a:solidFill>
                  <a:srgbClr val="000000"/>
                </a:solidFill>
                <a:latin typeface="楷体_GB2312" pitchFamily="49" charset="-122"/>
                <a:ea typeface="楷体_GB2312" pitchFamily="49" charset="-122"/>
              </a:rPr>
              <a:t>13~15</a:t>
            </a:r>
            <a:r>
              <a:rPr lang="zh-CN" altLang="en-US" sz="2800" dirty="0" smtClean="0">
                <a:solidFill>
                  <a:srgbClr val="000000"/>
                </a:solidFill>
                <a:latin typeface="楷体_GB2312" pitchFamily="49" charset="-122"/>
                <a:ea typeface="楷体_GB2312" pitchFamily="49" charset="-122"/>
              </a:rPr>
              <a:t>位为微操作码，源寄存器和目标寄存器地址各</a:t>
            </a: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位，可指定</a:t>
            </a:r>
            <a:r>
              <a:rPr lang="en-US" altLang="zh-CN" sz="2800" dirty="0" smtClean="0">
                <a:solidFill>
                  <a:srgbClr val="000000"/>
                </a:solidFill>
                <a:latin typeface="楷体_GB2312" pitchFamily="49" charset="-122"/>
                <a:ea typeface="楷体_GB2312" pitchFamily="49" charset="-122"/>
              </a:rPr>
              <a:t>31</a:t>
            </a:r>
            <a:r>
              <a:rPr lang="zh-CN" altLang="en-US" sz="2800" dirty="0" smtClean="0">
                <a:solidFill>
                  <a:srgbClr val="000000"/>
                </a:solidFill>
                <a:latin typeface="楷体_GB2312" pitchFamily="49" charset="-122"/>
                <a:ea typeface="楷体_GB2312" pitchFamily="49" charset="-122"/>
              </a:rPr>
              <a:t>个寄存器</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4193448258"/>
              </p:ext>
            </p:extLst>
          </p:nvPr>
        </p:nvGraphicFramePr>
        <p:xfrm>
          <a:off x="395536" y="3140576"/>
          <a:ext cx="8208912" cy="792480"/>
        </p:xfrm>
        <a:graphic>
          <a:graphicData uri="http://schemas.openxmlformats.org/drawingml/2006/table">
            <a:tbl>
              <a:tblPr firstRow="1" bandRow="1">
                <a:tableStyleId>{5940675A-B579-460E-94D1-54222C63F5DA}</a:tableStyleId>
              </a:tblPr>
              <a:tblGrid>
                <a:gridCol w="2052228"/>
                <a:gridCol w="2052228"/>
                <a:gridCol w="2052228"/>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12                    8</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7                      3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2                      0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000</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源寄存器地址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目标寄存器地址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其他</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476572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）运算控制型微指令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其功能是选择</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的左、右两端输入源信息，按</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字段所指定的运算功能（</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种操作）进行处理，并将结果送入暂存器中。左、右输入源地址各</a:t>
            </a: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位，可指定</a:t>
            </a:r>
            <a:r>
              <a:rPr lang="en-US" altLang="zh-CN" sz="2800" dirty="0" smtClean="0">
                <a:solidFill>
                  <a:srgbClr val="000000"/>
                </a:solidFill>
                <a:latin typeface="楷体_GB2312" pitchFamily="49" charset="-122"/>
                <a:ea typeface="楷体_GB2312" pitchFamily="49" charset="-122"/>
              </a:rPr>
              <a:t>31</a:t>
            </a:r>
            <a:r>
              <a:rPr lang="zh-CN" altLang="en-US" sz="2800" dirty="0" smtClean="0">
                <a:solidFill>
                  <a:srgbClr val="000000"/>
                </a:solidFill>
                <a:latin typeface="楷体_GB2312" pitchFamily="49" charset="-122"/>
                <a:ea typeface="楷体_GB2312" pitchFamily="49" charset="-122"/>
              </a:rPr>
              <a:t>种信息源</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366959543"/>
              </p:ext>
            </p:extLst>
          </p:nvPr>
        </p:nvGraphicFramePr>
        <p:xfrm>
          <a:off x="539552" y="2276480"/>
          <a:ext cx="8208912" cy="792480"/>
        </p:xfrm>
        <a:graphic>
          <a:graphicData uri="http://schemas.openxmlformats.org/drawingml/2006/table">
            <a:tbl>
              <a:tblPr firstRow="1" bandRow="1">
                <a:tableStyleId>{5940675A-B579-460E-94D1-54222C63F5DA}</a:tableStyleId>
              </a:tblPr>
              <a:tblGrid>
                <a:gridCol w="2052228"/>
                <a:gridCol w="2052228"/>
                <a:gridCol w="2052228"/>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12                    8</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7                      3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2                      0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000</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左输入源地址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右输入源地址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dirty="0" smtClean="0"/>
                        <a:t>ALU</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95884432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）访问主存微指令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其功能是将主存中一个单元的信息送入寄存器或者将寄存器的数据送往主存。第</a:t>
            </a:r>
            <a:r>
              <a:rPr lang="en-US" altLang="zh-CN" sz="2800" dirty="0" smtClean="0">
                <a:solidFill>
                  <a:srgbClr val="000000"/>
                </a:solidFill>
                <a:latin typeface="楷体_GB2312" pitchFamily="49" charset="-122"/>
                <a:ea typeface="楷体_GB2312" pitchFamily="49" charset="-122"/>
              </a:rPr>
              <a:t>1,2</a:t>
            </a:r>
            <a:r>
              <a:rPr lang="zh-CN" altLang="en-US" sz="2800" dirty="0" smtClean="0">
                <a:solidFill>
                  <a:srgbClr val="000000"/>
                </a:solidFill>
                <a:latin typeface="楷体_GB2312" pitchFamily="49" charset="-122"/>
                <a:ea typeface="楷体_GB2312" pitchFamily="49" charset="-122"/>
              </a:rPr>
              <a:t>位指定读操作或写操作（取其之一）</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329426334"/>
              </p:ext>
            </p:extLst>
          </p:nvPr>
        </p:nvGraphicFramePr>
        <p:xfrm>
          <a:off x="395536" y="2204864"/>
          <a:ext cx="8208912" cy="792480"/>
        </p:xfrm>
        <a:graphic>
          <a:graphicData uri="http://schemas.openxmlformats.org/drawingml/2006/table">
            <a:tbl>
              <a:tblPr firstRow="1" bandRow="1">
                <a:tableStyleId>{5940675A-B579-460E-94D1-54222C63F5DA}</a:tableStyleId>
              </a:tblPr>
              <a:tblGrid>
                <a:gridCol w="2052228"/>
                <a:gridCol w="2052228"/>
                <a:gridCol w="2052228"/>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12                    8</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7                      3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2                      0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010</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寄存器地址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存储器地址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其他</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2567539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）条件转移微指令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其功能是根据测试对象的状态决定是转移到Ｄ所指定的微地址单元，还是顺序执行下一条微指令。９位Ｄ字段如果不足以表示一个完整的微地址，可以用来替代现行</a:t>
            </a:r>
            <a:r>
              <a:rPr lang="el-GR" altLang="zh-CN" sz="2800" dirty="0"/>
              <a:t>μ</a:t>
            </a:r>
            <a:r>
              <a:rPr lang="en-US" altLang="zh-CN" sz="2800" dirty="0" smtClean="0">
                <a:solidFill>
                  <a:srgbClr val="000000"/>
                </a:solidFill>
                <a:latin typeface="楷体_GB2312" pitchFamily="49" charset="-122"/>
                <a:ea typeface="楷体_GB2312" pitchFamily="49" charset="-122"/>
              </a:rPr>
              <a:t>PC</a:t>
            </a:r>
            <a:r>
              <a:rPr lang="zh-CN" altLang="en-US" sz="2800" dirty="0" smtClean="0">
                <a:solidFill>
                  <a:srgbClr val="000000"/>
                </a:solidFill>
                <a:latin typeface="楷体_GB2312" pitchFamily="49" charset="-122"/>
                <a:ea typeface="楷体_GB2312" pitchFamily="49" charset="-122"/>
              </a:rPr>
              <a:t>的地位地址（高位保留）。测试条件字段有</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位，可规定</a:t>
            </a:r>
            <a:r>
              <a:rPr lang="en-US" altLang="zh-CN" sz="2800" dirty="0" smtClean="0">
                <a:solidFill>
                  <a:srgbClr val="000000"/>
                </a:solidFill>
                <a:latin typeface="楷体_GB2312" pitchFamily="49" charset="-122"/>
                <a:ea typeface="楷体_GB2312" pitchFamily="49" charset="-122"/>
              </a:rPr>
              <a:t>16</a:t>
            </a:r>
            <a:r>
              <a:rPr lang="zh-CN" altLang="en-US" sz="2800" dirty="0" smtClean="0">
                <a:solidFill>
                  <a:srgbClr val="000000"/>
                </a:solidFill>
                <a:latin typeface="楷体_GB2312" pitchFamily="49" charset="-122"/>
                <a:ea typeface="楷体_GB2312" pitchFamily="49" charset="-122"/>
              </a:rPr>
              <a:t>种测试条件</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375481684"/>
              </p:ext>
            </p:extLst>
          </p:nvPr>
        </p:nvGraphicFramePr>
        <p:xfrm>
          <a:off x="395536" y="2132856"/>
          <a:ext cx="8208912" cy="792480"/>
        </p:xfrm>
        <a:graphic>
          <a:graphicData uri="http://schemas.openxmlformats.org/drawingml/2006/table">
            <a:tbl>
              <a:tblPr firstRow="1" bandRow="1">
                <a:tableStyleId>{5940675A-B579-460E-94D1-54222C63F5DA}</a:tableStyleId>
              </a:tblPr>
              <a:tblGrid>
                <a:gridCol w="2052228"/>
                <a:gridCol w="4104456"/>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a:t>
                      </a:r>
                      <a:r>
                        <a:rPr lang="en-US" altLang="zh-CN" sz="2000" baseline="0" dirty="0" smtClean="0"/>
                        <a:t>                                    4</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3                      0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011</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dirty="0" smtClean="0"/>
                        <a:t>D</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其他</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25675390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fontScale="850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）水平型微指令与垂直型微指令的比较</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水平型微指令并行操作能力强，效率高，灵活性强，垂直型</a:t>
            </a:r>
            <a:r>
              <a:rPr lang="zh-CN" altLang="en-US" sz="2800" dirty="0" smtClean="0">
                <a:solidFill>
                  <a:srgbClr val="000000"/>
                </a:solidFill>
                <a:latin typeface="楷体_GB2312" pitchFamily="49" charset="-122"/>
                <a:ea typeface="楷体_GB2312" pitchFamily="49" charset="-122"/>
              </a:rPr>
              <a:t>微指令并行操作能力低，效率地。</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水平型微指令执行一条指令的时间短，垂直型微指令执行时间长。</a:t>
            </a:r>
          </a:p>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由水平型</a:t>
            </a:r>
            <a:r>
              <a:rPr lang="zh-CN" altLang="en-US" sz="2800" dirty="0" smtClean="0">
                <a:solidFill>
                  <a:srgbClr val="000000"/>
                </a:solidFill>
                <a:latin typeface="楷体_GB2312" pitchFamily="49" charset="-122"/>
                <a:ea typeface="楷体_GB2312" pitchFamily="49" charset="-122"/>
              </a:rPr>
              <a:t>微指令组成的</a:t>
            </a:r>
            <a:r>
              <a:rPr lang="zh-CN" altLang="en-US" sz="2800" dirty="0">
                <a:solidFill>
                  <a:srgbClr val="000000"/>
                </a:solidFill>
                <a:latin typeface="楷体_GB2312" pitchFamily="49" charset="-122"/>
                <a:ea typeface="楷体_GB2312" pitchFamily="49" charset="-122"/>
              </a:rPr>
              <a:t>微程序，有微指令字较长而微程序短的特点。垂直型微指令则</a:t>
            </a:r>
            <a:r>
              <a:rPr lang="zh-CN" altLang="en-US" sz="2800" dirty="0" smtClean="0">
                <a:solidFill>
                  <a:srgbClr val="000000"/>
                </a:solidFill>
                <a:latin typeface="楷体_GB2312" pitchFamily="49" charset="-122"/>
                <a:ea typeface="楷体_GB2312" pitchFamily="49" charset="-122"/>
              </a:rPr>
              <a:t>相反，微指令字较短而微程序长</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水平型微指令用户难以掌握，而垂直型微指令与指令比较相似，相对来说，比较容易掌握。</a:t>
            </a: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5.4.2  </a:t>
            </a:r>
            <a:r>
              <a:rPr lang="zh-CN" altLang="en-US" sz="1800" b="0" dirty="0" smtClean="0">
                <a:latin typeface="楷体_GB2312" pitchFamily="49" charset="-122"/>
                <a:ea typeface="楷体_GB2312" pitchFamily="49" charset="-122"/>
              </a:rPr>
              <a:t>微程序设计技术</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189496466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a:latin typeface="黑体" pitchFamily="49" charset="-122"/>
                <a:ea typeface="黑体" pitchFamily="49" charset="-122"/>
              </a:rPr>
              <a:t>硬布线</a:t>
            </a:r>
            <a:r>
              <a:rPr lang="zh-CN" altLang="en-US" sz="2400" b="1" dirty="0" smtClean="0">
                <a:latin typeface="黑体" pitchFamily="49" charset="-122"/>
                <a:ea typeface="黑体" pitchFamily="49" charset="-122"/>
              </a:rPr>
              <a:t>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5.5.1  </a:t>
            </a:r>
            <a:r>
              <a:rPr lang="zh-CN" altLang="en-US" sz="1800" dirty="0" smtClean="0">
                <a:latin typeface="楷体_GB2312" pitchFamily="49" charset="-122"/>
                <a:ea typeface="楷体_GB2312" pitchFamily="49" charset="-122"/>
              </a:rPr>
              <a:t>基本思想</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基本思想</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硬</a:t>
            </a:r>
            <a:r>
              <a:rPr lang="zh-CN" altLang="en-US" sz="2800" dirty="0">
                <a:solidFill>
                  <a:srgbClr val="000000"/>
                </a:solidFill>
                <a:latin typeface="楷体_GB2312" pitchFamily="49" charset="-122"/>
                <a:ea typeface="楷体_GB2312" pitchFamily="49" charset="-122"/>
              </a:rPr>
              <a:t>布线控制器是早期设计计算机的一种方法。这种方法是把控制部件看作为产生专门固定时序控制信号的逻辑电路，而此逻辑电路以使用最少元件和取得最高 操作速度为设计目标。一旦控制部件构成后，除非重新设计和物理上对它重新布线，否则要 想增加新的控制功能是不可能的。这种逻辑电路是一种由门电路和触发器构成的复杂树形逻辑网络，故称之为</a:t>
            </a:r>
            <a:r>
              <a:rPr lang="zh-CN" altLang="en-US" sz="2800" b="1" dirty="0">
                <a:solidFill>
                  <a:srgbClr val="000000"/>
                </a:solidFill>
                <a:latin typeface="楷体_GB2312" pitchFamily="49" charset="-122"/>
                <a:ea typeface="楷体_GB2312" pitchFamily="49" charset="-122"/>
              </a:rPr>
              <a:t>硬布线控制器</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18949646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a:latin typeface="黑体" pitchFamily="49" charset="-122"/>
                <a:ea typeface="黑体" pitchFamily="49" charset="-122"/>
              </a:rPr>
              <a:t>硬布线</a:t>
            </a:r>
            <a:r>
              <a:rPr lang="zh-CN" altLang="en-US" sz="2400" b="1" dirty="0" smtClean="0">
                <a:latin typeface="黑体" pitchFamily="49" charset="-122"/>
                <a:ea typeface="黑体" pitchFamily="49" charset="-122"/>
              </a:rPr>
              <a:t>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a:latin typeface="楷体_GB2312" pitchFamily="49" charset="-122"/>
                <a:ea typeface="楷体_GB2312" pitchFamily="49" charset="-122"/>
              </a:rPr>
              <a:t>5.5.1  </a:t>
            </a:r>
            <a:r>
              <a:rPr lang="zh-CN" altLang="en-US" sz="1800" dirty="0">
                <a:latin typeface="楷体_GB2312" pitchFamily="49" charset="-122"/>
                <a:ea typeface="楷体_GB2312" pitchFamily="49" charset="-122"/>
              </a:rPr>
              <a:t>基本思想</a:t>
            </a:r>
            <a:endParaRPr lang="zh-CN" altLang="en-US" sz="1800" dirty="0" smtClean="0">
              <a:latin typeface="楷体_GB2312" pitchFamily="49" charset="-122"/>
              <a:ea typeface="楷体_GB2312" pitchFamily="49" charset="-122"/>
            </a:endParaRP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硬布线控制器是计算机中最复杂的逻辑部件之一。当执行不同的机器指令时，通过激活一系列彼此很不相同的控制信号来实现对指令的解释，其结果使得控制器往往很少有明确的结构而变得杂乱无章（简单来说，就是</a:t>
            </a:r>
            <a:r>
              <a:rPr lang="zh-CN" altLang="en-US" sz="2800" b="1" dirty="0" smtClean="0">
                <a:solidFill>
                  <a:srgbClr val="000000"/>
                </a:solidFill>
                <a:latin typeface="楷体_GB2312" pitchFamily="49" charset="-122"/>
                <a:ea typeface="楷体_GB2312" pitchFamily="49" charset="-122"/>
              </a:rPr>
              <a:t>使得控制器变得非常复杂</a:t>
            </a:r>
            <a:r>
              <a:rPr lang="zh-CN" altLang="en-US" sz="2800" dirty="0" smtClean="0">
                <a:solidFill>
                  <a:srgbClr val="000000"/>
                </a:solidFill>
                <a:latin typeface="楷体_GB2312" pitchFamily="49" charset="-122"/>
                <a:ea typeface="楷体_GB2312" pitchFamily="49" charset="-122"/>
              </a:rPr>
              <a:t>）。机构上的这种缺陷使得硬布线控制器的设计和调试非常复杂且代价很大。</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正因为如此，硬布线控制器被微程序控制器所取代。但是随着新一代机器及</a:t>
            </a:r>
            <a:r>
              <a:rPr lang="en-US" altLang="zh-CN" sz="2800" dirty="0" smtClean="0">
                <a:solidFill>
                  <a:srgbClr val="000000"/>
                </a:solidFill>
                <a:latin typeface="楷体_GB2312" pitchFamily="49" charset="-122"/>
                <a:ea typeface="楷体_GB2312" pitchFamily="49" charset="-122"/>
              </a:rPr>
              <a:t>VLSI</a:t>
            </a:r>
            <a:r>
              <a:rPr lang="zh-CN" altLang="en-US" sz="2800" dirty="0" smtClean="0">
                <a:solidFill>
                  <a:srgbClr val="000000"/>
                </a:solidFill>
                <a:latin typeface="楷体_GB2312" pitchFamily="49" charset="-122"/>
                <a:ea typeface="楷体_GB2312" pitchFamily="49" charset="-122"/>
              </a:rPr>
              <a:t>技术的发展，硬布线逻辑设计思想又得到了重视。</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54922856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a:latin typeface="楷体_GB2312" pitchFamily="49" charset="-122"/>
                <a:ea typeface="楷体_GB2312" pitchFamily="49" charset="-122"/>
              </a:rPr>
              <a:t>5.5.1  </a:t>
            </a:r>
            <a:r>
              <a:rPr lang="zh-CN" altLang="en-US" sz="1800" dirty="0">
                <a:latin typeface="楷体_GB2312" pitchFamily="49" charset="-122"/>
                <a:ea typeface="楷体_GB2312" pitchFamily="49" charset="-122"/>
              </a:rPr>
              <a:t>基本思想</a:t>
            </a:r>
            <a:endParaRPr lang="zh-CN" altLang="en-US" sz="1800" dirty="0" smtClean="0">
              <a:latin typeface="楷体_GB2312" pitchFamily="49" charset="-122"/>
              <a:ea typeface="楷体_GB2312" pitchFamily="49" charset="-122"/>
            </a:endParaRP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20000"/>
          </a:bodyPr>
          <a:lstStyle/>
          <a:p>
            <a:pPr eaLnBrk="1" hangingPunct="1">
              <a:buNone/>
            </a:pP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5.29</a:t>
            </a:r>
            <a:r>
              <a:rPr lang="zh-CN" altLang="en-US" sz="2800" dirty="0" smtClean="0">
                <a:solidFill>
                  <a:srgbClr val="000000"/>
                </a:solidFill>
                <a:latin typeface="楷体_GB2312" pitchFamily="49" charset="-122"/>
                <a:ea typeface="楷体_GB2312" pitchFamily="49" charset="-122"/>
              </a:rPr>
              <a:t>示</a:t>
            </a:r>
            <a:r>
              <a:rPr lang="zh-CN" altLang="en-US" sz="2800" dirty="0" smtClean="0">
                <a:solidFill>
                  <a:srgbClr val="000000"/>
                </a:solidFill>
                <a:latin typeface="楷体_GB2312" pitchFamily="49" charset="-122"/>
                <a:ea typeface="楷体_GB2312" pitchFamily="49" charset="-122"/>
              </a:rPr>
              <a:t>出了硬布线控制器的结构方框图。</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逻辑</a:t>
            </a:r>
            <a:r>
              <a:rPr lang="zh-CN" altLang="en-US" sz="2800" dirty="0">
                <a:solidFill>
                  <a:srgbClr val="000000"/>
                </a:solidFill>
                <a:latin typeface="楷体_GB2312" pitchFamily="49" charset="-122"/>
                <a:ea typeface="楷体_GB2312" pitchFamily="49" charset="-122"/>
              </a:rPr>
              <a:t>网络的输入信号来源有三个：</a:t>
            </a: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来自指令操码译码器的输出</a:t>
            </a:r>
            <a:r>
              <a:rPr lang="en-US" altLang="zh-CN" sz="2800" dirty="0" err="1">
                <a:solidFill>
                  <a:srgbClr val="000000"/>
                </a:solidFill>
                <a:latin typeface="楷体_GB2312" pitchFamily="49" charset="-122"/>
                <a:ea typeface="楷体_GB2312" pitchFamily="49" charset="-122"/>
              </a:rPr>
              <a:t>I</a:t>
            </a:r>
            <a:r>
              <a:rPr lang="en-US" altLang="zh-CN" sz="2800" baseline="-25000" dirty="0" err="1">
                <a:solidFill>
                  <a:srgbClr val="000000"/>
                </a:solidFill>
                <a:latin typeface="楷体_GB2312" pitchFamily="49" charset="-122"/>
                <a:ea typeface="楷体_GB2312" pitchFamily="49" charset="-122"/>
              </a:rPr>
              <a:t>m</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来自执行部件的反馈信息</a:t>
            </a:r>
            <a:r>
              <a:rPr lang="en-US" altLang="zh-CN" sz="2800" dirty="0" err="1">
                <a:solidFill>
                  <a:srgbClr val="000000"/>
                </a:solidFill>
                <a:latin typeface="楷体_GB2312" pitchFamily="49" charset="-122"/>
                <a:ea typeface="楷体_GB2312" pitchFamily="49" charset="-122"/>
              </a:rPr>
              <a:t>B</a:t>
            </a:r>
            <a:r>
              <a:rPr lang="en-US" altLang="zh-CN" sz="2800" baseline="-25000" dirty="0" err="1">
                <a:solidFill>
                  <a:srgbClr val="000000"/>
                </a:solidFill>
                <a:latin typeface="楷体_GB2312" pitchFamily="49" charset="-122"/>
                <a:ea typeface="楷体_GB2312" pitchFamily="49" charset="-122"/>
              </a:rPr>
              <a:t>j</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来自时序产生器的时序信号，包括节拍电位信号</a:t>
            </a:r>
            <a:r>
              <a:rPr lang="en-US" altLang="zh-CN" sz="2800" dirty="0">
                <a:solidFill>
                  <a:srgbClr val="000000"/>
                </a:solidFill>
                <a:latin typeface="楷体_GB2312" pitchFamily="49" charset="-122"/>
                <a:ea typeface="楷体_GB2312" pitchFamily="49" charset="-122"/>
              </a:rPr>
              <a:t>M</a:t>
            </a:r>
            <a:r>
              <a:rPr lang="zh-CN" altLang="en-US" sz="2800" dirty="0">
                <a:solidFill>
                  <a:srgbClr val="000000"/>
                </a:solidFill>
                <a:latin typeface="楷体_GB2312" pitchFamily="49" charset="-122"/>
                <a:ea typeface="楷体_GB2312" pitchFamily="49" charset="-122"/>
              </a:rPr>
              <a:t>和节拍脉冲信号</a:t>
            </a:r>
            <a:r>
              <a:rPr lang="en-US" altLang="zh-CN" sz="2800" dirty="0">
                <a:solidFill>
                  <a:srgbClr val="000000"/>
                </a:solidFill>
                <a:latin typeface="楷体_GB2312" pitchFamily="49" charset="-122"/>
                <a:ea typeface="楷体_GB2312" pitchFamily="49" charset="-122"/>
              </a:rPr>
              <a:t>T</a:t>
            </a:r>
            <a:r>
              <a:rPr lang="zh-CN" altLang="en-US" sz="2800" dirty="0" smtClean="0">
                <a:solidFill>
                  <a:srgbClr val="000000"/>
                </a:solidFill>
                <a:latin typeface="楷体_GB2312" pitchFamily="49" charset="-122"/>
                <a:ea typeface="楷体_GB2312" pitchFamily="49" charset="-122"/>
              </a:rPr>
              <a:t>。其中节拍电位信号就是</a:t>
            </a:r>
            <a:r>
              <a:rPr lang="en-US" altLang="zh-CN" sz="2800" dirty="0" smtClean="0">
                <a:solidFill>
                  <a:srgbClr val="000000"/>
                </a:solidFill>
                <a:latin typeface="楷体_GB2312" pitchFamily="49" charset="-122"/>
                <a:ea typeface="楷体_GB2312" pitchFamily="49" charset="-122"/>
              </a:rPr>
              <a:t>5.3</a:t>
            </a:r>
            <a:r>
              <a:rPr lang="zh-CN" altLang="en-US" sz="2800" dirty="0" smtClean="0">
                <a:solidFill>
                  <a:srgbClr val="000000"/>
                </a:solidFill>
                <a:latin typeface="楷体_GB2312" pitchFamily="49" charset="-122"/>
                <a:ea typeface="楷体_GB2312" pitchFamily="49" charset="-122"/>
              </a:rPr>
              <a:t>节规定的机器周期（</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）信号，节拍脉冲信号是时钟信号。</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树形逻辑</a:t>
            </a:r>
            <a:r>
              <a:rPr lang="zh-CN" altLang="en-US" sz="2800" dirty="0">
                <a:solidFill>
                  <a:srgbClr val="000000"/>
                </a:solidFill>
                <a:latin typeface="楷体_GB2312" pitchFamily="49" charset="-122"/>
                <a:ea typeface="楷体_GB2312" pitchFamily="49" charset="-122"/>
              </a:rPr>
              <a:t>网络</a:t>
            </a:r>
            <a:r>
              <a:rPr lang="en-US" altLang="zh-CN" sz="2800" dirty="0">
                <a:solidFill>
                  <a:srgbClr val="000000"/>
                </a:solidFill>
                <a:latin typeface="楷体_GB2312" pitchFamily="49" charset="-122"/>
                <a:ea typeface="楷体_GB2312" pitchFamily="49" charset="-122"/>
              </a:rPr>
              <a:t>N</a:t>
            </a:r>
            <a:r>
              <a:rPr lang="zh-CN" altLang="en-US" sz="2800" dirty="0">
                <a:solidFill>
                  <a:srgbClr val="000000"/>
                </a:solidFill>
                <a:latin typeface="楷体_GB2312" pitchFamily="49" charset="-122"/>
                <a:ea typeface="楷体_GB2312" pitchFamily="49" charset="-122"/>
              </a:rPr>
              <a:t>的输出信号就是微操作控制信号，它用来对执行部件进行控制</a:t>
            </a: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a:t>
            </a: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1340768"/>
            <a:ext cx="5544616" cy="4916225"/>
          </a:xfrm>
          <a:prstGeom prst="rect">
            <a:avLst/>
          </a:prstGeom>
        </p:spPr>
      </p:pic>
      <p:sp>
        <p:nvSpPr>
          <p:cNvPr id="3" name="TextBox 2"/>
          <p:cNvSpPr txBox="1"/>
          <p:nvPr/>
        </p:nvSpPr>
        <p:spPr>
          <a:xfrm>
            <a:off x="1187624" y="6290156"/>
            <a:ext cx="5832648"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5.29 </a:t>
            </a:r>
            <a:r>
              <a:rPr lang="zh-CN" altLang="en-US" dirty="0">
                <a:solidFill>
                  <a:schemeClr val="tx1"/>
                </a:solidFill>
              </a:rPr>
              <a:t>硬</a:t>
            </a:r>
            <a:r>
              <a:rPr lang="zh-CN" altLang="en-US" dirty="0" smtClean="0">
                <a:solidFill>
                  <a:schemeClr val="tx1"/>
                </a:solidFill>
              </a:rPr>
              <a:t>布线控制器结构方框图</a:t>
            </a:r>
            <a:endParaRPr lang="zh-CN" altLang="en-US" dirty="0">
              <a:solidFill>
                <a:schemeClr val="tx1"/>
              </a:solidFill>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a:latin typeface="楷体_GB2312" pitchFamily="49" charset="-122"/>
                <a:ea typeface="楷体_GB2312" pitchFamily="49" charset="-122"/>
              </a:rPr>
              <a:t>5.5.1  </a:t>
            </a:r>
            <a:r>
              <a:rPr lang="zh-CN" altLang="en-US" sz="1800" dirty="0">
                <a:latin typeface="楷体_GB2312" pitchFamily="49" charset="-122"/>
                <a:ea typeface="楷体_GB2312" pitchFamily="49" charset="-122"/>
              </a:rPr>
              <a:t>基本思想</a:t>
            </a:r>
            <a:endParaRPr lang="zh-CN" altLang="en-US" sz="1800" dirty="0" smtClean="0">
              <a:latin typeface="楷体_GB2312" pitchFamily="49" charset="-122"/>
              <a:ea typeface="楷体_GB2312" pitchFamily="49" charset="-122"/>
            </a:endParaRP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硬</a:t>
            </a:r>
            <a:r>
              <a:rPr lang="zh-CN" altLang="en-US" sz="2800" dirty="0">
                <a:solidFill>
                  <a:srgbClr val="000000"/>
                </a:solidFill>
                <a:latin typeface="楷体_GB2312" pitchFamily="49" charset="-122"/>
                <a:ea typeface="楷体_GB2312" pitchFamily="49" charset="-122"/>
              </a:rPr>
              <a:t>布线控制器的</a:t>
            </a:r>
            <a:r>
              <a:rPr lang="zh-CN" altLang="en-US" sz="2800" b="1" dirty="0" smtClean="0">
                <a:solidFill>
                  <a:srgbClr val="000000"/>
                </a:solidFill>
                <a:latin typeface="楷体_GB2312" pitchFamily="49" charset="-122"/>
                <a:ea typeface="楷体_GB2312" pitchFamily="49" charset="-122"/>
              </a:rPr>
              <a:t>基本原理</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归纳起来可叙述为：某一微操作控制信号</a:t>
            </a:r>
            <a:r>
              <a:rPr lang="en-US" altLang="zh-CN" sz="2800" dirty="0" smtClean="0">
                <a:solidFill>
                  <a:srgbClr val="000000"/>
                </a:solidFill>
                <a:latin typeface="楷体_GB2312" pitchFamily="49" charset="-122"/>
                <a:ea typeface="楷体_GB2312" pitchFamily="49" charset="-122"/>
              </a:rPr>
              <a:t>C</a:t>
            </a:r>
            <a:r>
              <a:rPr lang="zh-CN" altLang="en-US" sz="2800" dirty="0" smtClean="0">
                <a:solidFill>
                  <a:srgbClr val="000000"/>
                </a:solidFill>
                <a:latin typeface="楷体_GB2312" pitchFamily="49" charset="-122"/>
                <a:ea typeface="楷体_GB2312" pitchFamily="49" charset="-122"/>
              </a:rPr>
              <a:t>是指令操作码译码器输出</a:t>
            </a:r>
            <a:r>
              <a:rPr lang="en-US" altLang="zh-CN" sz="2800" dirty="0" err="1" smtClean="0">
                <a:solidFill>
                  <a:srgbClr val="000000"/>
                </a:solidFill>
                <a:latin typeface="楷体_GB2312" pitchFamily="49" charset="-122"/>
                <a:ea typeface="楷体_GB2312" pitchFamily="49" charset="-122"/>
              </a:rPr>
              <a:t>I</a:t>
            </a:r>
            <a:r>
              <a:rPr lang="en-US" altLang="zh-CN" sz="2800" baseline="-25000" dirty="0" err="1" smtClean="0">
                <a:solidFill>
                  <a:srgbClr val="000000"/>
                </a:solidFill>
                <a:latin typeface="楷体_GB2312" pitchFamily="49" charset="-122"/>
                <a:ea typeface="楷体_GB2312" pitchFamily="49" charset="-122"/>
              </a:rPr>
              <a:t>m</a:t>
            </a:r>
            <a:r>
              <a:rPr lang="zh-CN" altLang="en-US" sz="2800" dirty="0" smtClean="0">
                <a:solidFill>
                  <a:srgbClr val="000000"/>
                </a:solidFill>
                <a:latin typeface="楷体_GB2312" pitchFamily="49" charset="-122"/>
                <a:ea typeface="楷体_GB2312" pitchFamily="49" charset="-122"/>
              </a:rPr>
              <a:t>、时序信号（节拍电位</a:t>
            </a:r>
            <a:r>
              <a:rPr lang="en-US" altLang="zh-CN" sz="2800" dirty="0" err="1" smtClean="0">
                <a:solidFill>
                  <a:srgbClr val="000000"/>
                </a:solidFill>
                <a:latin typeface="楷体_GB2312" pitchFamily="49" charset="-122"/>
                <a:ea typeface="楷体_GB2312" pitchFamily="49" charset="-122"/>
              </a:rPr>
              <a:t>M</a:t>
            </a:r>
            <a:r>
              <a:rPr lang="en-US" altLang="zh-CN" sz="2800" baseline="-25000" dirty="0" err="1" smtClean="0">
                <a:solidFill>
                  <a:srgbClr val="000000"/>
                </a:solidFill>
                <a:latin typeface="楷体_GB2312" pitchFamily="49" charset="-122"/>
                <a:ea typeface="楷体_GB2312" pitchFamily="49" charset="-122"/>
              </a:rPr>
              <a:t>j</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节拍脉冲</a:t>
            </a:r>
            <a:r>
              <a:rPr lang="en-US" altLang="zh-CN" sz="2800" dirty="0" err="1" smtClean="0">
                <a:solidFill>
                  <a:srgbClr val="000000"/>
                </a:solidFill>
                <a:latin typeface="楷体_GB2312" pitchFamily="49" charset="-122"/>
                <a:ea typeface="楷体_GB2312" pitchFamily="49" charset="-122"/>
              </a:rPr>
              <a:t>T</a:t>
            </a:r>
            <a:r>
              <a:rPr lang="en-US" altLang="zh-CN" sz="2800" baseline="-25000" dirty="0" err="1" smtClean="0">
                <a:solidFill>
                  <a:srgbClr val="000000"/>
                </a:solidFill>
                <a:latin typeface="楷体_GB2312" pitchFamily="49" charset="-122"/>
                <a:ea typeface="楷体_GB2312" pitchFamily="49" charset="-122"/>
              </a:rPr>
              <a:t>k</a:t>
            </a:r>
            <a:r>
              <a:rPr lang="zh-CN" altLang="en-US" sz="2800" dirty="0" smtClean="0">
                <a:solidFill>
                  <a:srgbClr val="000000"/>
                </a:solidFill>
                <a:latin typeface="楷体_GB2312" pitchFamily="49" charset="-122"/>
                <a:ea typeface="楷体_GB2312" pitchFamily="49" charset="-122"/>
              </a:rPr>
              <a:t>）和状态条件信号</a:t>
            </a:r>
            <a:r>
              <a:rPr lang="en-US" altLang="zh-CN" sz="2800" dirty="0" err="1" smtClean="0">
                <a:solidFill>
                  <a:srgbClr val="000000"/>
                </a:solidFill>
                <a:latin typeface="楷体_GB2312" pitchFamily="49" charset="-122"/>
                <a:ea typeface="楷体_GB2312" pitchFamily="49" charset="-122"/>
              </a:rPr>
              <a:t>B</a:t>
            </a:r>
            <a:r>
              <a:rPr lang="en-US" altLang="zh-CN" sz="2800" baseline="-25000" dirty="0" err="1" smtClean="0">
                <a:solidFill>
                  <a:srgbClr val="000000"/>
                </a:solidFill>
                <a:latin typeface="楷体_GB2312" pitchFamily="49" charset="-122"/>
                <a:ea typeface="楷体_GB2312" pitchFamily="49" charset="-122"/>
              </a:rPr>
              <a:t>j</a:t>
            </a:r>
            <a:r>
              <a:rPr lang="zh-CN" altLang="en-US" sz="2800" dirty="0" smtClean="0">
                <a:solidFill>
                  <a:srgbClr val="000000"/>
                </a:solidFill>
                <a:latin typeface="楷体_GB2312" pitchFamily="49" charset="-122"/>
                <a:ea typeface="楷体_GB2312" pitchFamily="49" charset="-122"/>
              </a:rPr>
              <a:t>的逻辑函数，即：</a:t>
            </a:r>
            <a:r>
              <a:rPr lang="en-US" altLang="zh-CN" sz="2800" b="1" dirty="0"/>
              <a:t> C=f(</a:t>
            </a:r>
            <a:r>
              <a:rPr lang="en-US" altLang="zh-CN" sz="2800" b="1" dirty="0" err="1"/>
              <a:t>I</a:t>
            </a:r>
            <a:r>
              <a:rPr lang="en-US" altLang="zh-CN" sz="2800" b="1" baseline="-25000" dirty="0" err="1"/>
              <a:t>m</a:t>
            </a:r>
            <a:r>
              <a:rPr lang="en-US" altLang="zh-CN" sz="2800" b="1" dirty="0" err="1"/>
              <a:t>,M</a:t>
            </a:r>
            <a:r>
              <a:rPr lang="en-US" altLang="zh-CN" sz="2800" b="1" baseline="-25000" dirty="0" err="1"/>
              <a:t>i</a:t>
            </a:r>
            <a:r>
              <a:rPr lang="en-US" altLang="zh-CN" sz="2800" b="1" dirty="0" err="1"/>
              <a:t>,T</a:t>
            </a:r>
            <a:r>
              <a:rPr lang="en-US" altLang="zh-CN" sz="2800" b="1" baseline="-25000" dirty="0" err="1"/>
              <a:t>k</a:t>
            </a:r>
            <a:r>
              <a:rPr lang="en-US" altLang="zh-CN" sz="2800" b="1" dirty="0" err="1"/>
              <a:t>,B</a:t>
            </a:r>
            <a:r>
              <a:rPr lang="en-US" altLang="zh-CN" sz="2800" b="1" baseline="-25000" dirty="0" err="1"/>
              <a:t>j</a:t>
            </a:r>
            <a:r>
              <a:rPr lang="en-US" altLang="zh-CN" sz="2800" b="1" dirty="0"/>
              <a:t>)</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然后这个</a:t>
            </a:r>
            <a:r>
              <a:rPr lang="zh-CN" altLang="en-US" sz="2800" b="1" dirty="0" smtClean="0">
                <a:solidFill>
                  <a:srgbClr val="000000"/>
                </a:solidFill>
                <a:latin typeface="楷体_GB2312" pitchFamily="49" charset="-122"/>
                <a:ea typeface="楷体_GB2312" pitchFamily="49" charset="-122"/>
              </a:rPr>
              <a:t>控制信号用门电路、触发器等器件采用布尔代数方法来设计实现的</a:t>
            </a:r>
            <a:r>
              <a:rPr lang="zh-CN" altLang="en-US" sz="2800" dirty="0" smtClean="0">
                <a:solidFill>
                  <a:srgbClr val="000000"/>
                </a:solidFill>
                <a:latin typeface="楷体_GB2312" pitchFamily="49" charset="-122"/>
                <a:ea typeface="楷体_GB2312" pitchFamily="49" charset="-122"/>
              </a:rPr>
              <a:t>。当机器加电工作时，某一操作控制信号</a:t>
            </a:r>
            <a:r>
              <a:rPr lang="en-US" altLang="zh-CN" sz="2800" dirty="0" smtClean="0">
                <a:solidFill>
                  <a:srgbClr val="000000"/>
                </a:solidFill>
                <a:latin typeface="楷体_GB2312" pitchFamily="49" charset="-122"/>
                <a:ea typeface="楷体_GB2312" pitchFamily="49" charset="-122"/>
              </a:rPr>
              <a:t>C</a:t>
            </a:r>
            <a:r>
              <a:rPr lang="zh-CN" altLang="en-US" sz="2800" dirty="0">
                <a:solidFill>
                  <a:srgbClr val="000000"/>
                </a:solidFill>
                <a:latin typeface="楷体_GB2312" pitchFamily="49" charset="-122"/>
                <a:ea typeface="楷体_GB2312" pitchFamily="49" charset="-122"/>
              </a:rPr>
              <a:t>在某条特定指令和状态条件下，在某一序号的特定节拍电位和节拍脉冲时间间隔中起作用，从而激活这条控制信号，对执行部件实施控制</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a:t>
                </a:r>
                <a:r>
                  <a:rPr lang="zh-CN" altLang="en-US" sz="2800" dirty="0">
                    <a:solidFill>
                      <a:srgbClr val="000000"/>
                    </a:solidFill>
                    <a:latin typeface="楷体_GB2312" pitchFamily="49" charset="-122"/>
                    <a:ea typeface="楷体_GB2312" pitchFamily="49" charset="-122"/>
                  </a:rPr>
                  <a:t>：对于引起一次主存读操作的控制信号</a:t>
                </a: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来说，当节拍电位</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时</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取指令被激活；而节拍电位</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4</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时，三条指令（</a:t>
                </a:r>
                <a:r>
                  <a:rPr lang="en-US" altLang="zh-CN" sz="2800" dirty="0">
                    <a:solidFill>
                      <a:srgbClr val="000000"/>
                    </a:solidFill>
                    <a:latin typeface="楷体_GB2312" pitchFamily="49" charset="-122"/>
                    <a:ea typeface="楷体_GB2312" pitchFamily="49" charset="-122"/>
                  </a:rPr>
                  <a:t>LDA</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ADD</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AND</a:t>
                </a:r>
                <a:r>
                  <a:rPr lang="zh-CN" altLang="en-US" sz="2800" dirty="0">
                    <a:solidFill>
                      <a:srgbClr val="000000"/>
                    </a:solidFill>
                    <a:latin typeface="楷体_GB2312" pitchFamily="49" charset="-122"/>
                    <a:ea typeface="楷体_GB2312" pitchFamily="49" charset="-122"/>
                  </a:rPr>
                  <a:t>）取操作数也被激活，此时指令译码器的</a:t>
                </a:r>
                <a:r>
                  <a:rPr lang="en-US" altLang="zh-CN" sz="2800" dirty="0">
                    <a:solidFill>
                      <a:srgbClr val="000000"/>
                    </a:solidFill>
                    <a:latin typeface="楷体_GB2312" pitchFamily="49" charset="-122"/>
                    <a:ea typeface="楷体_GB2312" pitchFamily="49" charset="-122"/>
                  </a:rPr>
                  <a:t>LDA</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ADD</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AND</a:t>
                </a:r>
                <a:r>
                  <a:rPr lang="zh-CN" altLang="en-US" sz="2800" dirty="0">
                    <a:solidFill>
                      <a:srgbClr val="000000"/>
                    </a:solidFill>
                    <a:latin typeface="楷体_GB2312" pitchFamily="49" charset="-122"/>
                    <a:ea typeface="楷体_GB2312" pitchFamily="49" charset="-122"/>
                  </a:rPr>
                  <a:t>输出均为</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，因此</a:t>
                </a: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的逻辑表达式可由下式确定：</a:t>
                </a:r>
                <a:endParaRPr lang="en-US" altLang="zh-CN" sz="2800" dirty="0">
                  <a:solidFill>
                    <a:srgbClr val="000000"/>
                  </a:solidFill>
                  <a:latin typeface="楷体_GB2312" pitchFamily="49" charset="-122"/>
                  <a:ea typeface="楷体_GB2312" pitchFamily="49" charset="-122"/>
                </a:endParaRPr>
              </a:p>
              <a:p>
                <a:pPr algn="ctr" eaLnBrk="1" hangingPunct="1">
                  <a:buNone/>
                </a:pP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3</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4</a:t>
                </a:r>
                <a:r>
                  <a:rPr lang="en-US" altLang="zh-CN" sz="2800" dirty="0">
                    <a:solidFill>
                      <a:srgbClr val="000000"/>
                    </a:solidFill>
                    <a:latin typeface="楷体_GB2312" pitchFamily="49" charset="-122"/>
                    <a:ea typeface="楷体_GB2312" pitchFamily="49" charset="-122"/>
                  </a:rPr>
                  <a:t>(LAD+ADD+AND)</a:t>
                </a: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一般来说，还要考虑节拍脉冲和状态条件的约束，所以每一个控制信号</a:t>
                </a:r>
                <a:r>
                  <a:rPr lang="en-US" altLang="zh-CN" sz="2800" dirty="0" err="1">
                    <a:solidFill>
                      <a:srgbClr val="000000"/>
                    </a:solidFill>
                    <a:latin typeface="楷体_GB2312" pitchFamily="49" charset="-122"/>
                    <a:ea typeface="楷体_GB2312" pitchFamily="49" charset="-122"/>
                  </a:rPr>
                  <a:t>C</a:t>
                </a:r>
                <a:r>
                  <a:rPr lang="en-US" altLang="zh-CN" sz="2800" baseline="-25000" dirty="0" err="1">
                    <a:solidFill>
                      <a:srgbClr val="000000"/>
                    </a:solidFill>
                    <a:latin typeface="楷体_GB2312" pitchFamily="49" charset="-122"/>
                    <a:ea typeface="楷体_GB2312" pitchFamily="49" charset="-122"/>
                  </a:rPr>
                  <a:t>n</a:t>
                </a:r>
                <a:r>
                  <a:rPr lang="zh-CN" altLang="en-US" sz="2800" dirty="0">
                    <a:solidFill>
                      <a:srgbClr val="000000"/>
                    </a:solidFill>
                    <a:latin typeface="楷体_GB2312" pitchFamily="49" charset="-122"/>
                    <a:ea typeface="楷体_GB2312" pitchFamily="49" charset="-122"/>
                  </a:rPr>
                  <a:t>可以由以下形式的布尔代数表达式来确定：</a:t>
                </a:r>
                <a:endParaRPr lang="en-US" altLang="zh-CN" sz="2800" dirty="0">
                  <a:solidFill>
                    <a:srgbClr val="000000"/>
                  </a:solidFill>
                  <a:latin typeface="楷体_GB2312" pitchFamily="49" charset="-122"/>
                  <a:ea typeface="楷体_GB2312" pitchFamily="49" charset="-122"/>
                </a:endParaRPr>
              </a:p>
              <a:p>
                <a:pPr algn="ctr" eaLnBrk="1" hangingPunct="1">
                  <a:buNone/>
                </a:pPr>
                <a:r>
                  <a:rPr lang="zh-CN" altLang="en-US" sz="2800" dirty="0" smtClean="0">
                    <a:solidFill>
                      <a:srgbClr val="000000"/>
                    </a:solidFill>
                    <a:latin typeface="楷体_GB2312" pitchFamily="49" charset="-122"/>
                    <a:ea typeface="楷体_GB2312" pitchFamily="49" charset="-122"/>
                  </a:rPr>
                  <a:t>	</a:t>
                </a:r>
                <a14:m>
                  <m:oMath xmlns:m="http://schemas.openxmlformats.org/officeDocument/2006/math">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m:t>
                        </m:r>
                      </m:e>
                      <m:sub>
                        <m:r>
                          <a:rPr lang="en-US" altLang="zh-CN" sz="2800" i="1">
                            <a:solidFill>
                              <a:srgbClr val="000000"/>
                            </a:solidFill>
                            <a:latin typeface="Cambria Math"/>
                            <a:ea typeface="Cambria Math"/>
                          </a:rPr>
                          <m:t>𝑛</m:t>
                        </m:r>
                      </m:sub>
                    </m:sSub>
                    <m:r>
                      <a:rPr lang="en-US" altLang="zh-CN" sz="2800" i="1">
                        <a:solidFill>
                          <a:srgbClr val="000000"/>
                        </a:solidFill>
                        <a:latin typeface="Cambria Math"/>
                        <a:ea typeface="Cambria Math"/>
                      </a:rPr>
                      <m:t>=</m:t>
                    </m:r>
                    <m:nary>
                      <m:naryPr>
                        <m:chr m:val="∑"/>
                        <m:supHide m:val="on"/>
                        <m:ctrlPr>
                          <a:rPr lang="en-US" altLang="zh-CN" sz="2800" i="1">
                            <a:solidFill>
                              <a:srgbClr val="000000"/>
                            </a:solidFill>
                            <a:latin typeface="Cambria Math"/>
                            <a:ea typeface="Cambria Math"/>
                          </a:rPr>
                        </m:ctrlPr>
                      </m:naryPr>
                      <m:sub>
                        <m:r>
                          <m:rPr>
                            <m:brk m:alnAt="7"/>
                          </m:rPr>
                          <a:rPr lang="en-US" altLang="zh-CN" sz="2800" i="1">
                            <a:solidFill>
                              <a:srgbClr val="000000"/>
                            </a:solidFill>
                            <a:latin typeface="Cambria Math"/>
                            <a:ea typeface="Cambria Math"/>
                          </a:rPr>
                          <m:t>𝑖</m:t>
                        </m:r>
                      </m:sub>
                      <m:sup/>
                      <m:e>
                        <m:d>
                          <m:dPr>
                            <m:ctrlPr>
                              <a:rPr lang="en-US" altLang="zh-CN" sz="2800" i="1">
                                <a:solidFill>
                                  <a:srgbClr val="000000"/>
                                </a:solidFill>
                                <a:latin typeface="Cambria Math"/>
                                <a:ea typeface="Cambria Math"/>
                              </a:rPr>
                            </m:ctrlPr>
                          </m:dPr>
                          <m:e>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𝑀</m:t>
                                </m:r>
                              </m:e>
                              <m:sub>
                                <m:r>
                                  <a:rPr lang="en-US" altLang="zh-CN" sz="2800" i="1">
                                    <a:solidFill>
                                      <a:srgbClr val="000000"/>
                                    </a:solidFill>
                                    <a:latin typeface="Cambria Math"/>
                                    <a:ea typeface="Cambria Math"/>
                                  </a:rPr>
                                  <m:t>𝑖</m:t>
                                </m:r>
                              </m:sub>
                            </m:sSub>
                            <m:r>
                              <a:rPr lang="en-US" altLang="zh-CN" sz="2800" i="1">
                                <a:solidFill>
                                  <a:srgbClr val="000000"/>
                                </a:solidFill>
                                <a:latin typeface="Cambria Math"/>
                                <a:ea typeface="Cambria Math"/>
                              </a:rPr>
                              <m:t>∙</m:t>
                            </m:r>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𝑇</m:t>
                                </m:r>
                              </m:e>
                              <m:sub>
                                <m:r>
                                  <a:rPr lang="en-US" altLang="zh-CN" sz="2800" i="1">
                                    <a:solidFill>
                                      <a:srgbClr val="000000"/>
                                    </a:solidFill>
                                    <a:latin typeface="Cambria Math"/>
                                    <a:ea typeface="Cambria Math"/>
                                  </a:rPr>
                                  <m:t>𝑘</m:t>
                                </m:r>
                              </m:sub>
                            </m:sSub>
                            <m:r>
                              <a:rPr lang="en-US" altLang="zh-CN" sz="2800" i="1">
                                <a:solidFill>
                                  <a:srgbClr val="000000"/>
                                </a:solidFill>
                                <a:latin typeface="Cambria Math"/>
                                <a:ea typeface="Cambria Math"/>
                              </a:rPr>
                              <m:t>∙</m:t>
                            </m:r>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𝐵</m:t>
                                </m:r>
                              </m:e>
                              <m:sub>
                                <m:r>
                                  <a:rPr lang="en-US" altLang="zh-CN" sz="2800" i="1">
                                    <a:solidFill>
                                      <a:srgbClr val="000000"/>
                                    </a:solidFill>
                                    <a:latin typeface="Cambria Math"/>
                                    <a:ea typeface="Cambria Math"/>
                                  </a:rPr>
                                  <m:t>𝑗</m:t>
                                </m:r>
                              </m:sub>
                            </m:sSub>
                            <m:nary>
                              <m:naryPr>
                                <m:chr m:val="∑"/>
                                <m:supHide m:val="on"/>
                                <m:ctrlPr>
                                  <a:rPr lang="en-US" altLang="zh-CN" sz="2800" i="1">
                                    <a:solidFill>
                                      <a:srgbClr val="000000"/>
                                    </a:solidFill>
                                    <a:latin typeface="Cambria Math"/>
                                    <a:ea typeface="Cambria Math"/>
                                  </a:rPr>
                                </m:ctrlPr>
                              </m:naryPr>
                              <m:sub>
                                <m:r>
                                  <m:rPr>
                                    <m:brk m:alnAt="7"/>
                                  </m:rPr>
                                  <a:rPr lang="en-US" altLang="zh-CN" sz="2800" i="1">
                                    <a:solidFill>
                                      <a:srgbClr val="000000"/>
                                    </a:solidFill>
                                    <a:latin typeface="Cambria Math"/>
                                    <a:ea typeface="Cambria Math"/>
                                  </a:rPr>
                                  <m:t>𝑚</m:t>
                                </m:r>
                              </m:sub>
                              <m:sup/>
                              <m:e>
                                <m:sSub>
                                  <m:sSubPr>
                                    <m:ctrlPr>
                                      <a:rPr lang="en-US" altLang="zh-CN" sz="2800" i="1">
                                        <a:solidFill>
                                          <a:srgbClr val="000000"/>
                                        </a:solidFill>
                                        <a:latin typeface="Cambria Math"/>
                                        <a:ea typeface="Cambria Math"/>
                                      </a:rPr>
                                    </m:ctrlPr>
                                  </m:sSubPr>
                                  <m:e>
                                    <m:r>
                                      <m:rPr>
                                        <m:sty m:val="p"/>
                                      </m:rPr>
                                      <a:rPr lang="en-US" altLang="zh-CN" sz="2800">
                                        <a:solidFill>
                                          <a:srgbClr val="000000"/>
                                        </a:solidFill>
                                        <a:latin typeface="Cambria Math"/>
                                        <a:ea typeface="Cambria Math"/>
                                      </a:rPr>
                                      <m:t>I</m:t>
                                    </m:r>
                                  </m:e>
                                  <m:sub>
                                    <m:r>
                                      <m:rPr>
                                        <m:sty m:val="p"/>
                                      </m:rPr>
                                      <a:rPr lang="en-US" altLang="zh-CN" sz="2800">
                                        <a:solidFill>
                                          <a:srgbClr val="000000"/>
                                        </a:solidFill>
                                        <a:latin typeface="Cambria Math"/>
                                        <a:ea typeface="Cambria Math"/>
                                      </a:rPr>
                                      <m:t>m</m:t>
                                    </m:r>
                                  </m:sub>
                                </m:sSub>
                              </m:e>
                            </m:nary>
                          </m:e>
                        </m:d>
                      </m:e>
                    </m:nary>
                  </m:oMath>
                </a14:m>
                <a:endParaRPr lang="en-US" altLang="zh-CN" sz="2800"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mc:Choice>
        <mc:Fallback xmlns="">
          <p:sp>
            <p:nvSpPr>
              <p:cNvPr id="40963" name="Rectangle 3"/>
              <p:cNvSpPr>
                <a:spLocks noGrp="1" noRot="1" noChangeAspect="1" noMove="1" noResize="1" noEditPoints="1" noAdjustHandles="1" noChangeArrowheads="1" noChangeShapeType="1" noTextEdit="1"/>
              </p:cNvSpPr>
              <p:nvPr>
                <p:ph type="body" idx="4294967295"/>
              </p:nvPr>
            </p:nvSpPr>
            <p:spPr>
              <a:xfrm>
                <a:off x="304800" y="1600200"/>
                <a:ext cx="8686800" cy="4572000"/>
              </a:xfrm>
              <a:blipFill rotWithShape="1">
                <a:blip r:embed="rId2"/>
                <a:stretch>
                  <a:fillRect l="-1404" t="-1333" r="-2456" b="-1733"/>
                </a:stretch>
              </a:blipFill>
            </p:spPr>
            <p:txBody>
              <a:bodyPr/>
              <a:lstStyle/>
              <a:p>
                <a:r>
                  <a:rPr lang="zh-CN" altLang="en-US">
                    <a:noFill/>
                  </a:rPr>
                  <a:t> </a:t>
                </a:r>
              </a:p>
            </p:txBody>
          </p:sp>
        </mc:Fallback>
      </mc:AlternateContent>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5.5.1  </a:t>
            </a:r>
            <a:r>
              <a:rPr lang="zh-CN" altLang="en-US" sz="1800" b="0" dirty="0" smtClean="0">
                <a:latin typeface="楷体_GB2312" pitchFamily="49" charset="-122"/>
                <a:ea typeface="楷体_GB2312" pitchFamily="49" charset="-122"/>
              </a:rPr>
              <a:t>基本思想</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3537765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总结来说，</a:t>
            </a:r>
            <a:r>
              <a:rPr lang="zh-CN" altLang="en-US" sz="2800" b="1" dirty="0" smtClean="0">
                <a:solidFill>
                  <a:srgbClr val="000000"/>
                </a:solidFill>
                <a:latin typeface="楷体_GB2312" pitchFamily="49" charset="-122"/>
                <a:ea typeface="楷体_GB2312" pitchFamily="49" charset="-122"/>
              </a:rPr>
              <a:t>硬</a:t>
            </a:r>
            <a:r>
              <a:rPr lang="zh-CN" altLang="en-US" sz="2800" b="1" dirty="0">
                <a:solidFill>
                  <a:srgbClr val="000000"/>
                </a:solidFill>
                <a:latin typeface="楷体_GB2312" pitchFamily="49" charset="-122"/>
                <a:ea typeface="楷体_GB2312" pitchFamily="49" charset="-122"/>
              </a:rPr>
              <a:t>布线控制器的基本思想</a:t>
            </a:r>
            <a:r>
              <a:rPr lang="zh-CN" altLang="en-US" sz="2800" dirty="0">
                <a:solidFill>
                  <a:srgbClr val="000000"/>
                </a:solidFill>
                <a:latin typeface="楷体_GB2312" pitchFamily="49" charset="-122"/>
                <a:ea typeface="楷体_GB2312" pitchFamily="49" charset="-122"/>
              </a:rPr>
              <a:t>是：某一微操作控制信号是指令操作码译码输出、时序信号和状态条件信号的逻辑函数，即用布尔代数写出逻辑表达式，然后用门电路，触发器等器件实现</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与微程序控制相比，硬布线控制的速度较快。其原因是微程序控制中每条微指令都要从控存中读取一次，影响了速度，而硬布线控制主要取决于逻辑电路的延迟。因此，近年来在某些超高速新型计算机结构中，又选用了硬布线控制器，或与微程序控制器混合使用。</a:t>
            </a: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5.5.1  </a:t>
            </a:r>
            <a:r>
              <a:rPr lang="zh-CN" altLang="en-US" sz="1800" b="0" dirty="0" smtClean="0">
                <a:latin typeface="楷体_GB2312" pitchFamily="49" charset="-122"/>
                <a:ea typeface="楷体_GB2312" pitchFamily="49" charset="-122"/>
              </a:rPr>
              <a:t>基本思想</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、指令执行流程</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用</a:t>
            </a:r>
            <a:r>
              <a:rPr lang="zh-CN" altLang="en-US" sz="2800" dirty="0" smtClean="0">
                <a:solidFill>
                  <a:srgbClr val="000000"/>
                </a:solidFill>
                <a:latin typeface="楷体_GB2312" pitchFamily="49" charset="-122"/>
                <a:ea typeface="楷体_GB2312" pitchFamily="49" charset="-122"/>
              </a:rPr>
              <a:t>硬布线</a:t>
            </a:r>
            <a:r>
              <a:rPr lang="zh-CN" altLang="en-US" sz="2800" dirty="0">
                <a:solidFill>
                  <a:srgbClr val="000000"/>
                </a:solidFill>
                <a:latin typeface="楷体_GB2312" pitchFamily="49" charset="-122"/>
                <a:ea typeface="楷体_GB2312" pitchFamily="49" charset="-122"/>
              </a:rPr>
              <a:t>实现的操作控制器中，通常，时序产生器除了产生节拍脉冲信号外，还应当产生节拍电位信号。因为在一个指令周期中要顺序执行一系列微操作，需要设置若干节拍电位来定时。</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a:t>
            </a:r>
            <a:r>
              <a:rPr lang="zh-CN" altLang="en-US" sz="2800" dirty="0">
                <a:solidFill>
                  <a:srgbClr val="000000"/>
                </a:solidFill>
                <a:latin typeface="楷体_GB2312" pitchFamily="49" charset="-122"/>
                <a:ea typeface="楷体_GB2312" pitchFamily="49" charset="-122"/>
              </a:rPr>
              <a:t>前面提到的五条指令的指令周期，其指令流程可用图</a:t>
            </a:r>
            <a:r>
              <a:rPr lang="en-US" altLang="zh-CN" sz="2800" dirty="0" smtClean="0">
                <a:solidFill>
                  <a:srgbClr val="000000"/>
                </a:solidFill>
                <a:latin typeface="楷体_GB2312" pitchFamily="49" charset="-122"/>
                <a:ea typeface="楷体_GB2312" pitchFamily="49" charset="-122"/>
              </a:rPr>
              <a:t>5.30</a:t>
            </a:r>
            <a:r>
              <a:rPr lang="zh-CN" altLang="en-US" sz="2800" dirty="0" smtClean="0">
                <a:solidFill>
                  <a:srgbClr val="000000"/>
                </a:solidFill>
                <a:latin typeface="楷体_GB2312" pitchFamily="49" charset="-122"/>
                <a:ea typeface="楷体_GB2312" pitchFamily="49" charset="-122"/>
              </a:rPr>
              <a:t>来</a:t>
            </a:r>
            <a:r>
              <a:rPr lang="zh-CN" altLang="en-US" sz="2800" dirty="0">
                <a:solidFill>
                  <a:srgbClr val="000000"/>
                </a:solidFill>
                <a:latin typeface="楷体_GB2312" pitchFamily="49" charset="-122"/>
                <a:ea typeface="楷体_GB2312" pitchFamily="49" charset="-122"/>
              </a:rPr>
              <a:t>表示 。</a:t>
            </a:r>
          </a:p>
          <a:p>
            <a:pPr eaLnBrk="1" hangingPunct="1">
              <a:buNone/>
            </a:pPr>
            <a:r>
              <a:rPr lang="zh-CN" altLang="en-US" sz="2800" dirty="0">
                <a:solidFill>
                  <a:srgbClr val="000000"/>
                </a:solidFill>
                <a:latin typeface="楷体_GB2312" pitchFamily="49" charset="-122"/>
                <a:ea typeface="楷体_GB2312" pitchFamily="49" charset="-122"/>
              </a:rPr>
              <a:t>		</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5.5.2  </a:t>
            </a:r>
            <a:r>
              <a:rPr lang="zh-CN" altLang="en-US" sz="1800" b="0" dirty="0" smtClean="0">
                <a:latin typeface="楷体_GB2312" pitchFamily="49" charset="-122"/>
                <a:ea typeface="楷体_GB2312" pitchFamily="49" charset="-122"/>
              </a:rPr>
              <a:t>指令执行流程</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81" name="组合 40980"/>
          <p:cNvGrpSpPr/>
          <p:nvPr/>
        </p:nvGrpSpPr>
        <p:grpSpPr>
          <a:xfrm>
            <a:off x="91330" y="116632"/>
            <a:ext cx="9161190" cy="6264696"/>
            <a:chOff x="91330" y="332656"/>
            <a:chExt cx="9161190" cy="6264696"/>
          </a:xfrm>
        </p:grpSpPr>
        <p:cxnSp>
          <p:nvCxnSpPr>
            <p:cNvPr id="68" name="直接连接符 67"/>
            <p:cNvCxnSpPr/>
            <p:nvPr/>
          </p:nvCxnSpPr>
          <p:spPr bwMode="auto">
            <a:xfrm flipH="1" flipV="1">
              <a:off x="127842" y="2996951"/>
              <a:ext cx="8795085" cy="1"/>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圆角矩形 2"/>
            <p:cNvSpPr/>
            <p:nvPr/>
          </p:nvSpPr>
          <p:spPr bwMode="auto">
            <a:xfrm>
              <a:off x="3547714" y="332656"/>
              <a:ext cx="1368152" cy="486012"/>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400" dirty="0">
                  <a:latin typeface="Times New Roman" pitchFamily="18" charset="0"/>
                  <a:ea typeface="楷体_GB2312" pitchFamily="1" charset="-122"/>
                  <a:cs typeface="Times New Roman" pitchFamily="18" charset="0"/>
                </a:rPr>
                <a:t>启动</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sp>
          <p:nvSpPr>
            <p:cNvPr id="8" name="矩形 7"/>
            <p:cNvSpPr/>
            <p:nvPr/>
          </p:nvSpPr>
          <p:spPr bwMode="auto">
            <a:xfrm>
              <a:off x="2889823" y="1412776"/>
              <a:ext cx="2683935" cy="1224136"/>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PC→ABUS</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I</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endPar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IBUS→IR</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PC+1</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sp>
          <p:nvSpPr>
            <p:cNvPr id="11" name="矩形 10"/>
            <p:cNvSpPr/>
            <p:nvPr/>
          </p:nvSpPr>
          <p:spPr bwMode="auto">
            <a:xfrm>
              <a:off x="685540" y="3356992"/>
              <a:ext cx="1296000"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1</a:t>
              </a: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0</a:t>
              </a:r>
              <a:endParaRPr lang="en-US" altLang="zh-CN" sz="2400" dirty="0" smtClean="0">
                <a:latin typeface="Times New Roman" pitchFamily="18" charset="0"/>
                <a:ea typeface="楷体_GB2312" pitchFamily="1" charset="-122"/>
                <a:cs typeface="Times New Roman" pitchFamily="18" charset="0"/>
              </a:endParaRPr>
            </a:p>
          </p:txBody>
        </p:sp>
        <p:sp>
          <p:nvSpPr>
            <p:cNvPr id="12" name="矩形 11"/>
            <p:cNvSpPr/>
            <p:nvPr/>
          </p:nvSpPr>
          <p:spPr bwMode="auto">
            <a:xfrm>
              <a:off x="2269572" y="3356992"/>
              <a:ext cx="1296000"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IR→AR</a:t>
              </a:r>
            </a:p>
          </p:txBody>
        </p:sp>
        <p:sp>
          <p:nvSpPr>
            <p:cNvPr id="13" name="矩形 12"/>
            <p:cNvSpPr/>
            <p:nvPr/>
          </p:nvSpPr>
          <p:spPr bwMode="auto">
            <a:xfrm>
              <a:off x="3943758" y="3356992"/>
              <a:ext cx="1692188"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1</a:t>
              </a: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2</a:t>
              </a: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0</a:t>
              </a:r>
              <a:endParaRPr lang="en-US" altLang="zh-CN" sz="2400" dirty="0" smtClean="0">
                <a:latin typeface="Times New Roman" pitchFamily="18" charset="0"/>
                <a:ea typeface="楷体_GB2312" pitchFamily="1" charset="-122"/>
                <a:cs typeface="Times New Roman" pitchFamily="18" charset="0"/>
              </a:endParaRPr>
            </a:p>
          </p:txBody>
        </p:sp>
        <p:sp>
          <p:nvSpPr>
            <p:cNvPr id="14" name="矩形 13"/>
            <p:cNvSpPr/>
            <p:nvPr/>
          </p:nvSpPr>
          <p:spPr bwMode="auto">
            <a:xfrm>
              <a:off x="5995930" y="3356992"/>
              <a:ext cx="1296000"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3</a:t>
              </a:r>
              <a:r>
                <a:rPr lang="en-US" altLang="zh-CN" sz="2400" dirty="0" smtClean="0">
                  <a:latin typeface="Times New Roman" pitchFamily="18" charset="0"/>
                  <a:ea typeface="楷体_GB2312" pitchFamily="1" charset="-122"/>
                  <a:cs typeface="Times New Roman" pitchFamily="18" charset="0"/>
                </a:rPr>
                <a:t>→AR</a:t>
              </a:r>
            </a:p>
          </p:txBody>
        </p:sp>
        <p:sp>
          <p:nvSpPr>
            <p:cNvPr id="15" name="矩形 14"/>
            <p:cNvSpPr/>
            <p:nvPr/>
          </p:nvSpPr>
          <p:spPr bwMode="auto">
            <a:xfrm>
              <a:off x="7652170" y="3356992"/>
              <a:ext cx="1296144"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IR→PC</a:t>
              </a:r>
            </a:p>
          </p:txBody>
        </p:sp>
        <p:cxnSp>
          <p:nvCxnSpPr>
            <p:cNvPr id="16" name="直接箭头连接符 15"/>
            <p:cNvCxnSpPr>
              <a:stCxn id="3" idx="2"/>
              <a:endCxn id="8" idx="0"/>
            </p:cNvCxnSpPr>
            <p:nvPr/>
          </p:nvCxnSpPr>
          <p:spPr bwMode="auto">
            <a:xfrm>
              <a:off x="4231790" y="818668"/>
              <a:ext cx="1" cy="594108"/>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肘形连接符 20"/>
            <p:cNvCxnSpPr>
              <a:stCxn id="8" idx="2"/>
              <a:endCxn id="11" idx="0"/>
            </p:cNvCxnSpPr>
            <p:nvPr/>
          </p:nvCxnSpPr>
          <p:spPr bwMode="auto">
            <a:xfrm rot="5400000">
              <a:off x="2422626" y="1547827"/>
              <a:ext cx="720080" cy="2898251"/>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肘形连接符 24"/>
            <p:cNvCxnSpPr/>
            <p:nvPr/>
          </p:nvCxnSpPr>
          <p:spPr bwMode="auto">
            <a:xfrm rot="5400000">
              <a:off x="3097701" y="2222830"/>
              <a:ext cx="720080" cy="1548245"/>
            </a:xfrm>
            <a:prstGeom prst="bentConnector3">
              <a:avLst>
                <a:gd name="adj1" fmla="val 50000"/>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p:cNvSpPr/>
            <p:nvPr/>
          </p:nvSpPr>
          <p:spPr bwMode="auto">
            <a:xfrm>
              <a:off x="1731608" y="4869160"/>
              <a:ext cx="2378106" cy="129614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AR→ABUS</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D</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endPar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DBUS→DR</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DR</a:t>
              </a:r>
              <a:r>
                <a:rPr kumimoji="0" lang="en-US" altLang="zh-CN" sz="2400" b="1" i="0" u="none" strike="noStrike" cap="none" normalizeH="0" baseline="0" dirty="0" smtClean="0">
                  <a:ln>
                    <a:noFill/>
                  </a:ln>
                  <a:solidFill>
                    <a:schemeClr val="tx2"/>
                  </a:solidFill>
                  <a:effectLst/>
                  <a:latin typeface="Calibri"/>
                  <a:ea typeface="楷体_GB2312" pitchFamily="1" charset="-122"/>
                  <a:cs typeface="Calibri"/>
                </a:rPr>
                <a:t>→R</a:t>
              </a:r>
              <a:r>
                <a:rPr kumimoji="0" lang="en-US" altLang="zh-CN" sz="2400" b="1" i="0" u="none" strike="noStrike" cap="none" normalizeH="0" baseline="-25000" dirty="0" smtClean="0">
                  <a:ln>
                    <a:noFill/>
                  </a:ln>
                  <a:solidFill>
                    <a:schemeClr val="tx2"/>
                  </a:solidFill>
                  <a:effectLst/>
                  <a:latin typeface="Calibri"/>
                  <a:ea typeface="楷体_GB2312" pitchFamily="1" charset="-122"/>
                  <a:cs typeface="Calibri"/>
                </a:rPr>
                <a:t>1</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sp>
          <p:nvSpPr>
            <p:cNvPr id="32" name="矩形 31"/>
            <p:cNvSpPr/>
            <p:nvPr/>
          </p:nvSpPr>
          <p:spPr bwMode="auto">
            <a:xfrm>
              <a:off x="5635690" y="4869160"/>
              <a:ext cx="2016480" cy="129614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endParaRPr lang="en-US" altLang="zh-CN" sz="2400" dirty="0" smtClean="0">
                <a:latin typeface="Times New Roman" pitchFamily="18" charset="0"/>
                <a:ea typeface="楷体_GB2312" pitchFamily="1" charset="-122"/>
                <a:cs typeface="Times New Roman" pitchFamily="18" charset="0"/>
              </a:endParaRPr>
            </a:p>
            <a:p>
              <a:pPr algn="ct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2</a:t>
              </a:r>
              <a:r>
                <a:rPr lang="en-US" altLang="zh-CN" sz="2400" dirty="0" smtClean="0">
                  <a:latin typeface="Times New Roman" pitchFamily="18" charset="0"/>
                  <a:ea typeface="楷体_GB2312" pitchFamily="1" charset="-122"/>
                  <a:cs typeface="Times New Roman" pitchFamily="18" charset="0"/>
                </a:rPr>
                <a:t>→</a:t>
              </a:r>
              <a:r>
                <a:rPr lang="en-US" altLang="zh-CN" sz="2400" dirty="0">
                  <a:latin typeface="Times New Roman" pitchFamily="18" charset="0"/>
                  <a:ea typeface="楷体_GB2312" pitchFamily="1" charset="-122"/>
                  <a:cs typeface="Times New Roman" pitchFamily="18" charset="0"/>
                </a:rPr>
                <a:t> </a:t>
              </a:r>
              <a:r>
                <a:rPr lang="en-US" altLang="zh-CN" sz="2400" dirty="0" smtClean="0">
                  <a:latin typeface="Times New Roman" pitchFamily="18" charset="0"/>
                  <a:ea typeface="楷体_GB2312" pitchFamily="1" charset="-122"/>
                  <a:cs typeface="Times New Roman" pitchFamily="18" charset="0"/>
                </a:rPr>
                <a:t>DBUS</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cxnSp>
          <p:nvCxnSpPr>
            <p:cNvPr id="35" name="直接箭头连接符 34"/>
            <p:cNvCxnSpPr>
              <a:stCxn id="14" idx="2"/>
              <a:endCxn id="32" idx="0"/>
            </p:cNvCxnSpPr>
            <p:nvPr/>
          </p:nvCxnSpPr>
          <p:spPr bwMode="auto">
            <a:xfrm>
              <a:off x="6643930" y="4005064"/>
              <a:ext cx="0" cy="864096"/>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箭头连接符 37"/>
            <p:cNvCxnSpPr>
              <a:stCxn id="12" idx="2"/>
              <a:endCxn id="31" idx="0"/>
            </p:cNvCxnSpPr>
            <p:nvPr/>
          </p:nvCxnSpPr>
          <p:spPr bwMode="auto">
            <a:xfrm>
              <a:off x="2917572" y="4005064"/>
              <a:ext cx="3089" cy="864096"/>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Box 39"/>
            <p:cNvSpPr txBox="1"/>
            <p:nvPr/>
          </p:nvSpPr>
          <p:spPr>
            <a:xfrm>
              <a:off x="91330" y="1722002"/>
              <a:ext cx="562526" cy="461665"/>
            </a:xfrm>
            <a:prstGeom prst="rect">
              <a:avLst/>
            </a:prstGeom>
            <a:noFill/>
          </p:spPr>
          <p:txBody>
            <a:bodyPr wrap="square" rtlCol="0">
              <a:spAutoFit/>
            </a:bodyPr>
            <a:lstStyle/>
            <a:p>
              <a:r>
                <a:rPr lang="en-US" altLang="zh-CN" sz="2400" dirty="0" smtClean="0"/>
                <a:t>M</a:t>
              </a:r>
              <a:r>
                <a:rPr lang="en-US" altLang="zh-CN" sz="2400" baseline="-25000" dirty="0" smtClean="0"/>
                <a:t>1</a:t>
              </a:r>
              <a:endParaRPr lang="zh-CN" altLang="en-US" sz="2400" dirty="0"/>
            </a:p>
          </p:txBody>
        </p:sp>
        <p:sp>
          <p:nvSpPr>
            <p:cNvPr id="43" name="TextBox 42"/>
            <p:cNvSpPr txBox="1"/>
            <p:nvPr/>
          </p:nvSpPr>
          <p:spPr>
            <a:xfrm>
              <a:off x="5419866" y="4407495"/>
              <a:ext cx="1125053" cy="461665"/>
            </a:xfrm>
            <a:prstGeom prst="rect">
              <a:avLst/>
            </a:prstGeom>
            <a:noFill/>
          </p:spPr>
          <p:txBody>
            <a:bodyPr wrap="square" rtlCol="0">
              <a:spAutoFit/>
            </a:bodyPr>
            <a:lstStyle/>
            <a:p>
              <a:r>
                <a:rPr lang="en-US" altLang="zh-CN" sz="2400" dirty="0" smtClean="0"/>
                <a:t>WE</a:t>
              </a:r>
              <a:r>
                <a:rPr lang="zh-CN" altLang="en-US" sz="2400" dirty="0" smtClean="0"/>
                <a:t>（</a:t>
              </a:r>
              <a:r>
                <a:rPr lang="en-US" altLang="zh-CN" sz="2400" dirty="0" smtClean="0"/>
                <a:t>D</a:t>
              </a:r>
              <a:r>
                <a:rPr lang="zh-CN" altLang="en-US" sz="2400" dirty="0" smtClean="0"/>
                <a:t>）</a:t>
              </a:r>
              <a:endParaRPr lang="zh-CN" altLang="en-US" sz="2400" dirty="0"/>
            </a:p>
          </p:txBody>
        </p:sp>
        <p:cxnSp>
          <p:nvCxnSpPr>
            <p:cNvPr id="56" name="肘形连接符 55"/>
            <p:cNvCxnSpPr/>
            <p:nvPr/>
          </p:nvCxnSpPr>
          <p:spPr bwMode="auto">
            <a:xfrm rot="16200000" flipH="1">
              <a:off x="5077820" y="1790882"/>
              <a:ext cx="720080" cy="2412139"/>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肘形连接符 58"/>
            <p:cNvCxnSpPr/>
            <p:nvPr/>
          </p:nvCxnSpPr>
          <p:spPr bwMode="auto">
            <a:xfrm rot="16200000" flipH="1">
              <a:off x="5941487" y="926722"/>
              <a:ext cx="720080" cy="4140459"/>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p:cNvCxnSpPr/>
            <p:nvPr/>
          </p:nvCxnSpPr>
          <p:spPr bwMode="auto">
            <a:xfrm flipH="1">
              <a:off x="127842" y="908720"/>
              <a:ext cx="8892481" cy="0"/>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67" name="直接箭头连接符 40966"/>
            <p:cNvCxnSpPr/>
            <p:nvPr/>
          </p:nvCxnSpPr>
          <p:spPr bwMode="auto">
            <a:xfrm>
              <a:off x="523378" y="908720"/>
              <a:ext cx="0" cy="2088231"/>
            </a:xfrm>
            <a:prstGeom prst="straightConnector1">
              <a:avLst/>
            </a:prstGeom>
            <a:solidFill>
              <a:schemeClr val="accent1"/>
            </a:solidFill>
            <a:ln w="9525" cap="flat" cmpd="sng" algn="ctr">
              <a:solidFill>
                <a:schemeClr val="tx1"/>
              </a:solidFill>
              <a:prstDash val="solid"/>
              <a:miter lim="800000"/>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5" name="肘形连接符 40974"/>
            <p:cNvCxnSpPr/>
            <p:nvPr/>
          </p:nvCxnSpPr>
          <p:spPr bwMode="auto">
            <a:xfrm rot="16200000" flipH="1">
              <a:off x="4149531" y="2717921"/>
              <a:ext cx="720080" cy="558061"/>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81"/>
            <p:cNvCxnSpPr/>
            <p:nvPr/>
          </p:nvCxnSpPr>
          <p:spPr bwMode="auto">
            <a:xfrm flipH="1">
              <a:off x="127842" y="4509120"/>
              <a:ext cx="9089182" cy="0"/>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Box 84"/>
            <p:cNvSpPr txBox="1"/>
            <p:nvPr/>
          </p:nvSpPr>
          <p:spPr>
            <a:xfrm>
              <a:off x="1702581" y="4437112"/>
              <a:ext cx="1125053" cy="461665"/>
            </a:xfrm>
            <a:prstGeom prst="rect">
              <a:avLst/>
            </a:prstGeom>
            <a:noFill/>
          </p:spPr>
          <p:txBody>
            <a:bodyPr wrap="square" rtlCol="0">
              <a:spAutoFit/>
            </a:bodyPr>
            <a:lstStyle/>
            <a:p>
              <a:r>
                <a:rPr lang="en-US" altLang="zh-CN" sz="2400" dirty="0" smtClean="0"/>
                <a:t>RD</a:t>
              </a:r>
              <a:r>
                <a:rPr lang="zh-CN" altLang="en-US" sz="2400" dirty="0" smtClean="0"/>
                <a:t>（</a:t>
              </a:r>
              <a:r>
                <a:rPr lang="en-US" altLang="zh-CN" sz="2400" dirty="0" smtClean="0"/>
                <a:t>D</a:t>
              </a:r>
              <a:r>
                <a:rPr lang="zh-CN" altLang="en-US" sz="2400" dirty="0" smtClean="0"/>
                <a:t>）</a:t>
              </a:r>
              <a:endParaRPr lang="zh-CN" altLang="en-US" sz="2400" dirty="0"/>
            </a:p>
          </p:txBody>
        </p:sp>
        <p:sp>
          <p:nvSpPr>
            <p:cNvPr id="86" name="TextBox 85"/>
            <p:cNvSpPr txBox="1"/>
            <p:nvPr/>
          </p:nvSpPr>
          <p:spPr>
            <a:xfrm>
              <a:off x="1027434" y="2535286"/>
              <a:ext cx="809890" cy="461665"/>
            </a:xfrm>
            <a:prstGeom prst="rect">
              <a:avLst/>
            </a:prstGeom>
            <a:noFill/>
          </p:spPr>
          <p:txBody>
            <a:bodyPr wrap="square" rtlCol="0">
              <a:spAutoFit/>
            </a:bodyPr>
            <a:lstStyle/>
            <a:p>
              <a:r>
                <a:rPr lang="en-US" altLang="zh-CN" sz="2400" dirty="0" smtClean="0"/>
                <a:t>MOV</a:t>
              </a:r>
              <a:endParaRPr lang="zh-CN" altLang="en-US" sz="2400" dirty="0"/>
            </a:p>
          </p:txBody>
        </p:sp>
        <p:sp>
          <p:nvSpPr>
            <p:cNvPr id="87" name="TextBox 86"/>
            <p:cNvSpPr txBox="1"/>
            <p:nvPr/>
          </p:nvSpPr>
          <p:spPr>
            <a:xfrm>
              <a:off x="2377784" y="2535285"/>
              <a:ext cx="809890" cy="461665"/>
            </a:xfrm>
            <a:prstGeom prst="rect">
              <a:avLst/>
            </a:prstGeom>
            <a:noFill/>
          </p:spPr>
          <p:txBody>
            <a:bodyPr wrap="square" rtlCol="0">
              <a:spAutoFit/>
            </a:bodyPr>
            <a:lstStyle/>
            <a:p>
              <a:r>
                <a:rPr lang="en-US" altLang="zh-CN" sz="2400" dirty="0" smtClean="0"/>
                <a:t>LAD</a:t>
              </a:r>
              <a:endParaRPr lang="zh-CN" altLang="en-US" sz="2400" dirty="0"/>
            </a:p>
          </p:txBody>
        </p:sp>
        <p:sp>
          <p:nvSpPr>
            <p:cNvPr id="88" name="TextBox 87"/>
            <p:cNvSpPr txBox="1"/>
            <p:nvPr/>
          </p:nvSpPr>
          <p:spPr>
            <a:xfrm>
              <a:off x="4483818" y="2535287"/>
              <a:ext cx="809890" cy="461665"/>
            </a:xfrm>
            <a:prstGeom prst="rect">
              <a:avLst/>
            </a:prstGeom>
            <a:noFill/>
          </p:spPr>
          <p:txBody>
            <a:bodyPr wrap="square" rtlCol="0">
              <a:spAutoFit/>
            </a:bodyPr>
            <a:lstStyle/>
            <a:p>
              <a:r>
                <a:rPr lang="en-US" altLang="zh-CN" sz="2400" dirty="0"/>
                <a:t>ADD</a:t>
              </a:r>
              <a:endParaRPr lang="zh-CN" altLang="en-US" sz="2400" dirty="0"/>
            </a:p>
          </p:txBody>
        </p:sp>
        <p:sp>
          <p:nvSpPr>
            <p:cNvPr id="89" name="TextBox 88"/>
            <p:cNvSpPr txBox="1"/>
            <p:nvPr/>
          </p:nvSpPr>
          <p:spPr>
            <a:xfrm>
              <a:off x="6338224" y="2535284"/>
              <a:ext cx="809890" cy="461665"/>
            </a:xfrm>
            <a:prstGeom prst="rect">
              <a:avLst/>
            </a:prstGeom>
            <a:noFill/>
          </p:spPr>
          <p:txBody>
            <a:bodyPr wrap="square" rtlCol="0">
              <a:spAutoFit/>
            </a:bodyPr>
            <a:lstStyle/>
            <a:p>
              <a:r>
                <a:rPr lang="en-US" altLang="zh-CN" sz="2400" dirty="0" smtClean="0"/>
                <a:t>STO</a:t>
              </a:r>
              <a:endParaRPr lang="zh-CN" altLang="en-US" sz="2400" dirty="0"/>
            </a:p>
          </p:txBody>
        </p:sp>
        <p:sp>
          <p:nvSpPr>
            <p:cNvPr id="90" name="TextBox 89"/>
            <p:cNvSpPr txBox="1"/>
            <p:nvPr/>
          </p:nvSpPr>
          <p:spPr>
            <a:xfrm>
              <a:off x="8012210" y="2535287"/>
              <a:ext cx="736264" cy="461665"/>
            </a:xfrm>
            <a:prstGeom prst="rect">
              <a:avLst/>
            </a:prstGeom>
            <a:noFill/>
          </p:spPr>
          <p:txBody>
            <a:bodyPr wrap="square" rtlCol="0">
              <a:spAutoFit/>
            </a:bodyPr>
            <a:lstStyle/>
            <a:p>
              <a:r>
                <a:rPr lang="en-US" altLang="zh-CN" sz="2400" dirty="0"/>
                <a:t>JMP</a:t>
              </a:r>
              <a:endParaRPr lang="zh-CN" altLang="en-US" sz="2400" dirty="0"/>
            </a:p>
          </p:txBody>
        </p:sp>
        <p:cxnSp>
          <p:nvCxnSpPr>
            <p:cNvPr id="91" name="直接连接符 90"/>
            <p:cNvCxnSpPr/>
            <p:nvPr/>
          </p:nvCxnSpPr>
          <p:spPr bwMode="auto">
            <a:xfrm flipH="1">
              <a:off x="163338" y="6597352"/>
              <a:ext cx="9089182" cy="0"/>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箭头连接符 91"/>
            <p:cNvCxnSpPr/>
            <p:nvPr/>
          </p:nvCxnSpPr>
          <p:spPr bwMode="auto">
            <a:xfrm>
              <a:off x="523378" y="4509121"/>
              <a:ext cx="0" cy="2088231"/>
            </a:xfrm>
            <a:prstGeom prst="straightConnector1">
              <a:avLst/>
            </a:prstGeom>
            <a:solidFill>
              <a:schemeClr val="accent1"/>
            </a:solidFill>
            <a:ln w="9525" cap="flat" cmpd="sng" algn="ctr">
              <a:solidFill>
                <a:schemeClr val="tx1"/>
              </a:solidFill>
              <a:prstDash val="solid"/>
              <a:miter lim="800000"/>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Box 92"/>
            <p:cNvSpPr txBox="1"/>
            <p:nvPr/>
          </p:nvSpPr>
          <p:spPr>
            <a:xfrm>
              <a:off x="91330" y="5286399"/>
              <a:ext cx="562526" cy="461665"/>
            </a:xfrm>
            <a:prstGeom prst="rect">
              <a:avLst/>
            </a:prstGeom>
            <a:noFill/>
          </p:spPr>
          <p:txBody>
            <a:bodyPr wrap="square" rtlCol="0">
              <a:spAutoFit/>
            </a:bodyPr>
            <a:lstStyle/>
            <a:p>
              <a:r>
                <a:rPr lang="en-US" altLang="zh-CN" sz="2400" dirty="0" smtClean="0"/>
                <a:t>M</a:t>
              </a:r>
              <a:r>
                <a:rPr lang="en-US" altLang="zh-CN" sz="2400" baseline="-25000" dirty="0" smtClean="0"/>
                <a:t>3</a:t>
              </a:r>
              <a:endParaRPr lang="zh-CN" altLang="en-US" sz="2400" dirty="0"/>
            </a:p>
          </p:txBody>
        </p:sp>
        <p:cxnSp>
          <p:nvCxnSpPr>
            <p:cNvPr id="94" name="直接箭头连接符 93"/>
            <p:cNvCxnSpPr/>
            <p:nvPr/>
          </p:nvCxnSpPr>
          <p:spPr bwMode="auto">
            <a:xfrm>
              <a:off x="523378" y="2996952"/>
              <a:ext cx="0" cy="1512168"/>
            </a:xfrm>
            <a:prstGeom prst="straightConnector1">
              <a:avLst/>
            </a:prstGeom>
            <a:solidFill>
              <a:schemeClr val="accent1"/>
            </a:solidFill>
            <a:ln w="9525" cap="flat" cmpd="sng" algn="ctr">
              <a:solidFill>
                <a:schemeClr val="tx1"/>
              </a:solidFill>
              <a:prstDash val="solid"/>
              <a:miter lim="800000"/>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Box 96"/>
            <p:cNvSpPr txBox="1"/>
            <p:nvPr/>
          </p:nvSpPr>
          <p:spPr>
            <a:xfrm>
              <a:off x="91330" y="3429000"/>
              <a:ext cx="562526" cy="461665"/>
            </a:xfrm>
            <a:prstGeom prst="rect">
              <a:avLst/>
            </a:prstGeom>
            <a:noFill/>
          </p:spPr>
          <p:txBody>
            <a:bodyPr wrap="square" rtlCol="0">
              <a:spAutoFit/>
            </a:bodyPr>
            <a:lstStyle/>
            <a:p>
              <a:r>
                <a:rPr lang="en-US" altLang="zh-CN" sz="2400" dirty="0" smtClean="0"/>
                <a:t>M</a:t>
              </a:r>
              <a:r>
                <a:rPr lang="en-US" altLang="zh-CN" sz="2400" baseline="-25000" dirty="0" smtClean="0"/>
                <a:t>2</a:t>
              </a:r>
              <a:endParaRPr lang="zh-CN" altLang="en-US" sz="2400" dirty="0"/>
            </a:p>
          </p:txBody>
        </p:sp>
        <p:sp>
          <p:nvSpPr>
            <p:cNvPr id="98" name="TextBox 97"/>
            <p:cNvSpPr txBox="1"/>
            <p:nvPr/>
          </p:nvSpPr>
          <p:spPr>
            <a:xfrm>
              <a:off x="2611610" y="930523"/>
              <a:ext cx="1125053" cy="461665"/>
            </a:xfrm>
            <a:prstGeom prst="rect">
              <a:avLst/>
            </a:prstGeom>
            <a:noFill/>
          </p:spPr>
          <p:txBody>
            <a:bodyPr wrap="square" rtlCol="0">
              <a:spAutoFit/>
            </a:bodyPr>
            <a:lstStyle/>
            <a:p>
              <a:r>
                <a:rPr lang="en-US" altLang="zh-CN" sz="2400" dirty="0" smtClean="0"/>
                <a:t>RD</a:t>
              </a:r>
              <a:r>
                <a:rPr lang="zh-CN" altLang="en-US" sz="2400" dirty="0" smtClean="0"/>
                <a:t>（</a:t>
              </a:r>
              <a:r>
                <a:rPr lang="en-US" altLang="zh-CN" sz="2400" dirty="0" smtClean="0"/>
                <a:t>I</a:t>
              </a:r>
              <a:r>
                <a:rPr lang="zh-CN" altLang="en-US" sz="2400" dirty="0" smtClean="0"/>
                <a:t>）</a:t>
              </a:r>
              <a:endParaRPr lang="zh-CN" altLang="en-US" sz="2400" dirty="0"/>
            </a:p>
          </p:txBody>
        </p:sp>
      </p:grpSp>
      <p:sp>
        <p:nvSpPr>
          <p:cNvPr id="100" name="TextBox 99"/>
          <p:cNvSpPr txBox="1"/>
          <p:nvPr/>
        </p:nvSpPr>
        <p:spPr>
          <a:xfrm>
            <a:off x="1475656" y="6309320"/>
            <a:ext cx="6552728"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5.30 </a:t>
            </a:r>
            <a:r>
              <a:rPr lang="zh-CN" altLang="en-US" dirty="0">
                <a:solidFill>
                  <a:schemeClr val="tx1"/>
                </a:solidFill>
              </a:rPr>
              <a:t>硬</a:t>
            </a:r>
            <a:r>
              <a:rPr lang="zh-CN" altLang="en-US" dirty="0" smtClean="0">
                <a:solidFill>
                  <a:schemeClr val="tx1"/>
                </a:solidFill>
              </a:rPr>
              <a:t>布线控制器的指令周期流程图</a:t>
            </a:r>
            <a:endParaRPr lang="zh-CN" altLang="en-US" dirty="0">
              <a:solidFill>
                <a:schemeClr val="tx1"/>
              </a:solidFill>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a:bodyPr>
          <a:lstStyle/>
          <a:p>
            <a:pPr algn="just"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由图</a:t>
            </a:r>
            <a:r>
              <a:rPr lang="en-US" altLang="zh-CN" sz="2800" dirty="0" smtClean="0">
                <a:solidFill>
                  <a:srgbClr val="000000"/>
                </a:solidFill>
                <a:latin typeface="楷体_GB2312" pitchFamily="49" charset="-122"/>
                <a:ea typeface="楷体_GB2312" pitchFamily="49" charset="-122"/>
              </a:rPr>
              <a:t>5.30</a:t>
            </a:r>
            <a:r>
              <a:rPr lang="zh-CN" altLang="en-US" sz="2800" dirty="0" smtClean="0">
                <a:solidFill>
                  <a:srgbClr val="000000"/>
                </a:solidFill>
                <a:latin typeface="楷体_GB2312" pitchFamily="49" charset="-122"/>
                <a:ea typeface="楷体_GB2312" pitchFamily="49" charset="-122"/>
              </a:rPr>
              <a:t>可知</a:t>
            </a:r>
            <a:r>
              <a:rPr lang="zh-CN" altLang="en-US" sz="2800" dirty="0" smtClean="0">
                <a:solidFill>
                  <a:srgbClr val="000000"/>
                </a:solidFill>
                <a:latin typeface="楷体_GB2312" pitchFamily="49" charset="-122"/>
                <a:ea typeface="楷体_GB2312" pitchFamily="49" charset="-122"/>
              </a:rPr>
              <a:t>，所有指令的取指阶段放在</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节拍。在此节拍中，操作控制器发出微操作控制信号，完成从内存取出一条机器指令。</a:t>
            </a:r>
            <a:endParaRPr lang="en-US" altLang="zh-CN" sz="2800" dirty="0" smtClean="0">
              <a:solidFill>
                <a:srgbClr val="000000"/>
              </a:solidFill>
              <a:latin typeface="楷体_GB2312" pitchFamily="49" charset="-122"/>
              <a:ea typeface="楷体_GB2312" pitchFamily="49" charset="-122"/>
            </a:endParaRPr>
          </a:p>
          <a:p>
            <a:pPr algn="just" eaLnBrk="1" hangingPunct="1">
              <a:buNone/>
            </a:pPr>
            <a:r>
              <a:rPr lang="zh-CN" altLang="en-US" sz="2800" dirty="0" smtClean="0">
                <a:solidFill>
                  <a:srgbClr val="000000"/>
                </a:solidFill>
                <a:latin typeface="楷体_GB2312" pitchFamily="49" charset="-122"/>
                <a:ea typeface="楷体_GB2312" pitchFamily="49" charset="-122"/>
              </a:rPr>
              <a:t>指令的执行阶段由</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两个节拍来完成。</a:t>
            </a:r>
            <a:r>
              <a:rPr lang="en-US" altLang="zh-CN" sz="2800" dirty="0" smtClean="0">
                <a:solidFill>
                  <a:srgbClr val="000000"/>
                </a:solidFill>
                <a:latin typeface="楷体_GB2312" pitchFamily="49" charset="-122"/>
                <a:ea typeface="楷体_GB2312" pitchFamily="49" charset="-122"/>
              </a:rPr>
              <a:t>MOV</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ADD</a:t>
            </a:r>
            <a:r>
              <a:rPr lang="zh-CN" altLang="en-US" sz="2800" dirty="0" smtClean="0">
                <a:solidFill>
                  <a:srgbClr val="000000"/>
                </a:solidFill>
                <a:latin typeface="楷体_GB2312" pitchFamily="49" charset="-122"/>
                <a:ea typeface="楷体_GB2312" pitchFamily="49" charset="-122"/>
              </a:rPr>
              <a:t>和</a:t>
            </a:r>
            <a:r>
              <a:rPr lang="en-US" altLang="zh-CN" sz="2800" dirty="0" smtClean="0">
                <a:solidFill>
                  <a:srgbClr val="000000"/>
                </a:solidFill>
                <a:latin typeface="楷体_GB2312" pitchFamily="49" charset="-122"/>
                <a:ea typeface="楷体_GB2312" pitchFamily="49" charset="-122"/>
              </a:rPr>
              <a:t>JMP</a:t>
            </a:r>
            <a:r>
              <a:rPr lang="zh-CN" altLang="en-US" sz="2800" dirty="0" smtClean="0">
                <a:solidFill>
                  <a:srgbClr val="000000"/>
                </a:solidFill>
                <a:latin typeface="楷体_GB2312" pitchFamily="49" charset="-122"/>
                <a:ea typeface="楷体_GB2312" pitchFamily="49" charset="-122"/>
              </a:rPr>
              <a:t>指令只需一个节拍（</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）即可完成。</a:t>
            </a:r>
            <a:r>
              <a:rPr lang="en-US" altLang="zh-CN" sz="2800" dirty="0" smtClean="0">
                <a:solidFill>
                  <a:srgbClr val="000000"/>
                </a:solidFill>
                <a:latin typeface="楷体_GB2312" pitchFamily="49" charset="-122"/>
                <a:ea typeface="楷体_GB2312" pitchFamily="49" charset="-122"/>
              </a:rPr>
              <a:t>ADD</a:t>
            </a:r>
            <a:r>
              <a:rPr lang="zh-CN" altLang="en-US" sz="2800" dirty="0" smtClean="0">
                <a:solidFill>
                  <a:srgbClr val="000000"/>
                </a:solidFill>
                <a:latin typeface="楷体_GB2312" pitchFamily="49" charset="-122"/>
                <a:ea typeface="楷体_GB2312" pitchFamily="49" charset="-122"/>
              </a:rPr>
              <a:t>和</a:t>
            </a:r>
            <a:r>
              <a:rPr lang="en-US" altLang="zh-CN" sz="2800" dirty="0" smtClean="0">
                <a:solidFill>
                  <a:srgbClr val="000000"/>
                </a:solidFill>
                <a:latin typeface="楷体_GB2312" pitchFamily="49" charset="-122"/>
                <a:ea typeface="楷体_GB2312" pitchFamily="49" charset="-122"/>
              </a:rPr>
              <a:t>STA</a:t>
            </a:r>
            <a:r>
              <a:rPr lang="zh-CN" altLang="en-US" sz="2800" dirty="0" smtClean="0">
                <a:solidFill>
                  <a:srgbClr val="000000"/>
                </a:solidFill>
                <a:latin typeface="楷体_GB2312" pitchFamily="49" charset="-122"/>
                <a:ea typeface="楷体_GB2312" pitchFamily="49" charset="-122"/>
              </a:rPr>
              <a:t>指令需要两个节拍（</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）。为了简化节拍控制，指令的执行过程可采用同步工作方式，即各条指令的执行阶段均采用最长节拍数</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来考虑。这样，对</a:t>
            </a:r>
            <a:r>
              <a:rPr lang="en-US" altLang="zh-CN" sz="2800" dirty="0" smtClean="0">
                <a:solidFill>
                  <a:srgbClr val="000000"/>
                </a:solidFill>
                <a:latin typeface="楷体_GB2312" pitchFamily="49" charset="-122"/>
                <a:ea typeface="楷体_GB2312" pitchFamily="49" charset="-122"/>
              </a:rPr>
              <a:t>MOV</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ADD</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JMP</a:t>
            </a:r>
            <a:r>
              <a:rPr lang="zh-CN" altLang="en-US" sz="2800" dirty="0" smtClean="0">
                <a:solidFill>
                  <a:srgbClr val="000000"/>
                </a:solidFill>
                <a:latin typeface="楷体_GB2312" pitchFamily="49" charset="-122"/>
                <a:ea typeface="楷体_GB2312" pitchFamily="49" charset="-122"/>
              </a:rPr>
              <a:t>三条指令来讲</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在</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节拍中没有什么操作。</a:t>
            </a: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5"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5.5.2  </a:t>
            </a:r>
            <a:r>
              <a:rPr lang="zh-CN" altLang="en-US" sz="1800" b="0" dirty="0" smtClean="0">
                <a:latin typeface="楷体_GB2312" pitchFamily="49" charset="-122"/>
                <a:ea typeface="楷体_GB2312" pitchFamily="49" charset="-122"/>
              </a:rPr>
              <a:t>指令执行流程</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51835780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fontScale="92500" lnSpcReduction="2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显然，由于</a:t>
            </a:r>
            <a:r>
              <a:rPr lang="zh-CN" altLang="en-US" sz="2800" dirty="0">
                <a:solidFill>
                  <a:srgbClr val="000000"/>
                </a:solidFill>
                <a:latin typeface="楷体_GB2312" pitchFamily="49" charset="-122"/>
                <a:ea typeface="楷体_GB2312" pitchFamily="49" charset="-122"/>
              </a:rPr>
              <a:t>采用同步工作方式，长指令和短指令对节拍时间的利用都是一样的。这对短指令来讲，在时间的利用上是浪费的，因而也降低了</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的指令执行速度，影响到机器的速度指标。</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为了</a:t>
            </a:r>
            <a:r>
              <a:rPr lang="zh-CN" altLang="en-US" sz="2800" dirty="0">
                <a:solidFill>
                  <a:srgbClr val="000000"/>
                </a:solidFill>
                <a:latin typeface="楷体_GB2312" pitchFamily="49" charset="-122"/>
                <a:ea typeface="楷体_GB2312" pitchFamily="49" charset="-122"/>
              </a:rPr>
              <a:t>改变这种情况，在设计短指令流程时可以跳过某些节拍。当然在这种情况下，节拍信号发生器的电 路相应就要复杂一些。</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节拍</a:t>
            </a:r>
            <a:r>
              <a:rPr lang="zh-CN" altLang="en-US" sz="2800" dirty="0">
                <a:solidFill>
                  <a:srgbClr val="000000"/>
                </a:solidFill>
                <a:latin typeface="楷体_GB2312" pitchFamily="49" charset="-122"/>
                <a:ea typeface="楷体_GB2312" pitchFamily="49" charset="-122"/>
              </a:rPr>
              <a:t>电位信号的产生电路与节拍脉冲产生电路十分类似，它可以在节拍脉冲信号时序器的基础上产生，运行中以循环方式工作，并与节拍脉冲保持同步。 </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5.5.2  </a:t>
            </a:r>
            <a:r>
              <a:rPr lang="zh-CN" altLang="en-US" sz="1800" b="0" dirty="0" smtClean="0">
                <a:latin typeface="楷体_GB2312" pitchFamily="49" charset="-122"/>
                <a:ea typeface="楷体_GB2312" pitchFamily="49" charset="-122"/>
              </a:rPr>
              <a:t>指令执行流程</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a:latin typeface="黑体" pitchFamily="49" charset="-122"/>
                <a:ea typeface="黑体" pitchFamily="49" charset="-122"/>
              </a:rPr>
              <a:t>硬</a:t>
            </a:r>
            <a:r>
              <a:rPr lang="zh-CN" altLang="en-US" sz="2400" b="1" dirty="0" smtClean="0">
                <a:latin typeface="黑体" pitchFamily="49" charset="-122"/>
                <a:ea typeface="黑体" pitchFamily="49" charset="-122"/>
              </a:rPr>
              <a:t>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5.5.3  </a:t>
            </a:r>
            <a:r>
              <a:rPr lang="zh-CN" altLang="en-US" sz="1800" dirty="0" smtClean="0">
                <a:latin typeface="楷体_GB2312" pitchFamily="49" charset="-122"/>
                <a:ea typeface="楷体_GB2312" pitchFamily="49" charset="-122"/>
              </a:rPr>
              <a:t>微</a:t>
            </a:r>
            <a:r>
              <a:rPr lang="zh-CN" altLang="en-US" sz="1800" dirty="0">
                <a:latin typeface="楷体_GB2312" pitchFamily="49" charset="-122"/>
                <a:ea typeface="楷体_GB2312" pitchFamily="49" charset="-122"/>
              </a:rPr>
              <a:t>操作控制信号的</a:t>
            </a:r>
            <a:r>
              <a:rPr lang="zh-CN" altLang="en-US" sz="1800" dirty="0" smtClean="0">
                <a:latin typeface="楷体_GB2312" pitchFamily="49" charset="-122"/>
                <a:ea typeface="楷体_GB2312" pitchFamily="49" charset="-122"/>
              </a:rPr>
              <a:t>产生</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3</a:t>
            </a: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微</a:t>
            </a:r>
            <a:r>
              <a:rPr lang="zh-CN" altLang="en-US" sz="2800" dirty="0">
                <a:solidFill>
                  <a:srgbClr val="000000"/>
                </a:solidFill>
                <a:latin typeface="楷体_GB2312" pitchFamily="49" charset="-122"/>
                <a:ea typeface="楷体_GB2312" pitchFamily="49" charset="-122"/>
              </a:rPr>
              <a:t>操作控制信号的</a:t>
            </a:r>
            <a:r>
              <a:rPr lang="zh-CN" altLang="en-US" sz="2800" dirty="0" smtClean="0">
                <a:solidFill>
                  <a:srgbClr val="000000"/>
                </a:solidFill>
                <a:latin typeface="楷体_GB2312" pitchFamily="49" charset="-122"/>
                <a:ea typeface="楷体_GB2312" pitchFamily="49" charset="-122"/>
              </a:rPr>
              <a:t>产生</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微程序控制器中，微操作控制信号由微指令产生，并且可以重复使用。</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在硬部线控制</a:t>
            </a:r>
            <a:r>
              <a:rPr lang="zh-CN" altLang="en-US" sz="2800" dirty="0">
                <a:solidFill>
                  <a:srgbClr val="000000"/>
                </a:solidFill>
                <a:latin typeface="楷体_GB2312" pitchFamily="49" charset="-122"/>
                <a:ea typeface="楷体_GB2312" pitchFamily="49" charset="-122"/>
              </a:rPr>
              <a:t>器中，某一微操作控制信号由布尔代数表达式描述的输出函数产生。</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设计</a:t>
            </a:r>
            <a:r>
              <a:rPr lang="zh-CN" altLang="en-US" sz="2800" dirty="0">
                <a:solidFill>
                  <a:srgbClr val="000000"/>
                </a:solidFill>
                <a:latin typeface="楷体_GB2312" pitchFamily="49" charset="-122"/>
                <a:ea typeface="楷体_GB2312" pitchFamily="49" charset="-122"/>
              </a:rPr>
              <a:t>微操作控制信号的方法和过程是，根据所有机器指令流程图，寻找出产生同一个微操作信号的所有条件，并与适当的节拍电位和节拍脉冲组合，从而写出其布尔代数表达式并进行简化，然后用门电路或可编程器件来实现。</a:t>
            </a:r>
            <a:r>
              <a:rPr lang="zh-CN" altLang="en-US" sz="25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为了</a:t>
            </a:r>
            <a:r>
              <a:rPr lang="zh-CN" altLang="en-US" sz="2800" dirty="0">
                <a:solidFill>
                  <a:srgbClr val="000000"/>
                </a:solidFill>
                <a:latin typeface="楷体_GB2312" pitchFamily="49" charset="-122"/>
                <a:ea typeface="楷体_GB2312" pitchFamily="49" charset="-122"/>
              </a:rPr>
              <a:t>防止遗漏，设计时可按信号出现在指令流程图中的先后次序书写，然后进行归纳和简化。要特别注意控制信号是电位有效还是脉冲有效，如果是脉冲有效，必须加入节拍脉冲</a:t>
            </a:r>
            <a:r>
              <a:rPr lang="zh-CN" altLang="en-US" sz="2800" dirty="0" smtClean="0">
                <a:solidFill>
                  <a:srgbClr val="000000"/>
                </a:solidFill>
                <a:latin typeface="楷体_GB2312" pitchFamily="49" charset="-122"/>
                <a:ea typeface="楷体_GB2312" pitchFamily="49" charset="-122"/>
              </a:rPr>
              <a:t>信号</a:t>
            </a:r>
            <a:r>
              <a:rPr lang="zh-CN" altLang="en-US" sz="2800" dirty="0">
                <a:solidFill>
                  <a:srgbClr val="000000"/>
                </a:solidFill>
                <a:latin typeface="楷体_GB2312" pitchFamily="49" charset="-122"/>
                <a:ea typeface="楷体_GB2312" pitchFamily="49" charset="-122"/>
              </a:rPr>
              <a:t>进行相“与”。</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5.5.3  </a:t>
            </a:r>
            <a:r>
              <a:rPr lang="zh-CN" altLang="en-US" sz="1800" b="0" dirty="0" smtClean="0">
                <a:latin typeface="楷体_GB2312" pitchFamily="49" charset="-122"/>
                <a:ea typeface="楷体_GB2312" pitchFamily="49" charset="-122"/>
              </a:rPr>
              <a:t>微操作控制信号的产生</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5.6.1  </a:t>
            </a:r>
            <a:r>
              <a:rPr lang="zh-CN" altLang="en-US" sz="1800" dirty="0" smtClean="0">
                <a:latin typeface="楷体_GB2312" pitchFamily="49" charset="-122"/>
                <a:ea typeface="楷体_GB2312" pitchFamily="49" charset="-122"/>
              </a:rPr>
              <a:t>并行处理技术</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dirty="0" smtClean="0">
                <a:solidFill>
                  <a:srgbClr val="000000"/>
                </a:solidFill>
                <a:latin typeface="楷体_GB2312" pitchFamily="49" charset="-122"/>
                <a:ea typeface="楷体_GB2312" pitchFamily="49" charset="-122"/>
              </a:rPr>
              <a:t>5.6.1</a:t>
            </a:r>
            <a:r>
              <a:rPr lang="zh-CN" altLang="en-US" sz="2800" dirty="0" smtClean="0">
                <a:solidFill>
                  <a:srgbClr val="000000"/>
                </a:solidFill>
                <a:latin typeface="楷体_GB2312" pitchFamily="49" charset="-122"/>
                <a:ea typeface="楷体_GB2312" pitchFamily="49" charset="-122"/>
              </a:rPr>
              <a:t>并行处理技术</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500" dirty="0" smtClean="0">
                <a:solidFill>
                  <a:srgbClr val="000000"/>
                </a:solidFill>
                <a:latin typeface="楷体_GB2312" pitchFamily="49" charset="-122"/>
                <a:ea typeface="楷体_GB2312" pitchFamily="49" charset="-122"/>
              </a:rPr>
              <a:t>计算机</a:t>
            </a:r>
            <a:r>
              <a:rPr lang="zh-CN" altLang="en-US" sz="2500" dirty="0" smtClean="0">
                <a:solidFill>
                  <a:srgbClr val="000000"/>
                </a:solidFill>
                <a:latin typeface="楷体_GB2312" pitchFamily="49" charset="-122"/>
                <a:ea typeface="楷体_GB2312" pitchFamily="49" charset="-122"/>
              </a:rPr>
              <a:t>自诞生到现在，人们追求的目标之一就是很高的运算</a:t>
            </a:r>
            <a:r>
              <a:rPr lang="zh-CN" altLang="en-US" sz="2500" dirty="0">
                <a:solidFill>
                  <a:srgbClr val="000000"/>
                </a:solidFill>
                <a:latin typeface="楷体_GB2312" pitchFamily="49" charset="-122"/>
                <a:ea typeface="楷体_GB2312" pitchFamily="49" charset="-122"/>
              </a:rPr>
              <a:t>速度。为了提高计算机的运行速度，加快指令的执行，可以选用高速器件或提高</a:t>
            </a:r>
            <a:r>
              <a:rPr lang="en-US" altLang="zh-CN" sz="2500" dirty="0">
                <a:solidFill>
                  <a:srgbClr val="000000"/>
                </a:solidFill>
                <a:latin typeface="楷体_GB2312" pitchFamily="49" charset="-122"/>
                <a:ea typeface="楷体_GB2312" pitchFamily="49" charset="-122"/>
              </a:rPr>
              <a:t>CPU</a:t>
            </a:r>
            <a:r>
              <a:rPr lang="zh-CN" altLang="en-US" sz="2500" dirty="0">
                <a:solidFill>
                  <a:srgbClr val="000000"/>
                </a:solidFill>
                <a:latin typeface="楷体_GB2312" pitchFamily="49" charset="-122"/>
                <a:ea typeface="楷体_GB2312" pitchFamily="49" charset="-122"/>
              </a:rPr>
              <a:t>的频率来实现。除此之外，还可以采用某些技术来提高</a:t>
            </a:r>
            <a:r>
              <a:rPr lang="en-US" altLang="zh-CN" sz="2500" dirty="0">
                <a:solidFill>
                  <a:srgbClr val="000000"/>
                </a:solidFill>
                <a:latin typeface="楷体_GB2312" pitchFamily="49" charset="-122"/>
                <a:ea typeface="楷体_GB2312" pitchFamily="49" charset="-122"/>
              </a:rPr>
              <a:t>CPU</a:t>
            </a:r>
            <a:r>
              <a:rPr lang="zh-CN" altLang="en-US" sz="2500" dirty="0">
                <a:solidFill>
                  <a:srgbClr val="000000"/>
                </a:solidFill>
                <a:latin typeface="楷体_GB2312" pitchFamily="49" charset="-122"/>
                <a:ea typeface="楷体_GB2312" pitchFamily="49" charset="-122"/>
              </a:rPr>
              <a:t>的运行速度</a:t>
            </a:r>
            <a:r>
              <a:rPr lang="zh-CN" altLang="en-US" sz="2500" dirty="0" smtClean="0">
                <a:solidFill>
                  <a:srgbClr val="000000"/>
                </a:solidFill>
                <a:latin typeface="楷体_GB2312" pitchFamily="49" charset="-122"/>
                <a:ea typeface="楷体_GB2312" pitchFamily="49" charset="-122"/>
              </a:rPr>
              <a:t>，</a:t>
            </a:r>
            <a:r>
              <a:rPr lang="zh-CN" altLang="en-US" sz="2500" b="1" dirty="0" smtClean="0">
                <a:solidFill>
                  <a:srgbClr val="000000"/>
                </a:solidFill>
                <a:latin typeface="楷体_GB2312" pitchFamily="49" charset="-122"/>
                <a:ea typeface="楷体_GB2312" pitchFamily="49" charset="-122"/>
              </a:rPr>
              <a:t>并行技术</a:t>
            </a:r>
            <a:r>
              <a:rPr lang="zh-CN" altLang="en-US" sz="2500" dirty="0" smtClean="0">
                <a:solidFill>
                  <a:srgbClr val="000000"/>
                </a:solidFill>
                <a:latin typeface="楷体_GB2312" pitchFamily="49" charset="-122"/>
                <a:ea typeface="楷体_GB2312" pitchFamily="49" charset="-122"/>
              </a:rPr>
              <a:t>就是其中之一。</a:t>
            </a:r>
            <a:endParaRPr lang="en-US" altLang="zh-CN" sz="2500" dirty="0" smtClean="0">
              <a:solidFill>
                <a:srgbClr val="000000"/>
              </a:solidFill>
              <a:latin typeface="楷体_GB2312" pitchFamily="49" charset="-122"/>
              <a:ea typeface="楷体_GB2312" pitchFamily="49" charset="-122"/>
            </a:endParaRPr>
          </a:p>
          <a:p>
            <a:pPr eaLnBrk="1" hangingPunct="1">
              <a:buNone/>
            </a:pPr>
            <a:r>
              <a:rPr lang="en-US" altLang="zh-CN" sz="2500" dirty="0" smtClean="0">
                <a:solidFill>
                  <a:srgbClr val="000000"/>
                </a:solidFill>
                <a:latin typeface="楷体_GB2312" pitchFamily="49" charset="-122"/>
                <a:ea typeface="楷体_GB2312" pitchFamily="49" charset="-122"/>
              </a:rPr>
              <a:t> </a:t>
            </a:r>
            <a:r>
              <a:rPr lang="en-US" altLang="zh-CN" sz="2500" dirty="0" smtClean="0">
                <a:solidFill>
                  <a:srgbClr val="000000"/>
                </a:solidFill>
                <a:latin typeface="楷体_GB2312" pitchFamily="49" charset="-122"/>
                <a:ea typeface="楷体_GB2312" pitchFamily="49" charset="-122"/>
              </a:rPr>
              <a:t>   </a:t>
            </a:r>
            <a:r>
              <a:rPr lang="zh-CN" altLang="en-US" sz="2500" dirty="0" smtClean="0">
                <a:solidFill>
                  <a:srgbClr val="000000"/>
                </a:solidFill>
                <a:latin typeface="楷体_GB2312" pitchFamily="49" charset="-122"/>
                <a:ea typeface="楷体_GB2312" pitchFamily="49" charset="-122"/>
              </a:rPr>
              <a:t>早期</a:t>
            </a:r>
            <a:r>
              <a:rPr lang="zh-CN" altLang="en-US" sz="2500" dirty="0" smtClean="0">
                <a:solidFill>
                  <a:srgbClr val="000000"/>
                </a:solidFill>
                <a:latin typeface="楷体_GB2312" pitchFamily="49" charset="-122"/>
                <a:ea typeface="楷体_GB2312" pitchFamily="49" charset="-122"/>
              </a:rPr>
              <a:t>的计算机基于冯</a:t>
            </a:r>
            <a:r>
              <a:rPr lang="en-US" altLang="zh-CN" sz="2500" dirty="0" smtClean="0">
                <a:solidFill>
                  <a:srgbClr val="000000"/>
                </a:solidFill>
                <a:latin typeface="楷体_GB2312" pitchFamily="49" charset="-122"/>
                <a:ea typeface="楷体_GB2312" pitchFamily="49" charset="-122"/>
              </a:rPr>
              <a:t>•</a:t>
            </a:r>
            <a:r>
              <a:rPr lang="zh-CN" altLang="en-US" sz="2500" dirty="0" smtClean="0">
                <a:solidFill>
                  <a:srgbClr val="000000"/>
                </a:solidFill>
                <a:latin typeface="楷体_GB2312" pitchFamily="49" charset="-122"/>
                <a:ea typeface="楷体_GB2312" pitchFamily="49" charset="-122"/>
              </a:rPr>
              <a:t>诺伊曼的体系结构，采用的是串行处理。这种计算机的主要特征是：计算机的各个操作（如读</a:t>
            </a:r>
            <a:r>
              <a:rPr lang="en-US" altLang="zh-CN" sz="2500" dirty="0" smtClean="0">
                <a:solidFill>
                  <a:srgbClr val="000000"/>
                </a:solidFill>
                <a:latin typeface="楷体_GB2312" pitchFamily="49" charset="-122"/>
                <a:ea typeface="楷体_GB2312" pitchFamily="49" charset="-122"/>
              </a:rPr>
              <a:t>/</a:t>
            </a:r>
            <a:r>
              <a:rPr lang="zh-CN" altLang="en-US" sz="2500" dirty="0" smtClean="0">
                <a:solidFill>
                  <a:srgbClr val="000000"/>
                </a:solidFill>
                <a:latin typeface="楷体_GB2312" pitchFamily="49" charset="-122"/>
                <a:ea typeface="楷体_GB2312" pitchFamily="49" charset="-122"/>
              </a:rPr>
              <a:t>写存储器，算术或逻辑运算，</a:t>
            </a:r>
            <a:r>
              <a:rPr lang="en-US" altLang="zh-CN" sz="2500" dirty="0" smtClean="0">
                <a:solidFill>
                  <a:srgbClr val="000000"/>
                </a:solidFill>
                <a:latin typeface="楷体_GB2312" pitchFamily="49" charset="-122"/>
                <a:ea typeface="楷体_GB2312" pitchFamily="49" charset="-122"/>
              </a:rPr>
              <a:t>I/O</a:t>
            </a:r>
            <a:r>
              <a:rPr lang="zh-CN" altLang="en-US" sz="2500" dirty="0" smtClean="0">
                <a:solidFill>
                  <a:srgbClr val="000000"/>
                </a:solidFill>
                <a:latin typeface="楷体_GB2312" pitchFamily="49" charset="-122"/>
                <a:ea typeface="楷体_GB2312" pitchFamily="49" charset="-122"/>
              </a:rPr>
              <a:t>操作）只能串行地完成，即任一时刻只能进行一个操作。而并行处理则使得以上各个操作能同时进行，从而大大提高了计算机的速度</a:t>
            </a:r>
            <a:r>
              <a:rPr lang="zh-CN" altLang="en-US" sz="25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1" name="Rectangle 3"/>
          <p:cNvSpPr>
            <a:spLocks noGrp="1" noRot="1" noChangeArrowheads="1"/>
          </p:cNvSpPr>
          <p:nvPr>
            <p:ph idx="1"/>
          </p:nvPr>
        </p:nvSpPr>
        <p:spPr/>
        <p:txBody>
          <a:bodyPr/>
          <a:lstStyle/>
          <a:p>
            <a:pPr indent="0">
              <a:buNone/>
            </a:pPr>
            <a:r>
              <a:rPr lang="en-US" altLang="zh-CN" sz="2800" dirty="0" smtClean="0">
                <a:solidFill>
                  <a:schemeClr val="hlink"/>
                </a:solidFill>
              </a:rPr>
              <a:t>1</a:t>
            </a:r>
            <a:r>
              <a:rPr lang="zh-CN" altLang="en-US" sz="2800" dirty="0" smtClean="0">
                <a:solidFill>
                  <a:schemeClr val="hlink"/>
                </a:solidFill>
              </a:rPr>
              <a:t>、并行性</a:t>
            </a:r>
            <a:r>
              <a:rPr lang="zh-CN" altLang="en-US" sz="2800" dirty="0"/>
              <a:t>（</a:t>
            </a:r>
            <a:r>
              <a:rPr lang="en-US" altLang="zh-CN" sz="2800" dirty="0"/>
              <a:t>Parallelism</a:t>
            </a:r>
            <a:r>
              <a:rPr lang="zh-CN" altLang="en-US" sz="2800" dirty="0" smtClean="0"/>
              <a:t>）定义：</a:t>
            </a:r>
            <a:endParaRPr lang="en-US" altLang="zh-CN" sz="2800" dirty="0"/>
          </a:p>
          <a:p>
            <a:pPr indent="0">
              <a:buNone/>
            </a:pPr>
            <a:r>
              <a:rPr lang="en-US" altLang="zh-CN" sz="2800" dirty="0"/>
              <a:t> </a:t>
            </a:r>
            <a:r>
              <a:rPr lang="en-US" altLang="zh-CN" sz="2800" dirty="0" smtClean="0"/>
              <a:t>      </a:t>
            </a:r>
            <a:r>
              <a:rPr lang="zh-CN" altLang="en-US" sz="2600" dirty="0" smtClean="0"/>
              <a:t>并行性是指在</a:t>
            </a:r>
            <a:r>
              <a:rPr lang="zh-CN" altLang="en-US" sz="2600" dirty="0"/>
              <a:t>同一时刻或是同一时间间隔内完成两种或两种以上性质相同或不相同的</a:t>
            </a:r>
            <a:r>
              <a:rPr lang="zh-CN" altLang="en-US" sz="2600" dirty="0" smtClean="0"/>
              <a:t>工作。并行性有两种含义：</a:t>
            </a:r>
            <a:endParaRPr lang="zh-CN" altLang="en-US" sz="2600" dirty="0"/>
          </a:p>
          <a:p>
            <a:pPr lvl="1"/>
            <a:r>
              <a:rPr lang="zh-CN" altLang="en-US" sz="2600" dirty="0">
                <a:solidFill>
                  <a:schemeClr val="hlink"/>
                </a:solidFill>
              </a:rPr>
              <a:t>同时性</a:t>
            </a:r>
            <a:r>
              <a:rPr lang="zh-CN" altLang="en-US" sz="2600" dirty="0"/>
              <a:t>（</a:t>
            </a:r>
            <a:r>
              <a:rPr lang="en-US" altLang="zh-CN" sz="2600" dirty="0"/>
              <a:t>Simultaneity</a:t>
            </a:r>
            <a:r>
              <a:rPr lang="zh-CN" altLang="en-US" sz="2600" dirty="0"/>
              <a:t>）：同一时刻发生的并行性</a:t>
            </a:r>
          </a:p>
          <a:p>
            <a:pPr lvl="1"/>
            <a:r>
              <a:rPr lang="zh-CN" altLang="en-US" sz="2600" dirty="0">
                <a:solidFill>
                  <a:schemeClr val="hlink"/>
                </a:solidFill>
              </a:rPr>
              <a:t>并发性</a:t>
            </a:r>
            <a:r>
              <a:rPr lang="zh-CN" altLang="en-US" sz="2600" dirty="0"/>
              <a:t>（</a:t>
            </a:r>
            <a:r>
              <a:rPr lang="en-US" altLang="zh-CN" sz="2600" dirty="0"/>
              <a:t>Concurrency</a:t>
            </a:r>
            <a:r>
              <a:rPr lang="zh-CN" altLang="en-US" sz="2600" dirty="0"/>
              <a:t>）：同一个时间间隔内发生的</a:t>
            </a:r>
            <a:r>
              <a:rPr lang="zh-CN" altLang="en-US" sz="2600" dirty="0" smtClean="0"/>
              <a:t>并行性</a:t>
            </a:r>
            <a:endParaRPr lang="en-US" altLang="zh-CN" sz="2600" dirty="0" smtClean="0"/>
          </a:p>
          <a:p>
            <a:pPr marL="0" lvl="1" indent="0" defTabSz="720000">
              <a:buNone/>
            </a:pPr>
            <a:r>
              <a:rPr lang="en-US" altLang="zh-CN" sz="2600" dirty="0" smtClean="0"/>
              <a:t>	</a:t>
            </a:r>
            <a:r>
              <a:rPr lang="zh-CN" altLang="en-US" sz="2600" dirty="0" smtClean="0"/>
              <a:t>计算机的并行处理技术可贯穿于信息处理的各个步骤和阶段，概况起来，主要有三种形式：</a:t>
            </a:r>
            <a:endParaRPr lang="en-US" altLang="zh-CN" sz="2600" dirty="0" smtClean="0"/>
          </a:p>
          <a:p>
            <a:pPr marL="0" lvl="1" indent="0">
              <a:buNone/>
            </a:pPr>
            <a:r>
              <a:rPr lang="zh-CN" altLang="en-US" sz="2600" dirty="0" smtClean="0">
                <a:latin typeface="Calibri"/>
                <a:cs typeface="Calibri"/>
              </a:rPr>
              <a:t>①时间并行；②空间并行；③时间并行</a:t>
            </a:r>
            <a:r>
              <a:rPr lang="en-US" altLang="zh-CN" sz="2600" dirty="0" smtClean="0">
                <a:latin typeface="Calibri"/>
                <a:cs typeface="Calibri"/>
              </a:rPr>
              <a:t>+</a:t>
            </a:r>
            <a:r>
              <a:rPr lang="zh-CN" altLang="en-US" sz="2600" dirty="0" smtClean="0">
                <a:latin typeface="Calibri"/>
                <a:cs typeface="Calibri"/>
              </a:rPr>
              <a:t>空间并行</a:t>
            </a:r>
            <a:endParaRPr lang="en-US" altLang="zh-CN" sz="2600" dirty="0" smtClean="0"/>
          </a:p>
        </p:txBody>
      </p:sp>
      <p:sp>
        <p:nvSpPr>
          <p:cNvPr id="4"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5.6.1  </a:t>
            </a:r>
            <a:r>
              <a:rPr lang="zh-CN" altLang="en-US" sz="1800" dirty="0" smtClean="0">
                <a:latin typeface="楷体_GB2312" pitchFamily="49" charset="-122"/>
                <a:ea typeface="楷体_GB2312" pitchFamily="49" charset="-122"/>
              </a:rPr>
              <a:t>并行处理技术</a:t>
            </a:r>
          </a:p>
        </p:txBody>
      </p:sp>
    </p:spTree>
    <p:extLst>
      <p:ext uri="{BB962C8B-B14F-4D97-AF65-F5344CB8AC3E}">
        <p14:creationId xmlns:p14="http://schemas.microsoft.com/office/powerpoint/2010/main" val="3049443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5" name="Rectangle 3"/>
          <p:cNvSpPr>
            <a:spLocks noGrp="1" noRot="1" noChangeArrowheads="1"/>
          </p:cNvSpPr>
          <p:nvPr>
            <p:ph idx="1"/>
          </p:nvPr>
        </p:nvSpPr>
        <p:spPr/>
        <p:txBody>
          <a:bodyPr/>
          <a:lstStyle/>
          <a:p>
            <a:pPr indent="0">
              <a:lnSpc>
                <a:spcPct val="90000"/>
              </a:lnSpc>
              <a:buNone/>
            </a:pPr>
            <a:r>
              <a:rPr lang="en-US" altLang="zh-CN" sz="2800" dirty="0" smtClean="0"/>
              <a:t>1</a:t>
            </a:r>
            <a:r>
              <a:rPr lang="en-US" altLang="zh-CN" sz="2800" dirty="0"/>
              <a:t>.</a:t>
            </a:r>
            <a:r>
              <a:rPr lang="zh-CN" altLang="en-US" sz="2800" dirty="0"/>
              <a:t>时间并行</a:t>
            </a:r>
          </a:p>
          <a:p>
            <a:pPr indent="0">
              <a:lnSpc>
                <a:spcPct val="90000"/>
              </a:lnSpc>
              <a:buNone/>
            </a:pPr>
            <a:r>
              <a:rPr lang="zh-CN" altLang="en-US" sz="2800" dirty="0"/>
              <a:t>	</a:t>
            </a:r>
            <a:r>
              <a:rPr lang="zh-CN" altLang="en-US" sz="2800" b="1" dirty="0" smtClean="0"/>
              <a:t>时间</a:t>
            </a:r>
            <a:r>
              <a:rPr lang="zh-CN" altLang="en-US" sz="2800" b="1" dirty="0"/>
              <a:t>并行</a:t>
            </a:r>
            <a:r>
              <a:rPr lang="zh-CN" altLang="en-US" sz="2800" dirty="0"/>
              <a:t>指时间重叠，在并行性概念中引入时间因素，让多个处理过程在时间上相互错开，轮流重叠地使用同一套硬件设备的各个部分，以加快硬件周转而赢得速度。</a:t>
            </a:r>
          </a:p>
          <a:p>
            <a:pPr indent="0">
              <a:lnSpc>
                <a:spcPct val="90000"/>
              </a:lnSpc>
              <a:buNone/>
            </a:pPr>
            <a:r>
              <a:rPr lang="zh-CN" altLang="en-US" sz="2800" dirty="0"/>
              <a:t>	</a:t>
            </a:r>
            <a:r>
              <a:rPr lang="zh-CN" altLang="en-US" sz="2800" dirty="0" smtClean="0"/>
              <a:t>时间</a:t>
            </a:r>
            <a:r>
              <a:rPr lang="zh-CN" altLang="en-US" sz="2800" dirty="0"/>
              <a:t>并行性概念的实现方式就是</a:t>
            </a:r>
            <a:r>
              <a:rPr lang="zh-CN" altLang="en-US" sz="2800" b="1" dirty="0"/>
              <a:t>采用流水处理部件</a:t>
            </a:r>
            <a:r>
              <a:rPr lang="zh-CN" altLang="en-US" sz="2800" dirty="0"/>
              <a:t>。这是一种非常经济而实用的并行技术，能保证计算机系统具有较高的性能价格比。目前的高性能微型机几乎无一例外地使用了流水技术。</a:t>
            </a:r>
          </a:p>
          <a:p>
            <a:pPr indent="0">
              <a:lnSpc>
                <a:spcPct val="90000"/>
              </a:lnSpc>
              <a:buNone/>
            </a:pPr>
            <a:endParaRPr lang="zh-CN" altLang="en-US" dirty="0"/>
          </a:p>
        </p:txBody>
      </p:sp>
      <p:sp>
        <p:nvSpPr>
          <p:cNvPr id="6"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5.6.1  </a:t>
            </a:r>
            <a:r>
              <a:rPr lang="zh-CN" altLang="en-US" sz="1800" dirty="0" smtClean="0">
                <a:latin typeface="楷体_GB2312" pitchFamily="49" charset="-122"/>
                <a:ea typeface="楷体_GB2312" pitchFamily="49" charset="-122"/>
              </a:rPr>
              <a:t>并行处理技术</a:t>
            </a:r>
          </a:p>
        </p:txBody>
      </p:sp>
    </p:spTree>
    <p:extLst>
      <p:ext uri="{BB962C8B-B14F-4D97-AF65-F5344CB8AC3E}">
        <p14:creationId xmlns:p14="http://schemas.microsoft.com/office/powerpoint/2010/main" val="321307688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500" dirty="0">
                <a:solidFill>
                  <a:srgbClr val="000000"/>
                </a:solidFill>
                <a:latin typeface="楷体_GB2312" pitchFamily="49" charset="-122"/>
                <a:ea typeface="楷体_GB2312" pitchFamily="49" charset="-122"/>
              </a:rPr>
              <a:t>2.</a:t>
            </a:r>
            <a:r>
              <a:rPr lang="zh-CN" altLang="en-US" sz="2500" dirty="0">
                <a:solidFill>
                  <a:srgbClr val="000000"/>
                </a:solidFill>
                <a:latin typeface="楷体_GB2312" pitchFamily="49" charset="-122"/>
                <a:ea typeface="楷体_GB2312" pitchFamily="49" charset="-122"/>
              </a:rPr>
              <a:t>空间并行</a:t>
            </a:r>
          </a:p>
          <a:p>
            <a:pPr eaLnBrk="1" hangingPunct="1">
              <a:buNone/>
            </a:pPr>
            <a:r>
              <a:rPr lang="zh-CN" altLang="en-US" sz="2500" dirty="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空间</a:t>
            </a:r>
            <a:r>
              <a:rPr lang="zh-CN" altLang="en-US" sz="2800" b="1" dirty="0">
                <a:solidFill>
                  <a:srgbClr val="000000"/>
                </a:solidFill>
                <a:latin typeface="楷体_GB2312" pitchFamily="49" charset="-122"/>
                <a:ea typeface="楷体_GB2312" pitchFamily="49" charset="-122"/>
              </a:rPr>
              <a:t>并行</a:t>
            </a:r>
            <a:r>
              <a:rPr lang="zh-CN" altLang="en-US" sz="2800" dirty="0">
                <a:solidFill>
                  <a:srgbClr val="000000"/>
                </a:solidFill>
                <a:latin typeface="楷体_GB2312" pitchFamily="49" charset="-122"/>
                <a:ea typeface="楷体_GB2312" pitchFamily="49" charset="-122"/>
              </a:rPr>
              <a:t>指资源重复，在并行性概念中引入空间因素，以“数量取胜” 为原则来大幅度提高计算机的处理速度</a:t>
            </a:r>
            <a:r>
              <a:rPr lang="zh-CN" altLang="en-US" sz="2800" dirty="0" smtClean="0">
                <a:solidFill>
                  <a:srgbClr val="000000"/>
                </a:solidFill>
                <a:latin typeface="楷体_GB2312" pitchFamily="49" charset="-122"/>
                <a:ea typeface="楷体_GB2312" pitchFamily="49" charset="-122"/>
              </a:rPr>
              <a:t>。简单来说，</a:t>
            </a:r>
            <a:r>
              <a:rPr lang="zh-CN" altLang="en-US" sz="2800" b="1" dirty="0" smtClean="0">
                <a:solidFill>
                  <a:srgbClr val="000000"/>
                </a:solidFill>
                <a:latin typeface="楷体_GB2312" pitchFamily="49" charset="-122"/>
                <a:ea typeface="楷体_GB2312" pitchFamily="49" charset="-122"/>
              </a:rPr>
              <a:t>就是</a:t>
            </a:r>
            <a:r>
              <a:rPr lang="zh-CN" altLang="en-US" sz="2800" b="1" dirty="0">
                <a:solidFill>
                  <a:srgbClr val="000000"/>
                </a:solidFill>
                <a:latin typeface="楷体_GB2312" pitchFamily="49" charset="-122"/>
                <a:ea typeface="楷体_GB2312" pitchFamily="49" charset="-122"/>
              </a:rPr>
              <a:t>通过重复设置资源</a:t>
            </a:r>
            <a:r>
              <a:rPr lang="zh-CN" altLang="en-US" sz="2800" b="1" dirty="0" smtClean="0">
                <a:solidFill>
                  <a:srgbClr val="000000"/>
                </a:solidFill>
                <a:latin typeface="楷体_GB2312" pitchFamily="49" charset="-122"/>
                <a:ea typeface="楷体_GB2312" pitchFamily="49" charset="-122"/>
              </a:rPr>
              <a:t>（多添加资源，尤其是多添加硬件</a:t>
            </a:r>
            <a:r>
              <a:rPr lang="zh-CN" altLang="en-US" sz="2800" b="1" dirty="0">
                <a:solidFill>
                  <a:srgbClr val="000000"/>
                </a:solidFill>
                <a:latin typeface="楷体_GB2312" pitchFamily="49" charset="-122"/>
                <a:ea typeface="楷体_GB2312" pitchFamily="49" charset="-122"/>
              </a:rPr>
              <a:t>资源），提高性能。</a:t>
            </a:r>
            <a:r>
              <a:rPr lang="zh-CN" altLang="en-US" sz="2800" dirty="0" smtClean="0">
                <a:solidFill>
                  <a:srgbClr val="000000"/>
                </a:solidFill>
                <a:latin typeface="楷体_GB2312" pitchFamily="49" charset="-122"/>
                <a:ea typeface="楷体_GB2312" pitchFamily="49" charset="-122"/>
              </a:rPr>
              <a:t>大规模</a:t>
            </a:r>
            <a:r>
              <a:rPr lang="zh-CN" altLang="en-US" sz="2800" dirty="0">
                <a:solidFill>
                  <a:srgbClr val="000000"/>
                </a:solidFill>
                <a:latin typeface="楷体_GB2312" pitchFamily="49" charset="-122"/>
                <a:ea typeface="楷体_GB2312" pitchFamily="49" charset="-122"/>
              </a:rPr>
              <a:t>和超大规模集成电路的迅速发展为空间并行 技术带来了巨大生机，因而成为目前实现并行处理的一个主要途径</a:t>
            </a:r>
            <a:r>
              <a:rPr lang="zh-CN" altLang="en-US" sz="2800" dirty="0" smtClean="0">
                <a:solidFill>
                  <a:srgbClr val="000000"/>
                </a:solidFill>
                <a:latin typeface="楷体_GB2312" pitchFamily="49" charset="-122"/>
                <a:ea typeface="楷体_GB2312" pitchFamily="49" charset="-122"/>
              </a:rPr>
              <a:t>。空间</a:t>
            </a:r>
            <a:r>
              <a:rPr lang="zh-CN" altLang="en-US" sz="2800" dirty="0">
                <a:solidFill>
                  <a:srgbClr val="000000"/>
                </a:solidFill>
                <a:latin typeface="楷体_GB2312" pitchFamily="49" charset="-122"/>
                <a:ea typeface="楷体_GB2312" pitchFamily="49" charset="-122"/>
              </a:rPr>
              <a:t>并行技术主要体现 在多处理器系统和多计算机系统。但是在单处理器系统中也得到了广泛应用</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5.6.1  </a:t>
            </a:r>
            <a:r>
              <a:rPr lang="zh-CN" altLang="en-US" sz="1800" b="0" dirty="0" smtClean="0">
                <a:latin typeface="楷体_GB2312" pitchFamily="49" charset="-122"/>
                <a:ea typeface="楷体_GB2312" pitchFamily="49" charset="-122"/>
              </a:rPr>
              <a:t>并行处理技术</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44241526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时间并行</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空间并行</a:t>
            </a:r>
          </a:p>
          <a:p>
            <a:pPr eaLnBrk="1" hangingPunct="1">
              <a:buNone/>
            </a:pPr>
            <a:r>
              <a:rPr lang="zh-CN" altLang="en-US" sz="2800" dirty="0">
                <a:solidFill>
                  <a:srgbClr val="000000"/>
                </a:solidFill>
                <a:latin typeface="楷体_GB2312" pitchFamily="49" charset="-122"/>
                <a:ea typeface="楷体_GB2312" pitchFamily="49" charset="-122"/>
              </a:rPr>
              <a:t>	指时间重叠和资源重复的综合应用 ，既采用时间并行性又采用空间并行性</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例如，奔腾</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采用了超标量流水技术，在一个机器周期中同时执行两条指令，因而既具有时间并行性，又具有空间并行性。</a:t>
            </a:r>
            <a:r>
              <a:rPr lang="zh-CN" altLang="en-US" sz="2800" dirty="0">
                <a:solidFill>
                  <a:srgbClr val="000000"/>
                </a:solidFill>
                <a:latin typeface="楷体_GB2312" pitchFamily="49" charset="-122"/>
                <a:ea typeface="楷体_GB2312" pitchFamily="49" charset="-122"/>
              </a:rPr>
              <a:t>显然，第三种并行技术带来的高速效益是最好的</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5.6.1  </a:t>
            </a:r>
            <a:r>
              <a:rPr lang="zh-CN" altLang="en-US" sz="1800" b="0" dirty="0" smtClean="0">
                <a:latin typeface="楷体_GB2312" pitchFamily="49" charset="-122"/>
                <a:ea typeface="楷体_GB2312" pitchFamily="49" charset="-122"/>
              </a:rPr>
              <a:t>并行处理技术</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120194266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7" name="Rectangle 3"/>
          <p:cNvSpPr>
            <a:spLocks noGrp="1" noRot="1" noChangeArrowheads="1"/>
          </p:cNvSpPr>
          <p:nvPr>
            <p:ph idx="1"/>
          </p:nvPr>
        </p:nvSpPr>
        <p:spPr/>
        <p:txBody>
          <a:bodyPr>
            <a:normAutofit lnSpcReduction="10000"/>
          </a:bodyPr>
          <a:lstStyle/>
          <a:p>
            <a:pPr indent="0">
              <a:buNone/>
            </a:pPr>
            <a:r>
              <a:rPr lang="en-US" altLang="zh-CN" dirty="0" smtClean="0">
                <a:solidFill>
                  <a:schemeClr val="hlink"/>
                </a:solidFill>
              </a:rPr>
              <a:t>	</a:t>
            </a:r>
            <a:r>
              <a:rPr lang="zh-CN" altLang="en-US" sz="2800" dirty="0" smtClean="0">
                <a:solidFill>
                  <a:schemeClr val="hlink"/>
                </a:solidFill>
              </a:rPr>
              <a:t>流水线</a:t>
            </a:r>
            <a:r>
              <a:rPr lang="zh-CN" altLang="en-US" sz="2800" dirty="0">
                <a:solidFill>
                  <a:schemeClr val="hlink"/>
                </a:solidFill>
              </a:rPr>
              <a:t>技术</a:t>
            </a:r>
            <a:r>
              <a:rPr lang="zh-CN" altLang="en-US" sz="2800" dirty="0"/>
              <a:t>：把一个重复的</a:t>
            </a:r>
            <a:r>
              <a:rPr lang="zh-CN" altLang="en-US" sz="2800" dirty="0" smtClean="0"/>
              <a:t>过程（任务）分解</a:t>
            </a:r>
            <a:r>
              <a:rPr lang="zh-CN" altLang="en-US" sz="2800" dirty="0"/>
              <a:t>为若干个子</a:t>
            </a:r>
            <a:r>
              <a:rPr lang="zh-CN" altLang="en-US" sz="2800" dirty="0" smtClean="0"/>
              <a:t>过程（任务），</a:t>
            </a:r>
            <a:r>
              <a:rPr lang="zh-CN" altLang="en-US" sz="2800" dirty="0"/>
              <a:t>每个子程序可以与其他子</a:t>
            </a:r>
            <a:r>
              <a:rPr lang="zh-CN" altLang="en-US" sz="2800" dirty="0" smtClean="0"/>
              <a:t>过程（任务）同时进行，从而实现子过程（任务）级的并行。</a:t>
            </a:r>
            <a:endParaRPr lang="zh-CN" altLang="en-US" sz="2800" dirty="0"/>
          </a:p>
          <a:p>
            <a:pPr indent="0">
              <a:buNone/>
            </a:pPr>
            <a:r>
              <a:rPr lang="en-US" altLang="zh-CN" sz="2800" dirty="0" smtClean="0"/>
              <a:t>	</a:t>
            </a:r>
            <a:r>
              <a:rPr lang="zh-CN" altLang="en-US" sz="2800" dirty="0" smtClean="0"/>
              <a:t>描述</a:t>
            </a:r>
            <a:r>
              <a:rPr lang="zh-CN" altLang="en-US" sz="2800" dirty="0"/>
              <a:t>流水线的工作，最常用的方法是时间</a:t>
            </a:r>
            <a:r>
              <a:rPr lang="en-US" altLang="zh-CN" sz="2800" dirty="0"/>
              <a:t>-</a:t>
            </a:r>
            <a:r>
              <a:rPr lang="zh-CN" altLang="en-US" sz="2800" dirty="0"/>
              <a:t>空间图（</a:t>
            </a:r>
            <a:r>
              <a:rPr lang="zh-CN" altLang="en-US" sz="2800" dirty="0">
                <a:solidFill>
                  <a:schemeClr val="hlink"/>
                </a:solidFill>
              </a:rPr>
              <a:t>时空图</a:t>
            </a:r>
            <a:r>
              <a:rPr lang="zh-CN" altLang="en-US" sz="2800" dirty="0"/>
              <a:t>）</a:t>
            </a:r>
          </a:p>
          <a:p>
            <a:pPr lvl="1"/>
            <a:r>
              <a:rPr lang="zh-CN" altLang="en-US" dirty="0">
                <a:solidFill>
                  <a:schemeClr val="tx2"/>
                </a:solidFill>
              </a:rPr>
              <a:t>横坐标</a:t>
            </a:r>
            <a:r>
              <a:rPr lang="zh-CN" altLang="en-US" dirty="0"/>
              <a:t>：表示</a:t>
            </a:r>
            <a:r>
              <a:rPr lang="zh-CN" altLang="en-US" dirty="0">
                <a:solidFill>
                  <a:schemeClr val="tx2"/>
                </a:solidFill>
              </a:rPr>
              <a:t>时间</a:t>
            </a:r>
            <a:r>
              <a:rPr lang="zh-CN" altLang="en-US" dirty="0"/>
              <a:t>，即各个任务在流水线中所经过的时间</a:t>
            </a:r>
          </a:p>
          <a:p>
            <a:pPr lvl="1"/>
            <a:r>
              <a:rPr lang="zh-CN" altLang="en-US" dirty="0">
                <a:solidFill>
                  <a:schemeClr val="tx2"/>
                </a:solidFill>
              </a:rPr>
              <a:t>纵坐标</a:t>
            </a:r>
            <a:r>
              <a:rPr lang="zh-CN" altLang="en-US" dirty="0"/>
              <a:t>：表示</a:t>
            </a:r>
            <a:r>
              <a:rPr lang="zh-CN" altLang="en-US" dirty="0">
                <a:solidFill>
                  <a:schemeClr val="tx2"/>
                </a:solidFill>
              </a:rPr>
              <a:t>空间</a:t>
            </a:r>
            <a:r>
              <a:rPr lang="zh-CN" altLang="en-US" dirty="0"/>
              <a:t>，即流水线的各个子过程，也称为</a:t>
            </a:r>
            <a:r>
              <a:rPr lang="zh-CN" altLang="en-US" dirty="0">
                <a:solidFill>
                  <a:schemeClr val="hlink"/>
                </a:solidFill>
              </a:rPr>
              <a:t>级、段、流水线深度</a:t>
            </a:r>
            <a:r>
              <a:rPr lang="en-US" altLang="zh-CN" dirty="0">
                <a:solidFill>
                  <a:schemeClr val="hlink"/>
                </a:solidFill>
              </a:rPr>
              <a:t>(Stage)</a:t>
            </a:r>
            <a:endParaRPr lang="en-US" altLang="zh-CN" dirty="0"/>
          </a:p>
        </p:txBody>
      </p:sp>
      <p:sp>
        <p:nvSpPr>
          <p:cNvPr id="5"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5.6.2  </a:t>
            </a:r>
            <a:r>
              <a:rPr lang="zh-CN" altLang="en-US" sz="1800" b="0" dirty="0" smtClean="0">
                <a:latin typeface="楷体_GB2312" pitchFamily="49" charset="-122"/>
                <a:ea typeface="楷体_GB2312" pitchFamily="49" charset="-122"/>
              </a:rPr>
              <a:t>流水线技术及时空图</a:t>
            </a:r>
            <a:endParaRPr lang="zh-CN" altLang="en-US" sz="1800" b="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126162512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5.31 </a:t>
            </a:r>
            <a:r>
              <a:rPr lang="zh-CN" altLang="en-US" sz="2800" dirty="0" smtClean="0">
                <a:solidFill>
                  <a:srgbClr val="000000"/>
                </a:solidFill>
                <a:latin typeface="楷体_GB2312" pitchFamily="49" charset="-122"/>
                <a:ea typeface="楷体_GB2312" pitchFamily="49" charset="-122"/>
              </a:rPr>
              <a:t>表示</a:t>
            </a:r>
            <a:r>
              <a:rPr lang="zh-CN" altLang="en-US" sz="2800" dirty="0" smtClean="0">
                <a:solidFill>
                  <a:srgbClr val="000000"/>
                </a:solidFill>
                <a:latin typeface="楷体_GB2312" pitchFamily="49" charset="-122"/>
                <a:ea typeface="楷体_GB2312" pitchFamily="49" charset="-122"/>
              </a:rPr>
              <a:t>流水</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中一个指令周期的任务分解。假设指令周期包含四个子过程：取指令（</a:t>
            </a:r>
            <a:r>
              <a:rPr lang="en-US" altLang="zh-CN" sz="2800" dirty="0" smtClean="0">
                <a:solidFill>
                  <a:srgbClr val="000000"/>
                </a:solidFill>
                <a:latin typeface="楷体_GB2312" pitchFamily="49" charset="-122"/>
                <a:ea typeface="楷体_GB2312" pitchFamily="49" charset="-122"/>
              </a:rPr>
              <a:t>IF</a:t>
            </a:r>
            <a:r>
              <a:rPr lang="zh-CN" altLang="en-US" sz="2800" dirty="0" smtClean="0">
                <a:solidFill>
                  <a:srgbClr val="000000"/>
                </a:solidFill>
                <a:latin typeface="楷体_GB2312" pitchFamily="49" charset="-122"/>
                <a:ea typeface="楷体_GB2312" pitchFamily="49" charset="-122"/>
              </a:rPr>
              <a:t>）、指令译码（</a:t>
            </a:r>
            <a:r>
              <a:rPr lang="en-US" altLang="zh-CN" sz="2800" dirty="0" smtClean="0">
                <a:solidFill>
                  <a:srgbClr val="000000"/>
                </a:solidFill>
                <a:latin typeface="楷体_GB2312" pitchFamily="49" charset="-122"/>
                <a:ea typeface="楷体_GB2312" pitchFamily="49" charset="-122"/>
              </a:rPr>
              <a:t>ID</a:t>
            </a:r>
            <a:r>
              <a:rPr lang="zh-CN" altLang="en-US" sz="2800" dirty="0" smtClean="0">
                <a:solidFill>
                  <a:srgbClr val="000000"/>
                </a:solidFill>
                <a:latin typeface="楷体_GB2312" pitchFamily="49" charset="-122"/>
                <a:ea typeface="楷体_GB2312" pitchFamily="49" charset="-122"/>
              </a:rPr>
              <a:t>）、执行运算（</a:t>
            </a:r>
            <a:r>
              <a:rPr lang="en-US" altLang="zh-CN" sz="2800" dirty="0" smtClean="0">
                <a:solidFill>
                  <a:srgbClr val="000000"/>
                </a:solidFill>
                <a:latin typeface="楷体_GB2312" pitchFamily="49" charset="-122"/>
                <a:ea typeface="楷体_GB2312" pitchFamily="49" charset="-122"/>
              </a:rPr>
              <a:t>EX</a:t>
            </a:r>
            <a:r>
              <a:rPr lang="zh-CN" altLang="en-US" sz="2800" dirty="0" smtClean="0">
                <a:solidFill>
                  <a:srgbClr val="000000"/>
                </a:solidFill>
                <a:latin typeface="楷体_GB2312" pitchFamily="49" charset="-122"/>
                <a:ea typeface="楷体_GB2312" pitchFamily="49" charset="-122"/>
              </a:rPr>
              <a:t>）、结果写回（</a:t>
            </a:r>
            <a:r>
              <a:rPr lang="en-US" altLang="zh-CN" sz="2800" dirty="0" smtClean="0">
                <a:solidFill>
                  <a:srgbClr val="000000"/>
                </a:solidFill>
                <a:latin typeface="楷体_GB2312" pitchFamily="49" charset="-122"/>
                <a:ea typeface="楷体_GB2312" pitchFamily="49" charset="-122"/>
              </a:rPr>
              <a:t>WB</a:t>
            </a:r>
            <a:r>
              <a:rPr lang="zh-CN" altLang="en-US" sz="2800" dirty="0" smtClean="0">
                <a:solidFill>
                  <a:srgbClr val="000000"/>
                </a:solidFill>
                <a:latin typeface="楷体_GB2312" pitchFamily="49" charset="-122"/>
                <a:ea typeface="楷体_GB2312" pitchFamily="49" charset="-122"/>
              </a:rPr>
              <a:t>）。每个子过程称为过程段（</a:t>
            </a:r>
            <a:r>
              <a:rPr lang="en-US" altLang="zh-CN" sz="2800" dirty="0" smtClean="0">
                <a:solidFill>
                  <a:srgbClr val="000000"/>
                </a:solidFill>
                <a:latin typeface="楷体_GB2312" pitchFamily="49" charset="-122"/>
                <a:ea typeface="楷体_GB2312" pitchFamily="49" charset="-122"/>
              </a:rPr>
              <a:t>S</a:t>
            </a:r>
            <a:r>
              <a:rPr lang="en-US" altLang="zh-CN" sz="2800" baseline="-25000" dirty="0" smtClean="0">
                <a:solidFill>
                  <a:srgbClr val="000000"/>
                </a:solidFill>
                <a:latin typeface="楷体_GB2312" pitchFamily="49" charset="-122"/>
                <a:ea typeface="楷体_GB2312" pitchFamily="49" charset="-122"/>
              </a:rPr>
              <a:t>i</a:t>
            </a:r>
            <a:r>
              <a:rPr lang="zh-CN" altLang="en-US" sz="2800" dirty="0" smtClean="0">
                <a:solidFill>
                  <a:srgbClr val="000000"/>
                </a:solidFill>
                <a:latin typeface="楷体_GB2312" pitchFamily="49" charset="-122"/>
                <a:ea typeface="楷体_GB2312" pitchFamily="49" charset="-122"/>
              </a:rPr>
              <a:t>），这样，一个流水线由一系列串联的过程段组成。各个过程段之间设有高速缓冲寄存器，以暂时保存上一过程段子任务处理的结果。在统一的时钟信号控制下，数据从一个过程段流向相邻的过程段。</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7"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b="1" dirty="0" smtClean="0">
                <a:solidFill>
                  <a:srgbClr val="660066"/>
                </a:solidFill>
                <a:latin typeface="宋体" charset="-122"/>
              </a:rPr>
              <a:t>流水</a:t>
            </a:r>
            <a:r>
              <a:rPr lang="zh-CN" altLang="en-US" sz="3600" dirty="0">
                <a:solidFill>
                  <a:srgbClr val="660066"/>
                </a:solidFill>
                <a:latin typeface="宋体" charset="-122"/>
              </a:rPr>
              <a:t>线</a:t>
            </a:r>
            <a:r>
              <a:rPr lang="zh-CN" altLang="en-US" sz="3600" b="1" dirty="0" smtClean="0">
                <a:solidFill>
                  <a:srgbClr val="660066"/>
                </a:solidFill>
                <a:latin typeface="宋体" charset="-122"/>
              </a:rPr>
              <a:t>的时空图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420039545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a:xfrm>
            <a:off x="323850" y="188913"/>
            <a:ext cx="8229600" cy="647700"/>
          </a:xfrm>
        </p:spPr>
        <p:txBody>
          <a:bodyPr/>
          <a:lstStyle/>
          <a:p>
            <a:r>
              <a:rPr lang="en-US" altLang="zh-CN" sz="3600" b="1" dirty="0" smtClean="0">
                <a:solidFill>
                  <a:srgbClr val="660066"/>
                </a:solidFill>
                <a:latin typeface="宋体" charset="-122"/>
              </a:rPr>
              <a:t>5.6.3 </a:t>
            </a:r>
            <a:r>
              <a:rPr lang="zh-CN" altLang="en-US" sz="3600" b="1" dirty="0" smtClean="0">
                <a:solidFill>
                  <a:srgbClr val="660066"/>
                </a:solidFill>
                <a:latin typeface="宋体" charset="-122"/>
              </a:rPr>
              <a:t>流水线</a:t>
            </a:r>
            <a:r>
              <a:rPr lang="zh-CN" altLang="en-US" sz="3600" b="1"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
        <p:nvSpPr>
          <p:cNvPr id="712710" name="Rectangle 6"/>
          <p:cNvSpPr>
            <a:spLocks noGrp="1" noChangeArrowheads="1"/>
          </p:cNvSpPr>
          <p:nvPr>
            <p:ph type="body" sz="half" idx="1"/>
          </p:nvPr>
        </p:nvSpPr>
        <p:spPr>
          <a:xfrm>
            <a:off x="468313" y="2997201"/>
            <a:ext cx="7920037" cy="575816"/>
          </a:xfrm>
        </p:spPr>
        <p:txBody>
          <a:body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5.31 </a:t>
            </a:r>
            <a:r>
              <a:rPr lang="zh-CN" altLang="en-US" b="1" dirty="0" smtClean="0">
                <a:solidFill>
                  <a:schemeClr val="hlink"/>
                </a:solidFill>
                <a:latin typeface="Arial Unicode MS" pitchFamily="34" charset="-122"/>
                <a:ea typeface="黑体" pitchFamily="2" charset="-122"/>
              </a:rPr>
              <a:t>一</a:t>
            </a:r>
            <a:r>
              <a:rPr lang="zh-CN" altLang="en-US" b="1" dirty="0" smtClean="0">
                <a:solidFill>
                  <a:schemeClr val="hlink"/>
                </a:solidFill>
                <a:latin typeface="Arial Unicode MS" pitchFamily="34" charset="-122"/>
                <a:ea typeface="黑体" pitchFamily="2" charset="-122"/>
              </a:rPr>
              <a:t>个指令流水线过程段</a:t>
            </a:r>
            <a:r>
              <a:rPr lang="zh-CN" altLang="en-US" b="1" dirty="0" smtClean="0">
                <a:solidFill>
                  <a:srgbClr val="804000"/>
                </a:solidFill>
                <a:latin typeface="Arial Unicode MS" pitchFamily="34" charset="-122"/>
                <a:ea typeface="楷体_GB2312" pitchFamily="49" charset="-122"/>
              </a:rPr>
              <a:t> </a:t>
            </a:r>
            <a:endParaRPr lang="zh-CN" altLang="en-US" b="1" dirty="0">
              <a:solidFill>
                <a:srgbClr val="000000"/>
              </a:solidFill>
              <a:latin typeface="Arial Unicode MS" pitchFamily="34" charset="-122"/>
              <a:ea typeface="楷体_GB2312" pitchFamily="49" charset="-122"/>
            </a:endParaRPr>
          </a:p>
          <a:p>
            <a:pPr marL="0" indent="0">
              <a:spcBef>
                <a:spcPct val="40000"/>
              </a:spcBef>
              <a:buClr>
                <a:schemeClr val="hlink"/>
              </a:buClr>
              <a:buSzPct val="70000"/>
              <a:buFont typeface="Wingdings" pitchFamily="2" charset="2"/>
              <a:buNone/>
              <a:tabLst>
                <a:tab pos="5022850" algn="l"/>
              </a:tabLst>
            </a:pPr>
            <a:r>
              <a:rPr lang="en-US" altLang="zh-CN" sz="3000" b="1" dirty="0">
                <a:solidFill>
                  <a:srgbClr val="0000CC"/>
                </a:solidFill>
              </a:rPr>
              <a:t>IF</a:t>
            </a:r>
            <a:r>
              <a:rPr lang="zh-CN" altLang="en-US" sz="3000" b="1" dirty="0">
                <a:solidFill>
                  <a:srgbClr val="000000"/>
                </a:solidFill>
              </a:rPr>
              <a:t>（</a:t>
            </a:r>
            <a:r>
              <a:rPr lang="en-US" altLang="zh-CN" sz="3000" b="1" dirty="0">
                <a:solidFill>
                  <a:srgbClr val="000000"/>
                </a:solidFill>
              </a:rPr>
              <a:t>Instruction Fetch</a:t>
            </a:r>
            <a:r>
              <a:rPr lang="zh-CN" altLang="en-US" sz="3000" b="1" dirty="0">
                <a:solidFill>
                  <a:srgbClr val="000000"/>
                </a:solidFill>
              </a:rPr>
              <a:t>）	</a:t>
            </a:r>
            <a:r>
              <a:rPr lang="zh-CN" altLang="en-US" sz="3000" b="1" dirty="0">
                <a:solidFill>
                  <a:srgbClr val="0000CC"/>
                </a:solidFill>
              </a:rPr>
              <a:t>取指令阶段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ID</a:t>
            </a:r>
            <a:r>
              <a:rPr lang="zh-CN" altLang="en-US" sz="3000" b="1" dirty="0">
                <a:solidFill>
                  <a:srgbClr val="000000"/>
                </a:solidFill>
              </a:rPr>
              <a:t>（</a:t>
            </a:r>
            <a:r>
              <a:rPr lang="en-US" altLang="zh-CN" sz="3000" b="1" dirty="0">
                <a:solidFill>
                  <a:srgbClr val="000000"/>
                </a:solidFill>
              </a:rPr>
              <a:t>Instruction Decode</a:t>
            </a:r>
            <a:r>
              <a:rPr lang="zh-CN" altLang="en-US" sz="3000" b="1" dirty="0">
                <a:solidFill>
                  <a:srgbClr val="000000"/>
                </a:solidFill>
              </a:rPr>
              <a:t>）	</a:t>
            </a:r>
            <a:r>
              <a:rPr lang="zh-CN" altLang="en-US" sz="3000" b="1" dirty="0">
                <a:solidFill>
                  <a:srgbClr val="0000CC"/>
                </a:solidFill>
              </a:rPr>
              <a:t>指令译码阶段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EX</a:t>
            </a:r>
            <a:r>
              <a:rPr lang="zh-CN" altLang="en-US" sz="3000" b="1" dirty="0">
                <a:solidFill>
                  <a:srgbClr val="000000"/>
                </a:solidFill>
              </a:rPr>
              <a:t>（</a:t>
            </a:r>
            <a:r>
              <a:rPr lang="en-US" altLang="zh-CN" sz="3000" b="1" dirty="0">
                <a:solidFill>
                  <a:srgbClr val="000000"/>
                </a:solidFill>
              </a:rPr>
              <a:t>Execute</a:t>
            </a:r>
            <a:r>
              <a:rPr lang="zh-CN" altLang="en-US" sz="3000" b="1" dirty="0">
                <a:solidFill>
                  <a:srgbClr val="000000"/>
                </a:solidFill>
              </a:rPr>
              <a:t>）	</a:t>
            </a:r>
            <a:r>
              <a:rPr lang="zh-CN" altLang="en-US" sz="3000" b="1" dirty="0">
                <a:solidFill>
                  <a:srgbClr val="0000CC"/>
                </a:solidFill>
              </a:rPr>
              <a:t>执行运算阶段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MEM</a:t>
            </a:r>
            <a:r>
              <a:rPr lang="zh-CN" altLang="en-US" sz="3000" b="1" dirty="0">
                <a:solidFill>
                  <a:srgbClr val="000000"/>
                </a:solidFill>
              </a:rPr>
              <a:t>（</a:t>
            </a:r>
            <a:r>
              <a:rPr lang="en-US" altLang="zh-CN" sz="3000" b="1" dirty="0">
                <a:solidFill>
                  <a:srgbClr val="000000"/>
                </a:solidFill>
              </a:rPr>
              <a:t>Memory Access</a:t>
            </a:r>
            <a:r>
              <a:rPr lang="zh-CN" altLang="en-US" sz="3000" b="1" dirty="0">
                <a:solidFill>
                  <a:srgbClr val="000000"/>
                </a:solidFill>
              </a:rPr>
              <a:t>）	</a:t>
            </a:r>
            <a:r>
              <a:rPr lang="zh-CN" altLang="en-US" sz="3000" b="1" dirty="0">
                <a:solidFill>
                  <a:srgbClr val="0000CC"/>
                </a:solidFill>
              </a:rPr>
              <a:t>存储器访问阶段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WB</a:t>
            </a:r>
            <a:r>
              <a:rPr lang="zh-CN" altLang="en-US" sz="3000" b="1" dirty="0">
                <a:solidFill>
                  <a:srgbClr val="000000"/>
                </a:solidFill>
              </a:rPr>
              <a:t>（</a:t>
            </a:r>
            <a:r>
              <a:rPr lang="en-US" altLang="zh-CN" sz="3000" b="1" dirty="0">
                <a:solidFill>
                  <a:srgbClr val="000000"/>
                </a:solidFill>
              </a:rPr>
              <a:t>Write Back</a:t>
            </a:r>
            <a:r>
              <a:rPr lang="zh-CN" altLang="en-US" sz="3000" b="1" dirty="0">
                <a:solidFill>
                  <a:srgbClr val="000000"/>
                </a:solidFill>
              </a:rPr>
              <a:t>）	</a:t>
            </a:r>
            <a:r>
              <a:rPr lang="zh-CN" altLang="en-US" sz="3000" b="1" dirty="0">
                <a:solidFill>
                  <a:srgbClr val="0000CC"/>
                </a:solidFill>
              </a:rPr>
              <a:t>写回结果阶段</a:t>
            </a:r>
          </a:p>
        </p:txBody>
      </p:sp>
      <p:grpSp>
        <p:nvGrpSpPr>
          <p:cNvPr id="712714" name="Group 10"/>
          <p:cNvGrpSpPr>
            <a:grpSpLocks/>
          </p:cNvGrpSpPr>
          <p:nvPr/>
        </p:nvGrpSpPr>
        <p:grpSpPr bwMode="auto">
          <a:xfrm>
            <a:off x="539750" y="753244"/>
            <a:ext cx="7848600" cy="2171700"/>
            <a:chOff x="340" y="663"/>
            <a:chExt cx="4944" cy="1368"/>
          </a:xfrm>
        </p:grpSpPr>
        <p:pic>
          <p:nvPicPr>
            <p:cNvPr id="712712" name="Picture 8" descr="5"/>
            <p:cNvPicPr>
              <a:picLocks noChangeAspect="1" noChangeArrowheads="1"/>
            </p:cNvPicPr>
            <p:nvPr/>
          </p:nvPicPr>
          <p:blipFill>
            <a:blip r:embed="rId2">
              <a:extLst>
                <a:ext uri="{28A0092B-C50C-407E-A947-70E740481C1C}">
                  <a14:useLocalDpi xmlns:a14="http://schemas.microsoft.com/office/drawing/2010/main" val="0"/>
                </a:ext>
              </a:extLst>
            </a:blip>
            <a:srcRect l="5811" t="11070" b="39294"/>
            <a:stretch>
              <a:fillRect/>
            </a:stretch>
          </p:blipFill>
          <p:spPr bwMode="auto">
            <a:xfrm>
              <a:off x="340" y="663"/>
              <a:ext cx="4944" cy="1368"/>
            </a:xfrm>
            <a:prstGeom prst="rect">
              <a:avLst/>
            </a:prstGeom>
            <a:noFill/>
            <a:extLst>
              <a:ext uri="{909E8E84-426E-40DD-AFC4-6F175D3DCCD1}">
                <a14:hiddenFill xmlns:a14="http://schemas.microsoft.com/office/drawing/2010/main">
                  <a:solidFill>
                    <a:srgbClr val="FFFFFF"/>
                  </a:solidFill>
                </a14:hiddenFill>
              </a:ext>
            </a:extLst>
          </p:spPr>
        </p:pic>
        <p:sp>
          <p:nvSpPr>
            <p:cNvPr id="712713" name="Text Box 9"/>
            <p:cNvSpPr txBox="1">
              <a:spLocks noChangeArrowheads="1"/>
            </p:cNvSpPr>
            <p:nvPr/>
          </p:nvSpPr>
          <p:spPr bwMode="auto">
            <a:xfrm>
              <a:off x="3728" y="1296"/>
              <a:ext cx="393" cy="365"/>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latin typeface="宋体" charset="-122"/>
                </a:rPr>
                <a:t>WB</a:t>
              </a:r>
            </a:p>
          </p:txBody>
        </p:sp>
      </p:grpSp>
    </p:spTree>
    <p:extLst>
      <p:ext uri="{BB962C8B-B14F-4D97-AF65-F5344CB8AC3E}">
        <p14:creationId xmlns:p14="http://schemas.microsoft.com/office/powerpoint/2010/main" val="149918762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5.32</a:t>
            </a:r>
            <a:r>
              <a:rPr lang="zh-CN" altLang="en-US" sz="2800" dirty="0" smtClean="0">
                <a:solidFill>
                  <a:srgbClr val="000000"/>
                </a:solidFill>
                <a:latin typeface="楷体_GB2312" pitchFamily="49" charset="-122"/>
                <a:ea typeface="楷体_GB2312" pitchFamily="49" charset="-122"/>
              </a:rPr>
              <a:t>表示</a:t>
            </a:r>
            <a:r>
              <a:rPr lang="zh-CN" altLang="en-US" sz="2800" dirty="0" smtClean="0">
                <a:solidFill>
                  <a:srgbClr val="000000"/>
                </a:solidFill>
                <a:latin typeface="楷体_GB2312" pitchFamily="49" charset="-122"/>
                <a:ea typeface="楷体_GB2312" pitchFamily="49" charset="-122"/>
              </a:rPr>
              <a:t>非流水计算机的时空图。对非流水计算机来说，上一条指令的四个子过程全部执行完毕后才能开始下一条指令。因此，每隔</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个机器时钟周期才有一个输出结果。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420039545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idx="4294967295"/>
          </p:nvPr>
        </p:nvSpPr>
        <p:spPr>
          <a:xfrm>
            <a:off x="662880" y="115888"/>
            <a:ext cx="8229600" cy="720725"/>
          </a:xfrm>
        </p:spPr>
        <p:txBody>
          <a:bodyPr/>
          <a:lstStyle/>
          <a:p>
            <a:r>
              <a:rPr lang="zh-CN" altLang="en-US" sz="3200" b="1" dirty="0">
                <a:solidFill>
                  <a:srgbClr val="000000"/>
                </a:solidFill>
                <a:latin typeface="Arial Unicode MS" pitchFamily="34" charset="-122"/>
              </a:rPr>
              <a:t>非流水计算机的时空图</a:t>
            </a:r>
          </a:p>
        </p:txBody>
      </p:sp>
      <p:pic>
        <p:nvPicPr>
          <p:cNvPr id="717830" name="Picture 6" descr="5"/>
          <p:cNvPicPr>
            <a:picLocks noChangeAspect="1" noChangeArrowheads="1"/>
          </p:cNvPicPr>
          <p:nvPr/>
        </p:nvPicPr>
        <p:blipFill>
          <a:blip r:embed="rId2">
            <a:extLst>
              <a:ext uri="{28A0092B-C50C-407E-A947-70E740481C1C}">
                <a14:useLocalDpi xmlns:a14="http://schemas.microsoft.com/office/drawing/2010/main" val="0"/>
              </a:ext>
            </a:extLst>
          </a:blip>
          <a:srcRect b="14166"/>
          <a:stretch>
            <a:fillRect/>
          </a:stretch>
        </p:blipFill>
        <p:spPr bwMode="auto">
          <a:xfrm>
            <a:off x="250825" y="893763"/>
            <a:ext cx="8424863" cy="4695825"/>
          </a:xfrm>
          <a:prstGeom prst="rect">
            <a:avLst/>
          </a:prstGeom>
          <a:noFill/>
          <a:extLst>
            <a:ext uri="{909E8E84-426E-40DD-AFC4-6F175D3DCCD1}">
              <a14:hiddenFill xmlns:a14="http://schemas.microsoft.com/office/drawing/2010/main">
                <a:solidFill>
                  <a:srgbClr val="FFFFFF"/>
                </a:solidFill>
              </a14:hiddenFill>
            </a:ext>
          </a:extLst>
        </p:spPr>
      </p:pic>
      <p:sp>
        <p:nvSpPr>
          <p:cNvPr id="717831" name="AutoShape 7"/>
          <p:cNvSpPr>
            <a:spLocks noChangeArrowheads="1"/>
          </p:cNvSpPr>
          <p:nvPr/>
        </p:nvSpPr>
        <p:spPr bwMode="auto">
          <a:xfrm>
            <a:off x="1042987" y="5517357"/>
            <a:ext cx="5977285" cy="576262"/>
          </a:xfrm>
          <a:prstGeom prst="wedgeRoundRectCallout">
            <a:avLst>
              <a:gd name="adj1" fmla="val 11153"/>
              <a:gd name="adj2" fmla="val -323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dirty="0">
                <a:ea typeface="楷体_GB2312" pitchFamily="49" charset="-122"/>
              </a:rPr>
              <a:t>每</a:t>
            </a:r>
            <a:r>
              <a:rPr lang="en-US" altLang="zh-CN" sz="2800" b="1" dirty="0">
                <a:ea typeface="楷体_GB2312" pitchFamily="49" charset="-122"/>
              </a:rPr>
              <a:t>4</a:t>
            </a:r>
            <a:r>
              <a:rPr lang="zh-CN" altLang="en-US" sz="2800" b="1" dirty="0">
                <a:ea typeface="楷体_GB2312" pitchFamily="49" charset="-122"/>
              </a:rPr>
              <a:t>个机器周期才有一个输出结果</a:t>
            </a:r>
          </a:p>
        </p:txBody>
      </p:sp>
      <p:sp>
        <p:nvSpPr>
          <p:cNvPr id="5" name="右箭头 4">
            <a:hlinkClick r:id="rId3" action="ppaction://hlinkfile"/>
          </p:cNvPr>
          <p:cNvSpPr/>
          <p:nvPr/>
        </p:nvSpPr>
        <p:spPr>
          <a:xfrm>
            <a:off x="7721624" y="5517357"/>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演示动画</a:t>
            </a:r>
            <a:endParaRPr lang="zh-CN" altLang="en-US" sz="1600" dirty="0">
              <a:solidFill>
                <a:schemeClr val="tx1"/>
              </a:solidFill>
            </a:endParaRPr>
          </a:p>
        </p:txBody>
      </p:sp>
      <p:sp>
        <p:nvSpPr>
          <p:cNvPr id="6" name="Rectangle 6"/>
          <p:cNvSpPr txBox="1">
            <a:spLocks noChangeArrowheads="1"/>
          </p:cNvSpPr>
          <p:nvPr/>
        </p:nvSpPr>
        <p:spPr>
          <a:xfrm>
            <a:off x="755651" y="6165304"/>
            <a:ext cx="7920037" cy="575816"/>
          </a:xfrm>
          <a:prstGeom prst="rect">
            <a:avLst/>
          </a:prstGeom>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5.32 </a:t>
            </a:r>
            <a:r>
              <a:rPr lang="zh-CN" altLang="en-US" b="1" dirty="0" smtClean="0">
                <a:solidFill>
                  <a:schemeClr val="hlink"/>
                </a:solidFill>
                <a:latin typeface="Arial Unicode MS" pitchFamily="34" charset="-122"/>
                <a:ea typeface="黑体" pitchFamily="2" charset="-122"/>
              </a:rPr>
              <a:t>非流水线时空图</a:t>
            </a:r>
            <a:endParaRPr lang="zh-CN" altLang="en-US" b="1" dirty="0" smtClean="0">
              <a:solidFill>
                <a:srgbClr val="000000"/>
              </a:solidFill>
              <a:latin typeface="Arial Unicode MS" pitchFamily="34" charset="-122"/>
              <a:ea typeface="楷体_GB2312" pitchFamily="49" charset="-122"/>
            </a:endParaRPr>
          </a:p>
        </p:txBody>
      </p:sp>
    </p:spTree>
    <p:extLst>
      <p:ext uri="{BB962C8B-B14F-4D97-AF65-F5344CB8AC3E}">
        <p14:creationId xmlns:p14="http://schemas.microsoft.com/office/powerpoint/2010/main" val="90176582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5.33</a:t>
            </a:r>
            <a:r>
              <a:rPr lang="zh-CN" altLang="en-US" sz="2800" dirty="0" smtClean="0">
                <a:solidFill>
                  <a:srgbClr val="000000"/>
                </a:solidFill>
                <a:latin typeface="楷体_GB2312" pitchFamily="49" charset="-122"/>
                <a:ea typeface="楷体_GB2312" pitchFamily="49" charset="-122"/>
              </a:rPr>
              <a:t>表示</a:t>
            </a:r>
            <a:r>
              <a:rPr lang="zh-CN" altLang="en-US" sz="2800" dirty="0" smtClean="0">
                <a:solidFill>
                  <a:srgbClr val="000000"/>
                </a:solidFill>
                <a:latin typeface="楷体_GB2312" pitchFamily="49" charset="-122"/>
                <a:ea typeface="楷体_GB2312" pitchFamily="49" charset="-122"/>
              </a:rPr>
              <a:t>流水计算机的时空图。对流水计算机来说，上一条指令与下一条指令的四个子过程在时间上可以重叠执行。因此，当流水线满载时，每一个时钟周期就可以输出一个结果。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420039545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idx="4294967295"/>
          </p:nvPr>
        </p:nvSpPr>
        <p:spPr>
          <a:xfrm>
            <a:off x="518864" y="115888"/>
            <a:ext cx="8229600" cy="649287"/>
          </a:xfrm>
        </p:spPr>
        <p:txBody>
          <a:bodyPr/>
          <a:lstStyle/>
          <a:p>
            <a:r>
              <a:rPr lang="zh-CN" altLang="en-US" sz="3200" b="1" dirty="0">
                <a:solidFill>
                  <a:srgbClr val="000000"/>
                </a:solidFill>
                <a:latin typeface="Arial Unicode MS" pitchFamily="34" charset="-122"/>
              </a:rPr>
              <a:t>流水计算机的时空图</a:t>
            </a:r>
          </a:p>
        </p:txBody>
      </p:sp>
      <p:pic>
        <p:nvPicPr>
          <p:cNvPr id="718854" name="Picture 6" descr="5"/>
          <p:cNvPicPr>
            <a:picLocks noChangeAspect="1" noChangeArrowheads="1"/>
          </p:cNvPicPr>
          <p:nvPr/>
        </p:nvPicPr>
        <p:blipFill>
          <a:blip r:embed="rId2">
            <a:extLst>
              <a:ext uri="{28A0092B-C50C-407E-A947-70E740481C1C}">
                <a14:useLocalDpi xmlns:a14="http://schemas.microsoft.com/office/drawing/2010/main" val="0"/>
              </a:ext>
            </a:extLst>
          </a:blip>
          <a:srcRect b="13712"/>
          <a:stretch>
            <a:fillRect/>
          </a:stretch>
        </p:blipFill>
        <p:spPr bwMode="auto">
          <a:xfrm>
            <a:off x="179388" y="973138"/>
            <a:ext cx="8497887" cy="4760912"/>
          </a:xfrm>
          <a:prstGeom prst="rect">
            <a:avLst/>
          </a:prstGeom>
          <a:noFill/>
          <a:extLst>
            <a:ext uri="{909E8E84-426E-40DD-AFC4-6F175D3DCCD1}">
              <a14:hiddenFill xmlns:a14="http://schemas.microsoft.com/office/drawing/2010/main">
                <a:solidFill>
                  <a:srgbClr val="FFFFFF"/>
                </a:solidFill>
              </a14:hiddenFill>
            </a:ext>
          </a:extLst>
        </p:spPr>
      </p:pic>
      <p:sp>
        <p:nvSpPr>
          <p:cNvPr id="718856" name="AutoShape 8"/>
          <p:cNvSpPr>
            <a:spLocks noChangeArrowheads="1"/>
          </p:cNvSpPr>
          <p:nvPr/>
        </p:nvSpPr>
        <p:spPr bwMode="auto">
          <a:xfrm>
            <a:off x="971823" y="5589240"/>
            <a:ext cx="6840537" cy="576262"/>
          </a:xfrm>
          <a:prstGeom prst="wedgeRoundRectCallout">
            <a:avLst>
              <a:gd name="adj1" fmla="val 11153"/>
              <a:gd name="adj2" fmla="val -323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dirty="0">
                <a:ea typeface="楷体_GB2312" pitchFamily="49" charset="-122"/>
              </a:rPr>
              <a:t>每个机器周期可以输出一个结果</a:t>
            </a:r>
          </a:p>
        </p:txBody>
      </p:sp>
      <p:sp>
        <p:nvSpPr>
          <p:cNvPr id="6" name="右箭头 5">
            <a:hlinkClick r:id="rId3" action="ppaction://hlinkfile"/>
          </p:cNvPr>
          <p:cNvSpPr/>
          <p:nvPr/>
        </p:nvSpPr>
        <p:spPr>
          <a:xfrm>
            <a:off x="7721624" y="6286665"/>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演示动画</a:t>
            </a:r>
            <a:endParaRPr lang="zh-CN" altLang="en-US" sz="1600" dirty="0">
              <a:solidFill>
                <a:schemeClr val="tx1"/>
              </a:solidFill>
            </a:endParaRPr>
          </a:p>
        </p:txBody>
      </p:sp>
      <p:sp>
        <p:nvSpPr>
          <p:cNvPr id="8" name="Rectangle 6"/>
          <p:cNvSpPr txBox="1">
            <a:spLocks noChangeArrowheads="1"/>
          </p:cNvSpPr>
          <p:nvPr/>
        </p:nvSpPr>
        <p:spPr>
          <a:xfrm>
            <a:off x="755651" y="6165552"/>
            <a:ext cx="7920037" cy="575816"/>
          </a:xfrm>
          <a:prstGeom prst="rect">
            <a:avLst/>
          </a:prstGeom>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5.33  </a:t>
            </a:r>
            <a:r>
              <a:rPr lang="zh-CN" altLang="en-US" b="1" dirty="0" smtClean="0">
                <a:solidFill>
                  <a:schemeClr val="hlink"/>
                </a:solidFill>
                <a:latin typeface="Arial Unicode MS" pitchFamily="34" charset="-122"/>
                <a:ea typeface="黑体" pitchFamily="2" charset="-122"/>
              </a:rPr>
              <a:t>标量流水线时空图</a:t>
            </a:r>
            <a:endParaRPr lang="zh-CN" altLang="en-US" b="1" dirty="0" smtClean="0">
              <a:solidFill>
                <a:srgbClr val="000000"/>
              </a:solidFill>
              <a:latin typeface="Arial Unicode MS" pitchFamily="34" charset="-122"/>
              <a:ea typeface="楷体_GB2312" pitchFamily="49" charset="-122"/>
            </a:endParaRPr>
          </a:p>
        </p:txBody>
      </p:sp>
    </p:spTree>
    <p:extLst>
      <p:ext uri="{BB962C8B-B14F-4D97-AF65-F5344CB8AC3E}">
        <p14:creationId xmlns:p14="http://schemas.microsoft.com/office/powerpoint/2010/main" val="3559677143"/>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5.34</a:t>
            </a:r>
            <a:r>
              <a:rPr lang="zh-CN" altLang="en-US" sz="2800" dirty="0" smtClean="0">
                <a:solidFill>
                  <a:srgbClr val="000000"/>
                </a:solidFill>
                <a:latin typeface="楷体_GB2312" pitchFamily="49" charset="-122"/>
                <a:ea typeface="楷体_GB2312" pitchFamily="49" charset="-122"/>
              </a:rPr>
              <a:t>表示</a:t>
            </a:r>
            <a:r>
              <a:rPr lang="zh-CN" altLang="en-US" sz="2800" dirty="0" smtClean="0">
                <a:solidFill>
                  <a:srgbClr val="000000"/>
                </a:solidFill>
                <a:latin typeface="楷体_GB2312" pitchFamily="49" charset="-122"/>
                <a:ea typeface="楷体_GB2312" pitchFamily="49" charset="-122"/>
              </a:rPr>
              <a:t>超标量流水计算机的时空图。一般的流水计算机因只有一条指令流水线，所以称为标量流水计算机。所谓超标量流水，是指它具有两条以上的指令流水线。如图所示，当流水线满载时，每一个时钟周期可以执行</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条指令。显然，超标量流水计算机是时间并行技术和空间并行技术的综合应用。</a:t>
            </a:r>
            <a:r>
              <a:rPr lang="en-US" altLang="zh-CN" sz="2800" dirty="0" smtClean="0">
                <a:solidFill>
                  <a:srgbClr val="000000"/>
                </a:solidFill>
                <a:latin typeface="楷体_GB2312" pitchFamily="49" charset="-122"/>
                <a:ea typeface="楷体_GB2312" pitchFamily="49" charset="-122"/>
              </a:rPr>
              <a:t>Pentium</a:t>
            </a:r>
            <a:r>
              <a:rPr lang="zh-CN" altLang="en-US" sz="2800" dirty="0" smtClean="0">
                <a:solidFill>
                  <a:srgbClr val="000000"/>
                </a:solidFill>
                <a:latin typeface="楷体_GB2312" pitchFamily="49" charset="-122"/>
                <a:ea typeface="楷体_GB2312" pitchFamily="49" charset="-122"/>
              </a:rPr>
              <a:t>系列微型机就是一个超标量流水计算机。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292918786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idx="4294967295"/>
          </p:nvPr>
        </p:nvSpPr>
        <p:spPr>
          <a:xfrm>
            <a:off x="2123728" y="115888"/>
            <a:ext cx="5472608" cy="649287"/>
          </a:xfrm>
        </p:spPr>
        <p:txBody>
          <a:bodyPr/>
          <a:lstStyle/>
          <a:p>
            <a:r>
              <a:rPr lang="zh-CN" altLang="en-US" sz="3200" b="1" dirty="0" smtClean="0">
                <a:solidFill>
                  <a:srgbClr val="000000"/>
                </a:solidFill>
                <a:latin typeface="Arial Unicode MS" pitchFamily="34" charset="-122"/>
              </a:rPr>
              <a:t>超标量计算机的</a:t>
            </a:r>
            <a:r>
              <a:rPr lang="zh-CN" altLang="en-US" sz="3200" b="1" dirty="0">
                <a:solidFill>
                  <a:srgbClr val="000000"/>
                </a:solidFill>
                <a:latin typeface="Arial Unicode MS" pitchFamily="34" charset="-122"/>
              </a:rPr>
              <a:t>时空图</a:t>
            </a:r>
          </a:p>
        </p:txBody>
      </p:sp>
      <p:pic>
        <p:nvPicPr>
          <p:cNvPr id="718854"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b="16006"/>
          <a:stretch/>
        </p:blipFill>
        <p:spPr bwMode="auto">
          <a:xfrm>
            <a:off x="576263" y="1255812"/>
            <a:ext cx="7851105" cy="4279623"/>
          </a:xfrm>
          <a:prstGeom prst="rect">
            <a:avLst/>
          </a:prstGeom>
          <a:noFill/>
          <a:extLst>
            <a:ext uri="{909E8E84-426E-40DD-AFC4-6F175D3DCCD1}">
              <a14:hiddenFill xmlns:a14="http://schemas.microsoft.com/office/drawing/2010/main">
                <a:solidFill>
                  <a:srgbClr val="FFFFFF"/>
                </a:solidFill>
              </a14:hiddenFill>
            </a:ext>
          </a:extLst>
        </p:spPr>
      </p:pic>
      <p:sp>
        <p:nvSpPr>
          <p:cNvPr id="718856" name="AutoShape 8"/>
          <p:cNvSpPr>
            <a:spLocks noChangeArrowheads="1"/>
          </p:cNvSpPr>
          <p:nvPr/>
        </p:nvSpPr>
        <p:spPr bwMode="auto">
          <a:xfrm>
            <a:off x="900113" y="5517232"/>
            <a:ext cx="6840537" cy="576262"/>
          </a:xfrm>
          <a:prstGeom prst="wedgeRoundRectCallout">
            <a:avLst>
              <a:gd name="adj1" fmla="val 11153"/>
              <a:gd name="adj2" fmla="val -323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dirty="0">
                <a:ea typeface="楷体_GB2312" pitchFamily="49" charset="-122"/>
              </a:rPr>
              <a:t>每个机器周期可以</a:t>
            </a:r>
            <a:r>
              <a:rPr lang="zh-CN" altLang="en-US" sz="2800" b="1" dirty="0" smtClean="0">
                <a:ea typeface="楷体_GB2312" pitchFamily="49" charset="-122"/>
              </a:rPr>
              <a:t>输出</a:t>
            </a:r>
            <a:r>
              <a:rPr lang="en-US" altLang="zh-CN" sz="2800" b="1" dirty="0" smtClean="0">
                <a:ea typeface="楷体_GB2312" pitchFamily="49" charset="-122"/>
              </a:rPr>
              <a:t>2</a:t>
            </a:r>
            <a:r>
              <a:rPr lang="zh-CN" altLang="en-US" sz="2800" b="1" dirty="0" smtClean="0">
                <a:ea typeface="楷体_GB2312" pitchFamily="49" charset="-122"/>
              </a:rPr>
              <a:t>个</a:t>
            </a:r>
            <a:r>
              <a:rPr lang="zh-CN" altLang="en-US" sz="2800" b="1" dirty="0">
                <a:ea typeface="楷体_GB2312" pitchFamily="49" charset="-122"/>
              </a:rPr>
              <a:t>结果</a:t>
            </a:r>
          </a:p>
        </p:txBody>
      </p:sp>
      <p:sp>
        <p:nvSpPr>
          <p:cNvPr id="7" name="右箭头 6">
            <a:hlinkClick r:id="rId3" action="ppaction://hlinkfile"/>
          </p:cNvPr>
          <p:cNvSpPr/>
          <p:nvPr/>
        </p:nvSpPr>
        <p:spPr>
          <a:xfrm>
            <a:off x="7721624" y="6237312"/>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演示动画</a:t>
            </a:r>
            <a:endParaRPr lang="zh-CN" altLang="en-US" sz="1600" dirty="0">
              <a:solidFill>
                <a:schemeClr val="tx1"/>
              </a:solidFill>
            </a:endParaRPr>
          </a:p>
        </p:txBody>
      </p:sp>
      <p:sp>
        <p:nvSpPr>
          <p:cNvPr id="8" name="Rectangle 6"/>
          <p:cNvSpPr txBox="1">
            <a:spLocks noChangeArrowheads="1"/>
          </p:cNvSpPr>
          <p:nvPr/>
        </p:nvSpPr>
        <p:spPr>
          <a:xfrm>
            <a:off x="755651" y="6093296"/>
            <a:ext cx="7920037" cy="575816"/>
          </a:xfrm>
          <a:prstGeom prst="rect">
            <a:avLst/>
          </a:prstGeom>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5.34  </a:t>
            </a:r>
            <a:r>
              <a:rPr lang="zh-CN" altLang="en-US" b="1" dirty="0" smtClean="0">
                <a:solidFill>
                  <a:schemeClr val="hlink"/>
                </a:solidFill>
                <a:latin typeface="Arial Unicode MS" pitchFamily="34" charset="-122"/>
                <a:ea typeface="黑体" pitchFamily="2" charset="-122"/>
              </a:rPr>
              <a:t>超标量流水线时空图</a:t>
            </a:r>
            <a:endParaRPr lang="zh-CN" altLang="en-US" b="1" dirty="0" smtClean="0">
              <a:solidFill>
                <a:srgbClr val="000000"/>
              </a:solidFill>
              <a:latin typeface="Arial Unicode MS" pitchFamily="34" charset="-122"/>
              <a:ea typeface="楷体_GB2312" pitchFamily="49" charset="-122"/>
            </a:endParaRPr>
          </a:p>
        </p:txBody>
      </p:sp>
    </p:spTree>
    <p:extLst>
      <p:ext uri="{BB962C8B-B14F-4D97-AF65-F5344CB8AC3E}">
        <p14:creationId xmlns:p14="http://schemas.microsoft.com/office/powerpoint/2010/main" val="3521200391"/>
      </p:ext>
    </p:extLst>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直观比较后发现：标量流水计算机在</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个单位时间中执行了</a:t>
            </a: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条指令，超标量流水计算机在</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个单位时间中执行了</a:t>
            </a:r>
            <a:r>
              <a:rPr lang="en-US" altLang="zh-CN" sz="2800" dirty="0" smtClean="0">
                <a:solidFill>
                  <a:srgbClr val="000000"/>
                </a:solidFill>
                <a:latin typeface="楷体_GB2312" pitchFamily="49" charset="-122"/>
                <a:ea typeface="楷体_GB2312" pitchFamily="49" charset="-122"/>
              </a:rPr>
              <a:t>10</a:t>
            </a:r>
            <a:r>
              <a:rPr lang="zh-CN" altLang="en-US" sz="2800" dirty="0" smtClean="0">
                <a:solidFill>
                  <a:srgbClr val="000000"/>
                </a:solidFill>
                <a:latin typeface="楷体_GB2312" pitchFamily="49" charset="-122"/>
                <a:ea typeface="楷体_GB2312" pitchFamily="49" charset="-122"/>
              </a:rPr>
              <a:t>条指令，而非流水计算机在</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个单位时间中仅执行了</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条指令。显然，流水技术的应用，使计算机的速度大大提高了！</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1. </a:t>
            </a:r>
            <a:r>
              <a:rPr lang="zh-CN" altLang="en-US" sz="2800" dirty="0">
                <a:solidFill>
                  <a:srgbClr val="000000"/>
                </a:solidFill>
                <a:latin typeface="楷体_GB2312" pitchFamily="49" charset="-122"/>
                <a:ea typeface="楷体_GB2312" pitchFamily="49" charset="-122"/>
              </a:rPr>
              <a:t>流水线</a:t>
            </a:r>
            <a:r>
              <a:rPr lang="zh-CN" altLang="en-US" sz="2800" dirty="0" smtClean="0">
                <a:solidFill>
                  <a:srgbClr val="000000"/>
                </a:solidFill>
                <a:latin typeface="楷体_GB2312" pitchFamily="49" charset="-122"/>
                <a:ea typeface="楷体_GB2312" pitchFamily="49" charset="-122"/>
              </a:rPr>
              <a:t>分类</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一个计算机系统可以在不同的并行等级上采用流水线技术。常见的流水线形式有：</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指令流水线</a:t>
            </a:r>
            <a:r>
              <a:rPr lang="zh-CN" altLang="en-US" sz="2800" dirty="0" smtClean="0">
                <a:solidFill>
                  <a:srgbClr val="000000"/>
                </a:solidFill>
                <a:latin typeface="楷体_GB2312" pitchFamily="49" charset="-122"/>
                <a:ea typeface="楷体_GB2312" pitchFamily="49" charset="-122"/>
              </a:rPr>
              <a:t>：指的是指令</a:t>
            </a:r>
            <a:r>
              <a:rPr lang="zh-CN" altLang="en-US" sz="2800" dirty="0">
                <a:solidFill>
                  <a:srgbClr val="000000"/>
                </a:solidFill>
                <a:latin typeface="楷体_GB2312" pitchFamily="49" charset="-122"/>
                <a:ea typeface="楷体_GB2312" pitchFamily="49" charset="-122"/>
              </a:rPr>
              <a:t>步骤的并行。将指令流的处理过程划分为取指令、译码、执行、写回等几个并行处理的过程段。目前，几乎所有的高性能计算机都采用了指令流水线。</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算术流水线</a:t>
            </a:r>
            <a:r>
              <a:rPr lang="zh-CN" altLang="en-US" sz="2800" dirty="0" smtClean="0">
                <a:solidFill>
                  <a:srgbClr val="000000"/>
                </a:solidFill>
                <a:latin typeface="楷体_GB2312" pitchFamily="49" charset="-122"/>
                <a:ea typeface="楷体_GB2312" pitchFamily="49" charset="-122"/>
              </a:rPr>
              <a:t>：指的是运算</a:t>
            </a:r>
            <a:r>
              <a:rPr lang="zh-CN" altLang="en-US" sz="2800" dirty="0">
                <a:solidFill>
                  <a:srgbClr val="000000"/>
                </a:solidFill>
                <a:latin typeface="楷体_GB2312" pitchFamily="49" charset="-122"/>
                <a:ea typeface="楷体_GB2312" pitchFamily="49" charset="-122"/>
              </a:rPr>
              <a:t>操作步骤的并行。如流水加法器、流水乘法器、流水除法等。 现代计算机中已广泛采用了流水的算术运算器</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5.6.4 </a:t>
            </a:r>
            <a:r>
              <a:rPr lang="zh-CN" altLang="en-US" sz="3600" b="1" dirty="0" smtClean="0">
                <a:solidFill>
                  <a:srgbClr val="660066"/>
                </a:solidFill>
                <a:latin typeface="宋体" charset="-122"/>
              </a:rPr>
              <a:t>流水线分类及特点</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79176206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处理机流水线：</a:t>
            </a:r>
            <a:r>
              <a:rPr lang="zh-CN" altLang="en-US" sz="2800" dirty="0" smtClean="0">
                <a:solidFill>
                  <a:srgbClr val="000000"/>
                </a:solidFill>
                <a:latin typeface="楷体_GB2312" pitchFamily="49" charset="-122"/>
                <a:ea typeface="楷体_GB2312" pitchFamily="49" charset="-122"/>
              </a:rPr>
              <a:t>又</a:t>
            </a:r>
            <a:r>
              <a:rPr lang="zh-CN" altLang="en-US" sz="2800" dirty="0">
                <a:solidFill>
                  <a:srgbClr val="000000"/>
                </a:solidFill>
                <a:latin typeface="楷体_GB2312" pitchFamily="49" charset="-122"/>
                <a:ea typeface="楷体_GB2312" pitchFamily="49" charset="-122"/>
              </a:rPr>
              <a:t>称为宏流水线，是指程序步骤的并行</a:t>
            </a:r>
            <a:r>
              <a:rPr lang="zh-CN" altLang="en-US" sz="2800" dirty="0" smtClean="0">
                <a:solidFill>
                  <a:srgbClr val="000000"/>
                </a:solidFill>
                <a:latin typeface="楷体_GB2312" pitchFamily="49" charset="-122"/>
                <a:ea typeface="楷体_GB2312" pitchFamily="49" charset="-122"/>
              </a:rPr>
              <a:t>。由一系列处理机串联来构成</a:t>
            </a:r>
            <a:r>
              <a:rPr lang="zh-CN" altLang="en-US" sz="2800" dirty="0">
                <a:solidFill>
                  <a:srgbClr val="000000"/>
                </a:solidFill>
                <a:latin typeface="楷体_GB2312" pitchFamily="49" charset="-122"/>
                <a:ea typeface="楷体_GB2312" pitchFamily="49" charset="-122"/>
              </a:rPr>
              <a:t>流水线的各个过程段，每台处理机负责某一特定的任务</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数据流</a:t>
            </a:r>
            <a:r>
              <a:rPr lang="zh-CN" altLang="en-US" sz="2800" dirty="0">
                <a:solidFill>
                  <a:srgbClr val="000000"/>
                </a:solidFill>
                <a:latin typeface="楷体_GB2312" pitchFamily="49" charset="-122"/>
                <a:ea typeface="楷体_GB2312" pitchFamily="49" charset="-122"/>
              </a:rPr>
              <a:t>从第一台处理机输入，经处理后被送入与第二台处理机相联的缓冲存储器中。第二台处理机从该存储器中取出数据进行处理，然后传送给第三台处理机，如此串联下去。</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随着</a:t>
            </a:r>
            <a:r>
              <a:rPr lang="zh-CN" altLang="en-US" sz="2800" dirty="0">
                <a:solidFill>
                  <a:srgbClr val="000000"/>
                </a:solidFill>
                <a:latin typeface="楷体_GB2312" pitchFamily="49" charset="-122"/>
                <a:ea typeface="楷体_GB2312" pitchFamily="49" charset="-122"/>
              </a:rPr>
              <a:t>高档微处理器芯片的出现， 构造处理机流水线将变得容易了。处理机流水线应用在多机系统中。</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
        <p:nvSpPr>
          <p:cNvPr id="5"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5.6.4 </a:t>
            </a:r>
            <a:r>
              <a:rPr lang="zh-CN" altLang="en-US" sz="3600" b="1" dirty="0" smtClean="0">
                <a:solidFill>
                  <a:srgbClr val="660066"/>
                </a:solidFill>
                <a:latin typeface="宋体" charset="-122"/>
              </a:rPr>
              <a:t>流水线分类及特点</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361562782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1" name="Rectangle 3"/>
          <p:cNvSpPr>
            <a:spLocks noGrp="1" noRot="1" noChangeArrowheads="1"/>
          </p:cNvSpPr>
          <p:nvPr>
            <p:ph idx="1"/>
          </p:nvPr>
        </p:nvSpPr>
        <p:spPr/>
        <p:txBody>
          <a:bodyPr>
            <a:normAutofit fontScale="92500" lnSpcReduction="10000"/>
          </a:bodyPr>
          <a:lstStyle/>
          <a:p>
            <a:pPr indent="0">
              <a:buNone/>
            </a:pPr>
            <a:r>
              <a:rPr lang="en-US" altLang="zh-CN" sz="2800" dirty="0" smtClean="0">
                <a:solidFill>
                  <a:srgbClr val="000000"/>
                </a:solidFill>
                <a:latin typeface="楷体_GB2312" pitchFamily="49" charset="-122"/>
                <a:ea typeface="楷体_GB2312"/>
              </a:rPr>
              <a:t>2.</a:t>
            </a:r>
            <a:r>
              <a:rPr lang="zh-CN" altLang="en-US" sz="2600" dirty="0" smtClean="0">
                <a:ea typeface="楷体_GB2312"/>
              </a:rPr>
              <a:t>流水线的特点</a:t>
            </a:r>
            <a:endParaRPr lang="en-US" altLang="zh-CN" sz="2600" dirty="0" smtClean="0">
              <a:ea typeface="楷体_GB2312"/>
            </a:endParaRPr>
          </a:p>
          <a:p>
            <a:pPr indent="0" defTabSz="756000">
              <a:buNone/>
            </a:pPr>
            <a:r>
              <a:rPr lang="en-US" altLang="zh-CN" sz="2600" dirty="0">
                <a:ea typeface="楷体_GB2312"/>
              </a:rPr>
              <a:t>	</a:t>
            </a:r>
            <a:r>
              <a:rPr lang="zh-CN" altLang="en-US"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实际上是把一个功能部件分解成多个独立的子功能部件（一个任务也就分成了几个子任务，每个子任务由一个子功能部件完成），并依靠多个子功能部件并行工作来缩短所有任务的</a:t>
            </a:r>
            <a:r>
              <a:rPr lang="zh-CN" altLang="en-US" sz="2600" dirty="0" smtClean="0">
                <a:ea typeface="楷体_GB2312"/>
              </a:rPr>
              <a:t>执行时间</a:t>
            </a:r>
            <a:endParaRPr lang="zh-CN" altLang="en-US" sz="2600" dirty="0">
              <a:ea typeface="楷体_GB2312"/>
            </a:endParaRPr>
          </a:p>
          <a:p>
            <a:pPr indent="0" defTabSz="720000">
              <a:buNone/>
            </a:pPr>
            <a:r>
              <a:rPr lang="en-US" altLang="zh-CN" sz="2600" dirty="0" smtClean="0">
                <a:ea typeface="楷体_GB2312"/>
              </a:rPr>
              <a:t>	</a:t>
            </a:r>
            <a:r>
              <a:rPr lang="en-US" altLang="zh-CN"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有助于提高整个程序（所有任务）的吞吐率，但并没有减少每个指令（任务）的</a:t>
            </a:r>
            <a:r>
              <a:rPr lang="zh-CN" altLang="en-US" sz="2600" dirty="0" smtClean="0">
                <a:ea typeface="楷体_GB2312"/>
              </a:rPr>
              <a:t>执行时间</a:t>
            </a:r>
            <a:endParaRPr lang="zh-CN" altLang="en-US" sz="2600" dirty="0">
              <a:ea typeface="楷体_GB2312"/>
            </a:endParaRPr>
          </a:p>
          <a:p>
            <a:pPr indent="0">
              <a:buNone/>
            </a:pPr>
            <a:r>
              <a:rPr lang="en-US" altLang="zh-CN" sz="2600" dirty="0" smtClean="0">
                <a:ea typeface="楷体_GB2312"/>
              </a:rPr>
              <a:t>         </a:t>
            </a:r>
            <a:r>
              <a:rPr lang="en-US" altLang="zh-CN"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各个功能段所需时间应尽量相等。否则，时间长的功能段将成为流水线的“瓶颈”，会造成流水线的</a:t>
            </a:r>
            <a:r>
              <a:rPr lang="zh-CN" altLang="en-US" sz="2600" dirty="0">
                <a:solidFill>
                  <a:schemeClr val="hlink"/>
                </a:solidFill>
                <a:ea typeface="楷体_GB2312"/>
              </a:rPr>
              <a:t>“阻塞”（</a:t>
            </a:r>
            <a:r>
              <a:rPr lang="en-US" altLang="zh-CN" sz="2600" dirty="0">
                <a:solidFill>
                  <a:schemeClr val="hlink"/>
                </a:solidFill>
                <a:ea typeface="楷体_GB2312"/>
              </a:rPr>
              <a:t>Stall</a:t>
            </a:r>
            <a:r>
              <a:rPr lang="zh-CN" altLang="en-US" sz="2600" dirty="0" smtClean="0">
                <a:solidFill>
                  <a:schemeClr val="hlink"/>
                </a:solidFill>
                <a:ea typeface="楷体_GB2312"/>
              </a:rPr>
              <a:t>）</a:t>
            </a:r>
            <a:endParaRPr lang="zh-CN" altLang="en-US" sz="2600" dirty="0">
              <a:solidFill>
                <a:schemeClr val="hlink"/>
              </a:solidFill>
              <a:ea typeface="楷体_GB2312"/>
            </a:endParaRPr>
          </a:p>
          <a:p>
            <a:pPr indent="0">
              <a:buNone/>
            </a:pPr>
            <a:r>
              <a:rPr lang="en-US" altLang="zh-CN" sz="2600" dirty="0">
                <a:ea typeface="楷体_GB2312"/>
              </a:rPr>
              <a:t> </a:t>
            </a:r>
            <a:r>
              <a:rPr lang="en-US" altLang="zh-CN" sz="2600" dirty="0" smtClean="0">
                <a:ea typeface="楷体_GB2312"/>
              </a:rPr>
              <a:t>        </a:t>
            </a:r>
            <a:r>
              <a:rPr lang="en-US" altLang="zh-CN"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开始需要</a:t>
            </a:r>
            <a:r>
              <a:rPr lang="zh-CN" altLang="en-US" sz="2600" dirty="0">
                <a:solidFill>
                  <a:schemeClr val="hlink"/>
                </a:solidFill>
                <a:ea typeface="楷体_GB2312"/>
              </a:rPr>
              <a:t>“通过时间” </a:t>
            </a:r>
            <a:r>
              <a:rPr lang="en-US" altLang="zh-CN" sz="2600" dirty="0">
                <a:solidFill>
                  <a:schemeClr val="hlink"/>
                </a:solidFill>
                <a:ea typeface="楷体_GB2312"/>
              </a:rPr>
              <a:t>(Fill)</a:t>
            </a:r>
            <a:r>
              <a:rPr lang="zh-CN" altLang="en-US" sz="2600" dirty="0">
                <a:ea typeface="楷体_GB2312"/>
              </a:rPr>
              <a:t>和最后需要</a:t>
            </a:r>
            <a:r>
              <a:rPr lang="zh-CN" altLang="en-US" sz="2600" dirty="0">
                <a:solidFill>
                  <a:schemeClr val="hlink"/>
                </a:solidFill>
                <a:ea typeface="楷体_GB2312"/>
              </a:rPr>
              <a:t>“排空时间”</a:t>
            </a:r>
            <a:r>
              <a:rPr lang="en-US" altLang="zh-CN" sz="2600" dirty="0">
                <a:solidFill>
                  <a:schemeClr val="hlink"/>
                </a:solidFill>
                <a:ea typeface="楷体_GB2312"/>
              </a:rPr>
              <a:t>(Drain)</a:t>
            </a:r>
            <a:r>
              <a:rPr lang="zh-CN" altLang="en-US" sz="2600" dirty="0">
                <a:ea typeface="楷体_GB2312"/>
              </a:rPr>
              <a:t>。流水线只有处理连续不断的任务才能发挥其</a:t>
            </a:r>
            <a:r>
              <a:rPr lang="zh-CN" altLang="en-US" sz="2600" dirty="0" smtClean="0">
                <a:ea typeface="楷体_GB2312"/>
              </a:rPr>
              <a:t>效率</a:t>
            </a:r>
            <a:endParaRPr lang="zh-CN" altLang="en-US" sz="2600" dirty="0">
              <a:ea typeface="楷体_GB231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5.6.4 </a:t>
            </a:r>
            <a:r>
              <a:rPr lang="zh-CN" altLang="en-US" sz="3600" b="1" dirty="0" smtClean="0">
                <a:solidFill>
                  <a:srgbClr val="660066"/>
                </a:solidFill>
                <a:latin typeface="宋体" charset="-122"/>
              </a:rPr>
              <a:t>流水线分类及特点</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125008767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要</a:t>
            </a:r>
            <a:r>
              <a:rPr lang="zh-CN" altLang="en-US" sz="2800" dirty="0">
                <a:solidFill>
                  <a:srgbClr val="000000"/>
                </a:solidFill>
                <a:latin typeface="楷体_GB2312" pitchFamily="49" charset="-122"/>
                <a:ea typeface="楷体_GB2312" pitchFamily="49" charset="-122"/>
              </a:rPr>
              <a:t>使流水线具有良好的性能，必须使流水线畅通流动，不发生断流。流水过程中通常会出现以下三种相关冲突，使</a:t>
            </a:r>
            <a:r>
              <a:rPr lang="zh-CN" altLang="en-US" sz="2800" b="1" dirty="0">
                <a:solidFill>
                  <a:srgbClr val="000000"/>
                </a:solidFill>
                <a:latin typeface="楷体_GB2312" pitchFamily="49" charset="-122"/>
                <a:ea typeface="楷体_GB2312" pitchFamily="49" charset="-122"/>
              </a:rPr>
              <a:t>流水线断</a:t>
            </a:r>
            <a:r>
              <a:rPr lang="zh-CN" altLang="en-US" sz="2800" dirty="0">
                <a:solidFill>
                  <a:srgbClr val="000000"/>
                </a:solidFill>
                <a:latin typeface="楷体_GB2312" pitchFamily="49" charset="-122"/>
                <a:ea typeface="楷体_GB2312" pitchFamily="49" charset="-122"/>
              </a:rPr>
              <a:t>流</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marL="0" lvl="1" indent="0"/>
            <a:r>
              <a:rPr lang="zh-CN" altLang="en-US" dirty="0">
                <a:solidFill>
                  <a:srgbClr val="000000"/>
                </a:solidFill>
                <a:latin typeface="楷体_GB2312" pitchFamily="49" charset="-122"/>
                <a:ea typeface="楷体_GB2312" pitchFamily="49" charset="-122"/>
                <a:cs typeface="+mn-cs"/>
              </a:rPr>
              <a:t>资源相关（资源冲突）：当指令重叠执行过程中，硬件资源满足不了指令重叠执行的要求</a:t>
            </a:r>
          </a:p>
          <a:p>
            <a:pPr marL="0" lvl="1" indent="0"/>
            <a:r>
              <a:rPr lang="zh-CN" altLang="en-US" dirty="0">
                <a:solidFill>
                  <a:srgbClr val="000000"/>
                </a:solidFill>
                <a:latin typeface="楷体_GB2312" pitchFamily="49" charset="-122"/>
                <a:ea typeface="楷体_GB2312" pitchFamily="49" charset="-122"/>
                <a:cs typeface="+mn-cs"/>
              </a:rPr>
              <a:t>数据相关（数据冲突</a:t>
            </a:r>
            <a:r>
              <a:rPr lang="zh-CN" altLang="en-US" dirty="0" smtClean="0">
                <a:solidFill>
                  <a:srgbClr val="000000"/>
                </a:solidFill>
                <a:latin typeface="楷体_GB2312" pitchFamily="49" charset="-122"/>
                <a:ea typeface="楷体_GB2312" pitchFamily="49" charset="-122"/>
                <a:cs typeface="+mn-cs"/>
              </a:rPr>
              <a:t>）：</a:t>
            </a:r>
            <a:r>
              <a:rPr lang="zh-CN" altLang="en-US" dirty="0">
                <a:solidFill>
                  <a:srgbClr val="000000"/>
                </a:solidFill>
                <a:latin typeface="楷体_GB2312" pitchFamily="49" charset="-122"/>
                <a:ea typeface="楷体_GB2312" pitchFamily="49" charset="-122"/>
                <a:cs typeface="+mn-cs"/>
              </a:rPr>
              <a:t>在同时执行的多条指令中，一条指令依赖前一条指令的执行结果</a:t>
            </a:r>
            <a:r>
              <a:rPr lang="en-US" altLang="zh-CN" dirty="0">
                <a:solidFill>
                  <a:srgbClr val="000000"/>
                </a:solidFill>
                <a:latin typeface="楷体_GB2312" pitchFamily="49" charset="-122"/>
                <a:ea typeface="楷体_GB2312" pitchFamily="49" charset="-122"/>
                <a:cs typeface="+mn-cs"/>
              </a:rPr>
              <a:t>(</a:t>
            </a:r>
            <a:r>
              <a:rPr lang="zh-CN" altLang="en-US" dirty="0">
                <a:solidFill>
                  <a:srgbClr val="000000"/>
                </a:solidFill>
                <a:latin typeface="楷体_GB2312" pitchFamily="49" charset="-122"/>
                <a:ea typeface="楷体_GB2312" pitchFamily="49" charset="-122"/>
                <a:cs typeface="+mn-cs"/>
              </a:rPr>
              <a:t>数据</a:t>
            </a:r>
            <a:r>
              <a:rPr lang="en-US" altLang="zh-CN" dirty="0">
                <a:solidFill>
                  <a:srgbClr val="000000"/>
                </a:solidFill>
                <a:latin typeface="楷体_GB2312" pitchFamily="49" charset="-122"/>
                <a:ea typeface="楷体_GB2312" pitchFamily="49" charset="-122"/>
                <a:cs typeface="+mn-cs"/>
              </a:rPr>
              <a:t>)</a:t>
            </a:r>
            <a:r>
              <a:rPr lang="zh-CN" altLang="en-US" dirty="0">
                <a:solidFill>
                  <a:srgbClr val="000000"/>
                </a:solidFill>
                <a:latin typeface="楷体_GB2312" pitchFamily="49" charset="-122"/>
                <a:ea typeface="楷体_GB2312" pitchFamily="49" charset="-122"/>
                <a:cs typeface="+mn-cs"/>
              </a:rPr>
              <a:t>却无法得到</a:t>
            </a:r>
          </a:p>
          <a:p>
            <a:pPr marL="0" lvl="1" indent="0"/>
            <a:r>
              <a:rPr lang="zh-CN" altLang="en-US" dirty="0">
                <a:solidFill>
                  <a:srgbClr val="000000"/>
                </a:solidFill>
                <a:latin typeface="楷体_GB2312" pitchFamily="49" charset="-122"/>
                <a:ea typeface="楷体_GB2312" pitchFamily="49" charset="-122"/>
                <a:cs typeface="+mn-cs"/>
              </a:rPr>
              <a:t>控制相关（控制冲突）：流水线遇到分支指令或其他改变</a:t>
            </a:r>
            <a:r>
              <a:rPr lang="en-US" altLang="zh-CN" dirty="0">
                <a:solidFill>
                  <a:srgbClr val="000000"/>
                </a:solidFill>
                <a:latin typeface="楷体_GB2312" pitchFamily="49" charset="-122"/>
                <a:ea typeface="楷体_GB2312" pitchFamily="49" charset="-122"/>
                <a:cs typeface="+mn-cs"/>
              </a:rPr>
              <a:t>PC</a:t>
            </a:r>
            <a:r>
              <a:rPr lang="zh-CN" altLang="en-US" dirty="0">
                <a:solidFill>
                  <a:srgbClr val="000000"/>
                </a:solidFill>
                <a:latin typeface="楷体_GB2312" pitchFamily="49" charset="-122"/>
                <a:ea typeface="楷体_GB2312" pitchFamily="49" charset="-122"/>
                <a:cs typeface="+mn-cs"/>
              </a:rPr>
              <a:t>值的指令</a:t>
            </a:r>
          </a:p>
          <a:p>
            <a:pPr eaLnBrk="1" hangingPunct="1">
              <a:buNone/>
            </a:pPr>
            <a:endParaRPr lang="zh-CN" altLang="en-US" sz="2800" dirty="0" smtClean="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01331603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资源</a:t>
            </a:r>
            <a:r>
              <a:rPr lang="zh-CN" altLang="en-US" sz="2800" dirty="0" smtClean="0">
                <a:solidFill>
                  <a:srgbClr val="000000"/>
                </a:solidFill>
                <a:latin typeface="楷体_GB2312" pitchFamily="49" charset="-122"/>
                <a:ea typeface="楷体_GB2312" pitchFamily="49" charset="-122"/>
              </a:rPr>
              <a:t>相关 </a:t>
            </a:r>
          </a:p>
          <a:p>
            <a:pPr eaLnBrk="1" hangingPunct="1">
              <a:buNone/>
            </a:pPr>
            <a:r>
              <a:rPr lang="zh-CN" altLang="en-US" sz="2800" dirty="0" smtClean="0">
                <a:solidFill>
                  <a:srgbClr val="000000"/>
                </a:solidFill>
                <a:latin typeface="楷体_GB2312" pitchFamily="49" charset="-122"/>
                <a:ea typeface="楷体_GB2312" pitchFamily="49" charset="-122"/>
              </a:rPr>
              <a:t>　　资源相关是指多条指令进入流水线后在同一机器时钟周期内争用同一个功能部件所发生的冲突。</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假定一条指令流水线由五段组成，分别为取指令（</a:t>
            </a:r>
            <a:r>
              <a:rPr lang="en-US" altLang="zh-CN" sz="2800" dirty="0" smtClean="0">
                <a:solidFill>
                  <a:srgbClr val="000000"/>
                </a:solidFill>
                <a:latin typeface="楷体_GB2312" pitchFamily="49" charset="-122"/>
                <a:ea typeface="楷体_GB2312" pitchFamily="49" charset="-122"/>
              </a:rPr>
              <a:t>IF</a:t>
            </a:r>
            <a:r>
              <a:rPr lang="zh-CN" altLang="en-US" sz="2800" dirty="0" smtClean="0">
                <a:solidFill>
                  <a:srgbClr val="000000"/>
                </a:solidFill>
                <a:latin typeface="楷体_GB2312" pitchFamily="49" charset="-122"/>
                <a:ea typeface="楷体_GB2312" pitchFamily="49" charset="-122"/>
              </a:rPr>
              <a:t>）、指令译码（</a:t>
            </a:r>
            <a:r>
              <a:rPr lang="en-US" altLang="zh-CN" sz="2800" dirty="0" smtClean="0">
                <a:solidFill>
                  <a:srgbClr val="000000"/>
                </a:solidFill>
                <a:latin typeface="楷体_GB2312" pitchFamily="49" charset="-122"/>
                <a:ea typeface="楷体_GB2312" pitchFamily="49" charset="-122"/>
              </a:rPr>
              <a:t>ID</a:t>
            </a:r>
            <a:r>
              <a:rPr lang="zh-CN" altLang="en-US" sz="2800" dirty="0" smtClean="0">
                <a:solidFill>
                  <a:srgbClr val="000000"/>
                </a:solidFill>
                <a:latin typeface="楷体_GB2312" pitchFamily="49" charset="-122"/>
                <a:ea typeface="楷体_GB2312" pitchFamily="49" charset="-122"/>
              </a:rPr>
              <a:t>）、计算有效地址或执行（</a:t>
            </a:r>
            <a:r>
              <a:rPr lang="en-US" altLang="zh-CN" sz="2800" dirty="0" smtClean="0">
                <a:solidFill>
                  <a:srgbClr val="000000"/>
                </a:solidFill>
                <a:latin typeface="楷体_GB2312" pitchFamily="49" charset="-122"/>
                <a:ea typeface="楷体_GB2312" pitchFamily="49" charset="-122"/>
              </a:rPr>
              <a:t>EX</a:t>
            </a:r>
            <a:r>
              <a:rPr lang="zh-CN" altLang="en-US" sz="2800" dirty="0" smtClean="0">
                <a:solidFill>
                  <a:srgbClr val="000000"/>
                </a:solidFill>
                <a:latin typeface="楷体_GB2312" pitchFamily="49" charset="-122"/>
                <a:ea typeface="楷体_GB2312" pitchFamily="49" charset="-122"/>
              </a:rPr>
              <a:t>）、访存取数（</a:t>
            </a:r>
            <a:r>
              <a:rPr lang="en-US" altLang="zh-CN" sz="2800" dirty="0" smtClean="0">
                <a:solidFill>
                  <a:srgbClr val="000000"/>
                </a:solidFill>
                <a:latin typeface="楷体_GB2312" pitchFamily="49" charset="-122"/>
                <a:ea typeface="楷体_GB2312" pitchFamily="49" charset="-122"/>
              </a:rPr>
              <a:t>MEM</a:t>
            </a:r>
            <a:r>
              <a:rPr lang="zh-CN" altLang="en-US" sz="2800" dirty="0" smtClean="0">
                <a:solidFill>
                  <a:srgbClr val="000000"/>
                </a:solidFill>
                <a:latin typeface="楷体_GB2312" pitchFamily="49" charset="-122"/>
                <a:ea typeface="楷体_GB2312" pitchFamily="49" charset="-122"/>
              </a:rPr>
              <a:t>）、结果写寄存器堆（</a:t>
            </a:r>
            <a:r>
              <a:rPr lang="en-US" altLang="zh-CN" sz="2800" dirty="0" smtClean="0">
                <a:solidFill>
                  <a:srgbClr val="000000"/>
                </a:solidFill>
                <a:latin typeface="楷体_GB2312" pitchFamily="49" charset="-122"/>
                <a:ea typeface="楷体_GB2312" pitchFamily="49" charset="-122"/>
              </a:rPr>
              <a:t>WB</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04478523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a:xfrm>
            <a:off x="323850" y="260350"/>
            <a:ext cx="8229600" cy="720725"/>
          </a:xfrm>
        </p:spPr>
        <p:txBody>
          <a:bodyPr/>
          <a:lstStyle/>
          <a:p>
            <a:pPr algn="l"/>
            <a:r>
              <a:rPr lang="en-US" altLang="zh-CN" sz="3200" b="1">
                <a:solidFill>
                  <a:srgbClr val="FF0000"/>
                </a:solidFill>
                <a:latin typeface="Arial Unicode MS" pitchFamily="34" charset="-122"/>
                <a:ea typeface="楷体_GB2312" pitchFamily="49" charset="-122"/>
              </a:rPr>
              <a:t>1. </a:t>
            </a:r>
            <a:r>
              <a:rPr lang="zh-CN" altLang="en-US" sz="3200" b="1">
                <a:solidFill>
                  <a:srgbClr val="FF0000"/>
                </a:solidFill>
                <a:latin typeface="Arial Unicode MS" pitchFamily="34" charset="-122"/>
                <a:ea typeface="楷体_GB2312" pitchFamily="49" charset="-122"/>
              </a:rPr>
              <a:t>资源相关</a:t>
            </a:r>
            <a:r>
              <a:rPr lang="zh-CN" altLang="en-US" sz="2800" b="1" i="1">
                <a:solidFill>
                  <a:srgbClr val="FF0000"/>
                </a:solidFill>
                <a:latin typeface="Arial Unicode MS" pitchFamily="34" charset="-122"/>
                <a:ea typeface="楷体_GB2312" pitchFamily="49" charset="-122"/>
              </a:rPr>
              <a:t> </a:t>
            </a:r>
          </a:p>
        </p:txBody>
      </p:sp>
      <p:sp>
        <p:nvSpPr>
          <p:cNvPr id="726019" name="Rectangle 3"/>
          <p:cNvSpPr>
            <a:spLocks noGrp="1" noChangeArrowheads="1"/>
          </p:cNvSpPr>
          <p:nvPr>
            <p:ph type="body" sz="half" idx="1"/>
          </p:nvPr>
        </p:nvSpPr>
        <p:spPr>
          <a:xfrm>
            <a:off x="250825" y="981075"/>
            <a:ext cx="8424863" cy="1911350"/>
          </a:xfrm>
        </p:spPr>
        <p:txBody>
          <a:bodyPr/>
          <a:lstStyle/>
          <a:p>
            <a:pPr marL="0" indent="720000" defTabSz="720000">
              <a:spcBef>
                <a:spcPct val="5000"/>
              </a:spcBef>
              <a:buFontTx/>
              <a:buNone/>
            </a:pPr>
            <a:r>
              <a:rPr lang="zh-CN" altLang="en-US" sz="2800" b="1" dirty="0" smtClean="0">
                <a:solidFill>
                  <a:schemeClr val="accent2"/>
                </a:solidFill>
                <a:latin typeface="Comic Sans MS" pitchFamily="66" charset="0"/>
                <a:ea typeface="楷体_GB2312" pitchFamily="49" charset="-122"/>
              </a:rPr>
              <a:t>有下表可以看出，在时钟</a:t>
            </a:r>
            <a:r>
              <a:rPr lang="en-US" altLang="zh-CN" sz="2800" b="1" dirty="0" smtClean="0">
                <a:solidFill>
                  <a:schemeClr val="accent2"/>
                </a:solidFill>
                <a:latin typeface="Comic Sans MS" pitchFamily="66" charset="0"/>
                <a:ea typeface="楷体_GB2312" pitchFamily="49" charset="-122"/>
              </a:rPr>
              <a:t>4</a:t>
            </a:r>
            <a:r>
              <a:rPr lang="zh-CN" altLang="en-US" sz="2800" b="1" dirty="0" smtClean="0">
                <a:solidFill>
                  <a:schemeClr val="accent2"/>
                </a:solidFill>
                <a:latin typeface="Comic Sans MS" pitchFamily="66" charset="0"/>
                <a:ea typeface="楷体_GB2312" pitchFamily="49" charset="-122"/>
              </a:rPr>
              <a:t>时，第</a:t>
            </a:r>
            <a:r>
              <a:rPr lang="en-US" altLang="zh-CN" sz="2800" b="1" dirty="0" smtClean="0">
                <a:solidFill>
                  <a:schemeClr val="accent2"/>
                </a:solidFill>
                <a:latin typeface="Comic Sans MS" pitchFamily="66" charset="0"/>
                <a:ea typeface="楷体_GB2312" pitchFamily="49" charset="-122"/>
              </a:rPr>
              <a:t>I1</a:t>
            </a:r>
            <a:r>
              <a:rPr lang="zh-CN" altLang="en-US" sz="2800" b="1" dirty="0" smtClean="0">
                <a:solidFill>
                  <a:schemeClr val="accent2"/>
                </a:solidFill>
                <a:latin typeface="Comic Sans MS" pitchFamily="66" charset="0"/>
                <a:ea typeface="楷体_GB2312" pitchFamily="49" charset="-122"/>
              </a:rPr>
              <a:t>条的</a:t>
            </a:r>
            <a:r>
              <a:rPr lang="en-US" altLang="zh-CN" sz="2800" b="1" dirty="0" smtClean="0">
                <a:solidFill>
                  <a:schemeClr val="accent2"/>
                </a:solidFill>
                <a:latin typeface="Comic Sans MS" pitchFamily="66" charset="0"/>
                <a:ea typeface="楷体_GB2312" pitchFamily="49" charset="-122"/>
              </a:rPr>
              <a:t>MEM</a:t>
            </a:r>
            <a:r>
              <a:rPr lang="zh-CN" altLang="en-US" sz="2800" b="1" dirty="0" smtClean="0">
                <a:solidFill>
                  <a:schemeClr val="accent2"/>
                </a:solidFill>
                <a:latin typeface="Comic Sans MS" pitchFamily="66" charset="0"/>
                <a:ea typeface="楷体_GB2312" pitchFamily="49" charset="-122"/>
              </a:rPr>
              <a:t>字段与</a:t>
            </a:r>
            <a:r>
              <a:rPr lang="en-US" altLang="zh-CN" sz="2800" b="1" dirty="0" smtClean="0">
                <a:solidFill>
                  <a:schemeClr val="accent2"/>
                </a:solidFill>
                <a:latin typeface="Comic Sans MS" pitchFamily="66" charset="0"/>
                <a:ea typeface="楷体_GB2312" pitchFamily="49" charset="-122"/>
              </a:rPr>
              <a:t>I4</a:t>
            </a:r>
            <a:r>
              <a:rPr lang="zh-CN" altLang="en-US" sz="2800" b="1" dirty="0" smtClean="0">
                <a:solidFill>
                  <a:schemeClr val="accent2"/>
                </a:solidFill>
                <a:latin typeface="Comic Sans MS" pitchFamily="66" charset="0"/>
                <a:ea typeface="楷体_GB2312" pitchFamily="49" charset="-122"/>
              </a:rPr>
              <a:t>条的</a:t>
            </a:r>
            <a:r>
              <a:rPr lang="en-US" altLang="zh-CN" sz="2800" b="1" dirty="0" smtClean="0">
                <a:solidFill>
                  <a:schemeClr val="accent2"/>
                </a:solidFill>
                <a:latin typeface="Comic Sans MS" pitchFamily="66" charset="0"/>
                <a:ea typeface="楷体_GB2312" pitchFamily="49" charset="-122"/>
              </a:rPr>
              <a:t>IF</a:t>
            </a:r>
            <a:r>
              <a:rPr lang="zh-CN" altLang="en-US" sz="2800" b="1" dirty="0" smtClean="0">
                <a:solidFill>
                  <a:schemeClr val="accent2"/>
                </a:solidFill>
                <a:latin typeface="Comic Sans MS" pitchFamily="66" charset="0"/>
                <a:ea typeface="楷体_GB2312" pitchFamily="49" charset="-122"/>
              </a:rPr>
              <a:t>段都要访问存储器。当数据和指令放在同一个存储器且只有一个访问口时，便发生两条指令争用存储器资源的相关冲突。 </a:t>
            </a:r>
            <a:endParaRPr lang="zh-CN" altLang="en-US" sz="2800" b="1" dirty="0">
              <a:solidFill>
                <a:schemeClr val="accent2"/>
              </a:solidFill>
              <a:latin typeface="Comic Sans MS" pitchFamily="66" charset="0"/>
              <a:ea typeface="楷体_GB2312" pitchFamily="49" charset="-122"/>
            </a:endParaRPr>
          </a:p>
        </p:txBody>
      </p:sp>
      <p:pic>
        <p:nvPicPr>
          <p:cNvPr id="726023" name="Picture 7" descr="b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3" y="2892425"/>
            <a:ext cx="9072562" cy="3770313"/>
          </a:xfrm>
          <a:prstGeom prst="rect">
            <a:avLst/>
          </a:prstGeom>
          <a:noFill/>
          <a:extLst>
            <a:ext uri="{909E8E84-426E-40DD-AFC4-6F175D3DCCD1}">
              <a14:hiddenFill xmlns:a14="http://schemas.microsoft.com/office/drawing/2010/main">
                <a:solidFill>
                  <a:srgbClr val="FFFFFF"/>
                </a:solidFill>
              </a14:hiddenFill>
            </a:ext>
          </a:extLst>
        </p:spPr>
      </p:pic>
      <p:sp>
        <p:nvSpPr>
          <p:cNvPr id="726024" name="Rectangle 8"/>
          <p:cNvSpPr>
            <a:spLocks noChangeArrowheads="1"/>
          </p:cNvSpPr>
          <p:nvPr/>
        </p:nvSpPr>
        <p:spPr bwMode="auto">
          <a:xfrm>
            <a:off x="394841" y="6133829"/>
            <a:ext cx="835362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lang="zh-CN" altLang="en-US" sz="2400" dirty="0" smtClean="0">
                <a:solidFill>
                  <a:srgbClr val="333399"/>
                </a:solidFill>
                <a:latin typeface="Times New Roman" pitchFamily="18" charset="0"/>
                <a:cs typeface="Times New Roman" pitchFamily="18" charset="0"/>
              </a:rPr>
              <a:t>表</a:t>
            </a:r>
            <a:r>
              <a:rPr lang="en-US" altLang="zh-CN" sz="2400" dirty="0" smtClean="0">
                <a:solidFill>
                  <a:srgbClr val="333399"/>
                </a:solidFill>
                <a:latin typeface="Times New Roman" pitchFamily="18" charset="0"/>
                <a:cs typeface="Times New Roman" pitchFamily="18" charset="0"/>
              </a:rPr>
              <a:t>5.2   I1</a:t>
            </a:r>
            <a:r>
              <a:rPr lang="zh-CN" altLang="en-US" sz="2400" dirty="0" smtClean="0">
                <a:solidFill>
                  <a:srgbClr val="333399"/>
                </a:solidFill>
                <a:latin typeface="Times New Roman" pitchFamily="18" charset="0"/>
                <a:cs typeface="Times New Roman" pitchFamily="18" charset="0"/>
              </a:rPr>
              <a:t>与</a:t>
            </a:r>
            <a:r>
              <a:rPr lang="en-US" altLang="zh-CN" sz="2400" dirty="0" smtClean="0">
                <a:solidFill>
                  <a:srgbClr val="333399"/>
                </a:solidFill>
                <a:latin typeface="Times New Roman" pitchFamily="18" charset="0"/>
                <a:cs typeface="Times New Roman" pitchFamily="18" charset="0"/>
              </a:rPr>
              <a:t>I4</a:t>
            </a:r>
            <a:r>
              <a:rPr lang="zh-CN" altLang="en-US" sz="2400" dirty="0" smtClean="0">
                <a:solidFill>
                  <a:srgbClr val="333399"/>
                </a:solidFill>
                <a:latin typeface="Times New Roman" pitchFamily="18" charset="0"/>
                <a:cs typeface="Times New Roman" pitchFamily="18" charset="0"/>
              </a:rPr>
              <a:t>两条指令在时钟</a:t>
            </a:r>
            <a:r>
              <a:rPr lang="en-US" altLang="zh-CN" sz="2400" dirty="0" smtClean="0">
                <a:solidFill>
                  <a:srgbClr val="333399"/>
                </a:solidFill>
                <a:latin typeface="Times New Roman" pitchFamily="18" charset="0"/>
                <a:cs typeface="Times New Roman" pitchFamily="18" charset="0"/>
              </a:rPr>
              <a:t>4</a:t>
            </a:r>
            <a:r>
              <a:rPr lang="zh-CN" altLang="en-US" sz="2400" dirty="0" smtClean="0">
                <a:solidFill>
                  <a:srgbClr val="333399"/>
                </a:solidFill>
                <a:latin typeface="Times New Roman" pitchFamily="18" charset="0"/>
                <a:cs typeface="Times New Roman" pitchFamily="18" charset="0"/>
              </a:rPr>
              <a:t>争用存储器资源的相关冲突</a:t>
            </a:r>
          </a:p>
        </p:txBody>
      </p:sp>
    </p:spTree>
    <p:extLst>
      <p:ext uri="{BB962C8B-B14F-4D97-AF65-F5344CB8AC3E}">
        <p14:creationId xmlns:p14="http://schemas.microsoft.com/office/powerpoint/2010/main" val="325397442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解决</a:t>
            </a:r>
            <a:r>
              <a:rPr lang="zh-CN" altLang="en-US" sz="2800" dirty="0">
                <a:solidFill>
                  <a:srgbClr val="000000"/>
                </a:solidFill>
                <a:latin typeface="楷体_GB2312" pitchFamily="49" charset="-122"/>
                <a:ea typeface="楷体_GB2312" pitchFamily="49" charset="-122"/>
              </a:rPr>
              <a:t>资源相关冲突的办法：</a:t>
            </a:r>
          </a:p>
          <a:p>
            <a:pPr eaLnBrk="1" hangingPunct="1">
              <a:buNone/>
            </a:pPr>
            <a:r>
              <a:rPr lang="zh-CN" altLang="en-US" sz="2800" dirty="0" smtClean="0">
                <a:solidFill>
                  <a:srgbClr val="000000"/>
                </a:solidFill>
                <a:latin typeface="楷体_GB2312" pitchFamily="49" charset="-122"/>
                <a:ea typeface="楷体_GB2312" pitchFamily="49" charset="-122"/>
              </a:rPr>
              <a:t>一是</a:t>
            </a:r>
            <a:r>
              <a:rPr lang="zh-CN" altLang="en-US" sz="2800" dirty="0">
                <a:solidFill>
                  <a:srgbClr val="000000"/>
                </a:solidFill>
                <a:latin typeface="楷体_GB2312" pitchFamily="49" charset="-122"/>
                <a:ea typeface="楷体_GB2312" pitchFamily="49" charset="-122"/>
              </a:rPr>
              <a:t>第</a:t>
            </a:r>
            <a:r>
              <a:rPr lang="en-US" altLang="zh-CN" sz="2800" dirty="0">
                <a:solidFill>
                  <a:srgbClr val="000000"/>
                </a:solidFill>
                <a:latin typeface="楷体_GB2312" pitchFamily="49" charset="-122"/>
                <a:ea typeface="楷体_GB2312" pitchFamily="49" charset="-122"/>
              </a:rPr>
              <a:t>I4</a:t>
            </a:r>
            <a:r>
              <a:rPr lang="zh-CN" altLang="en-US" sz="2800" dirty="0">
                <a:solidFill>
                  <a:srgbClr val="000000"/>
                </a:solidFill>
                <a:latin typeface="楷体_GB2312" pitchFamily="49" charset="-122"/>
                <a:ea typeface="楷体_GB2312" pitchFamily="49" charset="-122"/>
              </a:rPr>
              <a:t>条指令停顿一拍后再启动；</a:t>
            </a:r>
          </a:p>
          <a:p>
            <a:pPr eaLnBrk="1" hangingPunct="1">
              <a:buNone/>
            </a:pPr>
            <a:r>
              <a:rPr lang="zh-CN" altLang="en-US" sz="2800" dirty="0" smtClean="0">
                <a:solidFill>
                  <a:srgbClr val="000000"/>
                </a:solidFill>
                <a:latin typeface="楷体_GB2312" pitchFamily="49" charset="-122"/>
                <a:ea typeface="楷体_GB2312" pitchFamily="49" charset="-122"/>
              </a:rPr>
              <a:t>二</a:t>
            </a:r>
            <a:r>
              <a:rPr lang="zh-CN" altLang="en-US" sz="2800" dirty="0">
                <a:solidFill>
                  <a:srgbClr val="000000"/>
                </a:solidFill>
                <a:latin typeface="楷体_GB2312" pitchFamily="49" charset="-122"/>
                <a:ea typeface="楷体_GB2312" pitchFamily="49" charset="-122"/>
              </a:rPr>
              <a:t>是增设一个存储器，将指令和数据分别放在两个存储器中。</a:t>
            </a:r>
          </a:p>
          <a:p>
            <a:pPr eaLnBrk="1" hangingPunct="1">
              <a:buNone/>
            </a:pPr>
            <a:r>
              <a:rPr lang="zh-CN" altLang="en-US" sz="2800" dirty="0">
                <a:solidFill>
                  <a:srgbClr val="000000"/>
                </a:solidFill>
                <a:latin typeface="楷体_GB2312" pitchFamily="49" charset="-122"/>
                <a:ea typeface="楷体_GB2312" pitchFamily="49" charset="-122"/>
              </a:rPr>
              <a:t>	</a:t>
            </a:r>
          </a:p>
          <a:p>
            <a:pPr eaLnBrk="1" hangingPunct="1">
              <a:buNone/>
            </a:pPr>
            <a:r>
              <a:rPr lang="zh-CN" altLang="en-US" sz="2800" dirty="0">
                <a:solidFill>
                  <a:srgbClr val="000000"/>
                </a:solidFill>
                <a:latin typeface="楷体_GB2312" pitchFamily="49" charset="-122"/>
                <a:ea typeface="楷体_GB2312" pitchFamily="49" charset="-122"/>
              </a:rPr>
              <a:t>			</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01331603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数据</a:t>
            </a:r>
            <a:r>
              <a:rPr lang="zh-CN" altLang="en-US" sz="2800" dirty="0">
                <a:solidFill>
                  <a:srgbClr val="000000"/>
                </a:solidFill>
                <a:latin typeface="楷体_GB2312" pitchFamily="49" charset="-122"/>
                <a:ea typeface="楷体_GB2312" pitchFamily="49" charset="-122"/>
              </a:rPr>
              <a:t>相关 </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一个程序中，如果必须等前一条指令执行完毕后，才能执行后一条指令，那么这两条指令就是数据相关的。</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流水计算机中，指令的处理是重叠进行</a:t>
            </a:r>
            <a:r>
              <a:rPr lang="zh-CN" altLang="en-US" sz="2800" dirty="0" smtClean="0">
                <a:solidFill>
                  <a:srgbClr val="000000"/>
                </a:solidFill>
                <a:latin typeface="楷体_GB2312" pitchFamily="49" charset="-122"/>
                <a:ea typeface="楷体_GB2312" pitchFamily="49" charset="-122"/>
              </a:rPr>
              <a:t>的，前</a:t>
            </a:r>
            <a:r>
              <a:rPr lang="zh-CN" altLang="en-US" sz="2800" dirty="0">
                <a:solidFill>
                  <a:srgbClr val="000000"/>
                </a:solidFill>
                <a:latin typeface="楷体_GB2312" pitchFamily="49" charset="-122"/>
                <a:ea typeface="楷体_GB2312" pitchFamily="49" charset="-122"/>
              </a:rPr>
              <a:t>一条指令还没有结束，第二、三条指令就陆续地开始工作。由于多条指令的重叠处理，当后继指令所需的操作数，刚好是前一指令的运算结果时，便</a:t>
            </a:r>
            <a:r>
              <a:rPr lang="zh-CN" altLang="en-US" sz="2800" dirty="0" smtClean="0">
                <a:solidFill>
                  <a:srgbClr val="000000"/>
                </a:solidFill>
                <a:latin typeface="楷体_GB2312" pitchFamily="49" charset="-122"/>
                <a:ea typeface="楷体_GB2312" pitchFamily="49" charset="-122"/>
              </a:rPr>
              <a:t>发生“先读后写”的数据</a:t>
            </a:r>
            <a:r>
              <a:rPr lang="zh-CN" altLang="en-US" sz="2800" dirty="0">
                <a:solidFill>
                  <a:srgbClr val="000000"/>
                </a:solidFill>
                <a:latin typeface="楷体_GB2312" pitchFamily="49" charset="-122"/>
                <a:ea typeface="楷体_GB2312" pitchFamily="49" charset="-122"/>
              </a:rPr>
              <a:t>相关冲突</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238733076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323850" y="188913"/>
            <a:ext cx="8229600" cy="719137"/>
          </a:xfrm>
        </p:spPr>
        <p:txBody>
          <a:bodyPr/>
          <a:lstStyle/>
          <a:p>
            <a:pPr algn="l"/>
            <a:r>
              <a:rPr lang="zh-CN" altLang="en-US" sz="3600" b="1" dirty="0" smtClean="0">
                <a:solidFill>
                  <a:srgbClr val="FF0000"/>
                </a:solidFill>
                <a:latin typeface="Arial Unicode MS" pitchFamily="34" charset="-122"/>
                <a:ea typeface="楷体_GB2312" pitchFamily="49" charset="-122"/>
              </a:rPr>
              <a:t>例如</a:t>
            </a:r>
            <a:r>
              <a:rPr lang="zh-CN" altLang="en-US" sz="3600" b="1" dirty="0" smtClean="0">
                <a:solidFill>
                  <a:srgbClr val="FF0000"/>
                </a:solidFill>
                <a:latin typeface="Arial Unicode MS" pitchFamily="34" charset="-122"/>
                <a:ea typeface="楷体_GB2312" pitchFamily="49" charset="-122"/>
              </a:rPr>
              <a:t>：有如下</a:t>
            </a:r>
            <a:r>
              <a:rPr lang="zh-CN" altLang="en-US" sz="3600" b="1" dirty="0" smtClean="0">
                <a:solidFill>
                  <a:srgbClr val="FF0000"/>
                </a:solidFill>
                <a:latin typeface="Arial Unicode MS" pitchFamily="34" charset="-122"/>
                <a:ea typeface="楷体_GB2312" pitchFamily="49" charset="-122"/>
              </a:rPr>
              <a:t>三条指令，并行执行</a:t>
            </a:r>
            <a:endParaRPr lang="zh-CN" altLang="en-US" sz="3600" b="1" dirty="0">
              <a:solidFill>
                <a:srgbClr val="000000"/>
              </a:solidFill>
              <a:latin typeface="Arial Unicode MS" pitchFamily="34" charset="-122"/>
              <a:ea typeface="楷体_GB2312" pitchFamily="49" charset="-122"/>
            </a:endParaRPr>
          </a:p>
        </p:txBody>
      </p:sp>
      <p:sp>
        <p:nvSpPr>
          <p:cNvPr id="728073" name="Rectangle 9"/>
          <p:cNvSpPr>
            <a:spLocks noGrp="1" noChangeArrowheads="1"/>
          </p:cNvSpPr>
          <p:nvPr>
            <p:ph type="body" sz="half" idx="1"/>
          </p:nvPr>
        </p:nvSpPr>
        <p:spPr>
          <a:xfrm>
            <a:off x="395288" y="1052513"/>
            <a:ext cx="8424862" cy="1728787"/>
          </a:xfrm>
          <a:noFill/>
          <a:ln/>
        </p:spPr>
        <p:txBody>
          <a:bodyPr/>
          <a:lstStyle/>
          <a:p>
            <a:pPr>
              <a:buFontTx/>
              <a:buNone/>
              <a:tabLst>
                <a:tab pos="4310063" algn="l"/>
              </a:tabLst>
            </a:pPr>
            <a:r>
              <a:rPr lang="en-US" altLang="zh-CN" sz="2800" b="1" dirty="0"/>
              <a:t>       ADD  </a:t>
            </a:r>
            <a:r>
              <a:rPr lang="en-US" altLang="zh-CN" sz="2800" b="1" dirty="0">
                <a:solidFill>
                  <a:srgbClr val="990000"/>
                </a:solidFill>
              </a:rPr>
              <a:t>R1</a:t>
            </a:r>
            <a:r>
              <a:rPr lang="en-US" altLang="zh-CN" sz="2800" b="1" dirty="0"/>
              <a:t>, R2, R3	;    R2</a:t>
            </a:r>
            <a:r>
              <a:rPr lang="zh-CN" altLang="en-US" sz="2800" b="1" dirty="0"/>
              <a:t>＋</a:t>
            </a:r>
            <a:r>
              <a:rPr lang="en-US" altLang="zh-CN" sz="2800" b="1" dirty="0"/>
              <a:t>R3→R1  </a:t>
            </a:r>
          </a:p>
          <a:p>
            <a:pPr>
              <a:buFontTx/>
              <a:buNone/>
              <a:tabLst>
                <a:tab pos="4310063" algn="l"/>
              </a:tabLst>
            </a:pPr>
            <a:r>
              <a:rPr lang="en-US" altLang="zh-CN" sz="2800" b="1" dirty="0"/>
              <a:t>       SUB  R4, </a:t>
            </a:r>
            <a:r>
              <a:rPr lang="en-US" altLang="zh-CN" sz="2800" b="1" dirty="0">
                <a:solidFill>
                  <a:srgbClr val="990000"/>
                </a:solidFill>
              </a:rPr>
              <a:t>R1</a:t>
            </a:r>
            <a:r>
              <a:rPr lang="en-US" altLang="zh-CN" sz="2800" b="1" dirty="0"/>
              <a:t>, R5	;    R1</a:t>
            </a:r>
            <a:r>
              <a:rPr lang="zh-CN" altLang="en-US" sz="2800" b="1" dirty="0"/>
              <a:t>－</a:t>
            </a:r>
            <a:r>
              <a:rPr lang="en-US" altLang="zh-CN" sz="2800" b="1" dirty="0"/>
              <a:t>R5→R4 </a:t>
            </a:r>
          </a:p>
          <a:p>
            <a:pPr>
              <a:buFontTx/>
              <a:buNone/>
              <a:tabLst>
                <a:tab pos="4310063" algn="l"/>
              </a:tabLst>
            </a:pPr>
            <a:r>
              <a:rPr lang="en-US" altLang="zh-CN" sz="2800" b="1" dirty="0"/>
              <a:t>       AND  R6, </a:t>
            </a:r>
            <a:r>
              <a:rPr lang="en-US" altLang="zh-CN" sz="2800" b="1" dirty="0">
                <a:solidFill>
                  <a:srgbClr val="990000"/>
                </a:solidFill>
              </a:rPr>
              <a:t>R1</a:t>
            </a:r>
            <a:r>
              <a:rPr lang="en-US" altLang="zh-CN" sz="2800" b="1" dirty="0"/>
              <a:t>, R7	;    R1∧R7→R0</a:t>
            </a:r>
          </a:p>
        </p:txBody>
      </p:sp>
      <p:pic>
        <p:nvPicPr>
          <p:cNvPr id="728074" name="Picture 10" descr="b5"/>
          <p:cNvPicPr>
            <a:picLocks noChangeAspect="1" noChangeArrowheads="1"/>
          </p:cNvPicPr>
          <p:nvPr/>
        </p:nvPicPr>
        <p:blipFill>
          <a:blip r:embed="rId2">
            <a:extLst>
              <a:ext uri="{28A0092B-C50C-407E-A947-70E740481C1C}">
                <a14:useLocalDpi xmlns:a14="http://schemas.microsoft.com/office/drawing/2010/main" val="0"/>
              </a:ext>
            </a:extLst>
          </a:blip>
          <a:srcRect r="1740" b="24803"/>
          <a:stretch>
            <a:fillRect/>
          </a:stretch>
        </p:blipFill>
        <p:spPr bwMode="auto">
          <a:xfrm>
            <a:off x="57150" y="2924175"/>
            <a:ext cx="9036050" cy="3095625"/>
          </a:xfrm>
          <a:prstGeom prst="rect">
            <a:avLst/>
          </a:prstGeom>
          <a:noFill/>
          <a:extLst>
            <a:ext uri="{909E8E84-426E-40DD-AFC4-6F175D3DCCD1}">
              <a14:hiddenFill xmlns:a14="http://schemas.microsoft.com/office/drawing/2010/main">
                <a:solidFill>
                  <a:srgbClr val="FFFFFF"/>
                </a:solidFill>
              </a14:hiddenFill>
            </a:ext>
          </a:extLst>
        </p:spPr>
      </p:pic>
      <p:sp>
        <p:nvSpPr>
          <p:cNvPr id="728075" name="Text Box 11"/>
          <p:cNvSpPr txBox="1">
            <a:spLocks noChangeArrowheads="1"/>
          </p:cNvSpPr>
          <p:nvPr/>
        </p:nvSpPr>
        <p:spPr bwMode="auto">
          <a:xfrm>
            <a:off x="2053283" y="5491163"/>
            <a:ext cx="51830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smtClean="0">
                <a:solidFill>
                  <a:srgbClr val="990000"/>
                </a:solidFill>
                <a:latin typeface="Arial" charset="0"/>
                <a:ea typeface="宋体" charset="-122"/>
              </a:rPr>
              <a:t>表</a:t>
            </a:r>
            <a:r>
              <a:rPr lang="en-US" altLang="zh-CN" dirty="0" smtClean="0">
                <a:solidFill>
                  <a:srgbClr val="990000"/>
                </a:solidFill>
                <a:latin typeface="Arial" charset="0"/>
                <a:ea typeface="宋体" charset="-122"/>
              </a:rPr>
              <a:t>5.3  </a:t>
            </a:r>
            <a:r>
              <a:rPr lang="zh-CN" altLang="en-US" dirty="0" smtClean="0">
                <a:solidFill>
                  <a:srgbClr val="990000"/>
                </a:solidFill>
                <a:latin typeface="Arial" charset="0"/>
                <a:ea typeface="宋体" charset="-122"/>
              </a:rPr>
              <a:t>指令</a:t>
            </a:r>
            <a:r>
              <a:rPr lang="zh-CN" altLang="en-US" dirty="0" smtClean="0">
                <a:solidFill>
                  <a:srgbClr val="990000"/>
                </a:solidFill>
                <a:latin typeface="Arial" charset="0"/>
                <a:ea typeface="宋体" charset="-122"/>
              </a:rPr>
              <a:t>发生数据相关冲突</a:t>
            </a:r>
            <a:r>
              <a:rPr lang="zh-CN" altLang="en-US" b="0" dirty="0" smtClean="0">
                <a:solidFill>
                  <a:srgbClr val="990000"/>
                </a:solidFill>
                <a:latin typeface="Arial" charset="0"/>
                <a:ea typeface="宋体" charset="-122"/>
              </a:rPr>
              <a:t> </a:t>
            </a:r>
          </a:p>
        </p:txBody>
      </p:sp>
    </p:spTree>
    <p:extLst>
      <p:ext uri="{BB962C8B-B14F-4D97-AF65-F5344CB8AC3E}">
        <p14:creationId xmlns:p14="http://schemas.microsoft.com/office/powerpoint/2010/main" val="299865806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8074" name="Picture 10" descr="b5"/>
          <p:cNvPicPr>
            <a:picLocks noChangeAspect="1" noChangeArrowheads="1"/>
          </p:cNvPicPr>
          <p:nvPr/>
        </p:nvPicPr>
        <p:blipFill>
          <a:blip r:embed="rId2">
            <a:extLst>
              <a:ext uri="{28A0092B-C50C-407E-A947-70E740481C1C}">
                <a14:useLocalDpi xmlns:a14="http://schemas.microsoft.com/office/drawing/2010/main" val="0"/>
              </a:ext>
            </a:extLst>
          </a:blip>
          <a:srcRect r="1740" b="24803"/>
          <a:stretch>
            <a:fillRect/>
          </a:stretch>
        </p:blipFill>
        <p:spPr bwMode="auto">
          <a:xfrm>
            <a:off x="57150" y="3645743"/>
            <a:ext cx="9036050" cy="3095625"/>
          </a:xfrm>
          <a:prstGeom prst="rect">
            <a:avLst/>
          </a:prstGeom>
          <a:noFill/>
          <a:extLst>
            <a:ext uri="{909E8E84-426E-40DD-AFC4-6F175D3DCCD1}">
              <a14:hiddenFill xmlns:a14="http://schemas.microsoft.com/office/drawing/2010/main">
                <a:solidFill>
                  <a:srgbClr val="FFFFFF"/>
                </a:solidFill>
              </a14:hiddenFill>
            </a:ext>
          </a:extLst>
        </p:spPr>
      </p:pic>
      <p:sp>
        <p:nvSpPr>
          <p:cNvPr id="728075" name="Text Box 11"/>
          <p:cNvSpPr txBox="1">
            <a:spLocks noChangeArrowheads="1"/>
          </p:cNvSpPr>
          <p:nvPr/>
        </p:nvSpPr>
        <p:spPr bwMode="auto">
          <a:xfrm>
            <a:off x="1403649" y="6212731"/>
            <a:ext cx="70567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smtClean="0">
                <a:solidFill>
                  <a:srgbClr val="990000"/>
                </a:solidFill>
                <a:latin typeface="Arial" charset="0"/>
                <a:ea typeface="宋体" charset="-122"/>
              </a:rPr>
              <a:t>表</a:t>
            </a:r>
            <a:r>
              <a:rPr lang="en-US" altLang="zh-CN" dirty="0" smtClean="0">
                <a:solidFill>
                  <a:srgbClr val="990000"/>
                </a:solidFill>
                <a:latin typeface="Arial" charset="0"/>
                <a:ea typeface="宋体" charset="-122"/>
              </a:rPr>
              <a:t>5.3  </a:t>
            </a:r>
            <a:r>
              <a:rPr lang="zh-CN" altLang="en-US" dirty="0" smtClean="0">
                <a:solidFill>
                  <a:srgbClr val="990000"/>
                </a:solidFill>
                <a:latin typeface="Arial" charset="0"/>
                <a:ea typeface="宋体" charset="-122"/>
              </a:rPr>
              <a:t>指令</a:t>
            </a:r>
            <a:r>
              <a:rPr lang="zh-CN" altLang="en-US" dirty="0" smtClean="0">
                <a:solidFill>
                  <a:srgbClr val="990000"/>
                </a:solidFill>
                <a:latin typeface="Arial" charset="0"/>
                <a:ea typeface="宋体" charset="-122"/>
              </a:rPr>
              <a:t>发生数据相关冲突</a:t>
            </a:r>
            <a:r>
              <a:rPr lang="zh-CN" altLang="en-US" b="0" dirty="0" smtClean="0">
                <a:solidFill>
                  <a:srgbClr val="990000"/>
                </a:solidFill>
                <a:latin typeface="Arial" charset="0"/>
                <a:ea typeface="宋体" charset="-122"/>
              </a:rPr>
              <a:t> </a:t>
            </a:r>
          </a:p>
        </p:txBody>
      </p:sp>
      <p:sp>
        <p:nvSpPr>
          <p:cNvPr id="7" name="Rectangle 3"/>
          <p:cNvSpPr>
            <a:spLocks noGrp="1" noChangeArrowheads="1"/>
          </p:cNvSpPr>
          <p:nvPr>
            <p:ph type="body" sz="half" idx="1"/>
          </p:nvPr>
        </p:nvSpPr>
        <p:spPr>
          <a:xfrm>
            <a:off x="362743" y="115913"/>
            <a:ext cx="8424863" cy="3601119"/>
          </a:xfrm>
        </p:spPr>
        <p:txBody>
          <a:bodyPr/>
          <a:lstStyle/>
          <a:p>
            <a:pPr marL="0" indent="720000" defTabSz="720000">
              <a:spcBef>
                <a:spcPct val="5000"/>
              </a:spcBef>
              <a:buFontTx/>
              <a:buNone/>
            </a:pPr>
            <a:r>
              <a:rPr lang="zh-CN" altLang="en-US" sz="2800" b="1" dirty="0" smtClean="0">
                <a:solidFill>
                  <a:schemeClr val="accent2"/>
                </a:solidFill>
                <a:latin typeface="Comic Sans MS" pitchFamily="66" charset="0"/>
                <a:ea typeface="楷体_GB2312" pitchFamily="49" charset="-122"/>
              </a:rPr>
              <a:t>有表</a:t>
            </a:r>
            <a:r>
              <a:rPr lang="en-US" altLang="zh-CN" sz="2800" b="1" dirty="0" smtClean="0">
                <a:solidFill>
                  <a:schemeClr val="accent2"/>
                </a:solidFill>
                <a:latin typeface="Comic Sans MS" pitchFamily="66" charset="0"/>
                <a:ea typeface="楷体_GB2312" pitchFamily="49" charset="-122"/>
              </a:rPr>
              <a:t>5.3</a:t>
            </a:r>
            <a:r>
              <a:rPr lang="zh-CN" altLang="en-US" sz="2800" b="1" dirty="0" smtClean="0">
                <a:solidFill>
                  <a:schemeClr val="accent2"/>
                </a:solidFill>
                <a:latin typeface="Comic Sans MS" pitchFamily="66" charset="0"/>
                <a:ea typeface="楷体_GB2312" pitchFamily="49" charset="-122"/>
              </a:rPr>
              <a:t>可以</a:t>
            </a:r>
            <a:r>
              <a:rPr lang="zh-CN" altLang="en-US" sz="2800" b="1" dirty="0" smtClean="0">
                <a:solidFill>
                  <a:schemeClr val="accent2"/>
                </a:solidFill>
                <a:latin typeface="Comic Sans MS" pitchFamily="66" charset="0"/>
                <a:ea typeface="楷体_GB2312" pitchFamily="49" charset="-122"/>
              </a:rPr>
              <a:t>看出，</a:t>
            </a:r>
            <a:r>
              <a:rPr lang="en-US" altLang="zh-CN" sz="2800" b="1" dirty="0" smtClean="0">
                <a:solidFill>
                  <a:schemeClr val="accent2"/>
                </a:solidFill>
                <a:latin typeface="Comic Sans MS" pitchFamily="66" charset="0"/>
                <a:ea typeface="楷体_GB2312" pitchFamily="49" charset="-122"/>
              </a:rPr>
              <a:t> ADD</a:t>
            </a:r>
            <a:r>
              <a:rPr lang="zh-CN" altLang="en-US" sz="2800" b="1" dirty="0" smtClean="0">
                <a:solidFill>
                  <a:schemeClr val="accent2"/>
                </a:solidFill>
                <a:latin typeface="Comic Sans MS" pitchFamily="66" charset="0"/>
                <a:ea typeface="楷体_GB2312" pitchFamily="49" charset="-122"/>
              </a:rPr>
              <a:t>指令在时钟</a:t>
            </a:r>
            <a:r>
              <a:rPr lang="en-US" altLang="zh-CN" sz="2800" b="1" dirty="0" smtClean="0">
                <a:solidFill>
                  <a:schemeClr val="accent2"/>
                </a:solidFill>
                <a:latin typeface="Comic Sans MS" pitchFamily="66" charset="0"/>
                <a:ea typeface="楷体_GB2312" pitchFamily="49" charset="-122"/>
              </a:rPr>
              <a:t>5</a:t>
            </a:r>
            <a:r>
              <a:rPr lang="zh-CN" altLang="en-US" sz="2800" b="1" dirty="0" smtClean="0">
                <a:solidFill>
                  <a:schemeClr val="accent2"/>
                </a:solidFill>
                <a:latin typeface="Comic Sans MS" pitchFamily="66" charset="0"/>
                <a:ea typeface="楷体_GB2312" pitchFamily="49" charset="-122"/>
              </a:rPr>
              <a:t>时将运算结果写入寄存器堆（</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），但</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指令在时钟</a:t>
            </a:r>
            <a:r>
              <a:rPr lang="en-US" altLang="zh-CN" sz="2800" b="1" dirty="0" smtClean="0">
                <a:solidFill>
                  <a:schemeClr val="accent2"/>
                </a:solidFill>
                <a:latin typeface="Comic Sans MS" pitchFamily="66" charset="0"/>
                <a:ea typeface="楷体_GB2312" pitchFamily="49" charset="-122"/>
              </a:rPr>
              <a:t>4</a:t>
            </a:r>
            <a:r>
              <a:rPr lang="zh-CN" altLang="en-US" sz="2800" b="1" dirty="0" smtClean="0">
                <a:solidFill>
                  <a:schemeClr val="accent2"/>
                </a:solidFill>
                <a:latin typeface="Comic Sans MS" pitchFamily="66" charset="0"/>
                <a:ea typeface="楷体_GB2312" pitchFamily="49" charset="-122"/>
              </a:rPr>
              <a:t>时读寄存器堆（</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）到</a:t>
            </a:r>
            <a:r>
              <a:rPr lang="en-US" altLang="zh-CN" sz="2800" b="1" dirty="0" smtClean="0">
                <a:solidFill>
                  <a:schemeClr val="accent2"/>
                </a:solidFill>
                <a:latin typeface="Comic Sans MS" pitchFamily="66" charset="0"/>
                <a:ea typeface="楷体_GB2312" pitchFamily="49" charset="-122"/>
              </a:rPr>
              <a:t>ALU</a:t>
            </a:r>
            <a:r>
              <a:rPr lang="zh-CN" altLang="en-US" sz="2800" b="1" dirty="0" smtClean="0">
                <a:solidFill>
                  <a:schemeClr val="accent2"/>
                </a:solidFill>
                <a:latin typeface="Comic Sans MS" pitchFamily="66" charset="0"/>
                <a:ea typeface="楷体_GB2312" pitchFamily="49" charset="-122"/>
              </a:rPr>
              <a:t>运算，</a:t>
            </a:r>
            <a:r>
              <a:rPr lang="en-US" altLang="zh-CN" sz="2800" b="1" dirty="0" smtClean="0">
                <a:solidFill>
                  <a:schemeClr val="accent2"/>
                </a:solidFill>
                <a:latin typeface="Comic Sans MS" pitchFamily="66" charset="0"/>
                <a:ea typeface="楷体_GB2312" pitchFamily="49" charset="-122"/>
              </a:rPr>
              <a:t>AND</a:t>
            </a:r>
            <a:r>
              <a:rPr lang="zh-CN" altLang="en-US" sz="2800" b="1" dirty="0" smtClean="0">
                <a:solidFill>
                  <a:schemeClr val="accent2"/>
                </a:solidFill>
                <a:latin typeface="Comic Sans MS" pitchFamily="66" charset="0"/>
                <a:ea typeface="楷体_GB2312" pitchFamily="49" charset="-122"/>
              </a:rPr>
              <a:t>指令在时钟</a:t>
            </a:r>
            <a:r>
              <a:rPr lang="en-US" altLang="zh-CN" sz="2800" b="1" dirty="0" smtClean="0">
                <a:solidFill>
                  <a:schemeClr val="accent2"/>
                </a:solidFill>
                <a:latin typeface="Comic Sans MS" pitchFamily="66" charset="0"/>
                <a:ea typeface="楷体_GB2312" pitchFamily="49" charset="-122"/>
              </a:rPr>
              <a:t>5</a:t>
            </a:r>
            <a:r>
              <a:rPr lang="zh-CN" altLang="en-US" sz="2800" b="1" dirty="0" smtClean="0">
                <a:solidFill>
                  <a:schemeClr val="accent2"/>
                </a:solidFill>
                <a:latin typeface="Comic Sans MS" pitchFamily="66" charset="0"/>
                <a:ea typeface="楷体_GB2312" pitchFamily="49" charset="-122"/>
              </a:rPr>
              <a:t>市读寄存器堆（</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）。本来</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指令应该先写 </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指令后读</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，结果变成</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指令先读</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baseline="-25000"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指令后写</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baseline="-25000" dirty="0" smtClean="0">
                <a:solidFill>
                  <a:schemeClr val="accent2"/>
                </a:solidFill>
                <a:latin typeface="Comic Sans MS" pitchFamily="66" charset="0"/>
                <a:ea typeface="楷体_GB2312" pitchFamily="49" charset="-122"/>
              </a:rPr>
              <a:t>。</a:t>
            </a:r>
            <a:r>
              <a:rPr lang="zh-CN" altLang="en-US" sz="2800" b="1" dirty="0" smtClean="0">
                <a:solidFill>
                  <a:schemeClr val="accent2"/>
                </a:solidFill>
                <a:latin typeface="Comic Sans MS" pitchFamily="66" charset="0"/>
                <a:ea typeface="楷体_GB2312" pitchFamily="49" charset="-122"/>
              </a:rPr>
              <a:t>因而发生了</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两条指令间先读后写的数据相关冲突；</a:t>
            </a:r>
            <a:r>
              <a:rPr lang="en-US" altLang="zh-CN" sz="2800" b="1" dirty="0" smtClean="0">
                <a:solidFill>
                  <a:schemeClr val="accent2"/>
                </a:solidFill>
                <a:latin typeface="Comic Sans MS" pitchFamily="66" charset="0"/>
                <a:ea typeface="楷体_GB2312" pitchFamily="49" charset="-122"/>
              </a:rPr>
              <a:t>AND</a:t>
            </a:r>
            <a:r>
              <a:rPr lang="zh-CN" altLang="en-US" sz="2800" b="1"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两条指令间发生了同时读写数据的相关冲突。</a:t>
            </a:r>
            <a:endParaRPr lang="zh-CN" altLang="en-US" sz="2800" b="1" dirty="0">
              <a:solidFill>
                <a:schemeClr val="accent2"/>
              </a:solidFill>
              <a:latin typeface="Comic Sans MS" pitchFamily="66" charset="0"/>
              <a:ea typeface="楷体_GB2312" pitchFamily="49" charset="-122"/>
            </a:endParaRPr>
          </a:p>
        </p:txBody>
      </p:sp>
    </p:spTree>
    <p:extLst>
      <p:ext uri="{BB962C8B-B14F-4D97-AF65-F5344CB8AC3E}">
        <p14:creationId xmlns:p14="http://schemas.microsoft.com/office/powerpoint/2010/main" val="57015230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解决</a:t>
            </a:r>
            <a:r>
              <a:rPr lang="zh-CN" altLang="en-US" sz="2800" dirty="0">
                <a:solidFill>
                  <a:srgbClr val="000000"/>
                </a:solidFill>
                <a:latin typeface="楷体_GB2312" pitchFamily="49" charset="-122"/>
                <a:ea typeface="楷体_GB2312" pitchFamily="49" charset="-122"/>
              </a:rPr>
              <a:t>数据相关冲突的办法是：</a:t>
            </a: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流水</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的运算器中设置若干运算结果缓冲寄存器，暂时保留运算结果，以便于后继指令直接使用，这称为“向前”或定向传送技术。</a:t>
            </a:r>
            <a:r>
              <a:rPr lang="en-US" altLang="zh-CN" sz="2800" dirty="0" smtClean="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2264593110"/>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title"/>
          </p:nvPr>
        </p:nvSpPr>
        <p:spPr>
          <a:xfrm>
            <a:off x="395288" y="188913"/>
            <a:ext cx="8229600" cy="792162"/>
          </a:xfrm>
        </p:spPr>
        <p:txBody>
          <a:bodyPr/>
          <a:lstStyle/>
          <a:p>
            <a:pPr algn="l"/>
            <a:r>
              <a:rPr lang="en-US" altLang="zh-CN" sz="3600" b="1">
                <a:solidFill>
                  <a:srgbClr val="FF0000"/>
                </a:solidFill>
                <a:latin typeface="Arial Unicode MS" pitchFamily="34" charset="-122"/>
                <a:ea typeface="楷体_GB2312" pitchFamily="49" charset="-122"/>
              </a:rPr>
              <a:t>3. </a:t>
            </a:r>
            <a:r>
              <a:rPr lang="zh-CN" altLang="en-US" sz="3600" b="1">
                <a:solidFill>
                  <a:srgbClr val="FF0000"/>
                </a:solidFill>
                <a:latin typeface="Arial Unicode MS" pitchFamily="34" charset="-122"/>
                <a:ea typeface="楷体_GB2312" pitchFamily="49" charset="-122"/>
              </a:rPr>
              <a:t>控制相关</a:t>
            </a:r>
          </a:p>
        </p:txBody>
      </p:sp>
      <p:sp>
        <p:nvSpPr>
          <p:cNvPr id="731139" name="Rectangle 3"/>
          <p:cNvSpPr>
            <a:spLocks noGrp="1" noChangeArrowheads="1"/>
          </p:cNvSpPr>
          <p:nvPr>
            <p:ph type="body" sz="half" idx="1"/>
          </p:nvPr>
        </p:nvSpPr>
        <p:spPr>
          <a:xfrm>
            <a:off x="304800" y="1196975"/>
            <a:ext cx="8496300" cy="4918075"/>
          </a:xfrm>
        </p:spPr>
        <p:txBody>
          <a:bodyPr/>
          <a:lstStyle/>
          <a:p>
            <a:pPr marL="533400" indent="-533400">
              <a:buClr>
                <a:schemeClr val="accent2"/>
              </a:buClr>
              <a:buFont typeface="Wingdings" pitchFamily="2" charset="2"/>
              <a:buChar char="ü"/>
            </a:pPr>
            <a:r>
              <a:rPr lang="zh-CN" altLang="en-US" b="1" u="sng">
                <a:solidFill>
                  <a:srgbClr val="000000"/>
                </a:solidFill>
                <a:latin typeface="Arial Unicode MS" pitchFamily="34" charset="-122"/>
                <a:ea typeface="楷体_GB2312" pitchFamily="49" charset="-122"/>
              </a:rPr>
              <a:t>控制相关</a:t>
            </a:r>
            <a:r>
              <a:rPr lang="zh-CN" altLang="en-US" b="1">
                <a:solidFill>
                  <a:srgbClr val="000000"/>
                </a:solidFill>
                <a:latin typeface="Arial Unicode MS" pitchFamily="34" charset="-122"/>
                <a:ea typeface="楷体_GB2312" pitchFamily="49" charset="-122"/>
              </a:rPr>
              <a:t>冲突由</a:t>
            </a:r>
            <a:r>
              <a:rPr lang="zh-CN" altLang="en-US" b="1">
                <a:solidFill>
                  <a:srgbClr val="0000FF"/>
                </a:solidFill>
                <a:latin typeface="Arial Unicode MS" pitchFamily="34" charset="-122"/>
                <a:ea typeface="楷体_GB2312" pitchFamily="49" charset="-122"/>
              </a:rPr>
              <a:t>转移指令（分支指令）</a:t>
            </a:r>
            <a:r>
              <a:rPr lang="zh-CN" altLang="en-US" b="1">
                <a:solidFill>
                  <a:srgbClr val="000000"/>
                </a:solidFill>
                <a:latin typeface="Arial Unicode MS" pitchFamily="34" charset="-122"/>
                <a:ea typeface="楷体_GB2312" pitchFamily="49" charset="-122"/>
              </a:rPr>
              <a:t>引起</a:t>
            </a:r>
          </a:p>
          <a:p>
            <a:pPr marL="533400" indent="-533400">
              <a:buClr>
                <a:schemeClr val="accent2"/>
              </a:buClr>
              <a:buFont typeface="Wingdings" pitchFamily="2" charset="2"/>
              <a:buChar char="ü"/>
            </a:pPr>
            <a:r>
              <a:rPr lang="zh-CN" altLang="en-US" b="1">
                <a:solidFill>
                  <a:srgbClr val="000000"/>
                </a:solidFill>
                <a:latin typeface="Arial Unicode MS" pitchFamily="34" charset="-122"/>
                <a:ea typeface="楷体_GB2312" pitchFamily="49" charset="-122"/>
              </a:rPr>
              <a:t>执行转移指令时，依据转移条件的产生结果</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可能为顺序取下条指令</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也可能转移到新的目标地址取指令</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地址不定，流水线需要暂停、</a:t>
            </a:r>
            <a:r>
              <a:rPr lang="zh-CN" altLang="en-US" b="1" u="sng">
                <a:solidFill>
                  <a:srgbClr val="000000"/>
                </a:solidFill>
                <a:latin typeface="Arial Unicode MS" pitchFamily="34" charset="-122"/>
                <a:ea typeface="楷体_GB2312" pitchFamily="49" charset="-122"/>
              </a:rPr>
              <a:t>发生断流</a:t>
            </a:r>
            <a:endParaRPr lang="zh-CN" altLang="en-US" b="1">
              <a:solidFill>
                <a:srgbClr val="000000"/>
              </a:solidFill>
              <a:latin typeface="Arial Unicode MS" pitchFamily="34" charset="-122"/>
              <a:ea typeface="楷体_GB2312" pitchFamily="49" charset="-122"/>
            </a:endParaRPr>
          </a:p>
          <a:p>
            <a:pPr marL="533400" indent="-533400">
              <a:buClr>
                <a:schemeClr val="accent2"/>
              </a:buClr>
              <a:buFont typeface="Wingdings" pitchFamily="2" charset="2"/>
              <a:buChar char="ü"/>
            </a:pPr>
            <a:r>
              <a:rPr lang="zh-CN" altLang="en-US" b="1">
                <a:solidFill>
                  <a:srgbClr val="0000FF"/>
                </a:solidFill>
                <a:latin typeface="Arial Unicode MS" pitchFamily="34" charset="-122"/>
                <a:ea typeface="楷体_GB2312" pitchFamily="49" charset="-122"/>
              </a:rPr>
              <a:t>转移指令</a:t>
            </a:r>
            <a:r>
              <a:rPr lang="zh-CN" altLang="en-US" b="1">
                <a:solidFill>
                  <a:srgbClr val="000000"/>
                </a:solidFill>
                <a:latin typeface="Arial Unicode MS" pitchFamily="34" charset="-122"/>
                <a:ea typeface="楷体_GB2312" pitchFamily="49" charset="-122"/>
              </a:rPr>
              <a:t>主要有：</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无条件转移指令：跳转、过程调用和返回</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条件分支指令   </a:t>
            </a:r>
          </a:p>
        </p:txBody>
      </p:sp>
    </p:spTree>
    <p:extLst>
      <p:ext uri="{BB962C8B-B14F-4D97-AF65-F5344CB8AC3E}">
        <p14:creationId xmlns:p14="http://schemas.microsoft.com/office/powerpoint/2010/main" val="390478749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为了</a:t>
            </a:r>
            <a:r>
              <a:rPr lang="zh-CN" altLang="en-US" sz="2800" dirty="0">
                <a:solidFill>
                  <a:srgbClr val="000000"/>
                </a:solidFill>
                <a:latin typeface="楷体_GB2312" pitchFamily="49" charset="-122"/>
                <a:ea typeface="楷体_GB2312" pitchFamily="49" charset="-122"/>
              </a:rPr>
              <a:t>减小转移指令对流水线性能的影响，常用以下两种转移处理技术： </a:t>
            </a:r>
          </a:p>
          <a:p>
            <a:pPr defTabSz="720000"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延迟</a:t>
            </a:r>
            <a:r>
              <a:rPr lang="zh-CN" altLang="en-US" sz="2800" dirty="0">
                <a:solidFill>
                  <a:srgbClr val="000000"/>
                </a:solidFill>
                <a:latin typeface="楷体_GB2312" pitchFamily="49" charset="-122"/>
                <a:ea typeface="楷体_GB2312" pitchFamily="49" charset="-122"/>
              </a:rPr>
              <a:t>转移</a:t>
            </a:r>
            <a:r>
              <a:rPr lang="zh-CN" altLang="en-US" sz="2800" dirty="0" smtClean="0">
                <a:solidFill>
                  <a:srgbClr val="000000"/>
                </a:solidFill>
                <a:latin typeface="楷体_GB2312" pitchFamily="49" charset="-122"/>
                <a:ea typeface="楷体_GB2312" pitchFamily="49" charset="-122"/>
              </a:rPr>
              <a:t>法：</a:t>
            </a:r>
            <a:r>
              <a:rPr lang="zh-CN" altLang="en-US" sz="2800" dirty="0">
                <a:solidFill>
                  <a:srgbClr val="000000"/>
                </a:solidFill>
                <a:latin typeface="楷体_GB2312" pitchFamily="49" charset="-122"/>
                <a:ea typeface="楷体_GB2312" pitchFamily="49" charset="-122"/>
              </a:rPr>
              <a:t>由编译程序重排指令序列来实现。基本思想是“先执行再转移”，即发生转移取时并不排空指令流水线，而是让紧跟在转移指令</a:t>
            </a:r>
            <a:r>
              <a:rPr lang="en-US" altLang="zh-CN" sz="2800" dirty="0" err="1">
                <a:solidFill>
                  <a:srgbClr val="000000"/>
                </a:solidFill>
                <a:latin typeface="楷体_GB2312" pitchFamily="49" charset="-122"/>
                <a:ea typeface="楷体_GB2312" pitchFamily="49" charset="-122"/>
              </a:rPr>
              <a:t>Ib</a:t>
            </a:r>
            <a:r>
              <a:rPr lang="zh-CN" altLang="en-US" sz="2800" dirty="0">
                <a:solidFill>
                  <a:srgbClr val="000000"/>
                </a:solidFill>
                <a:latin typeface="楷体_GB2312" pitchFamily="49" charset="-122"/>
                <a:ea typeface="楷体_GB2312" pitchFamily="49" charset="-122"/>
              </a:rPr>
              <a:t>之后已进入流水线 的少数几条指令继续完成。如果这些指令是与</a:t>
            </a:r>
            <a:r>
              <a:rPr lang="en-US" altLang="zh-CN" sz="2800" dirty="0" err="1">
                <a:solidFill>
                  <a:srgbClr val="000000"/>
                </a:solidFill>
                <a:latin typeface="楷体_GB2312" pitchFamily="49" charset="-122"/>
                <a:ea typeface="楷体_GB2312" pitchFamily="49" charset="-122"/>
              </a:rPr>
              <a:t>Ib</a:t>
            </a:r>
            <a:r>
              <a:rPr lang="zh-CN" altLang="en-US" sz="2800" dirty="0">
                <a:solidFill>
                  <a:srgbClr val="000000"/>
                </a:solidFill>
                <a:latin typeface="楷体_GB2312" pitchFamily="49" charset="-122"/>
                <a:ea typeface="楷体_GB2312" pitchFamily="49" charset="-122"/>
              </a:rPr>
              <a:t>结果无关的有用指令，那么延迟损失时间片正好得到了有效的利用。 </a:t>
            </a:r>
          </a:p>
          <a:p>
            <a:pPr eaLnBrk="1" hangingPunct="1">
              <a:buNone/>
            </a:pPr>
            <a:r>
              <a:rPr lang="en-US" altLang="zh-CN"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93190893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defTabSz="720000"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转移</a:t>
            </a:r>
            <a:r>
              <a:rPr lang="zh-CN" altLang="en-US" sz="2800" dirty="0">
                <a:solidFill>
                  <a:srgbClr val="000000"/>
                </a:solidFill>
                <a:latin typeface="楷体_GB2312" pitchFamily="49" charset="-122"/>
                <a:ea typeface="楷体_GB2312" pitchFamily="49" charset="-122"/>
              </a:rPr>
              <a:t>预测法 ：用硬件方法来实现，依据指令过去的行为来预测将来的行为。通过使用</a:t>
            </a:r>
            <a:r>
              <a:rPr lang="zh-CN" altLang="en-US" sz="2800" b="1" dirty="0">
                <a:solidFill>
                  <a:srgbClr val="000000"/>
                </a:solidFill>
                <a:latin typeface="楷体_GB2312" pitchFamily="49" charset="-122"/>
                <a:ea typeface="楷体_GB2312" pitchFamily="49" charset="-122"/>
              </a:rPr>
              <a:t>转移取和顺序</a:t>
            </a:r>
            <a:r>
              <a:rPr lang="zh-CN" altLang="en-US" sz="2800" b="1" dirty="0" smtClean="0">
                <a:solidFill>
                  <a:srgbClr val="000000"/>
                </a:solidFill>
                <a:latin typeface="楷体_GB2312" pitchFamily="49" charset="-122"/>
                <a:ea typeface="楷体_GB2312" pitchFamily="49" charset="-122"/>
              </a:rPr>
              <a:t>取两</a:t>
            </a:r>
            <a:r>
              <a:rPr lang="zh-CN" altLang="en-US" sz="2800" b="1" dirty="0">
                <a:solidFill>
                  <a:srgbClr val="000000"/>
                </a:solidFill>
                <a:latin typeface="楷体_GB2312" pitchFamily="49" charset="-122"/>
                <a:ea typeface="楷体_GB2312" pitchFamily="49" charset="-122"/>
              </a:rPr>
              <a:t>路指令预取队列器以及目标指令</a:t>
            </a:r>
            <a:r>
              <a:rPr lang="en-US" altLang="zh-CN" sz="2800" b="1" dirty="0">
                <a:solidFill>
                  <a:srgbClr val="000000"/>
                </a:solidFill>
                <a:latin typeface="楷体_GB2312" pitchFamily="49" charset="-122"/>
                <a:ea typeface="楷体_GB2312" pitchFamily="49" charset="-122"/>
              </a:rPr>
              <a:t>cache</a:t>
            </a:r>
            <a:r>
              <a:rPr lang="zh-CN" altLang="en-US" sz="2800" dirty="0">
                <a:solidFill>
                  <a:srgbClr val="000000"/>
                </a:solidFill>
                <a:latin typeface="楷体_GB2312" pitchFamily="49" charset="-122"/>
                <a:ea typeface="楷体_GB2312" pitchFamily="49" charset="-122"/>
              </a:rPr>
              <a:t>，可将转移预测提前到取指阶段进行，以获得良好的效果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defTabSz="720000"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a:t>
            </a:r>
            <a:r>
              <a:rPr lang="en-US" altLang="zh-CN" sz="2800" dirty="0" err="1" smtClean="0">
                <a:solidFill>
                  <a:srgbClr val="000000"/>
                </a:solidFill>
                <a:latin typeface="楷体_GB2312" pitchFamily="49" charset="-122"/>
                <a:ea typeface="楷体_GB2312" pitchFamily="49" charset="-122"/>
              </a:rPr>
              <a:t>pentium</a:t>
            </a:r>
            <a:r>
              <a:rPr lang="en-US" altLang="zh-CN" sz="2800" dirty="0" smtClean="0">
                <a:solidFill>
                  <a:srgbClr val="000000"/>
                </a:solidFill>
                <a:latin typeface="楷体_GB2312" pitchFamily="49" charset="-122"/>
                <a:ea typeface="楷体_GB2312" pitchFamily="49" charset="-122"/>
              </a:rPr>
              <a:t> CPU</a:t>
            </a:r>
            <a:r>
              <a:rPr lang="zh-CN" altLang="en-US" sz="2800" dirty="0" smtClean="0">
                <a:solidFill>
                  <a:srgbClr val="000000"/>
                </a:solidFill>
                <a:latin typeface="楷体_GB2312" pitchFamily="49" charset="-122"/>
                <a:ea typeface="楷体_GB2312" pitchFamily="49" charset="-122"/>
              </a:rPr>
              <a:t>采用</a:t>
            </a:r>
            <a:r>
              <a:rPr lang="zh-CN" altLang="en-US" sz="2800" dirty="0">
                <a:solidFill>
                  <a:srgbClr val="000000"/>
                </a:solidFill>
                <a:latin typeface="楷体_GB2312" pitchFamily="49" charset="-122"/>
                <a:ea typeface="楷体_GB2312" pitchFamily="49" charset="-122"/>
              </a:rPr>
              <a:t>了动态转移预测技术。转移目标缓冲器</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一个小容量的</a:t>
            </a:r>
            <a:r>
              <a:rPr lang="en-US" altLang="zh-CN" sz="2800" dirty="0">
                <a:solidFill>
                  <a:srgbClr val="000000"/>
                </a:solidFill>
                <a:latin typeface="楷体_GB2312" pitchFamily="49" charset="-122"/>
                <a:ea typeface="楷体_GB2312" pitchFamily="49" charset="-122"/>
              </a:rPr>
              <a:t>cache</a:t>
            </a:r>
            <a:r>
              <a:rPr lang="zh-CN" altLang="en-US" sz="2800" dirty="0">
                <a:solidFill>
                  <a:srgbClr val="000000"/>
                </a:solidFill>
                <a:latin typeface="楷体_GB2312" pitchFamily="49" charset="-122"/>
                <a:ea typeface="楷体_GB2312" pitchFamily="49" charset="-122"/>
              </a:rPr>
              <a:t>。当一条指令导致程序转移时，</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便记录这条指令及其转移目标地址。以后遇到这条转移指令时，</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会依据前后转移发生的历史来预测该指令这次是转移取还是顺序取。若预测为转移取，则将</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记录的转移目标地址立即</a:t>
            </a:r>
            <a:r>
              <a:rPr lang="zh-CN" altLang="en-US" sz="2800" dirty="0" smtClean="0">
                <a:solidFill>
                  <a:srgbClr val="000000"/>
                </a:solidFill>
                <a:latin typeface="楷体_GB2312" pitchFamily="49" charset="-122"/>
                <a:ea typeface="楷体_GB2312" pitchFamily="49" charset="-122"/>
              </a:rPr>
              <a:t>送出使用</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336971540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body" sz="half" idx="1"/>
          </p:nvPr>
        </p:nvSpPr>
        <p:spPr>
          <a:xfrm>
            <a:off x="107950" y="476250"/>
            <a:ext cx="8893175" cy="6048375"/>
          </a:xfrm>
        </p:spPr>
        <p:txBody>
          <a:bodyPr/>
          <a:lstStyle/>
          <a:p>
            <a:pPr>
              <a:lnSpc>
                <a:spcPct val="120000"/>
              </a:lnSpc>
              <a:buFontTx/>
              <a:buNone/>
              <a:tabLst>
                <a:tab pos="4670425" algn="l"/>
              </a:tabLst>
            </a:pPr>
            <a:r>
              <a:rPr lang="en-US" altLang="zh-CN" sz="2800" b="1">
                <a:solidFill>
                  <a:srgbClr val="000000"/>
                </a:solidFill>
                <a:latin typeface="Comic Sans MS" pitchFamily="66" charset="0"/>
                <a:ea typeface="楷体_GB2312" pitchFamily="49" charset="-122"/>
              </a:rPr>
              <a:t> </a:t>
            </a:r>
            <a:r>
              <a:rPr lang="en-US" altLang="zh-CN" sz="2800" b="1">
                <a:solidFill>
                  <a:srgbClr val="0080FF"/>
                </a:solidFill>
                <a:latin typeface="Comic Sans MS" pitchFamily="66" charset="0"/>
                <a:ea typeface="楷体_GB2312" pitchFamily="49" charset="-122"/>
              </a:rPr>
              <a:t>【</a:t>
            </a:r>
            <a:r>
              <a:rPr lang="zh-CN" altLang="en-US" sz="2800" b="1">
                <a:solidFill>
                  <a:srgbClr val="0080FF"/>
                </a:solidFill>
                <a:latin typeface="Comic Sans MS" pitchFamily="66" charset="0"/>
                <a:ea typeface="楷体_GB2312" pitchFamily="49" charset="-122"/>
              </a:rPr>
              <a:t>例</a:t>
            </a:r>
            <a:r>
              <a:rPr lang="en-US" altLang="zh-CN" sz="2800" b="1">
                <a:solidFill>
                  <a:srgbClr val="0080FF"/>
                </a:solidFill>
                <a:latin typeface="Comic Sans MS" pitchFamily="66" charset="0"/>
                <a:ea typeface="楷体_GB2312" pitchFamily="49" charset="-122"/>
              </a:rPr>
              <a:t>5】</a:t>
            </a:r>
            <a:r>
              <a:rPr lang="zh-CN" altLang="en-US" sz="2800" b="1">
                <a:solidFill>
                  <a:srgbClr val="000000"/>
                </a:solidFill>
                <a:latin typeface="Comic Sans MS" pitchFamily="66" charset="0"/>
                <a:ea typeface="楷体_GB2312" pitchFamily="49" charset="-122"/>
              </a:rPr>
              <a:t>流水线中有三类数据相关冲突：写后读</a:t>
            </a:r>
            <a:r>
              <a:rPr lang="en-US" altLang="zh-CN" sz="2800" b="1">
                <a:solidFill>
                  <a:srgbClr val="000000"/>
                </a:solidFill>
                <a:latin typeface="Comic Sans MS" pitchFamily="66" charset="0"/>
                <a:ea typeface="楷体_GB2312" pitchFamily="49" charset="-122"/>
              </a:rPr>
              <a:t>(RAW)</a:t>
            </a:r>
            <a:r>
              <a:rPr lang="zh-CN" altLang="en-US" sz="2800" b="1">
                <a:solidFill>
                  <a:srgbClr val="000000"/>
                </a:solidFill>
                <a:latin typeface="Comic Sans MS" pitchFamily="66" charset="0"/>
                <a:ea typeface="楷体_GB2312" pitchFamily="49" charset="-122"/>
              </a:rPr>
              <a:t>相关；读后写</a:t>
            </a:r>
            <a:r>
              <a:rPr lang="en-US" altLang="zh-CN" sz="2800" b="1">
                <a:solidFill>
                  <a:srgbClr val="000000"/>
                </a:solidFill>
                <a:latin typeface="Comic Sans MS" pitchFamily="66" charset="0"/>
                <a:ea typeface="楷体_GB2312" pitchFamily="49" charset="-122"/>
              </a:rPr>
              <a:t>(WAR)</a:t>
            </a:r>
            <a:r>
              <a:rPr lang="zh-CN" altLang="en-US" sz="2800" b="1">
                <a:solidFill>
                  <a:srgbClr val="000000"/>
                </a:solidFill>
                <a:latin typeface="Comic Sans MS" pitchFamily="66" charset="0"/>
                <a:ea typeface="楷体_GB2312" pitchFamily="49" charset="-122"/>
              </a:rPr>
              <a:t>相关；写后写</a:t>
            </a:r>
            <a:r>
              <a:rPr lang="en-US" altLang="zh-CN" sz="2800" b="1">
                <a:solidFill>
                  <a:srgbClr val="000000"/>
                </a:solidFill>
                <a:latin typeface="Comic Sans MS" pitchFamily="66" charset="0"/>
                <a:ea typeface="楷体_GB2312" pitchFamily="49" charset="-122"/>
              </a:rPr>
              <a:t>(WAW)</a:t>
            </a:r>
            <a:r>
              <a:rPr lang="zh-CN" altLang="en-US" sz="2800" b="1">
                <a:solidFill>
                  <a:srgbClr val="000000"/>
                </a:solidFill>
                <a:latin typeface="Comic Sans MS" pitchFamily="66" charset="0"/>
                <a:ea typeface="楷体_GB2312" pitchFamily="49" charset="-122"/>
              </a:rPr>
              <a:t>相关</a:t>
            </a:r>
          </a:p>
          <a:p>
            <a:pPr>
              <a:lnSpc>
                <a:spcPct val="120000"/>
              </a:lnSpc>
              <a:spcBef>
                <a:spcPct val="50000"/>
              </a:spcBef>
              <a:buFontTx/>
              <a:buNone/>
              <a:tabLst>
                <a:tab pos="4670425" algn="l"/>
              </a:tabLst>
            </a:pPr>
            <a:r>
              <a:rPr lang="zh-CN" altLang="en-US" sz="2800" b="1">
                <a:solidFill>
                  <a:srgbClr val="000000"/>
                </a:solidFill>
                <a:latin typeface="Comic Sans MS" pitchFamily="66" charset="0"/>
                <a:ea typeface="楷体_GB2312" pitchFamily="49" charset="-122"/>
              </a:rPr>
              <a:t>⑴ </a:t>
            </a:r>
            <a:r>
              <a:rPr lang="en-US" altLang="zh-CN" sz="2800" b="1">
                <a:solidFill>
                  <a:srgbClr val="000000"/>
                </a:solidFill>
                <a:latin typeface="Comic Sans MS" pitchFamily="66" charset="0"/>
                <a:ea typeface="楷体_GB2312" pitchFamily="49" charset="-122"/>
              </a:rPr>
              <a:t>I1: ADD R1, R2, R3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R2</a:t>
            </a:r>
            <a:r>
              <a:rPr lang="zh-CN" altLang="en-US" sz="2800" b="1">
                <a:solidFill>
                  <a:srgbClr val="0000FF"/>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R3→</a:t>
            </a:r>
            <a:r>
              <a:rPr lang="en-US" altLang="zh-CN" sz="2800" b="1">
                <a:solidFill>
                  <a:srgbClr val="FF0000"/>
                </a:solidFill>
                <a:latin typeface="Comic Sans MS" pitchFamily="66" charset="0"/>
                <a:ea typeface="楷体_GB2312" pitchFamily="49" charset="-122"/>
              </a:rPr>
              <a:t>R1</a:t>
            </a:r>
            <a:r>
              <a:rPr lang="en-US" altLang="zh-CN" sz="2800" b="1">
                <a:solidFill>
                  <a:srgbClr val="FF8080"/>
                </a:solidFill>
                <a:latin typeface="Comic Sans MS" pitchFamily="66" charset="0"/>
                <a:ea typeface="楷体_GB2312" pitchFamily="49" charset="-122"/>
              </a:rPr>
              <a:t></a:t>
            </a:r>
            <a:r>
              <a:rPr lang="en-US" altLang="zh-CN" sz="2800" b="1">
                <a:solidFill>
                  <a:srgbClr val="000000"/>
                </a:solidFill>
                <a:latin typeface="Comic Sans MS" pitchFamily="66" charset="0"/>
                <a:ea typeface="楷体_GB2312" pitchFamily="49" charset="-122"/>
              </a:rPr>
              <a:t> </a:t>
            </a:r>
          </a:p>
          <a:p>
            <a:pPr>
              <a:lnSpc>
                <a:spcPct val="120000"/>
              </a:lnSpc>
              <a:buFontTx/>
              <a:buNone/>
              <a:tabLst>
                <a:tab pos="4670425" algn="l"/>
              </a:tabLst>
            </a:pPr>
            <a:r>
              <a:rPr lang="en-US" altLang="zh-CN" sz="2800" b="1">
                <a:solidFill>
                  <a:srgbClr val="000000"/>
                </a:solidFill>
                <a:latin typeface="Comic Sans MS" pitchFamily="66" charset="0"/>
                <a:ea typeface="楷体_GB2312" pitchFamily="49" charset="-122"/>
              </a:rPr>
              <a:t>   I2: SUB R4, R1, R5	</a:t>
            </a:r>
            <a:r>
              <a:rPr lang="zh-CN" altLang="en-US" sz="2800" b="1">
                <a:solidFill>
                  <a:srgbClr val="000000"/>
                </a:solidFill>
                <a:latin typeface="Comic Sans MS" pitchFamily="66" charset="0"/>
                <a:ea typeface="楷体_GB2312" pitchFamily="49" charset="-122"/>
              </a:rPr>
              <a:t>；</a:t>
            </a:r>
            <a:r>
              <a:rPr lang="en-US" altLang="zh-CN" sz="2800" b="1">
                <a:solidFill>
                  <a:srgbClr val="FF0000"/>
                </a:solidFill>
                <a:latin typeface="Comic Sans MS" pitchFamily="66" charset="0"/>
                <a:ea typeface="楷体_GB2312" pitchFamily="49" charset="-122"/>
              </a:rPr>
              <a:t>R1</a:t>
            </a:r>
            <a:r>
              <a:rPr lang="zh-CN" altLang="en-US" sz="2800" b="1">
                <a:solidFill>
                  <a:srgbClr val="FF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R5→R4</a:t>
            </a:r>
            <a:r>
              <a:rPr lang="en-US" altLang="zh-CN" sz="2800" b="1">
                <a:solidFill>
                  <a:srgbClr val="FF8080"/>
                </a:solidFill>
                <a:latin typeface="Comic Sans MS" pitchFamily="66" charset="0"/>
                <a:ea typeface="楷体_GB2312" pitchFamily="49" charset="-122"/>
              </a:rPr>
              <a:t> </a:t>
            </a:r>
          </a:p>
          <a:p>
            <a:pPr>
              <a:lnSpc>
                <a:spcPct val="120000"/>
              </a:lnSpc>
              <a:spcBef>
                <a:spcPct val="50000"/>
              </a:spcBef>
              <a:buFontTx/>
              <a:buNone/>
              <a:tabLst>
                <a:tab pos="4670425" algn="l"/>
              </a:tabLst>
            </a:pPr>
            <a:r>
              <a:rPr lang="en-US" altLang="zh-CN" sz="2800" b="1">
                <a:solidFill>
                  <a:srgbClr val="000000"/>
                </a:solidFill>
                <a:latin typeface="Comic Sans MS" pitchFamily="66" charset="0"/>
                <a:ea typeface="楷体_GB2312" pitchFamily="49" charset="-122"/>
              </a:rPr>
              <a:t>⑵ I3: STA M(x), R3	</a:t>
            </a:r>
            <a:r>
              <a:rPr lang="zh-CN" altLang="en-US" sz="2800" b="1">
                <a:solidFill>
                  <a:srgbClr val="000000"/>
                </a:solidFill>
                <a:latin typeface="Comic Sans MS" pitchFamily="66" charset="0"/>
                <a:ea typeface="楷体_GB2312" pitchFamily="49" charset="-122"/>
              </a:rPr>
              <a:t>；</a:t>
            </a:r>
            <a:r>
              <a:rPr lang="en-US" altLang="zh-CN" sz="2800" b="1">
                <a:solidFill>
                  <a:srgbClr val="FF0000"/>
                </a:solidFill>
                <a:latin typeface="Comic Sans MS" pitchFamily="66" charset="0"/>
                <a:ea typeface="楷体_GB2312" pitchFamily="49" charset="-122"/>
              </a:rPr>
              <a:t>R3</a:t>
            </a:r>
            <a:r>
              <a:rPr lang="en-US" altLang="zh-CN" sz="2800" b="1">
                <a:solidFill>
                  <a:srgbClr val="0000FF"/>
                </a:solidFill>
                <a:latin typeface="Comic Sans MS" pitchFamily="66" charset="0"/>
                <a:ea typeface="楷体_GB2312" pitchFamily="49" charset="-122"/>
              </a:rPr>
              <a:t>→M(x)</a:t>
            </a:r>
          </a:p>
          <a:p>
            <a:pPr>
              <a:lnSpc>
                <a:spcPct val="120000"/>
              </a:lnSpc>
              <a:buFontTx/>
              <a:buNone/>
              <a:tabLst>
                <a:tab pos="4670425" algn="l"/>
              </a:tabLst>
            </a:pPr>
            <a:r>
              <a:rPr lang="en-US" altLang="zh-CN" sz="2800" b="1">
                <a:solidFill>
                  <a:srgbClr val="0000FF"/>
                </a:solidFill>
                <a:latin typeface="Comic Sans MS" pitchFamily="66" charset="0"/>
                <a:ea typeface="楷体_GB2312" pitchFamily="49" charset="-122"/>
              </a:rPr>
              <a:t>	 </a:t>
            </a:r>
            <a:r>
              <a:rPr lang="en-US" altLang="zh-CN" sz="2800" b="1">
                <a:solidFill>
                  <a:srgbClr val="000000"/>
                </a:solidFill>
                <a:latin typeface="Comic Sans MS" pitchFamily="66" charset="0"/>
                <a:ea typeface="楷体_GB2312" pitchFamily="49" charset="-122"/>
              </a:rPr>
              <a:t>I4: ADD R3, R4, R5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R4</a:t>
            </a:r>
            <a:r>
              <a:rPr lang="zh-CN" altLang="en-US" sz="2800" b="1">
                <a:solidFill>
                  <a:srgbClr val="0000FF"/>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R5→</a:t>
            </a:r>
            <a:r>
              <a:rPr lang="en-US" altLang="zh-CN" sz="2800" b="1">
                <a:solidFill>
                  <a:srgbClr val="FF0000"/>
                </a:solidFill>
                <a:latin typeface="Comic Sans MS" pitchFamily="66" charset="0"/>
                <a:ea typeface="楷体_GB2312" pitchFamily="49" charset="-122"/>
              </a:rPr>
              <a:t>R3</a:t>
            </a:r>
            <a:r>
              <a:rPr lang="en-US" altLang="zh-CN" sz="2800" b="1">
                <a:solidFill>
                  <a:srgbClr val="FF8080"/>
                </a:solidFill>
                <a:latin typeface="Comic Sans MS" pitchFamily="66" charset="0"/>
                <a:ea typeface="楷体_GB2312" pitchFamily="49" charset="-122"/>
              </a:rPr>
              <a:t> </a:t>
            </a:r>
            <a:endParaRPr lang="en-US" altLang="zh-CN" sz="2800" b="1">
              <a:solidFill>
                <a:srgbClr val="000000"/>
              </a:solidFill>
              <a:latin typeface="Comic Sans MS" pitchFamily="66" charset="0"/>
              <a:ea typeface="楷体_GB2312" pitchFamily="49" charset="-122"/>
            </a:endParaRPr>
          </a:p>
          <a:p>
            <a:pPr>
              <a:lnSpc>
                <a:spcPct val="120000"/>
              </a:lnSpc>
              <a:spcBef>
                <a:spcPct val="50000"/>
              </a:spcBef>
              <a:buFontTx/>
              <a:buNone/>
              <a:tabLst>
                <a:tab pos="4670425" algn="l"/>
              </a:tabLst>
            </a:pPr>
            <a:r>
              <a:rPr lang="en-US" altLang="zh-CN" sz="2800" b="1">
                <a:solidFill>
                  <a:srgbClr val="000000"/>
                </a:solidFill>
                <a:latin typeface="Comic Sans MS" pitchFamily="66" charset="0"/>
                <a:ea typeface="楷体_GB2312" pitchFamily="49" charset="-122"/>
              </a:rPr>
              <a:t>⑶ I5: MUL R3, R1, R2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R1×R2→</a:t>
            </a:r>
            <a:r>
              <a:rPr lang="en-US" altLang="zh-CN" sz="2800" b="1">
                <a:solidFill>
                  <a:srgbClr val="FF0000"/>
                </a:solidFill>
                <a:latin typeface="Comic Sans MS" pitchFamily="66" charset="0"/>
                <a:ea typeface="楷体_GB2312" pitchFamily="49" charset="-122"/>
              </a:rPr>
              <a:t>R3</a:t>
            </a:r>
            <a:r>
              <a:rPr lang="en-US" altLang="zh-CN" sz="2800" b="1">
                <a:solidFill>
                  <a:srgbClr val="000000"/>
                </a:solidFill>
                <a:latin typeface="Comic Sans MS" pitchFamily="66" charset="0"/>
                <a:ea typeface="楷体_GB2312" pitchFamily="49" charset="-122"/>
              </a:rPr>
              <a:t> </a:t>
            </a:r>
          </a:p>
          <a:p>
            <a:pPr>
              <a:lnSpc>
                <a:spcPct val="120000"/>
              </a:lnSpc>
              <a:buFontTx/>
              <a:buNone/>
              <a:tabLst>
                <a:tab pos="4670425" algn="l"/>
              </a:tabLst>
            </a:pPr>
            <a:r>
              <a:rPr lang="zh-CN" altLang="en-US" sz="2800" b="1">
                <a:solidFill>
                  <a:srgbClr val="000000"/>
                </a:solidFill>
                <a:latin typeface="Comic Sans MS" pitchFamily="66" charset="0"/>
                <a:ea typeface="楷体_GB2312" pitchFamily="49" charset="-122"/>
              </a:rPr>
              <a:t>　 </a:t>
            </a:r>
            <a:r>
              <a:rPr lang="en-US" altLang="zh-CN" sz="2800" b="1">
                <a:solidFill>
                  <a:srgbClr val="000000"/>
                </a:solidFill>
                <a:latin typeface="Comic Sans MS" pitchFamily="66" charset="0"/>
                <a:ea typeface="楷体_GB2312" pitchFamily="49" charset="-122"/>
              </a:rPr>
              <a:t>I6: ADD R3, R4, R5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R4</a:t>
            </a:r>
            <a:r>
              <a:rPr lang="zh-CN" altLang="en-US" sz="2800" b="1">
                <a:solidFill>
                  <a:srgbClr val="0000FF"/>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R5→</a:t>
            </a:r>
            <a:r>
              <a:rPr lang="en-US" altLang="zh-CN" sz="2800" b="1">
                <a:solidFill>
                  <a:srgbClr val="FF0000"/>
                </a:solidFill>
                <a:latin typeface="Comic Sans MS" pitchFamily="66" charset="0"/>
                <a:ea typeface="楷体_GB2312" pitchFamily="49" charset="-122"/>
              </a:rPr>
              <a:t>R3</a:t>
            </a:r>
          </a:p>
        </p:txBody>
      </p:sp>
      <p:sp>
        <p:nvSpPr>
          <p:cNvPr id="734214" name="Rectangle 6"/>
          <p:cNvSpPr>
            <a:spLocks noChangeArrowheads="1"/>
          </p:cNvSpPr>
          <p:nvPr/>
        </p:nvSpPr>
        <p:spPr bwMode="auto">
          <a:xfrm>
            <a:off x="7740650" y="2046288"/>
            <a:ext cx="1041400" cy="51911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mtClean="0">
                <a:solidFill>
                  <a:srgbClr val="000000"/>
                </a:solidFill>
                <a:latin typeface="Comic Sans MS" pitchFamily="66" charset="0"/>
              </a:rPr>
              <a:t>RAW</a:t>
            </a:r>
          </a:p>
        </p:txBody>
      </p:sp>
      <p:sp>
        <p:nvSpPr>
          <p:cNvPr id="734215" name="Rectangle 7"/>
          <p:cNvSpPr>
            <a:spLocks noChangeArrowheads="1"/>
          </p:cNvSpPr>
          <p:nvPr/>
        </p:nvSpPr>
        <p:spPr bwMode="auto">
          <a:xfrm>
            <a:off x="7740650" y="3429000"/>
            <a:ext cx="1041400" cy="5191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mtClean="0">
                <a:solidFill>
                  <a:srgbClr val="000000"/>
                </a:solidFill>
                <a:latin typeface="Comic Sans MS" pitchFamily="66" charset="0"/>
              </a:rPr>
              <a:t>WAR</a:t>
            </a:r>
          </a:p>
        </p:txBody>
      </p:sp>
      <p:sp>
        <p:nvSpPr>
          <p:cNvPr id="734216" name="Rectangle 8"/>
          <p:cNvSpPr>
            <a:spLocks noChangeArrowheads="1"/>
          </p:cNvSpPr>
          <p:nvPr/>
        </p:nvSpPr>
        <p:spPr bwMode="auto">
          <a:xfrm>
            <a:off x="7740650" y="4724400"/>
            <a:ext cx="1184275" cy="5191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mtClean="0">
                <a:solidFill>
                  <a:srgbClr val="000000"/>
                </a:solidFill>
                <a:latin typeface="Comic Sans MS" pitchFamily="66" charset="0"/>
              </a:rPr>
              <a:t>WAW</a:t>
            </a:r>
          </a:p>
        </p:txBody>
      </p:sp>
    </p:spTree>
    <p:extLst>
      <p:ext uri="{BB962C8B-B14F-4D97-AF65-F5344CB8AC3E}">
        <p14:creationId xmlns:p14="http://schemas.microsoft.com/office/powerpoint/2010/main" val="131908506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5.7  RISC 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5.7.1  RISC</a:t>
            </a:r>
            <a:r>
              <a:rPr lang="zh-CN" altLang="en-US" sz="1800" dirty="0" smtClean="0">
                <a:latin typeface="楷体_GB2312" pitchFamily="49" charset="-122"/>
                <a:ea typeface="楷体_GB2312" pitchFamily="49" charset="-122"/>
              </a:rPr>
              <a:t>机器的特点</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一</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RISC</a:t>
            </a:r>
            <a:r>
              <a:rPr lang="zh-CN" altLang="en-US" sz="2800" dirty="0">
                <a:solidFill>
                  <a:srgbClr val="000000"/>
                </a:solidFill>
                <a:latin typeface="楷体_GB2312" pitchFamily="49" charset="-122"/>
                <a:ea typeface="楷体_GB2312" pitchFamily="49" charset="-122"/>
              </a:rPr>
              <a:t>机器的特点</a:t>
            </a:r>
          </a:p>
          <a:p>
            <a:pPr eaLnBrk="1" hangingPunct="1">
              <a:buNone/>
            </a:pPr>
            <a:r>
              <a:rPr lang="zh-CN" altLang="en-US"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RISC</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精简指令系统计算机</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是在继承了</a:t>
            </a:r>
            <a:r>
              <a:rPr lang="en-US" altLang="zh-CN" sz="2800" dirty="0">
                <a:solidFill>
                  <a:srgbClr val="000000"/>
                </a:solidFill>
                <a:latin typeface="楷体_GB2312" pitchFamily="49" charset="-122"/>
                <a:ea typeface="楷体_GB2312" pitchFamily="49" charset="-122"/>
              </a:rPr>
              <a:t>CISC(</a:t>
            </a:r>
            <a:r>
              <a:rPr lang="zh-CN" altLang="en-US" sz="2800" dirty="0">
                <a:solidFill>
                  <a:srgbClr val="000000"/>
                </a:solidFill>
                <a:latin typeface="楷体_GB2312" pitchFamily="49" charset="-122"/>
                <a:ea typeface="楷体_GB2312" pitchFamily="49" charset="-122"/>
              </a:rPr>
              <a:t>复杂指令系统计算机</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的成功技术，并克服了</a:t>
            </a:r>
            <a:r>
              <a:rPr lang="en-US" altLang="zh-CN" sz="2800" dirty="0">
                <a:solidFill>
                  <a:srgbClr val="000000"/>
                </a:solidFill>
                <a:latin typeface="楷体_GB2312" pitchFamily="49" charset="-122"/>
                <a:ea typeface="楷体_GB2312" pitchFamily="49" charset="-122"/>
              </a:rPr>
              <a:t>CISC</a:t>
            </a:r>
            <a:r>
              <a:rPr lang="zh-CN" altLang="en-US" sz="2800" dirty="0">
                <a:solidFill>
                  <a:srgbClr val="000000"/>
                </a:solidFill>
                <a:latin typeface="楷体_GB2312" pitchFamily="49" charset="-122"/>
                <a:ea typeface="楷体_GB2312" pitchFamily="49" charset="-122"/>
              </a:rPr>
              <a:t>机器的缺点的基础上发展起来的。</a:t>
            </a:r>
          </a:p>
          <a:p>
            <a:pPr eaLnBrk="1" hangingPunct="1">
              <a:buNone/>
            </a:pPr>
            <a:r>
              <a:rPr lang="en-US" altLang="zh-CN" sz="2800" dirty="0" smtClean="0">
                <a:solidFill>
                  <a:srgbClr val="000000"/>
                </a:solidFill>
                <a:latin typeface="楷体_GB2312" pitchFamily="49" charset="-122"/>
                <a:ea typeface="楷体_GB2312" pitchFamily="49" charset="-122"/>
              </a:rPr>
              <a:t>	RISC</a:t>
            </a:r>
            <a:r>
              <a:rPr lang="zh-CN" altLang="en-US" sz="2800" dirty="0">
                <a:solidFill>
                  <a:srgbClr val="000000"/>
                </a:solidFill>
                <a:latin typeface="楷体_GB2312" pitchFamily="49" charset="-122"/>
                <a:ea typeface="楷体_GB2312" pitchFamily="49" charset="-122"/>
              </a:rPr>
              <a:t>机器的三个基本要素是：</a:t>
            </a:r>
          </a:p>
          <a:p>
            <a:pPr eaLnBrk="1" hangingPunct="1">
              <a:buNone/>
            </a:pPr>
            <a:r>
              <a:rPr lang="zh-CN" altLang="en-US" sz="2800" dirty="0" smtClean="0">
                <a:solidFill>
                  <a:srgbClr val="000000"/>
                </a:solidFill>
                <a:latin typeface="Calibri"/>
                <a:ea typeface="楷体_GB2312" pitchFamily="49" charset="-122"/>
                <a:cs typeface="Calibri"/>
              </a:rPr>
              <a:t>①</a:t>
            </a:r>
            <a:r>
              <a:rPr lang="zh-CN" altLang="en-US" sz="2800" dirty="0" smtClean="0">
                <a:solidFill>
                  <a:srgbClr val="000000"/>
                </a:solidFill>
                <a:latin typeface="楷体_GB2312" pitchFamily="49" charset="-122"/>
                <a:ea typeface="楷体_GB2312" pitchFamily="49" charset="-122"/>
              </a:rPr>
              <a:t>一</a:t>
            </a:r>
            <a:r>
              <a:rPr lang="zh-CN" altLang="en-US" sz="2800" dirty="0">
                <a:solidFill>
                  <a:srgbClr val="000000"/>
                </a:solidFill>
                <a:latin typeface="楷体_GB2312" pitchFamily="49" charset="-122"/>
                <a:ea typeface="楷体_GB2312" pitchFamily="49" charset="-122"/>
              </a:rPr>
              <a:t>个有限的简单的指令集；</a:t>
            </a:r>
          </a:p>
          <a:p>
            <a:pPr eaLnBrk="1" hangingPunct="1">
              <a:buNone/>
            </a:pPr>
            <a:r>
              <a:rPr lang="en-US" altLang="zh-CN" sz="2800" dirty="0" smtClean="0">
                <a:solidFill>
                  <a:srgbClr val="000000"/>
                </a:solidFill>
                <a:latin typeface="Calibri"/>
                <a:ea typeface="楷体_GB2312" pitchFamily="49" charset="-122"/>
                <a:cs typeface="Calibri"/>
              </a:rPr>
              <a:t>②</a:t>
            </a:r>
            <a:r>
              <a:rPr lang="en-US" altLang="zh-CN" sz="2800" dirty="0" smtClean="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配备大量的通用寄存器；</a:t>
            </a:r>
          </a:p>
          <a:p>
            <a:pPr eaLnBrk="1" hangingPunct="1">
              <a:buNone/>
            </a:pPr>
            <a:r>
              <a:rPr lang="zh-CN" altLang="en-US" sz="2800" dirty="0" smtClean="0">
                <a:solidFill>
                  <a:srgbClr val="000000"/>
                </a:solidFill>
                <a:latin typeface="楷体_GB2312" pitchFamily="49" charset="-122"/>
                <a:ea typeface="楷体_GB2312" pitchFamily="49" charset="-122"/>
              </a:rPr>
              <a:t>③强调</a:t>
            </a:r>
            <a:r>
              <a:rPr lang="zh-CN" altLang="en-US" sz="2800" dirty="0">
                <a:solidFill>
                  <a:srgbClr val="000000"/>
                </a:solidFill>
                <a:latin typeface="楷体_GB2312" pitchFamily="49" charset="-122"/>
                <a:ea typeface="楷体_GB2312" pitchFamily="49" charset="-122"/>
              </a:rPr>
              <a:t>对指令流水线的优化。</a:t>
            </a:r>
          </a:p>
          <a:p>
            <a:pPr eaLnBrk="1" hangingPunct="1">
              <a:buNone/>
            </a:pP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01331603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5.7  RISC 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5.7.1  RISC</a:t>
            </a:r>
            <a:r>
              <a:rPr lang="zh-CN" altLang="en-US" sz="1800" dirty="0" smtClean="0">
                <a:latin typeface="楷体_GB2312" pitchFamily="49" charset="-122"/>
                <a:ea typeface="楷体_GB2312" pitchFamily="49" charset="-122"/>
              </a:rPr>
              <a:t>机器的特点</a:t>
            </a:r>
          </a:p>
        </p:txBody>
      </p:sp>
      <p:sp>
        <p:nvSpPr>
          <p:cNvPr id="40963" name="Rectangle 3"/>
          <p:cNvSpPr>
            <a:spLocks noGrp="1" noChangeArrowheads="1"/>
          </p:cNvSpPr>
          <p:nvPr>
            <p:ph type="body" idx="4294967295"/>
          </p:nvPr>
        </p:nvSpPr>
        <p:spPr>
          <a:xfrm>
            <a:off x="457200" y="1600200"/>
            <a:ext cx="8686800" cy="4572000"/>
          </a:xfrm>
        </p:spPr>
        <p:txBody>
          <a:bodyPr>
            <a:normAutofit fontScale="850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RISC</a:t>
            </a:r>
            <a:r>
              <a:rPr lang="zh-CN" altLang="en-US" sz="2800" dirty="0" smtClean="0">
                <a:solidFill>
                  <a:srgbClr val="000000"/>
                </a:solidFill>
                <a:latin typeface="楷体_GB2312" pitchFamily="49" charset="-122"/>
                <a:ea typeface="楷体_GB2312" pitchFamily="49" charset="-122"/>
              </a:rPr>
              <a:t>的目标绝不是简单的缩减指令系统，而是使处理器的结构更简单，更合理，具有更高的性能和执行效率，并降低处理器的开发成本。基于</a:t>
            </a:r>
            <a:r>
              <a:rPr lang="zh-CN" altLang="en-US" sz="2800" dirty="0">
                <a:solidFill>
                  <a:srgbClr val="000000"/>
                </a:solidFill>
                <a:latin typeface="楷体_GB2312" pitchFamily="49" charset="-122"/>
                <a:ea typeface="楷体_GB2312" pitchFamily="49" charset="-122"/>
              </a:rPr>
              <a:t>上述三要素的</a:t>
            </a:r>
            <a:r>
              <a:rPr lang="en-US" altLang="zh-CN" sz="2800" dirty="0">
                <a:solidFill>
                  <a:srgbClr val="000000"/>
                </a:solidFill>
                <a:latin typeface="楷体_GB2312" pitchFamily="49" charset="-122"/>
                <a:ea typeface="楷体_GB2312" pitchFamily="49" charset="-122"/>
              </a:rPr>
              <a:t>RISC</a:t>
            </a:r>
            <a:r>
              <a:rPr lang="zh-CN" altLang="en-US" sz="2800" dirty="0">
                <a:solidFill>
                  <a:srgbClr val="000000"/>
                </a:solidFill>
                <a:latin typeface="楷体_GB2312" pitchFamily="49" charset="-122"/>
                <a:ea typeface="楷体_GB2312" pitchFamily="49" charset="-122"/>
              </a:rPr>
              <a:t>机器的特征是：</a:t>
            </a: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使用等长指令，目前的典型长度是</a:t>
            </a: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个</a:t>
            </a:r>
            <a:r>
              <a:rPr lang="zh-CN" altLang="en-US" sz="2800" dirty="0" smtClean="0">
                <a:solidFill>
                  <a:srgbClr val="000000"/>
                </a:solidFill>
                <a:latin typeface="楷体_GB2312" pitchFamily="49" charset="-122"/>
                <a:ea typeface="楷体_GB2312" pitchFamily="49" charset="-122"/>
              </a:rPr>
              <a:t>字节。</a:t>
            </a:r>
            <a:r>
              <a:rPr lang="zh-CN" altLang="en-US" sz="2800" dirty="0">
                <a:solidFill>
                  <a:srgbClr val="000000"/>
                </a:solidFill>
                <a:latin typeface="楷体_GB2312" pitchFamily="49" charset="-122"/>
                <a:ea typeface="楷体_GB2312" pitchFamily="49" charset="-122"/>
              </a:rPr>
              <a:t> </a:t>
            </a:r>
          </a:p>
          <a:p>
            <a:pPr eaLnBrk="1" hangingPunct="1">
              <a:buNone/>
            </a:pP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寻址方式少且简单，一般为</a:t>
            </a:r>
            <a:r>
              <a:rPr lang="en-US" altLang="zh-CN" sz="2800" dirty="0">
                <a:solidFill>
                  <a:srgbClr val="000000"/>
                </a:solidFill>
                <a:latin typeface="楷体_GB2312" pitchFamily="49" charset="-122"/>
                <a:ea typeface="楷体_GB2312" pitchFamily="49" charset="-122"/>
              </a:rPr>
              <a:t>2—3</a:t>
            </a:r>
            <a:r>
              <a:rPr lang="zh-CN" altLang="en-US" sz="2800" dirty="0">
                <a:solidFill>
                  <a:srgbClr val="000000"/>
                </a:solidFill>
                <a:latin typeface="楷体_GB2312" pitchFamily="49" charset="-122"/>
                <a:ea typeface="楷体_GB2312" pitchFamily="49" charset="-122"/>
              </a:rPr>
              <a:t>种，最多不超过</a:t>
            </a: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种，绝不出现存储器间接寻址方式。 </a:t>
            </a:r>
          </a:p>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只有取数指令、存数指令访问存储器。指令中最多出现</a:t>
            </a:r>
            <a:r>
              <a:rPr lang="en-US" altLang="zh-CN" sz="2800" dirty="0">
                <a:solidFill>
                  <a:srgbClr val="000000"/>
                </a:solidFill>
                <a:latin typeface="楷体_GB2312" pitchFamily="49" charset="-122"/>
                <a:ea typeface="楷体_GB2312" pitchFamily="49" charset="-122"/>
              </a:rPr>
              <a:t>RS</a:t>
            </a:r>
            <a:r>
              <a:rPr lang="zh-CN" altLang="en-US" sz="2800" dirty="0">
                <a:solidFill>
                  <a:srgbClr val="000000"/>
                </a:solidFill>
                <a:latin typeface="楷体_GB2312" pitchFamily="49" charset="-122"/>
                <a:ea typeface="楷体_GB2312" pitchFamily="49" charset="-122"/>
              </a:rPr>
              <a:t>型指令，绝不出现</a:t>
            </a:r>
            <a:r>
              <a:rPr lang="en-US" altLang="zh-CN" sz="2800" dirty="0">
                <a:solidFill>
                  <a:srgbClr val="000000"/>
                </a:solidFill>
                <a:latin typeface="楷体_GB2312" pitchFamily="49" charset="-122"/>
                <a:ea typeface="楷体_GB2312" pitchFamily="49" charset="-122"/>
              </a:rPr>
              <a:t>SS</a:t>
            </a:r>
            <a:r>
              <a:rPr lang="zh-CN" altLang="en-US" sz="2800" dirty="0">
                <a:solidFill>
                  <a:srgbClr val="000000"/>
                </a:solidFill>
                <a:latin typeface="楷体_GB2312" pitchFamily="49" charset="-122"/>
                <a:ea typeface="楷体_GB2312" pitchFamily="49" charset="-122"/>
              </a:rPr>
              <a:t>型指令</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指令集中的指令数目一般少于</a:t>
            </a:r>
            <a:r>
              <a:rPr lang="en-US" altLang="zh-CN" sz="2800" dirty="0">
                <a:solidFill>
                  <a:srgbClr val="000000"/>
                </a:solidFill>
                <a:latin typeface="楷体_GB2312" pitchFamily="49" charset="-122"/>
                <a:ea typeface="楷体_GB2312" pitchFamily="49" charset="-122"/>
              </a:rPr>
              <a:t>100</a:t>
            </a:r>
            <a:r>
              <a:rPr lang="zh-CN" altLang="en-US" sz="2800" dirty="0">
                <a:solidFill>
                  <a:srgbClr val="000000"/>
                </a:solidFill>
                <a:latin typeface="楷体_GB2312" pitchFamily="49" charset="-122"/>
                <a:ea typeface="楷体_GB2312" pitchFamily="49" charset="-122"/>
              </a:rPr>
              <a:t>种，指令格式一般少于</a:t>
            </a: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种。</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71990459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5.7  RISC 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5.7.1  RISC</a:t>
            </a:r>
            <a:r>
              <a:rPr lang="zh-CN" altLang="en-US" sz="1800" dirty="0" smtClean="0">
                <a:latin typeface="楷体_GB2312" pitchFamily="49" charset="-122"/>
                <a:ea typeface="楷体_GB2312" pitchFamily="49" charset="-122"/>
              </a:rPr>
              <a:t>机器的特点</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a:bodyPr>
          <a:lstStyle/>
          <a:p>
            <a:pPr eaLnBrk="1" hangingPunct="1">
              <a:buNone/>
            </a:pPr>
            <a:r>
              <a:rPr lang="en-US" altLang="zh-CN" sz="2800" dirty="0" smtClean="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5)</a:t>
            </a:r>
            <a:r>
              <a:rPr lang="zh-CN" altLang="en-US" sz="2800" dirty="0">
                <a:solidFill>
                  <a:srgbClr val="000000"/>
                </a:solidFill>
                <a:latin typeface="楷体_GB2312" pitchFamily="49" charset="-122"/>
                <a:ea typeface="楷体_GB2312" pitchFamily="49" charset="-122"/>
              </a:rPr>
              <a:t>指令功能简单，控制器多采用硬布线方式，以期更快的执行速度。 </a:t>
            </a:r>
          </a:p>
          <a:p>
            <a:pPr eaLnBrk="1" hangingPunct="1">
              <a:buNone/>
            </a:pP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平均而言，所有指令的执行时间为一个处理时钟</a:t>
            </a:r>
            <a:r>
              <a:rPr lang="zh-CN" altLang="en-US" sz="2800" dirty="0" smtClean="0">
                <a:solidFill>
                  <a:srgbClr val="000000"/>
                </a:solidFill>
                <a:latin typeface="楷体_GB2312" pitchFamily="49" charset="-122"/>
                <a:ea typeface="楷体_GB2312" pitchFamily="49" charset="-122"/>
              </a:rPr>
              <a:t>周期</a:t>
            </a:r>
            <a:r>
              <a:rPr lang="en-US" altLang="zh-CN" sz="2800" dirty="0" smtClean="0">
                <a:solidFill>
                  <a:srgbClr val="000000"/>
                </a:solidFill>
                <a:latin typeface="楷体_GB2312" pitchFamily="49" charset="-122"/>
                <a:ea typeface="楷体_GB2312" pitchFamily="49" charset="-122"/>
              </a:rPr>
              <a:t>.</a:t>
            </a:r>
          </a:p>
          <a:p>
            <a:pPr eaLnBrk="1" hangingPunct="1">
              <a:buNone/>
            </a:pPr>
            <a:r>
              <a:rPr lang="en-US" altLang="zh-CN" sz="2800" dirty="0" smtClean="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7)</a:t>
            </a:r>
            <a:r>
              <a:rPr lang="zh-CN" altLang="en-US" sz="2800" dirty="0">
                <a:solidFill>
                  <a:srgbClr val="000000"/>
                </a:solidFill>
                <a:latin typeface="楷体_GB2312" pitchFamily="49" charset="-122"/>
                <a:ea typeface="楷体_GB2312" pitchFamily="49" charset="-122"/>
              </a:rPr>
              <a:t>指令格式中用于指派整数寄存器的个数不少于</a:t>
            </a:r>
            <a:r>
              <a:rPr lang="en-US" altLang="zh-CN" sz="2800" dirty="0">
                <a:solidFill>
                  <a:srgbClr val="000000"/>
                </a:solidFill>
                <a:latin typeface="楷体_GB2312" pitchFamily="49" charset="-122"/>
                <a:ea typeface="楷体_GB2312" pitchFamily="49" charset="-122"/>
              </a:rPr>
              <a:t>32</a:t>
            </a:r>
            <a:r>
              <a:rPr lang="zh-CN" altLang="en-US" sz="2800" dirty="0">
                <a:solidFill>
                  <a:srgbClr val="000000"/>
                </a:solidFill>
                <a:latin typeface="楷体_GB2312" pitchFamily="49" charset="-122"/>
                <a:ea typeface="楷体_GB2312" pitchFamily="49" charset="-122"/>
              </a:rPr>
              <a:t>个，用于指派浮点数寄存器的个数不少于</a:t>
            </a:r>
            <a:r>
              <a:rPr lang="en-US" altLang="zh-CN" sz="2800" dirty="0">
                <a:solidFill>
                  <a:srgbClr val="000000"/>
                </a:solidFill>
                <a:latin typeface="楷体_GB2312" pitchFamily="49" charset="-122"/>
                <a:ea typeface="楷体_GB2312" pitchFamily="49" charset="-122"/>
              </a:rPr>
              <a:t>16</a:t>
            </a:r>
            <a:r>
              <a:rPr lang="zh-CN" altLang="en-US" sz="2800" dirty="0">
                <a:solidFill>
                  <a:srgbClr val="000000"/>
                </a:solidFill>
                <a:latin typeface="楷体_GB2312" pitchFamily="49" charset="-122"/>
                <a:ea typeface="楷体_GB2312" pitchFamily="49" charset="-122"/>
              </a:rPr>
              <a:t>个。 </a:t>
            </a:r>
          </a:p>
          <a:p>
            <a:pPr eaLnBrk="1" hangingPunct="1">
              <a:buNone/>
            </a:pPr>
            <a:r>
              <a:rPr lang="en-US" altLang="zh-CN" sz="2800" dirty="0">
                <a:solidFill>
                  <a:srgbClr val="000000"/>
                </a:solidFill>
                <a:latin typeface="楷体_GB2312" pitchFamily="49" charset="-122"/>
                <a:ea typeface="楷体_GB2312" pitchFamily="49" charset="-122"/>
              </a:rPr>
              <a:t>(8)</a:t>
            </a:r>
            <a:r>
              <a:rPr lang="zh-CN" altLang="en-US" sz="2800" dirty="0">
                <a:solidFill>
                  <a:srgbClr val="000000"/>
                </a:solidFill>
                <a:latin typeface="楷体_GB2312" pitchFamily="49" charset="-122"/>
                <a:ea typeface="楷体_GB2312" pitchFamily="49" charset="-122"/>
              </a:rPr>
              <a:t>强调通用寄存器资源的优化使用。 </a:t>
            </a:r>
          </a:p>
          <a:p>
            <a:pPr eaLnBrk="1" hangingPunct="1">
              <a:buNone/>
            </a:pP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支持指令流水并强调指令流水的优化使用。 </a:t>
            </a:r>
          </a:p>
          <a:p>
            <a:pPr eaLnBrk="1" hangingPunct="1">
              <a:buNone/>
            </a:pPr>
            <a:r>
              <a:rPr lang="en-US" altLang="zh-CN" sz="2800" dirty="0">
                <a:solidFill>
                  <a:srgbClr val="000000"/>
                </a:solidFill>
                <a:latin typeface="楷体_GB2312" pitchFamily="49" charset="-122"/>
                <a:ea typeface="楷体_GB2312" pitchFamily="49" charset="-122"/>
              </a:rPr>
              <a:t>(10)</a:t>
            </a:r>
            <a:r>
              <a:rPr lang="en-US" altLang="zh-CN" sz="2800" dirty="0" err="1">
                <a:solidFill>
                  <a:srgbClr val="000000"/>
                </a:solidFill>
                <a:latin typeface="楷体_GB2312" pitchFamily="49" charset="-122"/>
                <a:ea typeface="楷体_GB2312" pitchFamily="49" charset="-122"/>
              </a:rPr>
              <a:t>RlSC</a:t>
            </a:r>
            <a:r>
              <a:rPr lang="zh-CN" altLang="en-US" sz="2800" dirty="0">
                <a:solidFill>
                  <a:srgbClr val="000000"/>
                </a:solidFill>
                <a:latin typeface="楷体_GB2312" pitchFamily="49" charset="-122"/>
                <a:ea typeface="楷体_GB2312" pitchFamily="49" charset="-122"/>
              </a:rPr>
              <a:t>技术的复杂性在于它的编译程序，因此软件系统开发时间比</a:t>
            </a:r>
            <a:r>
              <a:rPr lang="en-US" altLang="zh-CN" sz="2800" dirty="0">
                <a:solidFill>
                  <a:srgbClr val="000000"/>
                </a:solidFill>
                <a:latin typeface="楷体_GB2312" pitchFamily="49" charset="-122"/>
                <a:ea typeface="楷体_GB2312" pitchFamily="49" charset="-122"/>
              </a:rPr>
              <a:t>CISC</a:t>
            </a:r>
            <a:r>
              <a:rPr lang="zh-CN" altLang="en-US" sz="2800" dirty="0">
                <a:solidFill>
                  <a:srgbClr val="000000"/>
                </a:solidFill>
                <a:latin typeface="楷体_GB2312" pitchFamily="49" charset="-122"/>
                <a:ea typeface="楷体_GB2312" pitchFamily="49" charset="-122"/>
              </a:rPr>
              <a:t>机器长。</a:t>
            </a:r>
          </a:p>
          <a:p>
            <a:pPr eaLnBrk="1" hangingPunct="1">
              <a:buNone/>
            </a:pPr>
            <a:r>
              <a:rPr lang="zh-CN" altLang="en-US"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71990459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a:xfrm>
            <a:off x="446088" y="44450"/>
            <a:ext cx="8229600" cy="576263"/>
          </a:xfrm>
        </p:spPr>
        <p:txBody>
          <a:bodyPr>
            <a:normAutofit fontScale="90000"/>
          </a:bodyPr>
          <a:lstStyle/>
          <a:p>
            <a:r>
              <a:rPr lang="zh-CN" altLang="en-US" sz="2800" b="1" dirty="0" smtClean="0">
                <a:solidFill>
                  <a:srgbClr val="0000FF"/>
                </a:solidFill>
                <a:latin typeface="Arial Unicode MS" pitchFamily="34" charset="-122"/>
                <a:ea typeface="楷体_GB2312" pitchFamily="49" charset="-122"/>
              </a:rPr>
              <a:t>表</a:t>
            </a:r>
            <a:r>
              <a:rPr lang="en-US" altLang="zh-CN" sz="2800" b="1" dirty="0" smtClean="0">
                <a:solidFill>
                  <a:srgbClr val="0000FF"/>
                </a:solidFill>
                <a:latin typeface="Arial Unicode MS" pitchFamily="34" charset="-122"/>
                <a:ea typeface="楷体_GB2312" pitchFamily="49" charset="-122"/>
              </a:rPr>
              <a:t>5.4  RISC</a:t>
            </a:r>
            <a:r>
              <a:rPr lang="zh-CN" altLang="en-US" sz="2800" b="1" dirty="0">
                <a:solidFill>
                  <a:srgbClr val="0000FF"/>
                </a:solidFill>
                <a:latin typeface="Arial Unicode MS" pitchFamily="34" charset="-122"/>
                <a:ea typeface="楷体_GB2312" pitchFamily="49" charset="-122"/>
              </a:rPr>
              <a:t>与</a:t>
            </a:r>
            <a:r>
              <a:rPr lang="en-US" altLang="zh-CN" sz="2800" b="1" dirty="0">
                <a:solidFill>
                  <a:srgbClr val="0000FF"/>
                </a:solidFill>
                <a:latin typeface="Arial Unicode MS" pitchFamily="34" charset="-122"/>
                <a:ea typeface="楷体_GB2312" pitchFamily="49" charset="-122"/>
              </a:rPr>
              <a:t>CISC</a:t>
            </a:r>
            <a:r>
              <a:rPr lang="zh-CN" altLang="en-US" sz="2800" b="1" dirty="0">
                <a:solidFill>
                  <a:srgbClr val="0000FF"/>
                </a:solidFill>
                <a:latin typeface="Arial Unicode MS" pitchFamily="34" charset="-122"/>
                <a:ea typeface="楷体_GB2312" pitchFamily="49" charset="-122"/>
              </a:rPr>
              <a:t>的主要特征对比</a:t>
            </a:r>
            <a:r>
              <a:rPr lang="zh-CN" altLang="en-US" sz="3200" b="1" dirty="0">
                <a:solidFill>
                  <a:srgbClr val="FF0000"/>
                </a:solidFill>
                <a:latin typeface="Arial Unicode MS" pitchFamily="34" charset="-122"/>
                <a:ea typeface="楷体_GB2312" pitchFamily="49" charset="-122"/>
              </a:rPr>
              <a:t> </a:t>
            </a:r>
          </a:p>
        </p:txBody>
      </p:sp>
      <p:sp>
        <p:nvSpPr>
          <p:cNvPr id="743427" name="Line 3"/>
          <p:cNvSpPr>
            <a:spLocks noChangeShapeType="1"/>
          </p:cNvSpPr>
          <p:nvPr/>
        </p:nvSpPr>
        <p:spPr bwMode="auto">
          <a:xfrm>
            <a:off x="684213" y="4149725"/>
            <a:ext cx="16129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28" name="Line 4"/>
          <p:cNvSpPr>
            <a:spLocks noChangeShapeType="1"/>
          </p:cNvSpPr>
          <p:nvPr/>
        </p:nvSpPr>
        <p:spPr bwMode="auto">
          <a:xfrm>
            <a:off x="684213" y="6037263"/>
            <a:ext cx="16129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29" name="Line 5"/>
          <p:cNvSpPr>
            <a:spLocks noChangeShapeType="1"/>
          </p:cNvSpPr>
          <p:nvPr/>
        </p:nvSpPr>
        <p:spPr bwMode="auto">
          <a:xfrm>
            <a:off x="684213" y="4149725"/>
            <a:ext cx="0" cy="6286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0" name="Line 6"/>
          <p:cNvSpPr>
            <a:spLocks noChangeShapeType="1"/>
          </p:cNvSpPr>
          <p:nvPr/>
        </p:nvSpPr>
        <p:spPr bwMode="auto">
          <a:xfrm>
            <a:off x="2297113" y="6037263"/>
            <a:ext cx="321151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1" name="Line 7"/>
          <p:cNvSpPr>
            <a:spLocks noChangeShapeType="1"/>
          </p:cNvSpPr>
          <p:nvPr/>
        </p:nvSpPr>
        <p:spPr bwMode="auto">
          <a:xfrm>
            <a:off x="684213" y="5408613"/>
            <a:ext cx="0" cy="6286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2" name="Line 8"/>
          <p:cNvSpPr>
            <a:spLocks noChangeShapeType="1"/>
          </p:cNvSpPr>
          <p:nvPr/>
        </p:nvSpPr>
        <p:spPr bwMode="auto">
          <a:xfrm>
            <a:off x="5508625" y="6037263"/>
            <a:ext cx="32400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3" name="Line 9"/>
          <p:cNvSpPr>
            <a:spLocks noChangeShapeType="1"/>
          </p:cNvSpPr>
          <p:nvPr/>
        </p:nvSpPr>
        <p:spPr bwMode="auto">
          <a:xfrm>
            <a:off x="8748713" y="4149725"/>
            <a:ext cx="0" cy="6286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4" name="Line 10"/>
          <p:cNvSpPr>
            <a:spLocks noChangeShapeType="1"/>
          </p:cNvSpPr>
          <p:nvPr/>
        </p:nvSpPr>
        <p:spPr bwMode="auto">
          <a:xfrm>
            <a:off x="2297113" y="4149725"/>
            <a:ext cx="133826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5" name="Line 11"/>
          <p:cNvSpPr>
            <a:spLocks noChangeShapeType="1"/>
          </p:cNvSpPr>
          <p:nvPr/>
        </p:nvSpPr>
        <p:spPr bwMode="auto">
          <a:xfrm>
            <a:off x="3635375" y="4149725"/>
            <a:ext cx="187325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6" name="Line 12"/>
          <p:cNvSpPr>
            <a:spLocks noChangeShapeType="1"/>
          </p:cNvSpPr>
          <p:nvPr/>
        </p:nvSpPr>
        <p:spPr bwMode="auto">
          <a:xfrm>
            <a:off x="5508625" y="4149725"/>
            <a:ext cx="16271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7" name="Line 13"/>
          <p:cNvSpPr>
            <a:spLocks noChangeShapeType="1"/>
          </p:cNvSpPr>
          <p:nvPr/>
        </p:nvSpPr>
        <p:spPr bwMode="auto">
          <a:xfrm>
            <a:off x="7135813" y="4149725"/>
            <a:ext cx="16129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graphicFrame>
        <p:nvGraphicFramePr>
          <p:cNvPr id="743441" name="Group 17"/>
          <p:cNvGraphicFramePr>
            <a:graphicFrameLocks noGrp="1"/>
          </p:cNvGraphicFramePr>
          <p:nvPr/>
        </p:nvGraphicFramePr>
        <p:xfrm>
          <a:off x="395288" y="692150"/>
          <a:ext cx="8497887" cy="5905501"/>
        </p:xfrm>
        <a:graphic>
          <a:graphicData uri="http://schemas.openxmlformats.org/drawingml/2006/table">
            <a:tbl>
              <a:tblPr/>
              <a:tblGrid>
                <a:gridCol w="2376487"/>
                <a:gridCol w="2808288"/>
                <a:gridCol w="3313112"/>
              </a:tblGrid>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比较内容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Arial" charset="0"/>
                          <a:ea typeface="宋体" charset="-122"/>
                        </a:rPr>
                        <a:t>CISC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Arial" charset="0"/>
                          <a:ea typeface="宋体" charset="-122"/>
                        </a:rPr>
                        <a:t>RISC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指令系统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复杂，庞大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简单，精简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指令数目</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一般大于</a:t>
                      </a:r>
                      <a:r>
                        <a:rPr kumimoji="0" lang="en-US" altLang="zh-CN" sz="2000" b="1" i="0" u="none" strike="noStrike" cap="none" normalizeH="0" baseline="0" smtClean="0">
                          <a:ln>
                            <a:noFill/>
                          </a:ln>
                          <a:solidFill>
                            <a:schemeClr val="tx1"/>
                          </a:solidFill>
                          <a:effectLst/>
                          <a:latin typeface="Arial"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一般小于</a:t>
                      </a:r>
                      <a:r>
                        <a:rPr kumimoji="0" lang="en-US" altLang="zh-CN" sz="2000" b="1" i="0" u="none" strike="noStrike" cap="none" normalizeH="0" baseline="0" smtClean="0">
                          <a:ln>
                            <a:noFill/>
                          </a:ln>
                          <a:solidFill>
                            <a:schemeClr val="tx1"/>
                          </a:solidFill>
                          <a:effectLst/>
                          <a:latin typeface="Arial" charset="0"/>
                          <a:ea typeface="宋体" charset="-122"/>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指令格式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一般大于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一般小于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寻址方式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一般大于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一般小于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指令字长</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不固定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等长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可访存指令</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不加限制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只有</a:t>
                      </a:r>
                      <a:r>
                        <a:rPr kumimoji="0" lang="en-US" altLang="zh-CN" sz="2000" b="1" i="0" u="none" strike="noStrike" cap="none" normalizeH="0" baseline="0" smtClean="0">
                          <a:ln>
                            <a:noFill/>
                          </a:ln>
                          <a:solidFill>
                            <a:schemeClr val="tx1"/>
                          </a:solidFill>
                          <a:effectLst/>
                          <a:latin typeface="Arial" charset="0"/>
                          <a:ea typeface="宋体" charset="-122"/>
                        </a:rPr>
                        <a:t>LOAD/STORE</a:t>
                      </a:r>
                      <a:r>
                        <a:rPr kumimoji="0" lang="zh-CN" altLang="en-US" sz="2000" b="1" i="0" u="none" strike="noStrike" cap="none" normalizeH="0" baseline="0" smtClean="0">
                          <a:ln>
                            <a:noFill/>
                          </a:ln>
                          <a:solidFill>
                            <a:schemeClr val="tx1"/>
                          </a:solidFill>
                          <a:effectLst/>
                          <a:latin typeface="Arial" charset="0"/>
                          <a:ea typeface="宋体" charset="-122"/>
                        </a:rPr>
                        <a:t>指令</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各种指令使用频率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相差很大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相差不大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各种指令执行时间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相差很大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绝大多数在一个周期内完成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优化编译实现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很难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较容易</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程序源代码长度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控制器实现方式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绝大多数为微程序控制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主要采用硬布线控制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软件系统开发时间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25245237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pPr eaLnBrk="1" hangingPunct="1"/>
            <a:r>
              <a:rPr lang="en-US" altLang="zh-CN" sz="2400" b="1" smtClean="0">
                <a:latin typeface="黑体" pitchFamily="49" charset="-122"/>
                <a:ea typeface="楷体_GB2312" pitchFamily="49" charset="-122"/>
              </a:rPr>
              <a:t>2</a:t>
            </a:r>
            <a:r>
              <a:rPr lang="en-US" altLang="zh-CN" sz="2400" b="1" smtClean="0">
                <a:latin typeface="楷体_GB2312" pitchFamily="49" charset="-122"/>
                <a:ea typeface="楷体_GB2312" pitchFamily="49" charset="-122"/>
              </a:rPr>
              <a:t>.CPU</a:t>
            </a:r>
            <a:r>
              <a:rPr lang="zh-CN" altLang="en-US" sz="2400" b="1" smtClean="0">
                <a:latin typeface="楷体_GB2312" pitchFamily="49" charset="-122"/>
                <a:ea typeface="楷体_GB2312" pitchFamily="49" charset="-122"/>
              </a:rPr>
              <a:t>的实现与计算机性能的关系</a:t>
            </a:r>
          </a:p>
        </p:txBody>
      </p:sp>
      <p:sp>
        <p:nvSpPr>
          <p:cNvPr id="21507" name="Rectangle 3"/>
          <p:cNvSpPr>
            <a:spLocks noGrp="1" noChangeArrowheads="1"/>
          </p:cNvSpPr>
          <p:nvPr>
            <p:ph type="body" idx="4294967295"/>
          </p:nvPr>
        </p:nvSpPr>
        <p:spPr/>
        <p:txBody>
          <a:bodyPr/>
          <a:lstStyle/>
          <a:p>
            <a:pPr eaLnBrk="1" hangingPunct="1">
              <a:buFont typeface="Wingdings" pitchFamily="2" charset="2"/>
              <a:buNone/>
            </a:pPr>
            <a:r>
              <a:rPr lang="zh-CN" altLang="en-US" sz="2800" b="1" smtClean="0">
                <a:solidFill>
                  <a:schemeClr val="tx2"/>
                </a:solidFill>
                <a:latin typeface="楷体_GB2312" pitchFamily="49" charset="-122"/>
                <a:ea typeface="楷体_GB2312" pitchFamily="49" charset="-122"/>
              </a:rPr>
              <a:t>计算机性能（程序执行快慢）由三个关键因素决定</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1</a:t>
            </a:r>
            <a:r>
              <a:rPr lang="zh-CN" altLang="en-US" sz="2800" b="1" smtClean="0">
                <a:solidFill>
                  <a:schemeClr val="tx2"/>
                </a:solidFill>
                <a:latin typeface="楷体_GB2312" pitchFamily="49" charset="-122"/>
                <a:ea typeface="楷体_GB2312" pitchFamily="49" charset="-122"/>
              </a:rPr>
              <a:t>、指令数目</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zh-CN" altLang="en-US" sz="2800" b="1" smtClean="0">
                <a:solidFill>
                  <a:schemeClr val="tx2"/>
                </a:solidFill>
                <a:latin typeface="楷体_GB2312" pitchFamily="49" charset="-122"/>
                <a:ea typeface="楷体_GB2312" pitchFamily="49" charset="-122"/>
              </a:rPr>
              <a:t>指令数目由编译器和</a:t>
            </a:r>
            <a:r>
              <a:rPr lang="en-US" altLang="zh-CN" sz="2800" b="1" smtClean="0">
                <a:solidFill>
                  <a:schemeClr val="tx2"/>
                </a:solidFill>
                <a:latin typeface="楷体_GB2312" pitchFamily="49" charset="-122"/>
                <a:ea typeface="楷体_GB2312" pitchFamily="49" charset="-122"/>
              </a:rPr>
              <a:t>ISA</a:t>
            </a:r>
            <a:r>
              <a:rPr lang="zh-CN" altLang="en-US" sz="2800" b="1" smtClean="0">
                <a:solidFill>
                  <a:schemeClr val="tx2"/>
                </a:solidFill>
                <a:latin typeface="楷体_GB2312" pitchFamily="49" charset="-122"/>
                <a:ea typeface="楷体_GB2312" pitchFamily="49" charset="-122"/>
              </a:rPr>
              <a:t>决定</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2</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CPI</a:t>
            </a: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3</a:t>
            </a:r>
            <a:r>
              <a:rPr lang="zh-CN" altLang="en-US" sz="2800" b="1" smtClean="0">
                <a:solidFill>
                  <a:schemeClr val="tx2"/>
                </a:solidFill>
                <a:latin typeface="楷体_GB2312" pitchFamily="49" charset="-122"/>
                <a:ea typeface="楷体_GB2312" pitchFamily="49" charset="-122"/>
              </a:rPr>
              <a:t>、时钟周期      </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CPI</a:t>
            </a:r>
            <a:r>
              <a:rPr lang="zh-CN" altLang="en-US" sz="2800" b="1" smtClean="0">
                <a:solidFill>
                  <a:schemeClr val="tx2"/>
                </a:solidFill>
                <a:latin typeface="楷体_GB2312" pitchFamily="49" charset="-122"/>
                <a:ea typeface="楷体_GB2312" pitchFamily="49" charset="-122"/>
              </a:rPr>
              <a:t>和时钟周期由</a:t>
            </a:r>
            <a:r>
              <a:rPr lang="en-US" altLang="zh-CN" sz="2800" b="1" smtClean="0">
                <a:solidFill>
                  <a:schemeClr val="tx2"/>
                </a:solidFill>
                <a:latin typeface="楷体_GB2312" pitchFamily="49" charset="-122"/>
                <a:ea typeface="楷体_GB2312" pitchFamily="49" charset="-122"/>
              </a:rPr>
              <a:t>CPU</a:t>
            </a:r>
            <a:r>
              <a:rPr lang="zh-CN" altLang="en-US" sz="2800" b="1" smtClean="0">
                <a:solidFill>
                  <a:schemeClr val="tx2"/>
                </a:solidFill>
                <a:latin typeface="楷体_GB2312" pitchFamily="49" charset="-122"/>
                <a:ea typeface="楷体_GB2312" pitchFamily="49" charset="-122"/>
              </a:rPr>
              <a:t>的实现来决定</a:t>
            </a:r>
          </a:p>
        </p:txBody>
      </p:sp>
    </p:spTree>
    <p:extLst>
      <p:ext uri="{BB962C8B-B14F-4D97-AF65-F5344CB8AC3E}">
        <p14:creationId xmlns:p14="http://schemas.microsoft.com/office/powerpoint/2010/main" val="210145852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r>
              <a:rPr lang="zh-CN" altLang="en-US" smtClean="0">
                <a:ea typeface="黑体" pitchFamily="2" charset="-122"/>
              </a:rPr>
              <a:t>习  题</a:t>
            </a:r>
          </a:p>
        </p:txBody>
      </p:sp>
      <p:sp>
        <p:nvSpPr>
          <p:cNvPr id="165891" name="Rectangle 3"/>
          <p:cNvSpPr>
            <a:spLocks noGrp="1" noChangeArrowheads="1"/>
          </p:cNvSpPr>
          <p:nvPr>
            <p:ph type="body" idx="1"/>
          </p:nvPr>
        </p:nvSpPr>
        <p:spPr/>
        <p:txBody>
          <a:bodyPr/>
          <a:lstStyle/>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P234</a:t>
            </a:r>
          </a:p>
          <a:p>
            <a:pPr eaLnBrk="1" hangingPunct="1">
              <a:buFont typeface="Wingdings" pitchFamily="2" charset="2"/>
              <a:buNone/>
            </a:pPr>
            <a:r>
              <a:rPr lang="zh-CN" altLang="en-US" sz="2800" b="1" smtClean="0">
                <a:solidFill>
                  <a:schemeClr val="tx2"/>
                </a:solidFill>
                <a:latin typeface="楷体_GB2312" pitchFamily="49" charset="-122"/>
                <a:ea typeface="楷体_GB2312" pitchFamily="49" charset="-122"/>
              </a:rPr>
              <a:t>习题：</a:t>
            </a:r>
            <a:r>
              <a:rPr lang="en-US" altLang="zh-CN" sz="2800" b="1" smtClean="0">
                <a:solidFill>
                  <a:schemeClr val="tx2"/>
                </a:solidFill>
                <a:latin typeface="楷体_GB2312" pitchFamily="49" charset="-122"/>
                <a:ea typeface="楷体_GB2312" pitchFamily="49" charset="-122"/>
              </a:rPr>
              <a:t>1</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2</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5</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6</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7</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8</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9</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14</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15</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16</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17</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18</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21</a:t>
            </a:r>
          </a:p>
        </p:txBody>
      </p:sp>
    </p:spTree>
    <p:extLst>
      <p:ext uri="{BB962C8B-B14F-4D97-AF65-F5344CB8AC3E}">
        <p14:creationId xmlns:p14="http://schemas.microsoft.com/office/powerpoint/2010/main" val="2080461693"/>
      </p:ext>
    </p:extLst>
  </p:cSld>
  <p:clrMapOvr>
    <a:masterClrMapping/>
  </p:clrMapOvr>
  <p:timing>
    <p:tnLst>
      <p:par>
        <p:cTn id="1" dur="indefinite" restart="never" nodeType="tmRoot"/>
      </p:par>
    </p:tnLst>
  </p:timing>
</p:sld>
</file>

<file path=ppt/theme/theme1.xml><?xml version="1.0" encoding="utf-8"?>
<a:theme xmlns:a="http://schemas.openxmlformats.org/drawingml/2006/main" name="模板2">
  <a:themeElements>
    <a:clrScheme name="">
      <a:dk1>
        <a:srgbClr val="3D3D3D"/>
      </a:dk1>
      <a:lt1>
        <a:srgbClr val="FFFFFF"/>
      </a:lt1>
      <a:dk2>
        <a:srgbClr val="000000"/>
      </a:dk2>
      <a:lt2>
        <a:srgbClr val="333333"/>
      </a:lt2>
      <a:accent1>
        <a:srgbClr val="FFFFFF"/>
      </a:accent1>
      <a:accent2>
        <a:srgbClr val="969696"/>
      </a:accent2>
      <a:accent3>
        <a:srgbClr val="FFFFFF"/>
      </a:accent3>
      <a:accent4>
        <a:srgbClr val="333333"/>
      </a:accent4>
      <a:accent5>
        <a:srgbClr val="FFFFFF"/>
      </a:accent5>
      <a:accent6>
        <a:srgbClr val="878787"/>
      </a:accent6>
      <a:hlink>
        <a:srgbClr val="4D4D4D"/>
      </a:hlink>
      <a:folHlink>
        <a:srgbClr val="808080"/>
      </a:folHlink>
    </a:clrScheme>
    <a:fontScheme name="模板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lnDef>
  </a:objectDefaults>
  <a:extraClrSchemeLst>
    <a:extraClrScheme>
      <a:clrScheme name="模板2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模板2">
  <a:themeElements>
    <a:clrScheme name="">
      <a:dk1>
        <a:srgbClr val="3D3D3D"/>
      </a:dk1>
      <a:lt1>
        <a:srgbClr val="FFFFFF"/>
      </a:lt1>
      <a:dk2>
        <a:srgbClr val="000000"/>
      </a:dk2>
      <a:lt2>
        <a:srgbClr val="333333"/>
      </a:lt2>
      <a:accent1>
        <a:srgbClr val="FFFFFF"/>
      </a:accent1>
      <a:accent2>
        <a:srgbClr val="969696"/>
      </a:accent2>
      <a:accent3>
        <a:srgbClr val="FFFFFF"/>
      </a:accent3>
      <a:accent4>
        <a:srgbClr val="333333"/>
      </a:accent4>
      <a:accent5>
        <a:srgbClr val="FFFFFF"/>
      </a:accent5>
      <a:accent6>
        <a:srgbClr val="878787"/>
      </a:accent6>
      <a:hlink>
        <a:srgbClr val="4D4D4D"/>
      </a:hlink>
      <a:folHlink>
        <a:srgbClr val="808080"/>
      </a:folHlink>
    </a:clrScheme>
    <a:fontScheme name="模板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2"/>
          </a:buClr>
          <a:buSzPct val="85000"/>
          <a:buFont typeface="Wingdings" pitchFamily="2" charset="2"/>
          <a:buNone/>
          <a:tabLst/>
          <a:defRPr kumimoji="1" lang="zh-CN" altLang="en-US" sz="2800" b="1" i="0" u="none" strike="noStrike" cap="none" normalizeH="0" baseline="0" smtClean="0">
            <a:ln>
              <a:noFill/>
            </a:ln>
            <a:solidFill>
              <a:schemeClr val="tx2"/>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2"/>
          </a:buClr>
          <a:buSzPct val="85000"/>
          <a:buFont typeface="Wingdings" pitchFamily="2" charset="2"/>
          <a:buNone/>
          <a:tabLst/>
          <a:defRPr kumimoji="1" lang="zh-CN" altLang="en-US" sz="2800" b="1" i="0" u="none" strike="noStrike" cap="none" normalizeH="0" baseline="0" smtClean="0">
            <a:ln>
              <a:noFill/>
            </a:ln>
            <a:solidFill>
              <a:schemeClr val="tx2"/>
            </a:solidFill>
            <a:effectLst/>
            <a:latin typeface="楷体_GB2312" pitchFamily="49" charset="-122"/>
            <a:ea typeface="楷体_GB2312" pitchFamily="49" charset="-122"/>
          </a:defRPr>
        </a:defPPr>
      </a:lstStyle>
    </a:lnDef>
  </a:objectDefaults>
  <a:extraClrSchemeLst>
    <a:extraClrScheme>
      <a:clrScheme name="模板2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模板2">
  <a:themeElements>
    <a:clrScheme name="">
      <a:dk1>
        <a:srgbClr val="3D3D3D"/>
      </a:dk1>
      <a:lt1>
        <a:srgbClr val="FFFFFF"/>
      </a:lt1>
      <a:dk2>
        <a:srgbClr val="000000"/>
      </a:dk2>
      <a:lt2>
        <a:srgbClr val="333333"/>
      </a:lt2>
      <a:accent1>
        <a:srgbClr val="FFFFFF"/>
      </a:accent1>
      <a:accent2>
        <a:srgbClr val="969696"/>
      </a:accent2>
      <a:accent3>
        <a:srgbClr val="FFFFFF"/>
      </a:accent3>
      <a:accent4>
        <a:srgbClr val="333333"/>
      </a:accent4>
      <a:accent5>
        <a:srgbClr val="FFFFFF"/>
      </a:accent5>
      <a:accent6>
        <a:srgbClr val="878787"/>
      </a:accent6>
      <a:hlink>
        <a:srgbClr val="4D4D4D"/>
      </a:hlink>
      <a:folHlink>
        <a:srgbClr val="808080"/>
      </a:folHlink>
    </a:clrScheme>
    <a:fontScheme name="模板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lnDef>
  </a:objectDefaults>
  <a:extraClrSchemeLst>
    <a:extraClrScheme>
      <a:clrScheme name="模板2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7908</TotalTime>
  <Pages>0</Pages>
  <Words>5236</Words>
  <Characters>0</Characters>
  <Application>Microsoft Office PowerPoint</Application>
  <DocSecurity>0</DocSecurity>
  <PresentationFormat>全屏显示(4:3)</PresentationFormat>
  <Lines>0</Lines>
  <Paragraphs>715</Paragraphs>
  <Slides>118</Slides>
  <Notes>4</Notes>
  <HiddenSlides>0</HiddenSlides>
  <MMClips>0</MMClips>
  <ScaleCrop>false</ScaleCrop>
  <HeadingPairs>
    <vt:vector size="6" baseType="variant">
      <vt:variant>
        <vt:lpstr>主题</vt:lpstr>
      </vt:variant>
      <vt:variant>
        <vt:i4>4</vt:i4>
      </vt:variant>
      <vt:variant>
        <vt:lpstr>嵌入 OLE 服务器</vt:lpstr>
      </vt:variant>
      <vt:variant>
        <vt:i4>1</vt:i4>
      </vt:variant>
      <vt:variant>
        <vt:lpstr>幻灯片标题</vt:lpstr>
      </vt:variant>
      <vt:variant>
        <vt:i4>118</vt:i4>
      </vt:variant>
    </vt:vector>
  </HeadingPairs>
  <TitlesOfParts>
    <vt:vector size="123" baseType="lpstr">
      <vt:lpstr>模板2</vt:lpstr>
      <vt:lpstr>默认设计模板</vt:lpstr>
      <vt:lpstr>1_模板2</vt:lpstr>
      <vt:lpstr>2_模板2</vt:lpstr>
      <vt:lpstr>位图图像</vt:lpstr>
      <vt:lpstr>5.2  控制器的组成 5.2.2  控制器的组成</vt:lpstr>
      <vt:lpstr>5.2  控制器的组成 5.2.2  控制器的组成</vt:lpstr>
      <vt:lpstr>5.4  操作控制器之微程序控制器 5.4.1  微程序控制原理</vt:lpstr>
      <vt:lpstr>5.4  微程序控制器 5.4.1微程序控制的基本概念</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5.4  微程序控制器 5.4.1  微程序控制原理</vt:lpstr>
      <vt:lpstr>PowerPoint 演示文稿</vt:lpstr>
      <vt:lpstr>PowerPoint 演示文稿</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PowerPoint 演示文稿</vt:lpstr>
      <vt:lpstr>5.4  微程序控制器 5.4.1  微程序控制原理</vt:lpstr>
      <vt:lpstr>PowerPoint 演示文稿</vt:lpstr>
      <vt:lpstr>5.4  微程序控制器 5.4.2  微程序设计技术</vt:lpstr>
      <vt:lpstr>5.4  微程序控制器 5.4.2  微程序设计技术</vt:lpstr>
      <vt:lpstr>PowerPoint 演示文稿</vt:lpstr>
      <vt:lpstr>5.4  微程序控制器 5.4.2  微程序设计技术</vt:lpstr>
      <vt:lpstr>5.4  微程序控制器 5.4.2  微程序设计技术</vt:lpstr>
      <vt:lpstr>5.4  微程序控制器 5.4.2  微程序设计技术</vt:lpstr>
      <vt:lpstr>5.4  微程序控制器 5.4.2微程序设计技术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PowerPoint 演示文稿</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PowerPoint 演示文稿</vt:lpstr>
      <vt:lpstr>5.5  硬布线控制器 5.5.1  基本思想</vt:lpstr>
      <vt:lpstr>5.5  硬布线控制器 5.5.1  基本思想</vt:lpstr>
      <vt:lpstr>5.5  硬布线控制器 5.5.1  基本思想</vt:lpstr>
      <vt:lpstr>PowerPoint 演示文稿</vt:lpstr>
      <vt:lpstr>5.5  硬布线控制器 5.5.1  基本思想</vt:lpstr>
      <vt:lpstr>PowerPoint 演示文稿</vt:lpstr>
      <vt:lpstr>PowerPoint 演示文稿</vt:lpstr>
      <vt:lpstr>PowerPoint 演示文稿</vt:lpstr>
      <vt:lpstr>PowerPoint 演示文稿</vt:lpstr>
      <vt:lpstr>PowerPoint 演示文稿</vt:lpstr>
      <vt:lpstr>PowerPoint 演示文稿</vt:lpstr>
      <vt:lpstr>5.5  硬布线控制器 5.5.3  微操作控制信号的产生</vt:lpstr>
      <vt:lpstr>PowerPoint 演示文稿</vt:lpstr>
      <vt:lpstr>5.6  流水CPU 5.6.1  并行处理技术</vt:lpstr>
      <vt:lpstr>5.6  流水CPU 5.6.1  并行处理技术</vt:lpstr>
      <vt:lpstr>5.6  流水CPU 5.6.1  并行处理技术</vt:lpstr>
      <vt:lpstr>PowerPoint 演示文稿</vt:lpstr>
      <vt:lpstr>PowerPoint 演示文稿</vt:lpstr>
      <vt:lpstr>PowerPoint 演示文稿</vt:lpstr>
      <vt:lpstr>PowerPoint 演示文稿</vt:lpstr>
      <vt:lpstr>5.6.3 流水线的时空图</vt:lpstr>
      <vt:lpstr>PowerPoint 演示文稿</vt:lpstr>
      <vt:lpstr>非流水计算机的时空图</vt:lpstr>
      <vt:lpstr>PowerPoint 演示文稿</vt:lpstr>
      <vt:lpstr>流水计算机的时空图</vt:lpstr>
      <vt:lpstr>PowerPoint 演示文稿</vt:lpstr>
      <vt:lpstr>超标量计算机的时空图</vt:lpstr>
      <vt:lpstr>PowerPoint 演示文稿</vt:lpstr>
      <vt:lpstr>PowerPoint 演示文稿</vt:lpstr>
      <vt:lpstr>PowerPoint 演示文稿</vt:lpstr>
      <vt:lpstr>PowerPoint 演示文稿</vt:lpstr>
      <vt:lpstr>PowerPoint 演示文稿</vt:lpstr>
      <vt:lpstr>PowerPoint 演示文稿</vt:lpstr>
      <vt:lpstr>1. 资源相关 </vt:lpstr>
      <vt:lpstr>PowerPoint 演示文稿</vt:lpstr>
      <vt:lpstr>PowerPoint 演示文稿</vt:lpstr>
      <vt:lpstr>例如：有如下三条指令，并行执行</vt:lpstr>
      <vt:lpstr>PowerPoint 演示文稿</vt:lpstr>
      <vt:lpstr>PowerPoint 演示文稿</vt:lpstr>
      <vt:lpstr>3. 控制相关</vt:lpstr>
      <vt:lpstr>PowerPoint 演示文稿</vt:lpstr>
      <vt:lpstr>PowerPoint 演示文稿</vt:lpstr>
      <vt:lpstr>PowerPoint 演示文稿</vt:lpstr>
      <vt:lpstr>5.7  RISC CPU 5.7.1  RISC机器的特点</vt:lpstr>
      <vt:lpstr>5.7  RISC CPU 5.7.1  RISC机器的特点</vt:lpstr>
      <vt:lpstr>5.7  RISC CPU 5.7.1  RISC机器的特点</vt:lpstr>
      <vt:lpstr>表5.4  RISC与CISC的主要特征对比 </vt:lpstr>
      <vt:lpstr>2.CPU的实现与计算机性能的关系</vt:lpstr>
      <vt:lpstr>习  题</vt:lpstr>
    </vt:vector>
  </TitlesOfParts>
  <Company>Tongji</Company>
  <LinksUpToDate>false</LinksUpToDate>
  <CharactersWithSpaces>0</CharactersWithSpaces>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中央处理部件CPU</dc:title>
  <dc:creator>wang</dc:creator>
  <cp:lastModifiedBy>Sky123.Org</cp:lastModifiedBy>
  <cp:revision>973</cp:revision>
  <cp:lastPrinted>1899-12-30T00:00:00Z</cp:lastPrinted>
  <dcterms:created xsi:type="dcterms:W3CDTF">2007-10-04T23:31:34Z</dcterms:created>
  <dcterms:modified xsi:type="dcterms:W3CDTF">2013-11-13T08:04:51Z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2052-6.6.0.2461</vt:lpwstr>
  </property>
</Properties>
</file>
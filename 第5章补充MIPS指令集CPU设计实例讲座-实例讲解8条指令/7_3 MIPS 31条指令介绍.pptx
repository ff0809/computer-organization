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48" r:id="rId1"/>
  </p:sldMasterIdLst>
  <p:notesMasterIdLst>
    <p:notesMasterId r:id="rId35"/>
  </p:notesMasterIdLst>
  <p:handoutMasterIdLst>
    <p:handoutMasterId r:id="rId36"/>
  </p:handoutMasterIdLst>
  <p:sldIdLst>
    <p:sldId id="735" r:id="rId2"/>
    <p:sldId id="750" r:id="rId3"/>
    <p:sldId id="808" r:id="rId4"/>
    <p:sldId id="809" r:id="rId5"/>
    <p:sldId id="810" r:id="rId6"/>
    <p:sldId id="811" r:id="rId7"/>
    <p:sldId id="812" r:id="rId8"/>
    <p:sldId id="813" r:id="rId9"/>
    <p:sldId id="814" r:id="rId10"/>
    <p:sldId id="815" r:id="rId11"/>
    <p:sldId id="816" r:id="rId12"/>
    <p:sldId id="817" r:id="rId13"/>
    <p:sldId id="818" r:id="rId14"/>
    <p:sldId id="819" r:id="rId15"/>
    <p:sldId id="820" r:id="rId16"/>
    <p:sldId id="821" r:id="rId17"/>
    <p:sldId id="822" r:id="rId18"/>
    <p:sldId id="823" r:id="rId19"/>
    <p:sldId id="824" r:id="rId20"/>
    <p:sldId id="825" r:id="rId21"/>
    <p:sldId id="826" r:id="rId22"/>
    <p:sldId id="827" r:id="rId23"/>
    <p:sldId id="828" r:id="rId24"/>
    <p:sldId id="829" r:id="rId25"/>
    <p:sldId id="830" r:id="rId26"/>
    <p:sldId id="831" r:id="rId27"/>
    <p:sldId id="832" r:id="rId28"/>
    <p:sldId id="833" r:id="rId29"/>
    <p:sldId id="834" r:id="rId30"/>
    <p:sldId id="835" r:id="rId31"/>
    <p:sldId id="836" r:id="rId32"/>
    <p:sldId id="837" r:id="rId33"/>
    <p:sldId id="737" r:id="rId34"/>
  </p:sldIdLst>
  <p:sldSz cx="9144000" cy="6858000" type="screen4x3"/>
  <p:notesSz cx="7099300" cy="10234613"/>
  <p:defaultTextStyle>
    <a:defPPr>
      <a:defRPr lang="zh-CN"/>
    </a:defPPr>
    <a:lvl1pPr algn="l" rtl="0" fontAlgn="base">
      <a:spcBef>
        <a:spcPct val="0"/>
      </a:spcBef>
      <a:spcAft>
        <a:spcPct val="0"/>
      </a:spcAft>
      <a:defRPr sz="2400" kern="1200">
        <a:solidFill>
          <a:schemeClr val="tx2"/>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sz="2400" kern="1200">
        <a:solidFill>
          <a:schemeClr val="tx2"/>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sz="2400" kern="1200">
        <a:solidFill>
          <a:schemeClr val="tx2"/>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sz="2400" kern="1200">
        <a:solidFill>
          <a:schemeClr val="tx2"/>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sz="2400" kern="1200">
        <a:solidFill>
          <a:schemeClr val="tx2"/>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400" kern="1200">
        <a:solidFill>
          <a:schemeClr val="tx2"/>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400" kern="1200">
        <a:solidFill>
          <a:schemeClr val="tx2"/>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400" kern="1200">
        <a:solidFill>
          <a:schemeClr val="tx2"/>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400" kern="1200">
        <a:solidFill>
          <a:schemeClr val="tx2"/>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4619D"/>
    <a:srgbClr val="DA2A22"/>
    <a:srgbClr val="15994D"/>
    <a:srgbClr val="342275"/>
    <a:srgbClr val="E67A1C"/>
    <a:srgbClr val="E57717"/>
    <a:srgbClr val="5891D6"/>
    <a:srgbClr val="72A2DC"/>
    <a:srgbClr val="EE9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300" autoAdjust="0"/>
    <p:restoredTop sz="92281" autoAdjust="0"/>
  </p:normalViewPr>
  <p:slideViewPr>
    <p:cSldViewPr snapToGrid="0" showGuides="1">
      <p:cViewPr varScale="1">
        <p:scale>
          <a:sx n="92" d="100"/>
          <a:sy n="92" d="100"/>
        </p:scale>
        <p:origin x="-618" y="-102"/>
      </p:cViewPr>
      <p:guideLst>
        <p:guide orient="horz" pos="570"/>
        <p:guide pos="292"/>
        <p:guide pos="546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howGuides="1">
      <p:cViewPr varScale="1">
        <p:scale>
          <a:sx n="74" d="100"/>
          <a:sy n="74" d="100"/>
        </p:scale>
        <p:origin x="-4026" y="-120"/>
      </p:cViewPr>
      <p:guideLst>
        <p:guide orient="horz" pos="3223"/>
        <p:guide pos="2236"/>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575" cy="511175"/>
          </a:xfrm>
          <a:prstGeom prst="rect">
            <a:avLst/>
          </a:prstGeom>
        </p:spPr>
        <p:txBody>
          <a:bodyPr vert="horz" lIns="99048" tIns="49524" rIns="99048" bIns="49524" rtlCol="0"/>
          <a:lstStyle>
            <a:lvl1pPr algn="l">
              <a:defRPr sz="1300" dirty="0">
                <a:latin typeface="Arial" panose="020B0604020202020204" pitchFamily="34" charset="0"/>
                <a:ea typeface="微软雅黑" panose="020B0503020204020204" pitchFamily="34" charset="-122"/>
              </a:defRPr>
            </a:lvl1pPr>
          </a:lstStyle>
          <a:p>
            <a:pPr>
              <a:defRPr/>
            </a:pPr>
            <a:endParaRPr lang="zh-CN" altLang="en-US"/>
          </a:p>
        </p:txBody>
      </p:sp>
      <p:sp>
        <p:nvSpPr>
          <p:cNvPr id="3" name="日期占位符 2"/>
          <p:cNvSpPr>
            <a:spLocks noGrp="1"/>
          </p:cNvSpPr>
          <p:nvPr>
            <p:ph type="dt" sz="quarter" idx="1"/>
          </p:nvPr>
        </p:nvSpPr>
        <p:spPr>
          <a:xfrm>
            <a:off x="4021138" y="0"/>
            <a:ext cx="3076575" cy="511175"/>
          </a:xfrm>
          <a:prstGeom prst="rect">
            <a:avLst/>
          </a:prstGeom>
        </p:spPr>
        <p:txBody>
          <a:bodyPr vert="horz" lIns="99048" tIns="49524" rIns="99048" bIns="49524" rtlCol="0"/>
          <a:lstStyle>
            <a:lvl1pPr algn="r">
              <a:defRPr sz="1300" smtClean="0">
                <a:latin typeface="Arial" panose="020B0604020202020204" pitchFamily="34" charset="0"/>
                <a:ea typeface="微软雅黑" panose="020B0503020204020204" pitchFamily="34" charset="-122"/>
              </a:defRPr>
            </a:lvl1pPr>
          </a:lstStyle>
          <a:p>
            <a:pPr>
              <a:defRPr/>
            </a:pPr>
            <a:fld id="{83A91915-E571-4570-80B3-E65B02A79A95}" type="datetimeFigureOut">
              <a:rPr lang="zh-CN" altLang="en-US"/>
              <a:t>2018/3/6</a:t>
            </a:fld>
            <a:endParaRPr lang="zh-CN" altLang="en-US" dirty="0"/>
          </a:p>
        </p:txBody>
      </p:sp>
      <p:sp>
        <p:nvSpPr>
          <p:cNvPr id="4" name="页脚占位符 3"/>
          <p:cNvSpPr>
            <a:spLocks noGrp="1"/>
          </p:cNvSpPr>
          <p:nvPr>
            <p:ph type="ftr" sz="quarter" idx="2"/>
          </p:nvPr>
        </p:nvSpPr>
        <p:spPr>
          <a:xfrm>
            <a:off x="0" y="9721850"/>
            <a:ext cx="3076575" cy="511175"/>
          </a:xfrm>
          <a:prstGeom prst="rect">
            <a:avLst/>
          </a:prstGeom>
        </p:spPr>
        <p:txBody>
          <a:bodyPr vert="horz" lIns="99048" tIns="49524" rIns="99048" bIns="49524" rtlCol="0" anchor="b"/>
          <a:lstStyle>
            <a:lvl1pPr algn="l">
              <a:defRPr sz="1300" dirty="0">
                <a:latin typeface="Arial" panose="020B0604020202020204" pitchFamily="34" charset="0"/>
                <a:ea typeface="微软雅黑" panose="020B0503020204020204" pitchFamily="34" charset="-122"/>
              </a:defRPr>
            </a:lvl1pPr>
          </a:lstStyle>
          <a:p>
            <a:pPr>
              <a:defRPr/>
            </a:pPr>
            <a:endParaRPr lang="zh-CN" altLang="en-US"/>
          </a:p>
        </p:txBody>
      </p:sp>
      <p:sp>
        <p:nvSpPr>
          <p:cNvPr id="5" name="灯片编号占位符 4"/>
          <p:cNvSpPr>
            <a:spLocks noGrp="1"/>
          </p:cNvSpPr>
          <p:nvPr>
            <p:ph type="sldNum" sz="quarter" idx="3"/>
          </p:nvPr>
        </p:nvSpPr>
        <p:spPr>
          <a:xfrm>
            <a:off x="4021138" y="9721850"/>
            <a:ext cx="3076575" cy="511175"/>
          </a:xfrm>
          <a:prstGeom prst="rect">
            <a:avLst/>
          </a:prstGeom>
        </p:spPr>
        <p:txBody>
          <a:bodyPr vert="horz" wrap="square" lIns="99048" tIns="49524" rIns="99048" bIns="49524" numCol="1" anchor="b" anchorCtr="0" compatLnSpc="1"/>
          <a:lstStyle>
            <a:lvl1pPr algn="r">
              <a:defRPr sz="1300">
                <a:ea typeface="微软雅黑" panose="020B0503020204020204" pitchFamily="34" charset="-122"/>
              </a:defRPr>
            </a:lvl1pPr>
          </a:lstStyle>
          <a:p>
            <a:fld id="{E0BB458E-555F-42C7-BDA8-CA9357AC47B4}" type="slidenum">
              <a:rPr lang="zh-CN" altLang="en-US"/>
              <a:t>‹#›</a:t>
            </a:fld>
            <a:endParaRPr lang="zh-CN" altLang="en-US"/>
          </a:p>
        </p:txBody>
      </p:sp>
    </p:spTree>
    <p:extLst>
      <p:ext uri="{BB962C8B-B14F-4D97-AF65-F5344CB8AC3E}">
        <p14:creationId xmlns:p14="http://schemas.microsoft.com/office/powerpoint/2010/main" val="7487086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48" tIns="49524" rIns="99048" bIns="49524" numCol="1" anchor="t" anchorCtr="0" compatLnSpc="1"/>
          <a:lstStyle>
            <a:lvl1pPr algn="l">
              <a:defRPr sz="1300" dirty="0">
                <a:solidFill>
                  <a:schemeClr val="tx1"/>
                </a:solidFill>
                <a:latin typeface="Arial" panose="020B0604020202020204" pitchFamily="34" charset="0"/>
                <a:ea typeface="微软雅黑" panose="020B0503020204020204" pitchFamily="34" charset="-122"/>
              </a:defRPr>
            </a:lvl1pPr>
          </a:lstStyle>
          <a:p>
            <a:pPr>
              <a:defRPr/>
            </a:pPr>
            <a:endParaRPr lang="en-US" altLang="zh-CN"/>
          </a:p>
        </p:txBody>
      </p:sp>
      <p:sp>
        <p:nvSpPr>
          <p:cNvPr id="10243" name="Rectangle 3"/>
          <p:cNvSpPr>
            <a:spLocks noGrp="1" noChangeArrowheads="1"/>
          </p:cNvSpPr>
          <p:nvPr>
            <p:ph type="dt" idx="1"/>
          </p:nvPr>
        </p:nvSpPr>
        <p:spPr bwMode="auto">
          <a:xfrm>
            <a:off x="4021138" y="0"/>
            <a:ext cx="3076575" cy="511175"/>
          </a:xfrm>
          <a:prstGeom prst="rect">
            <a:avLst/>
          </a:prstGeom>
          <a:noFill/>
          <a:ln w="9525">
            <a:noFill/>
            <a:miter lim="800000"/>
          </a:ln>
          <a:effectLst/>
        </p:spPr>
        <p:txBody>
          <a:bodyPr vert="horz" wrap="square" lIns="99048" tIns="49524" rIns="99048" bIns="49524" numCol="1" anchor="t" anchorCtr="0" compatLnSpc="1"/>
          <a:lstStyle>
            <a:lvl1pPr algn="r">
              <a:defRPr sz="1300" dirty="0">
                <a:solidFill>
                  <a:schemeClr val="tx1"/>
                </a:solidFill>
                <a:latin typeface="Arial" panose="020B0604020202020204" pitchFamily="34" charset="0"/>
                <a:ea typeface="微软雅黑" panose="020B0503020204020204" pitchFamily="34" charset="-122"/>
              </a:defRPr>
            </a:lvl1pPr>
          </a:lstStyle>
          <a:p>
            <a:pPr>
              <a:defRPr/>
            </a:pPr>
            <a:endParaRPr lang="en-US" altLang="zh-CN"/>
          </a:p>
        </p:txBody>
      </p:sp>
      <p:sp>
        <p:nvSpPr>
          <p:cNvPr id="16388" name="Rectangle 4"/>
          <p:cNvSpPr>
            <a:spLocks noGrp="1" noRot="1" noChangeAspect="1" noChangeArrowheads="1" noTextEdit="1"/>
          </p:cNvSpPr>
          <p:nvPr>
            <p:ph type="sldImg" idx="2"/>
          </p:nvPr>
        </p:nvSpPr>
        <p:spPr bwMode="auto">
          <a:xfrm>
            <a:off x="992188" y="768350"/>
            <a:ext cx="5114925" cy="3836988"/>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10245" name="Rectangle 5"/>
          <p:cNvSpPr>
            <a:spLocks noGrp="1" noChangeArrowheads="1"/>
          </p:cNvSpPr>
          <p:nvPr>
            <p:ph type="body" sz="quarter" idx="3"/>
          </p:nvPr>
        </p:nvSpPr>
        <p:spPr bwMode="auto">
          <a:xfrm>
            <a:off x="709613" y="4860925"/>
            <a:ext cx="5680075" cy="4605338"/>
          </a:xfrm>
          <a:prstGeom prst="rect">
            <a:avLst/>
          </a:prstGeom>
          <a:noFill/>
          <a:ln w="9525">
            <a:noFill/>
            <a:miter lim="800000"/>
          </a:ln>
          <a:effectLst/>
        </p:spPr>
        <p:txBody>
          <a:bodyPr vert="horz" wrap="square" lIns="99048" tIns="49524" rIns="99048" bIns="49524" numCol="1" anchor="t" anchorCtr="0" compatLnSpc="1"/>
          <a:lstStyle/>
          <a:p>
            <a:pPr lvl="0"/>
            <a:r>
              <a:rPr lang="zh-CN" altLang="en-US" noProof="0" dirty="0" smtClean="0"/>
              <a:t>单击此处编辑母版文本样式</a:t>
            </a:r>
          </a:p>
          <a:p>
            <a:pPr lvl="1"/>
            <a:r>
              <a:rPr lang="zh-CN" altLang="en-US" noProof="0" dirty="0" smtClean="0"/>
              <a:t>第二级</a:t>
            </a:r>
          </a:p>
          <a:p>
            <a:pPr lvl="2"/>
            <a:r>
              <a:rPr lang="zh-CN" altLang="en-US" noProof="0" dirty="0" smtClean="0"/>
              <a:t>第三级</a:t>
            </a:r>
          </a:p>
          <a:p>
            <a:pPr lvl="3"/>
            <a:r>
              <a:rPr lang="zh-CN" altLang="en-US" noProof="0" dirty="0" smtClean="0"/>
              <a:t>第四级</a:t>
            </a:r>
          </a:p>
          <a:p>
            <a:pPr lvl="4"/>
            <a:r>
              <a:rPr lang="zh-CN" altLang="en-US" noProof="0" dirty="0" smtClean="0"/>
              <a:t>第五级</a:t>
            </a:r>
          </a:p>
        </p:txBody>
      </p:sp>
      <p:sp>
        <p:nvSpPr>
          <p:cNvPr id="10246" name="Rectangle 6"/>
          <p:cNvSpPr>
            <a:spLocks noGrp="1" noChangeArrowheads="1"/>
          </p:cNvSpPr>
          <p:nvPr>
            <p:ph type="ftr" sz="quarter" idx="4"/>
          </p:nvPr>
        </p:nvSpPr>
        <p:spPr bwMode="auto">
          <a:xfrm>
            <a:off x="0" y="9721850"/>
            <a:ext cx="3076575" cy="511175"/>
          </a:xfrm>
          <a:prstGeom prst="rect">
            <a:avLst/>
          </a:prstGeom>
          <a:noFill/>
          <a:ln w="9525">
            <a:noFill/>
            <a:miter lim="800000"/>
          </a:ln>
          <a:effectLst/>
        </p:spPr>
        <p:txBody>
          <a:bodyPr vert="horz" wrap="square" lIns="99048" tIns="49524" rIns="99048" bIns="49524" numCol="1" anchor="b" anchorCtr="0" compatLnSpc="1"/>
          <a:lstStyle>
            <a:lvl1pPr algn="l">
              <a:defRPr sz="1300" dirty="0">
                <a:solidFill>
                  <a:schemeClr val="tx1"/>
                </a:solidFill>
                <a:latin typeface="Arial" panose="020B0604020202020204" pitchFamily="34" charset="0"/>
                <a:ea typeface="微软雅黑" panose="020B0503020204020204" pitchFamily="34" charset="-122"/>
              </a:defRPr>
            </a:lvl1pPr>
          </a:lstStyle>
          <a:p>
            <a:pPr>
              <a:defRPr/>
            </a:pPr>
            <a:endParaRPr lang="en-US" altLang="zh-CN"/>
          </a:p>
        </p:txBody>
      </p:sp>
      <p:sp>
        <p:nvSpPr>
          <p:cNvPr id="10247" name="Rectangle 7"/>
          <p:cNvSpPr>
            <a:spLocks noGrp="1" noChangeArrowheads="1"/>
          </p:cNvSpPr>
          <p:nvPr>
            <p:ph type="sldNum" sz="quarter" idx="5"/>
          </p:nvPr>
        </p:nvSpPr>
        <p:spPr bwMode="auto">
          <a:xfrm>
            <a:off x="4021138" y="9721850"/>
            <a:ext cx="3076575" cy="511175"/>
          </a:xfrm>
          <a:prstGeom prst="rect">
            <a:avLst/>
          </a:prstGeom>
          <a:noFill/>
          <a:ln w="9525">
            <a:noFill/>
            <a:miter lim="800000"/>
          </a:ln>
          <a:effectLst/>
        </p:spPr>
        <p:txBody>
          <a:bodyPr vert="horz" wrap="square" lIns="99048" tIns="49524" rIns="99048" bIns="49524" numCol="1" anchor="b" anchorCtr="0" compatLnSpc="1"/>
          <a:lstStyle>
            <a:lvl1pPr algn="r">
              <a:defRPr sz="1300">
                <a:solidFill>
                  <a:schemeClr val="tx1"/>
                </a:solidFill>
                <a:ea typeface="微软雅黑" panose="020B0503020204020204" pitchFamily="34" charset="-122"/>
              </a:defRPr>
            </a:lvl1pPr>
          </a:lstStyle>
          <a:p>
            <a:fld id="{0B48A77E-79FB-4BFF-B1F0-CFD29F30865E}" type="slidenum">
              <a:rPr lang="en-US" altLang="zh-CN"/>
              <a:t>‹#›</a:t>
            </a:fld>
            <a:endParaRPr lang="en-US" altLang="zh-CN"/>
          </a:p>
        </p:txBody>
      </p:sp>
    </p:spTree>
    <p:extLst>
      <p:ext uri="{BB962C8B-B14F-4D97-AF65-F5344CB8AC3E}">
        <p14:creationId xmlns:p14="http://schemas.microsoft.com/office/powerpoint/2010/main" val="206278987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微软雅黑" panose="020B0503020204020204" pitchFamily="34"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微软雅黑" panose="020B0503020204020204" pitchFamily="34"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微软雅黑" panose="020B0503020204020204" pitchFamily="34"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微软雅黑" panose="020B0503020204020204" pitchFamily="34"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1</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2</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3</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4</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5</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6</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7</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8</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9</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10</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11</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12</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13</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14</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15</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16</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17</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18</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19</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20</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21</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22</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23</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24</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25</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26</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27</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28</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29</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30</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31</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引导学员思考经销商管理的方面，注重框架性思维的培训</a:t>
            </a:r>
            <a:endParaRPr lang="zh-CN" altLang="zh-CN" smtClean="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空白1">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4" name="组合 3"/>
          <p:cNvGrpSpPr/>
          <p:nvPr userDrawn="1"/>
        </p:nvGrpSpPr>
        <p:grpSpPr>
          <a:xfrm>
            <a:off x="0" y="6126486"/>
            <a:ext cx="9143999" cy="731514"/>
            <a:chOff x="1" y="2947547"/>
            <a:chExt cx="9143999" cy="2827685"/>
          </a:xfrm>
        </p:grpSpPr>
        <p:sp>
          <p:nvSpPr>
            <p:cNvPr id="5" name="任意多边形 4"/>
            <p:cNvSpPr/>
            <p:nvPr/>
          </p:nvSpPr>
          <p:spPr>
            <a:xfrm>
              <a:off x="1" y="2947547"/>
              <a:ext cx="9143999" cy="2297356"/>
            </a:xfrm>
            <a:custGeom>
              <a:avLst/>
              <a:gdLst>
                <a:gd name="connsiteX0" fmla="*/ 9143999 w 9143999"/>
                <a:gd name="connsiteY0" fmla="*/ 0 h 2051818"/>
                <a:gd name="connsiteX1" fmla="*/ 9143999 w 9143999"/>
                <a:gd name="connsiteY1" fmla="*/ 2051818 h 2051818"/>
                <a:gd name="connsiteX2" fmla="*/ 0 w 9143999"/>
                <a:gd name="connsiteY2" fmla="*/ 2051818 h 2051818"/>
                <a:gd name="connsiteX3" fmla="*/ 0 w 9143999"/>
                <a:gd name="connsiteY3" fmla="*/ 1204077 h 2051818"/>
                <a:gd name="connsiteX4" fmla="*/ 6027 w 9143999"/>
                <a:gd name="connsiteY4" fmla="*/ 1207403 h 2051818"/>
                <a:gd name="connsiteX5" fmla="*/ 7674511 w 9143999"/>
                <a:gd name="connsiteY5" fmla="*/ 718908 h 2051818"/>
                <a:gd name="connsiteX6" fmla="*/ 9044856 w 9143999"/>
                <a:gd name="connsiteY6" fmla="*/ 57555 h 2051818"/>
                <a:gd name="connsiteX7" fmla="*/ 9143999 w 9143999"/>
                <a:gd name="connsiteY7" fmla="*/ 0 h 205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3999" h="2051818">
                  <a:moveTo>
                    <a:pt x="9143999" y="0"/>
                  </a:moveTo>
                  <a:lnTo>
                    <a:pt x="9143999" y="2051818"/>
                  </a:lnTo>
                  <a:lnTo>
                    <a:pt x="0" y="2051818"/>
                  </a:lnTo>
                  <a:lnTo>
                    <a:pt x="0" y="1204077"/>
                  </a:lnTo>
                  <a:lnTo>
                    <a:pt x="6027" y="1207403"/>
                  </a:lnTo>
                  <a:cubicBezTo>
                    <a:pt x="2066505" y="2238985"/>
                    <a:pt x="5621740" y="1499327"/>
                    <a:pt x="7674511" y="718908"/>
                  </a:cubicBezTo>
                  <a:cubicBezTo>
                    <a:pt x="8085065" y="562824"/>
                    <a:pt x="8552064" y="336225"/>
                    <a:pt x="9044856" y="57555"/>
                  </a:cubicBezTo>
                  <a:lnTo>
                    <a:pt x="9143999" y="0"/>
                  </a:lnTo>
                  <a:close/>
                </a:path>
              </a:pathLst>
            </a:custGeom>
            <a:gradFill>
              <a:gsLst>
                <a:gs pos="0">
                  <a:srgbClr val="04619D"/>
                </a:gs>
                <a:gs pos="100000">
                  <a:srgbClr val="342275">
                    <a:alpha val="8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a:p>
          </p:txBody>
        </p:sp>
        <p:sp>
          <p:nvSpPr>
            <p:cNvPr id="6" name="任意多边形 5"/>
            <p:cNvSpPr/>
            <p:nvPr/>
          </p:nvSpPr>
          <p:spPr>
            <a:xfrm>
              <a:off x="1" y="3559995"/>
              <a:ext cx="9143999" cy="2215237"/>
            </a:xfrm>
            <a:custGeom>
              <a:avLst/>
              <a:gdLst>
                <a:gd name="connsiteX0" fmla="*/ 9143999 w 9143999"/>
                <a:gd name="connsiteY0" fmla="*/ 0 h 3478011"/>
                <a:gd name="connsiteX1" fmla="*/ 9143999 w 9143999"/>
                <a:gd name="connsiteY1" fmla="*/ 1393716 h 3478011"/>
                <a:gd name="connsiteX2" fmla="*/ 9143999 w 9143999"/>
                <a:gd name="connsiteY2" fmla="*/ 1513865 h 3478011"/>
                <a:gd name="connsiteX3" fmla="*/ 9143999 w 9143999"/>
                <a:gd name="connsiteY3" fmla="*/ 3478011 h 3478011"/>
                <a:gd name="connsiteX4" fmla="*/ 0 w 9143999"/>
                <a:gd name="connsiteY4" fmla="*/ 3478011 h 3478011"/>
                <a:gd name="connsiteX5" fmla="*/ 0 w 9143999"/>
                <a:gd name="connsiteY5" fmla="*/ 1513865 h 3478011"/>
                <a:gd name="connsiteX6" fmla="*/ 0 w 9143999"/>
                <a:gd name="connsiteY6" fmla="*/ 1393716 h 3478011"/>
                <a:gd name="connsiteX7" fmla="*/ 0 w 9143999"/>
                <a:gd name="connsiteY7" fmla="*/ 846204 h 3478011"/>
                <a:gd name="connsiteX8" fmla="*/ 303379 w 9143999"/>
                <a:gd name="connsiteY8" fmla="*/ 970246 h 3478011"/>
                <a:gd name="connsiteX9" fmla="*/ 8360497 w 9143999"/>
                <a:gd name="connsiteY9" fmla="*/ 342756 h 3478011"/>
                <a:gd name="connsiteX10" fmla="*/ 8941037 w 9143999"/>
                <a:gd name="connsiteY10" fmla="*/ 98098 h 347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43999" h="3478011">
                  <a:moveTo>
                    <a:pt x="9143999" y="0"/>
                  </a:moveTo>
                  <a:lnTo>
                    <a:pt x="9143999" y="1393716"/>
                  </a:lnTo>
                  <a:lnTo>
                    <a:pt x="9143999" y="1513865"/>
                  </a:lnTo>
                  <a:lnTo>
                    <a:pt x="9143999" y="3478011"/>
                  </a:lnTo>
                  <a:lnTo>
                    <a:pt x="0" y="3478011"/>
                  </a:lnTo>
                  <a:lnTo>
                    <a:pt x="0" y="1513865"/>
                  </a:lnTo>
                  <a:lnTo>
                    <a:pt x="0" y="1393716"/>
                  </a:lnTo>
                  <a:lnTo>
                    <a:pt x="0" y="846204"/>
                  </a:lnTo>
                  <a:lnTo>
                    <a:pt x="303379" y="970246"/>
                  </a:lnTo>
                  <a:cubicBezTo>
                    <a:pt x="2685816" y="1852356"/>
                    <a:pt x="6241504" y="1135756"/>
                    <a:pt x="8360497" y="342756"/>
                  </a:cubicBezTo>
                  <a:cubicBezTo>
                    <a:pt x="8544757" y="273800"/>
                    <a:pt x="8739002" y="191802"/>
                    <a:pt x="8941037" y="98098"/>
                  </a:cubicBezTo>
                  <a:close/>
                </a:path>
              </a:pathLst>
            </a:custGeom>
            <a:gradFill flip="none" rotWithShape="1">
              <a:gsLst>
                <a:gs pos="26000">
                  <a:schemeClr val="bg1"/>
                </a:gs>
                <a:gs pos="100000">
                  <a:srgbClr val="DFDFDF">
                    <a:lumMod val="52000"/>
                    <a:lumOff val="48000"/>
                  </a:srgb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ea typeface="微软雅黑" panose="020B0503020204020204" pitchFamily="34" charset="-122"/>
              </a:endParaRPr>
            </a:p>
          </p:txBody>
        </p:sp>
      </p:grpSp>
      <p:grpSp>
        <p:nvGrpSpPr>
          <p:cNvPr id="7" name="组合 6"/>
          <p:cNvGrpSpPr/>
          <p:nvPr userDrawn="1"/>
        </p:nvGrpSpPr>
        <p:grpSpPr>
          <a:xfrm rot="10800000">
            <a:off x="-7" y="-1"/>
            <a:ext cx="9144001" cy="1882013"/>
            <a:chOff x="1" y="2994858"/>
            <a:chExt cx="9144001" cy="3162457"/>
          </a:xfrm>
        </p:grpSpPr>
        <p:sp>
          <p:nvSpPr>
            <p:cNvPr id="8" name="任意多边形 7"/>
            <p:cNvSpPr/>
            <p:nvPr/>
          </p:nvSpPr>
          <p:spPr>
            <a:xfrm>
              <a:off x="1" y="2994858"/>
              <a:ext cx="9143999" cy="2154016"/>
            </a:xfrm>
            <a:custGeom>
              <a:avLst/>
              <a:gdLst>
                <a:gd name="connsiteX0" fmla="*/ 9143999 w 9143999"/>
                <a:gd name="connsiteY0" fmla="*/ 0 h 2051818"/>
                <a:gd name="connsiteX1" fmla="*/ 9143999 w 9143999"/>
                <a:gd name="connsiteY1" fmla="*/ 2051818 h 2051818"/>
                <a:gd name="connsiteX2" fmla="*/ 0 w 9143999"/>
                <a:gd name="connsiteY2" fmla="*/ 2051818 h 2051818"/>
                <a:gd name="connsiteX3" fmla="*/ 0 w 9143999"/>
                <a:gd name="connsiteY3" fmla="*/ 1204077 h 2051818"/>
                <a:gd name="connsiteX4" fmla="*/ 6027 w 9143999"/>
                <a:gd name="connsiteY4" fmla="*/ 1207403 h 2051818"/>
                <a:gd name="connsiteX5" fmla="*/ 7674511 w 9143999"/>
                <a:gd name="connsiteY5" fmla="*/ 718908 h 2051818"/>
                <a:gd name="connsiteX6" fmla="*/ 9044856 w 9143999"/>
                <a:gd name="connsiteY6" fmla="*/ 57555 h 2051818"/>
                <a:gd name="connsiteX7" fmla="*/ 9143999 w 9143999"/>
                <a:gd name="connsiteY7" fmla="*/ 0 h 205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3999" h="2051818">
                  <a:moveTo>
                    <a:pt x="9143999" y="0"/>
                  </a:moveTo>
                  <a:lnTo>
                    <a:pt x="9143999" y="2051818"/>
                  </a:lnTo>
                  <a:lnTo>
                    <a:pt x="0" y="2051818"/>
                  </a:lnTo>
                  <a:lnTo>
                    <a:pt x="0" y="1204077"/>
                  </a:lnTo>
                  <a:lnTo>
                    <a:pt x="6027" y="1207403"/>
                  </a:lnTo>
                  <a:cubicBezTo>
                    <a:pt x="2066505" y="2238985"/>
                    <a:pt x="5621740" y="1499327"/>
                    <a:pt x="7674511" y="718908"/>
                  </a:cubicBezTo>
                  <a:cubicBezTo>
                    <a:pt x="8085065" y="562824"/>
                    <a:pt x="8552064" y="336225"/>
                    <a:pt x="9044856" y="57555"/>
                  </a:cubicBezTo>
                  <a:lnTo>
                    <a:pt x="9143999" y="0"/>
                  </a:lnTo>
                  <a:close/>
                </a:path>
              </a:pathLst>
            </a:custGeom>
            <a:gradFill>
              <a:gsLst>
                <a:gs pos="0">
                  <a:srgbClr val="04619D"/>
                </a:gs>
                <a:gs pos="100000">
                  <a:srgbClr val="342275">
                    <a:alpha val="8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a:p>
          </p:txBody>
        </p:sp>
        <p:sp>
          <p:nvSpPr>
            <p:cNvPr id="9" name="任意多边形 8"/>
            <p:cNvSpPr/>
            <p:nvPr/>
          </p:nvSpPr>
          <p:spPr>
            <a:xfrm>
              <a:off x="3" y="3474503"/>
              <a:ext cx="9143999" cy="2682812"/>
            </a:xfrm>
            <a:custGeom>
              <a:avLst/>
              <a:gdLst>
                <a:gd name="connsiteX0" fmla="*/ 9143999 w 9143999"/>
                <a:gd name="connsiteY0" fmla="*/ 0 h 3478011"/>
                <a:gd name="connsiteX1" fmla="*/ 9143999 w 9143999"/>
                <a:gd name="connsiteY1" fmla="*/ 1393716 h 3478011"/>
                <a:gd name="connsiteX2" fmla="*/ 9143999 w 9143999"/>
                <a:gd name="connsiteY2" fmla="*/ 1513865 h 3478011"/>
                <a:gd name="connsiteX3" fmla="*/ 9143999 w 9143999"/>
                <a:gd name="connsiteY3" fmla="*/ 3478011 h 3478011"/>
                <a:gd name="connsiteX4" fmla="*/ 0 w 9143999"/>
                <a:gd name="connsiteY4" fmla="*/ 3478011 h 3478011"/>
                <a:gd name="connsiteX5" fmla="*/ 0 w 9143999"/>
                <a:gd name="connsiteY5" fmla="*/ 1513865 h 3478011"/>
                <a:gd name="connsiteX6" fmla="*/ 0 w 9143999"/>
                <a:gd name="connsiteY6" fmla="*/ 1393716 h 3478011"/>
                <a:gd name="connsiteX7" fmla="*/ 0 w 9143999"/>
                <a:gd name="connsiteY7" fmla="*/ 846204 h 3478011"/>
                <a:gd name="connsiteX8" fmla="*/ 303379 w 9143999"/>
                <a:gd name="connsiteY8" fmla="*/ 970246 h 3478011"/>
                <a:gd name="connsiteX9" fmla="*/ 8360497 w 9143999"/>
                <a:gd name="connsiteY9" fmla="*/ 342756 h 3478011"/>
                <a:gd name="connsiteX10" fmla="*/ 8941037 w 9143999"/>
                <a:gd name="connsiteY10" fmla="*/ 98098 h 347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43999" h="3478011">
                  <a:moveTo>
                    <a:pt x="9143999" y="0"/>
                  </a:moveTo>
                  <a:lnTo>
                    <a:pt x="9143999" y="1393716"/>
                  </a:lnTo>
                  <a:lnTo>
                    <a:pt x="9143999" y="1513865"/>
                  </a:lnTo>
                  <a:lnTo>
                    <a:pt x="9143999" y="3478011"/>
                  </a:lnTo>
                  <a:lnTo>
                    <a:pt x="0" y="3478011"/>
                  </a:lnTo>
                  <a:lnTo>
                    <a:pt x="0" y="1513865"/>
                  </a:lnTo>
                  <a:lnTo>
                    <a:pt x="0" y="1393716"/>
                  </a:lnTo>
                  <a:lnTo>
                    <a:pt x="0" y="846204"/>
                  </a:lnTo>
                  <a:lnTo>
                    <a:pt x="303379" y="970246"/>
                  </a:lnTo>
                  <a:cubicBezTo>
                    <a:pt x="2685816" y="1852356"/>
                    <a:pt x="6241504" y="1135756"/>
                    <a:pt x="8360497" y="342756"/>
                  </a:cubicBezTo>
                  <a:cubicBezTo>
                    <a:pt x="8544757" y="273800"/>
                    <a:pt x="8739002" y="191802"/>
                    <a:pt x="8941037" y="98098"/>
                  </a:cubicBezTo>
                  <a:close/>
                </a:path>
              </a:pathLst>
            </a:custGeom>
            <a:gradFill flip="none" rotWithShape="1">
              <a:gsLst>
                <a:gs pos="17000">
                  <a:schemeClr val="bg1"/>
                </a:gs>
                <a:gs pos="100000">
                  <a:srgbClr val="DFDFDF">
                    <a:lumMod val="73000"/>
                    <a:lumOff val="27000"/>
                  </a:srgbClr>
                </a:gs>
                <a:gs pos="81000">
                  <a:srgbClr val="DFDFDF">
                    <a:lumMod val="52000"/>
                    <a:lumOff val="48000"/>
                  </a:srgb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ea typeface="微软雅黑" panose="020B0503020204020204" pitchFamily="34" charset="-122"/>
              </a:endParaRPr>
            </a:p>
          </p:txBody>
        </p:sp>
      </p:grpSp>
      <p:sp>
        <p:nvSpPr>
          <p:cNvPr id="10" name="矩形 9"/>
          <p:cNvSpPr/>
          <p:nvPr userDrawn="1"/>
        </p:nvSpPr>
        <p:spPr>
          <a:xfrm>
            <a:off x="7505292" y="6511210"/>
            <a:ext cx="1089660" cy="213995"/>
          </a:xfrm>
          <a:prstGeom prst="rect">
            <a:avLst/>
          </a:prstGeom>
        </p:spPr>
        <p:txBody>
          <a:bodyPr wrap="none">
            <a:spAutoFit/>
          </a:bodyPr>
          <a:lstStyle/>
          <a:p>
            <a:pPr algn="r"/>
            <a:r>
              <a:rPr sz="800" kern="100" smtClean="0">
                <a:solidFill>
                  <a:schemeClr val="tx1">
                    <a:lumMod val="50000"/>
                    <a:lumOff val="50000"/>
                  </a:schemeClr>
                </a:solidFill>
                <a:latin typeface="微软雅黑" panose="020B0503020204020204" pitchFamily="34" charset="-122"/>
                <a:ea typeface="微软雅黑" panose="020B0503020204020204" pitchFamily="34" charset="-122"/>
              </a:rPr>
              <a:t>MIPS 31条指令介绍</a:t>
            </a:r>
          </a:p>
        </p:txBody>
      </p:sp>
      <p:sp>
        <p:nvSpPr>
          <p:cNvPr id="11" name="文本框 10"/>
          <p:cNvSpPr txBox="1"/>
          <p:nvPr userDrawn="1"/>
        </p:nvSpPr>
        <p:spPr>
          <a:xfrm>
            <a:off x="8703044" y="6511211"/>
            <a:ext cx="211221" cy="215442"/>
          </a:xfrm>
          <a:prstGeom prst="rect">
            <a:avLst/>
          </a:prstGeom>
          <a:noFill/>
          <a:ln>
            <a:solidFill>
              <a:schemeClr val="bg1">
                <a:lumMod val="75000"/>
              </a:schemeClr>
            </a:solidFill>
          </a:ln>
        </p:spPr>
        <p:txBody>
          <a:bodyPr wrap="none" lIns="72000" tIns="72000" rIns="72000" bIns="72000" rtlCol="0" anchor="ctr">
            <a:noAutofit/>
          </a:bodyPr>
          <a:lstStyle/>
          <a:p>
            <a:pPr algn="ctr"/>
            <a:fld id="{CE5B7511-CC96-41DE-A965-D9C44FD5C89D}" type="slidenum">
              <a:rPr lang="zh-CN" altLang="en-US" sz="800" b="1" smtClean="0">
                <a:solidFill>
                  <a:schemeClr val="tx1">
                    <a:lumMod val="50000"/>
                    <a:lumOff val="50000"/>
                  </a:schemeClr>
                </a:solidFill>
                <a:latin typeface="微软雅黑" panose="020B0503020204020204" pitchFamily="34" charset="-122"/>
                <a:ea typeface="微软雅黑" panose="020B0503020204020204" pitchFamily="34" charset="-122"/>
                <a:cs typeface="Arial" panose="020B0604020202020204" pitchFamily="34" charset="0"/>
              </a:rPr>
              <a:t>‹#›</a:t>
            </a:fld>
            <a:endParaRPr lang="zh-CN" altLang="en-US" sz="800" b="1" dirty="0">
              <a:solidFill>
                <a:schemeClr val="tx1">
                  <a:lumMod val="50000"/>
                  <a:lumOff val="50000"/>
                </a:schemeClr>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3" name="矩形 12"/>
          <p:cNvSpPr/>
          <p:nvPr userDrawn="1"/>
        </p:nvSpPr>
        <p:spPr>
          <a:xfrm>
            <a:off x="453759" y="6511210"/>
            <a:ext cx="1412240" cy="213995"/>
          </a:xfrm>
          <a:prstGeom prst="rect">
            <a:avLst/>
          </a:prstGeom>
        </p:spPr>
        <p:txBody>
          <a:bodyPr wrap="none" lIns="0">
            <a:spAutoFit/>
          </a:bodyPr>
          <a:lstStyle/>
          <a:p>
            <a:r>
              <a:rPr lang="zh-CN" altLang="en-US" sz="800" b="1" kern="100" smtClean="0">
                <a:solidFill>
                  <a:schemeClr val="tx1">
                    <a:lumMod val="50000"/>
                    <a:lumOff val="50000"/>
                  </a:schemeClr>
                </a:solidFill>
                <a:latin typeface="微软雅黑" panose="020B0503020204020204" pitchFamily="34" charset="-122"/>
                <a:ea typeface="微软雅黑" panose="020B0503020204020204" pitchFamily="34" charset="-122"/>
              </a:rPr>
              <a:t>同济大学电子与信息工程学院</a:t>
            </a:r>
          </a:p>
        </p:txBody>
      </p:sp>
      <p:sp>
        <p:nvSpPr>
          <p:cNvPr id="2" name="标题 1"/>
          <p:cNvSpPr>
            <a:spLocks noGrp="1"/>
          </p:cNvSpPr>
          <p:nvPr>
            <p:ph type="title"/>
          </p:nvPr>
        </p:nvSpPr>
        <p:spPr>
          <a:xfrm>
            <a:off x="361950" y="371408"/>
            <a:ext cx="82296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72000" rIns="0" bIns="72000"/>
          <a:lstStyle>
            <a:lvl1pPr algn="l" rtl="0" eaLnBrk="0" fontAlgn="base" hangingPunct="0">
              <a:spcBef>
                <a:spcPct val="0"/>
              </a:spcBef>
              <a:spcAft>
                <a:spcPct val="0"/>
              </a:spcAft>
              <a:defRPr lang="zh-CN" altLang="en-US" sz="2400" b="0" kern="1200">
                <a:solidFill>
                  <a:schemeClr val="tx1">
                    <a:lumMod val="85000"/>
                    <a:lumOff val="15000"/>
                  </a:schemeClr>
                </a:solidFill>
                <a:latin typeface="微软雅黑" panose="020B0503020204020204" pitchFamily="34" charset="-122"/>
                <a:ea typeface="微软雅黑" panose="020B0503020204020204" pitchFamily="34" charset="-122"/>
                <a:cs typeface="+mn-cs"/>
              </a:defRPr>
            </a:lvl1pPr>
          </a:lstStyle>
          <a:p>
            <a:pPr lvl="0" algn="l"/>
            <a:r>
              <a:rPr lang="zh-CN" altLang="en-US" smtClean="0"/>
              <a:t>单击此处编辑母版标题样式</a:t>
            </a:r>
            <a:endParaRPr lang="zh-CN" altLang="en-US"/>
          </a:p>
        </p:txBody>
      </p:sp>
      <p:pic>
        <p:nvPicPr>
          <p:cNvPr id="14" name="图片 13"/>
          <p:cNvPicPr>
            <a:picLocks noChangeAspect="1"/>
          </p:cNvPicPr>
          <p:nvPr userDrawn="1"/>
        </p:nvPicPr>
        <p:blipFill rotWithShape="1">
          <a:blip r:embed="rId2" cstate="print">
            <a:extLst>
              <a:ext uri="{28A0092B-C50C-407E-A947-70E740481C1C}">
                <a14:useLocalDpi xmlns:a14="http://schemas.microsoft.com/office/drawing/2010/main" val="0"/>
              </a:ext>
            </a:extLst>
          </a:blip>
          <a:srcRect r="69975"/>
          <a:stretch>
            <a:fillRect/>
          </a:stretch>
        </p:blipFill>
        <p:spPr>
          <a:xfrm>
            <a:off x="8041082" y="247834"/>
            <a:ext cx="865985" cy="869670"/>
          </a:xfrm>
          <a:prstGeom prst="rect">
            <a:avLst/>
          </a:prstGeom>
        </p:spPr>
      </p:pic>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空白2">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空白3">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
          <p:cNvSpPr>
            <a:spLocks noChangeArrowheads="1"/>
          </p:cNvSpPr>
          <p:nvPr userDrawn="1"/>
        </p:nvSpPr>
        <p:spPr bwMode="auto">
          <a:xfrm>
            <a:off x="-6324600" y="609600"/>
            <a:ext cx="914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1027" name="TextBox 3"/>
          <p:cNvSpPr txBox="1">
            <a:spLocks noChangeArrowheads="1"/>
          </p:cNvSpPr>
          <p:nvPr userDrawn="1"/>
        </p:nvSpPr>
        <p:spPr bwMode="auto">
          <a:xfrm>
            <a:off x="2081213" y="2679700"/>
            <a:ext cx="5502275" cy="179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algn="l" eaLnBrk="1" hangingPunct="1"/>
            <a:endParaRPr lang="zh-CN" altLang="en-US" sz="1800">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iming>
    <p:tnLst>
      <p:par>
        <p:cTn id="1" dur="indefinite" restart="never" nodeType="tmRoot"/>
      </p:par>
    </p:tnLst>
  </p:timing>
  <p:txStyles>
    <p:titleStyle>
      <a:lvl1pPr algn="r" rtl="0" eaLnBrk="0" fontAlgn="base" hangingPunct="0">
        <a:spcBef>
          <a:spcPct val="0"/>
        </a:spcBef>
        <a:spcAft>
          <a:spcPct val="0"/>
        </a:spcAft>
        <a:defRPr sz="2000" b="1">
          <a:solidFill>
            <a:srgbClr val="404040"/>
          </a:solidFill>
          <a:latin typeface="微软雅黑" panose="020B0503020204020204" pitchFamily="34" charset="-122"/>
          <a:ea typeface="微软雅黑" panose="020B0503020204020204" pitchFamily="34" charset="-122"/>
          <a:cs typeface="+mj-cs"/>
        </a:defRPr>
      </a:lvl1pPr>
      <a:lvl2pPr algn="r" rtl="0" eaLnBrk="0" fontAlgn="base" hangingPunct="0">
        <a:spcBef>
          <a:spcPct val="0"/>
        </a:spcBef>
        <a:spcAft>
          <a:spcPct val="0"/>
        </a:spcAft>
        <a:defRPr sz="2000" b="1">
          <a:solidFill>
            <a:srgbClr val="404040"/>
          </a:solidFill>
          <a:latin typeface="微软雅黑" panose="020B0503020204020204" pitchFamily="34" charset="-122"/>
          <a:ea typeface="微软雅黑" panose="020B0503020204020204" pitchFamily="34" charset="-122"/>
        </a:defRPr>
      </a:lvl2pPr>
      <a:lvl3pPr algn="r" rtl="0" eaLnBrk="0" fontAlgn="base" hangingPunct="0">
        <a:spcBef>
          <a:spcPct val="0"/>
        </a:spcBef>
        <a:spcAft>
          <a:spcPct val="0"/>
        </a:spcAft>
        <a:defRPr sz="2000" b="1">
          <a:solidFill>
            <a:srgbClr val="404040"/>
          </a:solidFill>
          <a:latin typeface="微软雅黑" panose="020B0503020204020204" pitchFamily="34" charset="-122"/>
          <a:ea typeface="微软雅黑" panose="020B0503020204020204" pitchFamily="34" charset="-122"/>
        </a:defRPr>
      </a:lvl3pPr>
      <a:lvl4pPr algn="r" rtl="0" eaLnBrk="0" fontAlgn="base" hangingPunct="0">
        <a:spcBef>
          <a:spcPct val="0"/>
        </a:spcBef>
        <a:spcAft>
          <a:spcPct val="0"/>
        </a:spcAft>
        <a:defRPr sz="2000" b="1">
          <a:solidFill>
            <a:srgbClr val="404040"/>
          </a:solidFill>
          <a:latin typeface="微软雅黑" panose="020B0503020204020204" pitchFamily="34" charset="-122"/>
          <a:ea typeface="微软雅黑" panose="020B0503020204020204" pitchFamily="34" charset="-122"/>
        </a:defRPr>
      </a:lvl4pPr>
      <a:lvl5pPr algn="r" rtl="0" eaLnBrk="0" fontAlgn="base" hangingPunct="0">
        <a:spcBef>
          <a:spcPct val="0"/>
        </a:spcBef>
        <a:spcAft>
          <a:spcPct val="0"/>
        </a:spcAft>
        <a:defRPr sz="2000" b="1">
          <a:solidFill>
            <a:srgbClr val="404040"/>
          </a:solidFill>
          <a:latin typeface="微软雅黑" panose="020B0503020204020204" pitchFamily="34" charset="-122"/>
          <a:ea typeface="微软雅黑" panose="020B0503020204020204" pitchFamily="34" charset="-122"/>
        </a:defRPr>
      </a:lvl5pPr>
      <a:lvl6pPr marL="457200" algn="r" rtl="0" fontAlgn="base">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914400" algn="r" rtl="0" fontAlgn="base">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1371600" algn="r" rtl="0" fontAlgn="base">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1828800" algn="r" rtl="0" fontAlgn="base">
        <a:spcBef>
          <a:spcPct val="0"/>
        </a:spcBef>
        <a:spcAft>
          <a:spcPct val="0"/>
        </a:spcAft>
        <a:defRPr sz="2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3.wmf"/><Relationship Id="rId4"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6523" t="15384" b="513"/>
          <a:stretch>
            <a:fillRect/>
          </a:stretch>
        </p:blipFill>
        <p:spPr bwMode="auto">
          <a:xfrm>
            <a:off x="0" y="1"/>
            <a:ext cx="9143999" cy="4760686"/>
          </a:xfrm>
          <a:prstGeom prst="rect">
            <a:avLst/>
          </a:prstGeom>
          <a:noFill/>
          <a:extLst>
            <a:ext uri="{909E8E84-426E-40DD-AFC4-6F175D3DCCD1}">
              <a14:hiddenFill xmlns:a14="http://schemas.microsoft.com/office/drawing/2010/main">
                <a:solidFill>
                  <a:srgbClr val="FFFFFF"/>
                </a:solidFill>
              </a14:hiddenFill>
            </a:ext>
          </a:extLst>
        </p:spPr>
      </p:pic>
      <p:sp>
        <p:nvSpPr>
          <p:cNvPr id="15" name="任意多边形 14"/>
          <p:cNvSpPr/>
          <p:nvPr/>
        </p:nvSpPr>
        <p:spPr>
          <a:xfrm>
            <a:off x="0" y="2842036"/>
            <a:ext cx="9143999" cy="2051818"/>
          </a:xfrm>
          <a:custGeom>
            <a:avLst/>
            <a:gdLst>
              <a:gd name="connsiteX0" fmla="*/ 9143999 w 9143999"/>
              <a:gd name="connsiteY0" fmla="*/ 0 h 2051818"/>
              <a:gd name="connsiteX1" fmla="*/ 9143999 w 9143999"/>
              <a:gd name="connsiteY1" fmla="*/ 2051818 h 2051818"/>
              <a:gd name="connsiteX2" fmla="*/ 0 w 9143999"/>
              <a:gd name="connsiteY2" fmla="*/ 2051818 h 2051818"/>
              <a:gd name="connsiteX3" fmla="*/ 0 w 9143999"/>
              <a:gd name="connsiteY3" fmla="*/ 1204077 h 2051818"/>
              <a:gd name="connsiteX4" fmla="*/ 6027 w 9143999"/>
              <a:gd name="connsiteY4" fmla="*/ 1207403 h 2051818"/>
              <a:gd name="connsiteX5" fmla="*/ 7674511 w 9143999"/>
              <a:gd name="connsiteY5" fmla="*/ 718908 h 2051818"/>
              <a:gd name="connsiteX6" fmla="*/ 9044856 w 9143999"/>
              <a:gd name="connsiteY6" fmla="*/ 57555 h 2051818"/>
              <a:gd name="connsiteX7" fmla="*/ 9143999 w 9143999"/>
              <a:gd name="connsiteY7" fmla="*/ 0 h 205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3999" h="2051818">
                <a:moveTo>
                  <a:pt x="9143999" y="0"/>
                </a:moveTo>
                <a:lnTo>
                  <a:pt x="9143999" y="2051818"/>
                </a:lnTo>
                <a:lnTo>
                  <a:pt x="0" y="2051818"/>
                </a:lnTo>
                <a:lnTo>
                  <a:pt x="0" y="1204077"/>
                </a:lnTo>
                <a:lnTo>
                  <a:pt x="6027" y="1207403"/>
                </a:lnTo>
                <a:cubicBezTo>
                  <a:pt x="2066505" y="2238985"/>
                  <a:pt x="5621740" y="1499327"/>
                  <a:pt x="7674511" y="718908"/>
                </a:cubicBezTo>
                <a:cubicBezTo>
                  <a:pt x="8085065" y="562824"/>
                  <a:pt x="8552064" y="336225"/>
                  <a:pt x="9044856" y="57555"/>
                </a:cubicBezTo>
                <a:lnTo>
                  <a:pt x="9143999" y="0"/>
                </a:lnTo>
                <a:close/>
              </a:path>
            </a:pathLst>
          </a:custGeom>
          <a:gradFill>
            <a:gsLst>
              <a:gs pos="0">
                <a:srgbClr val="04619D"/>
              </a:gs>
              <a:gs pos="100000">
                <a:srgbClr val="342275">
                  <a:alpha val="8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2" name="任意多边形 21"/>
          <p:cNvSpPr/>
          <p:nvPr/>
        </p:nvSpPr>
        <p:spPr>
          <a:xfrm>
            <a:off x="0" y="3366020"/>
            <a:ext cx="9143999" cy="3478011"/>
          </a:xfrm>
          <a:custGeom>
            <a:avLst/>
            <a:gdLst>
              <a:gd name="connsiteX0" fmla="*/ 9143999 w 9143999"/>
              <a:gd name="connsiteY0" fmla="*/ 0 h 3478011"/>
              <a:gd name="connsiteX1" fmla="*/ 9143999 w 9143999"/>
              <a:gd name="connsiteY1" fmla="*/ 1393716 h 3478011"/>
              <a:gd name="connsiteX2" fmla="*/ 9143999 w 9143999"/>
              <a:gd name="connsiteY2" fmla="*/ 1513865 h 3478011"/>
              <a:gd name="connsiteX3" fmla="*/ 9143999 w 9143999"/>
              <a:gd name="connsiteY3" fmla="*/ 3478011 h 3478011"/>
              <a:gd name="connsiteX4" fmla="*/ 0 w 9143999"/>
              <a:gd name="connsiteY4" fmla="*/ 3478011 h 3478011"/>
              <a:gd name="connsiteX5" fmla="*/ 0 w 9143999"/>
              <a:gd name="connsiteY5" fmla="*/ 1513865 h 3478011"/>
              <a:gd name="connsiteX6" fmla="*/ 0 w 9143999"/>
              <a:gd name="connsiteY6" fmla="*/ 1393716 h 3478011"/>
              <a:gd name="connsiteX7" fmla="*/ 0 w 9143999"/>
              <a:gd name="connsiteY7" fmla="*/ 846204 h 3478011"/>
              <a:gd name="connsiteX8" fmla="*/ 303379 w 9143999"/>
              <a:gd name="connsiteY8" fmla="*/ 970246 h 3478011"/>
              <a:gd name="connsiteX9" fmla="*/ 8360497 w 9143999"/>
              <a:gd name="connsiteY9" fmla="*/ 342756 h 3478011"/>
              <a:gd name="connsiteX10" fmla="*/ 8941037 w 9143999"/>
              <a:gd name="connsiteY10" fmla="*/ 98098 h 347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43999" h="3478011">
                <a:moveTo>
                  <a:pt x="9143999" y="0"/>
                </a:moveTo>
                <a:lnTo>
                  <a:pt x="9143999" y="1393716"/>
                </a:lnTo>
                <a:lnTo>
                  <a:pt x="9143999" y="1513865"/>
                </a:lnTo>
                <a:lnTo>
                  <a:pt x="9143999" y="3478011"/>
                </a:lnTo>
                <a:lnTo>
                  <a:pt x="0" y="3478011"/>
                </a:lnTo>
                <a:lnTo>
                  <a:pt x="0" y="1513865"/>
                </a:lnTo>
                <a:lnTo>
                  <a:pt x="0" y="1393716"/>
                </a:lnTo>
                <a:lnTo>
                  <a:pt x="0" y="846204"/>
                </a:lnTo>
                <a:lnTo>
                  <a:pt x="303379" y="970246"/>
                </a:lnTo>
                <a:cubicBezTo>
                  <a:pt x="2685816" y="1852356"/>
                  <a:pt x="6241504" y="1135756"/>
                  <a:pt x="8360497" y="342756"/>
                </a:cubicBezTo>
                <a:cubicBezTo>
                  <a:pt x="8544757" y="273800"/>
                  <a:pt x="8739002" y="191802"/>
                  <a:pt x="8941037" y="98098"/>
                </a:cubicBezTo>
                <a:close/>
              </a:path>
            </a:pathLst>
          </a:custGeom>
          <a:gradFill flip="none" rotWithShape="1">
            <a:gsLst>
              <a:gs pos="17000">
                <a:schemeClr val="bg1"/>
              </a:gs>
              <a:gs pos="100000">
                <a:srgbClr val="DFDFDF">
                  <a:lumMod val="52000"/>
                  <a:lumOff val="48000"/>
                </a:srgbClr>
              </a:gs>
            </a:gsLst>
            <a:lin ang="2700000" scaled="1"/>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ea typeface="微软雅黑" panose="020B0503020204020204" pitchFamily="34" charset="-122"/>
            </a:endParaRPr>
          </a:p>
        </p:txBody>
      </p:sp>
      <p:sp>
        <p:nvSpPr>
          <p:cNvPr id="18" name="标题 3"/>
          <p:cNvSpPr>
            <a:spLocks noGrp="1"/>
          </p:cNvSpPr>
          <p:nvPr>
            <p:ph type="title" idx="4294967295"/>
          </p:nvPr>
        </p:nvSpPr>
        <p:spPr>
          <a:xfrm>
            <a:off x="503238" y="5272088"/>
            <a:ext cx="5135563" cy="583565"/>
          </a:xfrm>
          <a:prstGeom prst="rect">
            <a:avLst/>
          </a:prstGeom>
        </p:spPr>
        <p:txBody>
          <a:bodyPr wrap="square">
            <a:spAutoFit/>
          </a:bodyPr>
          <a:lstStyle/>
          <a:p>
            <a:pPr algn="l">
              <a:lnSpc>
                <a:spcPct val="100000"/>
              </a:lnSpc>
            </a:pPr>
            <a:r>
              <a:rPr sz="3200">
                <a:solidFill>
                  <a:srgbClr val="04619D"/>
                </a:solidFill>
              </a:rPr>
              <a:t>7.3 MIPS 31条指令介绍</a:t>
            </a:r>
          </a:p>
        </p:txBody>
      </p:sp>
      <p:pic>
        <p:nvPicPr>
          <p:cNvPr id="3" name="图片 2"/>
          <p:cNvPicPr>
            <a:picLocks noChangeAspect="1"/>
          </p:cNvPicPr>
          <p:nvPr/>
        </p:nvPicPr>
        <p:blipFill rotWithShape="1">
          <a:blip r:embed="rId3">
            <a:extLst>
              <a:ext uri="{28A0092B-C50C-407E-A947-70E740481C1C}">
                <a14:useLocalDpi xmlns:a14="http://schemas.microsoft.com/office/drawing/2010/main" val="0"/>
              </a:ext>
            </a:extLst>
          </a:blip>
          <a:srcRect r="69975"/>
          <a:stretch>
            <a:fillRect/>
          </a:stretch>
        </p:blipFill>
        <p:spPr>
          <a:xfrm>
            <a:off x="7513630" y="5143321"/>
            <a:ext cx="1456200" cy="146239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2770" y="1584325"/>
            <a:ext cx="8216900" cy="4892675"/>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格式</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 ADD </a:t>
            </a: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rd</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 </a:t>
            </a: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rs</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 </a:t>
            </a: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rt</a:t>
            </a:r>
            <a:endParaRPr sz="1600" b="1" dirty="0">
              <a:solidFill>
                <a:schemeClr val="tx1">
                  <a:lumMod val="75000"/>
                  <a:lumOff val="25000"/>
                </a:schemeClr>
              </a:solidFill>
              <a:latin typeface="微软雅黑" panose="020B0503020204020204" pitchFamily="34" charset="-122"/>
              <a:ea typeface="微软雅黑" panose="020B0503020204020204" pitchFamily="34" charset="-122"/>
            </a:endParaRPr>
          </a:p>
          <a:p>
            <a:pPr marL="0" indent="0" fontAlgn="auto">
              <a:lnSpc>
                <a:spcPct val="150000"/>
              </a:lnSpc>
              <a:spcBef>
                <a:spcPts val="0"/>
              </a:spcBef>
              <a:spcAft>
                <a:spcPts val="0"/>
              </a:spcAft>
              <a:buNone/>
              <a:defRPr/>
            </a:pPr>
            <a:r>
              <a:rPr sz="1600" b="1" dirty="0">
                <a:solidFill>
                  <a:schemeClr val="tx1">
                    <a:lumMod val="75000"/>
                    <a:lumOff val="25000"/>
                  </a:schemeClr>
                </a:solidFill>
                <a:latin typeface="微软雅黑" panose="020B0503020204020204" pitchFamily="34" charset="-122"/>
                <a:ea typeface="微软雅黑" panose="020B0503020204020204" pitchFamily="34" charset="-122"/>
              </a:rPr>
              <a:t>	</a:t>
            </a: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目的</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  与32位数相加</a:t>
            </a:r>
          </a:p>
          <a:p>
            <a:pPr marL="0" indent="0" fontAlgn="auto">
              <a:lnSpc>
                <a:spcPct val="150000"/>
              </a:lnSpc>
              <a:spcBef>
                <a:spcPts val="0"/>
              </a:spcBef>
              <a:spcAft>
                <a:spcPts val="0"/>
              </a:spcAft>
              <a:buNone/>
              <a:defRPr/>
            </a:pP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描述</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  </a:t>
            </a: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rd</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 ← </a:t>
            </a: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rs</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 + </a:t>
            </a: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rt</a:t>
            </a:r>
            <a:endParaRPr sz="1600" b="1" dirty="0">
              <a:solidFill>
                <a:schemeClr val="tx1">
                  <a:lumMod val="75000"/>
                  <a:lumOff val="25000"/>
                </a:schemeClr>
              </a:solidFill>
              <a:latin typeface="微软雅黑" panose="020B0503020204020204" pitchFamily="34" charset="-122"/>
              <a:ea typeface="微软雅黑" panose="020B0503020204020204" pitchFamily="34" charset="-122"/>
            </a:endParaRPr>
          </a:p>
          <a:p>
            <a:pPr marL="0" indent="0" fontAlgn="auto">
              <a:lnSpc>
                <a:spcPct val="150000"/>
              </a:lnSpc>
              <a:spcBef>
                <a:spcPts val="0"/>
              </a:spcBef>
              <a:spcAft>
                <a:spcPts val="0"/>
              </a:spcAft>
              <a:buNone/>
              <a:defRPr/>
            </a:pPr>
            <a:r>
              <a:rPr sz="1600" b="1" dirty="0">
                <a:solidFill>
                  <a:schemeClr val="tx1">
                    <a:lumMod val="75000"/>
                    <a:lumOff val="25000"/>
                  </a:schemeClr>
                </a:solidFill>
                <a:latin typeface="微软雅黑" panose="020B0503020204020204" pitchFamily="34" charset="-122"/>
                <a:ea typeface="微软雅黑" panose="020B0503020204020204" pitchFamily="34" charset="-122"/>
              </a:rPr>
              <a:t>将通用寄存器中存的32位数据rs与rt相加产生一个32位数据存入目标寄存器rd。</a:t>
            </a:r>
          </a:p>
          <a:p>
            <a:pPr marL="0" indent="0" fontAlgn="auto">
              <a:lnSpc>
                <a:spcPct val="150000"/>
              </a:lnSpc>
              <a:spcBef>
                <a:spcPts val="0"/>
              </a:spcBef>
              <a:spcAft>
                <a:spcPts val="0"/>
              </a:spcAft>
              <a:buNone/>
              <a:defRPr/>
            </a:pPr>
            <a:r>
              <a:rPr sz="1600" b="1" dirty="0">
                <a:solidFill>
                  <a:schemeClr val="tx1">
                    <a:lumMod val="75000"/>
                    <a:lumOff val="25000"/>
                  </a:schemeClr>
                </a:solidFill>
                <a:latin typeface="微软雅黑" panose="020B0503020204020204" pitchFamily="34" charset="-122"/>
                <a:ea typeface="微软雅黑" panose="020B0503020204020204" pitchFamily="34" charset="-122"/>
              </a:rPr>
              <a:t>• </a:t>
            </a: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如果发生了溢出，则rd不改变并且产生一个溢出的异常</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a:t>
            </a:r>
          </a:p>
          <a:p>
            <a:pPr marL="0" indent="0" fontAlgn="auto">
              <a:lnSpc>
                <a:spcPct val="150000"/>
              </a:lnSpc>
              <a:spcBef>
                <a:spcPts val="0"/>
              </a:spcBef>
              <a:spcAft>
                <a:spcPts val="0"/>
              </a:spcAft>
              <a:buNone/>
              <a:defRPr/>
            </a:pPr>
            <a:r>
              <a:rPr sz="1600" b="1" dirty="0">
                <a:solidFill>
                  <a:schemeClr val="tx1">
                    <a:lumMod val="75000"/>
                    <a:lumOff val="25000"/>
                  </a:schemeClr>
                </a:solidFill>
                <a:latin typeface="微软雅黑" panose="020B0503020204020204" pitchFamily="34" charset="-122"/>
                <a:ea typeface="微软雅黑" panose="020B0503020204020204" pitchFamily="34" charset="-122"/>
              </a:rPr>
              <a:t>• 如果相加不溢出，则产生的32位数据直接存入目标寄存器rd。</a:t>
            </a:r>
          </a:p>
          <a:p>
            <a:pPr marL="0" indent="0" fontAlgn="auto">
              <a:lnSpc>
                <a:spcPct val="150000"/>
              </a:lnSpc>
              <a:spcBef>
                <a:spcPts val="0"/>
              </a:spcBef>
              <a:spcAft>
                <a:spcPts val="0"/>
              </a:spcAft>
              <a:buNone/>
              <a:defRPr/>
            </a:pP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操作</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a:t>
            </a:r>
          </a:p>
          <a:p>
            <a:pPr marL="0" indent="0" fontAlgn="auto">
              <a:lnSpc>
                <a:spcPct val="150000"/>
              </a:lnSpc>
              <a:spcBef>
                <a:spcPts val="0"/>
              </a:spcBef>
              <a:spcAft>
                <a:spcPts val="0"/>
              </a:spcAft>
              <a:buNone/>
              <a:defRPr/>
            </a:pPr>
            <a:r>
              <a:rPr sz="1600" b="1" dirty="0">
                <a:solidFill>
                  <a:schemeClr val="tx1">
                    <a:lumMod val="75000"/>
                    <a:lumOff val="25000"/>
                  </a:schemeClr>
                </a:solidFill>
                <a:latin typeface="微软雅黑" panose="020B0503020204020204" pitchFamily="34" charset="-122"/>
                <a:ea typeface="微软雅黑" panose="020B0503020204020204" pitchFamily="34" charset="-122"/>
              </a:rPr>
              <a:t>temp ←(GPR[</a:t>
            </a: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rs</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a:t>
            </a:r>
            <a:r>
              <a:rPr sz="900" b="1" dirty="0">
                <a:solidFill>
                  <a:schemeClr val="tx1">
                    <a:lumMod val="75000"/>
                    <a:lumOff val="25000"/>
                  </a:schemeClr>
                </a:solidFill>
                <a:latin typeface="微软雅黑" panose="020B0503020204020204" pitchFamily="34" charset="-122"/>
                <a:ea typeface="微软雅黑" panose="020B0503020204020204" pitchFamily="34" charset="-122"/>
              </a:rPr>
              <a:t>31</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||GPR[</a:t>
            </a: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rs</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a:t>
            </a:r>
            <a:r>
              <a:rPr sz="900" b="1" dirty="0">
                <a:solidFill>
                  <a:schemeClr val="tx1">
                    <a:lumMod val="75000"/>
                    <a:lumOff val="25000"/>
                  </a:schemeClr>
                </a:solidFill>
                <a:latin typeface="微软雅黑" panose="020B0503020204020204" pitchFamily="34" charset="-122"/>
                <a:ea typeface="微软雅黑" panose="020B0503020204020204" pitchFamily="34" charset="-122"/>
              </a:rPr>
              <a:t>31..0</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 + (GPR[</a:t>
            </a: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rt</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a:t>
            </a:r>
            <a:r>
              <a:rPr sz="900" b="1" dirty="0">
                <a:solidFill>
                  <a:schemeClr val="tx1">
                    <a:lumMod val="75000"/>
                    <a:lumOff val="25000"/>
                  </a:schemeClr>
                </a:solidFill>
                <a:latin typeface="微软雅黑" panose="020B0503020204020204" pitchFamily="34" charset="-122"/>
                <a:ea typeface="微软雅黑" panose="020B0503020204020204" pitchFamily="34" charset="-122"/>
              </a:rPr>
              <a:t>31</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||GPR[</a:t>
            </a: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rt</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a:t>
            </a:r>
            <a:r>
              <a:rPr sz="900" b="1" dirty="0">
                <a:solidFill>
                  <a:schemeClr val="tx1">
                    <a:lumMod val="75000"/>
                    <a:lumOff val="25000"/>
                  </a:schemeClr>
                </a:solidFill>
                <a:latin typeface="微软雅黑" panose="020B0503020204020204" pitchFamily="34" charset="-122"/>
                <a:ea typeface="微软雅黑" panose="020B0503020204020204" pitchFamily="34" charset="-122"/>
              </a:rPr>
              <a:t>31..0</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a:t>
            </a:r>
          </a:p>
          <a:p>
            <a:pPr marL="0" indent="0" fontAlgn="auto">
              <a:lnSpc>
                <a:spcPct val="150000"/>
              </a:lnSpc>
              <a:spcBef>
                <a:spcPts val="0"/>
              </a:spcBef>
              <a:spcAft>
                <a:spcPts val="0"/>
              </a:spcAft>
              <a:buNone/>
              <a:defRPr/>
            </a:pPr>
            <a:r>
              <a:rPr sz="1600" b="1" dirty="0">
                <a:solidFill>
                  <a:schemeClr val="tx1">
                    <a:lumMod val="75000"/>
                    <a:lumOff val="25000"/>
                  </a:schemeClr>
                </a:solidFill>
                <a:latin typeface="微软雅黑" panose="020B0503020204020204" pitchFamily="34" charset="-122"/>
                <a:ea typeface="微软雅黑" panose="020B0503020204020204" pitchFamily="34" charset="-122"/>
              </a:rPr>
              <a:t>if temp</a:t>
            </a:r>
            <a:r>
              <a:rPr sz="900" b="1" dirty="0">
                <a:solidFill>
                  <a:schemeClr val="tx1">
                    <a:lumMod val="75000"/>
                    <a:lumOff val="25000"/>
                  </a:schemeClr>
                </a:solidFill>
                <a:latin typeface="微软雅黑" panose="020B0503020204020204" pitchFamily="34" charset="-122"/>
                <a:ea typeface="微软雅黑" panose="020B0503020204020204" pitchFamily="34" charset="-122"/>
              </a:rPr>
              <a:t>32</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 ≠temp</a:t>
            </a:r>
            <a:r>
              <a:rPr sz="900" b="1" dirty="0">
                <a:solidFill>
                  <a:schemeClr val="tx1">
                    <a:lumMod val="75000"/>
                    <a:lumOff val="25000"/>
                  </a:schemeClr>
                </a:solidFill>
                <a:latin typeface="微软雅黑" panose="020B0503020204020204" pitchFamily="34" charset="-122"/>
                <a:ea typeface="微软雅黑" panose="020B0503020204020204" pitchFamily="34" charset="-122"/>
              </a:rPr>
              <a:t>31</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 then</a:t>
            </a:r>
          </a:p>
          <a:p>
            <a:pPr marL="0" indent="0" fontAlgn="auto">
              <a:lnSpc>
                <a:spcPct val="150000"/>
              </a:lnSpc>
              <a:spcBef>
                <a:spcPts val="0"/>
              </a:spcBef>
              <a:spcAft>
                <a:spcPts val="0"/>
              </a:spcAft>
              <a:buNone/>
              <a:defRPr/>
            </a:pP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SignalException</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a:t>
            </a: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IntegerOverflow</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a:t>
            </a:r>
          </a:p>
          <a:p>
            <a:pPr marL="0" indent="0" fontAlgn="auto">
              <a:lnSpc>
                <a:spcPct val="150000"/>
              </a:lnSpc>
              <a:spcBef>
                <a:spcPts val="0"/>
              </a:spcBef>
              <a:spcAft>
                <a:spcPts val="0"/>
              </a:spcAft>
              <a:buNone/>
              <a:defRPr/>
            </a:pPr>
            <a:r>
              <a:rPr sz="1600" b="1" dirty="0">
                <a:solidFill>
                  <a:schemeClr val="tx1">
                    <a:lumMod val="75000"/>
                    <a:lumOff val="25000"/>
                  </a:schemeClr>
                </a:solidFill>
                <a:latin typeface="微软雅黑" panose="020B0503020204020204" pitchFamily="34" charset="-122"/>
                <a:ea typeface="微软雅黑" panose="020B0503020204020204" pitchFamily="34" charset="-122"/>
              </a:rPr>
              <a:t>else</a:t>
            </a:r>
          </a:p>
          <a:p>
            <a:pPr marL="0" indent="0" fontAlgn="auto">
              <a:lnSpc>
                <a:spcPct val="150000"/>
              </a:lnSpc>
              <a:spcBef>
                <a:spcPts val="0"/>
              </a:spcBef>
              <a:spcAft>
                <a:spcPts val="0"/>
              </a:spcAft>
              <a:buNone/>
              <a:defRPr/>
            </a:pPr>
            <a:r>
              <a:rPr sz="1600" b="1" dirty="0">
                <a:solidFill>
                  <a:schemeClr val="tx1">
                    <a:lumMod val="75000"/>
                    <a:lumOff val="25000"/>
                  </a:schemeClr>
                </a:solidFill>
                <a:latin typeface="微软雅黑" panose="020B0503020204020204" pitchFamily="34" charset="-122"/>
                <a:ea typeface="微软雅黑" panose="020B0503020204020204" pitchFamily="34" charset="-122"/>
              </a:rPr>
              <a:t>GPR[</a:t>
            </a: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rd</a:t>
            </a:r>
            <a:r>
              <a:rPr sz="1600" b="1" dirty="0">
                <a:solidFill>
                  <a:schemeClr val="tx1">
                    <a:lumMod val="75000"/>
                    <a:lumOff val="25000"/>
                  </a:schemeClr>
                </a:solidFill>
                <a:latin typeface="微软雅黑" panose="020B0503020204020204" pitchFamily="34" charset="-122"/>
                <a:ea typeface="微软雅黑" panose="020B0503020204020204" pitchFamily="34" charset="-122"/>
              </a:rPr>
              <a:t>] ←temp</a:t>
            </a:r>
          </a:p>
          <a:p>
            <a:pPr marL="0" indent="0" fontAlgn="auto">
              <a:lnSpc>
                <a:spcPct val="150000"/>
              </a:lnSpc>
              <a:spcBef>
                <a:spcPts val="0"/>
              </a:spcBef>
              <a:spcAft>
                <a:spcPts val="0"/>
              </a:spcAft>
              <a:buNone/>
              <a:defRPr/>
            </a:pPr>
            <a:r>
              <a:rPr sz="1600" b="1" dirty="0" err="1">
                <a:solidFill>
                  <a:schemeClr val="tx1">
                    <a:lumMod val="75000"/>
                    <a:lumOff val="25000"/>
                  </a:schemeClr>
                </a:solidFill>
                <a:latin typeface="微软雅黑" panose="020B0503020204020204" pitchFamily="34" charset="-122"/>
                <a:ea typeface="微软雅黑" panose="020B0503020204020204" pitchFamily="34" charset="-122"/>
              </a:rPr>
              <a:t>Endif</a:t>
            </a:r>
            <a:endParaRPr sz="16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266" name="标题 7265"/>
          <p:cNvSpPr>
            <a:spLocks noGrp="1"/>
          </p:cNvSpPr>
          <p:nvPr>
            <p:ph type="title"/>
          </p:nvPr>
        </p:nvSpPr>
        <p:spPr/>
        <p:txBody>
          <a:bodyPr/>
          <a:lstStyle/>
          <a:p>
            <a:pPr algn="l"/>
            <a:r>
              <a:rPr b="1"/>
              <a:t>ADD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2770" y="1584325"/>
            <a:ext cx="8216900" cy="4892675"/>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格式:  ADDI rt, rs, immediate </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目的:  使32位数据与一个立即数相加</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描述:  rt ← rs + immediate</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16位有符号立即数与通用寄存器rs中的32位数相加产生一个32位的数存入目标寄存器rt。</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 如果发生了溢出，则rt不改变并且产生一个溢出的异常。</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 如果相加不溢出，则结果存入目标寄存器rt。</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temp ←(GPR[rs]</a:t>
            </a:r>
            <a:r>
              <a:rPr sz="900" b="1">
                <a:solidFill>
                  <a:schemeClr val="tx1">
                    <a:lumMod val="75000"/>
                    <a:lumOff val="25000"/>
                  </a:schemeClr>
                </a:solidFill>
                <a:latin typeface="微软雅黑" panose="020B0503020204020204" pitchFamily="34" charset="-122"/>
                <a:ea typeface="微软雅黑" panose="020B0503020204020204" pitchFamily="34" charset="-122"/>
              </a:rPr>
              <a:t>31</a:t>
            </a:r>
            <a:r>
              <a:rPr sz="1600" b="1">
                <a:solidFill>
                  <a:schemeClr val="tx1">
                    <a:lumMod val="75000"/>
                    <a:lumOff val="25000"/>
                  </a:schemeClr>
                </a:solidFill>
                <a:latin typeface="微软雅黑" panose="020B0503020204020204" pitchFamily="34" charset="-122"/>
                <a:ea typeface="微软雅黑" panose="020B0503020204020204" pitchFamily="34" charset="-122"/>
              </a:rPr>
              <a:t>||GPR[rs]</a:t>
            </a:r>
            <a:r>
              <a:rPr sz="900" b="1">
                <a:solidFill>
                  <a:schemeClr val="tx1">
                    <a:lumMod val="75000"/>
                    <a:lumOff val="25000"/>
                  </a:schemeClr>
                </a:solidFill>
                <a:latin typeface="微软雅黑" panose="020B0503020204020204" pitchFamily="34" charset="-122"/>
                <a:ea typeface="微软雅黑" panose="020B0503020204020204" pitchFamily="34" charset="-122"/>
              </a:rPr>
              <a:t>31..0</a:t>
            </a:r>
            <a:r>
              <a:rPr sz="1600" b="1">
                <a:solidFill>
                  <a:schemeClr val="tx1">
                    <a:lumMod val="75000"/>
                    <a:lumOff val="25000"/>
                  </a:schemeClr>
                </a:solidFill>
                <a:latin typeface="微软雅黑" panose="020B0503020204020204" pitchFamily="34" charset="-122"/>
                <a:ea typeface="微软雅黑" panose="020B0503020204020204" pitchFamily="34" charset="-122"/>
              </a:rPr>
              <a:t>) + sign_extend(immediate)</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if temp</a:t>
            </a:r>
            <a:r>
              <a:rPr sz="900" b="1">
                <a:solidFill>
                  <a:schemeClr val="tx1">
                    <a:lumMod val="75000"/>
                    <a:lumOff val="25000"/>
                  </a:schemeClr>
                </a:solidFill>
                <a:latin typeface="微软雅黑" panose="020B0503020204020204" pitchFamily="34" charset="-122"/>
                <a:ea typeface="微软雅黑" panose="020B0503020204020204" pitchFamily="34" charset="-122"/>
              </a:rPr>
              <a:t>32</a:t>
            </a:r>
            <a:r>
              <a:rPr sz="1600" b="1">
                <a:solidFill>
                  <a:schemeClr val="tx1">
                    <a:lumMod val="75000"/>
                    <a:lumOff val="25000"/>
                  </a:schemeClr>
                </a:solidFill>
                <a:latin typeface="微软雅黑" panose="020B0503020204020204" pitchFamily="34" charset="-122"/>
                <a:ea typeface="微软雅黑" panose="020B0503020204020204" pitchFamily="34" charset="-122"/>
              </a:rPr>
              <a:t> ≠ temp</a:t>
            </a:r>
            <a:r>
              <a:rPr sz="900" b="1">
                <a:solidFill>
                  <a:schemeClr val="tx1">
                    <a:lumMod val="75000"/>
                    <a:lumOff val="25000"/>
                  </a:schemeClr>
                </a:solidFill>
                <a:latin typeface="微软雅黑" panose="020B0503020204020204" pitchFamily="34" charset="-122"/>
                <a:ea typeface="微软雅黑" panose="020B0503020204020204" pitchFamily="34" charset="-122"/>
              </a:rPr>
              <a:t>31</a:t>
            </a:r>
            <a:r>
              <a:rPr sz="1600" b="1">
                <a:solidFill>
                  <a:schemeClr val="tx1">
                    <a:lumMod val="75000"/>
                    <a:lumOff val="25000"/>
                  </a:schemeClr>
                </a:solidFill>
                <a:latin typeface="微软雅黑" panose="020B0503020204020204" pitchFamily="34" charset="-122"/>
                <a:ea typeface="微软雅黑" panose="020B0503020204020204" pitchFamily="34" charset="-122"/>
              </a:rPr>
              <a:t> then</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SignalException(IntegerOverflow)</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else</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GPR[rt] ←temp</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endif</a:t>
            </a:r>
          </a:p>
        </p:txBody>
      </p:sp>
      <p:sp>
        <p:nvSpPr>
          <p:cNvPr id="7266" name="标题 7265"/>
          <p:cNvSpPr>
            <a:spLocks noGrp="1"/>
          </p:cNvSpPr>
          <p:nvPr>
            <p:ph type="title"/>
          </p:nvPr>
        </p:nvSpPr>
        <p:spPr/>
        <p:txBody>
          <a:bodyPr/>
          <a:lstStyle/>
          <a:p>
            <a:pPr algn="l"/>
            <a:r>
              <a:rPr b="1"/>
              <a:t>ADD</a:t>
            </a:r>
            <a:r>
              <a:rPr lang="en-US" altLang="zh-CN" b="1"/>
              <a:t>I</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463550" y="1804035"/>
            <a:ext cx="8216900" cy="4246245"/>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sz="2000" b="1" dirty="0" err="1">
                <a:solidFill>
                  <a:schemeClr val="tx1">
                    <a:lumMod val="75000"/>
                    <a:lumOff val="25000"/>
                  </a:schemeClr>
                </a:solidFill>
                <a:latin typeface="微软雅黑" panose="020B0503020204020204" pitchFamily="34" charset="-122"/>
                <a:ea typeface="微软雅黑" panose="020B0503020204020204" pitchFamily="34" charset="-122"/>
              </a:rPr>
              <a:t>格式</a:t>
            </a:r>
            <a:r>
              <a:rPr sz="2000" b="1" dirty="0">
                <a:solidFill>
                  <a:schemeClr val="tx1">
                    <a:lumMod val="75000"/>
                    <a:lumOff val="25000"/>
                  </a:schemeClr>
                </a:solidFill>
                <a:latin typeface="微软雅黑" panose="020B0503020204020204" pitchFamily="34" charset="-122"/>
                <a:ea typeface="微软雅黑" panose="020B0503020204020204" pitchFamily="34" charset="-122"/>
              </a:rPr>
              <a:t>:  ADDIU </a:t>
            </a:r>
            <a:r>
              <a:rPr sz="2000" b="1" dirty="0" err="1">
                <a:solidFill>
                  <a:schemeClr val="tx1">
                    <a:lumMod val="75000"/>
                    <a:lumOff val="25000"/>
                  </a:schemeClr>
                </a:solidFill>
                <a:latin typeface="微软雅黑" panose="020B0503020204020204" pitchFamily="34" charset="-122"/>
                <a:ea typeface="微软雅黑" panose="020B0503020204020204" pitchFamily="34" charset="-122"/>
              </a:rPr>
              <a:t>rt</a:t>
            </a:r>
            <a:r>
              <a:rPr sz="2000" b="1" dirty="0">
                <a:solidFill>
                  <a:schemeClr val="tx1">
                    <a:lumMod val="75000"/>
                    <a:lumOff val="25000"/>
                  </a:schemeClr>
                </a:solidFill>
                <a:latin typeface="微软雅黑" panose="020B0503020204020204" pitchFamily="34" charset="-122"/>
                <a:ea typeface="微软雅黑" panose="020B0503020204020204" pitchFamily="34" charset="-122"/>
              </a:rPr>
              <a:t>, </a:t>
            </a:r>
            <a:r>
              <a:rPr sz="2000" b="1" dirty="0" err="1">
                <a:solidFill>
                  <a:schemeClr val="tx1">
                    <a:lumMod val="75000"/>
                    <a:lumOff val="25000"/>
                  </a:schemeClr>
                </a:solidFill>
                <a:latin typeface="微软雅黑" panose="020B0503020204020204" pitchFamily="34" charset="-122"/>
                <a:ea typeface="微软雅黑" panose="020B0503020204020204" pitchFamily="34" charset="-122"/>
              </a:rPr>
              <a:t>rs</a:t>
            </a:r>
            <a:r>
              <a:rPr sz="2000" b="1" dirty="0">
                <a:solidFill>
                  <a:schemeClr val="tx1">
                    <a:lumMod val="75000"/>
                    <a:lumOff val="25000"/>
                  </a:schemeClr>
                </a:solidFill>
                <a:latin typeface="微软雅黑" panose="020B0503020204020204" pitchFamily="34" charset="-122"/>
                <a:ea typeface="微软雅黑" panose="020B0503020204020204" pitchFamily="34" charset="-122"/>
              </a:rPr>
              <a:t>, immediate </a:t>
            </a:r>
          </a:p>
          <a:p>
            <a:pPr marL="0" indent="0" fontAlgn="auto">
              <a:lnSpc>
                <a:spcPct val="150000"/>
              </a:lnSpc>
              <a:spcBef>
                <a:spcPts val="0"/>
              </a:spcBef>
              <a:spcAft>
                <a:spcPts val="0"/>
              </a:spcAft>
              <a:buNone/>
              <a:defRPr/>
            </a:pPr>
            <a:r>
              <a:rPr sz="2000" b="1" dirty="0" err="1">
                <a:solidFill>
                  <a:schemeClr val="tx1">
                    <a:lumMod val="75000"/>
                    <a:lumOff val="25000"/>
                  </a:schemeClr>
                </a:solidFill>
                <a:latin typeface="微软雅黑" panose="020B0503020204020204" pitchFamily="34" charset="-122"/>
                <a:ea typeface="微软雅黑" panose="020B0503020204020204" pitchFamily="34" charset="-122"/>
              </a:rPr>
              <a:t>目的</a:t>
            </a:r>
            <a:r>
              <a:rPr sz="2000" b="1" dirty="0">
                <a:solidFill>
                  <a:schemeClr val="tx1">
                    <a:lumMod val="75000"/>
                    <a:lumOff val="25000"/>
                  </a:schemeClr>
                </a:solidFill>
                <a:latin typeface="微软雅黑" panose="020B0503020204020204" pitchFamily="34" charset="-122"/>
                <a:ea typeface="微软雅黑" panose="020B0503020204020204" pitchFamily="34" charset="-122"/>
              </a:rPr>
              <a:t>:  使32位数据与一个立即数相加</a:t>
            </a:r>
          </a:p>
          <a:p>
            <a:pPr marL="0" indent="0" fontAlgn="auto">
              <a:lnSpc>
                <a:spcPct val="150000"/>
              </a:lnSpc>
              <a:spcBef>
                <a:spcPts val="0"/>
              </a:spcBef>
              <a:spcAft>
                <a:spcPts val="0"/>
              </a:spcAft>
              <a:buNone/>
              <a:defRPr/>
            </a:pPr>
            <a:r>
              <a:rPr sz="2000" b="1" dirty="0" err="1">
                <a:solidFill>
                  <a:schemeClr val="tx1">
                    <a:lumMod val="75000"/>
                    <a:lumOff val="25000"/>
                  </a:schemeClr>
                </a:solidFill>
                <a:latin typeface="微软雅黑" panose="020B0503020204020204" pitchFamily="34" charset="-122"/>
                <a:ea typeface="微软雅黑" panose="020B0503020204020204" pitchFamily="34" charset="-122"/>
              </a:rPr>
              <a:t>描述</a:t>
            </a:r>
            <a:r>
              <a:rPr sz="2000" b="1" dirty="0">
                <a:solidFill>
                  <a:schemeClr val="tx1">
                    <a:lumMod val="75000"/>
                    <a:lumOff val="25000"/>
                  </a:schemeClr>
                </a:solidFill>
                <a:latin typeface="微软雅黑" panose="020B0503020204020204" pitchFamily="34" charset="-122"/>
                <a:ea typeface="微软雅黑" panose="020B0503020204020204" pitchFamily="34" charset="-122"/>
              </a:rPr>
              <a:t>:  </a:t>
            </a:r>
            <a:r>
              <a:rPr sz="2000" b="1" dirty="0" err="1">
                <a:solidFill>
                  <a:schemeClr val="tx1">
                    <a:lumMod val="75000"/>
                    <a:lumOff val="25000"/>
                  </a:schemeClr>
                </a:solidFill>
                <a:latin typeface="微软雅黑" panose="020B0503020204020204" pitchFamily="34" charset="-122"/>
                <a:ea typeface="微软雅黑" panose="020B0503020204020204" pitchFamily="34" charset="-122"/>
              </a:rPr>
              <a:t>rt</a:t>
            </a:r>
            <a:r>
              <a:rPr sz="2000" b="1" dirty="0">
                <a:solidFill>
                  <a:schemeClr val="tx1">
                    <a:lumMod val="75000"/>
                    <a:lumOff val="25000"/>
                  </a:schemeClr>
                </a:solidFill>
                <a:latin typeface="微软雅黑" panose="020B0503020204020204" pitchFamily="34" charset="-122"/>
                <a:ea typeface="微软雅黑" panose="020B0503020204020204" pitchFamily="34" charset="-122"/>
              </a:rPr>
              <a:t> ← </a:t>
            </a:r>
            <a:r>
              <a:rPr sz="2000" b="1" dirty="0" err="1">
                <a:solidFill>
                  <a:schemeClr val="tx1">
                    <a:lumMod val="75000"/>
                    <a:lumOff val="25000"/>
                  </a:schemeClr>
                </a:solidFill>
                <a:latin typeface="微软雅黑" panose="020B0503020204020204" pitchFamily="34" charset="-122"/>
                <a:ea typeface="微软雅黑" panose="020B0503020204020204" pitchFamily="34" charset="-122"/>
              </a:rPr>
              <a:t>rs</a:t>
            </a:r>
            <a:r>
              <a:rPr sz="2000" b="1" dirty="0">
                <a:solidFill>
                  <a:schemeClr val="tx1">
                    <a:lumMod val="75000"/>
                    <a:lumOff val="25000"/>
                  </a:schemeClr>
                </a:solidFill>
                <a:latin typeface="微软雅黑" panose="020B0503020204020204" pitchFamily="34" charset="-122"/>
                <a:ea typeface="微软雅黑" panose="020B0503020204020204" pitchFamily="34" charset="-122"/>
              </a:rPr>
              <a:t> + immediate</a:t>
            </a:r>
          </a:p>
          <a:p>
            <a:pPr marL="0" indent="0" fontAlgn="auto">
              <a:lnSpc>
                <a:spcPct val="150000"/>
              </a:lnSpc>
              <a:spcBef>
                <a:spcPts val="0"/>
              </a:spcBef>
              <a:spcAft>
                <a:spcPts val="0"/>
              </a:spcAft>
              <a:buNone/>
              <a:defRPr/>
            </a:pPr>
            <a:r>
              <a:rPr sz="2000" b="1" dirty="0">
                <a:solidFill>
                  <a:schemeClr val="tx1">
                    <a:lumMod val="75000"/>
                    <a:lumOff val="25000"/>
                  </a:schemeClr>
                </a:solidFill>
                <a:latin typeface="微软雅黑" panose="020B0503020204020204" pitchFamily="34" charset="-122"/>
                <a:ea typeface="微软雅黑" panose="020B0503020204020204" pitchFamily="34" charset="-122"/>
              </a:rPr>
              <a:t>一个16位有符号的立即数与通用寄存器rs中的32位数相加产生一个32位的数存入目标寄存器rt。</a:t>
            </a:r>
          </a:p>
          <a:p>
            <a:pPr marL="0" indent="0" fontAlgn="auto">
              <a:lnSpc>
                <a:spcPct val="150000"/>
              </a:lnSpc>
              <a:spcBef>
                <a:spcPts val="0"/>
              </a:spcBef>
              <a:spcAft>
                <a:spcPts val="0"/>
              </a:spcAft>
              <a:buNone/>
              <a:defRPr/>
            </a:pPr>
            <a:r>
              <a:rPr sz="2000" b="1" dirty="0" err="1">
                <a:solidFill>
                  <a:schemeClr val="tx1">
                    <a:lumMod val="75000"/>
                    <a:lumOff val="25000"/>
                  </a:schemeClr>
                </a:solidFill>
                <a:latin typeface="微软雅黑" panose="020B0503020204020204" pitchFamily="34" charset="-122"/>
                <a:ea typeface="微软雅黑" panose="020B0503020204020204" pitchFamily="34" charset="-122"/>
              </a:rPr>
              <a:t>在任何情况下都不会有溢出的异常</a:t>
            </a:r>
            <a:r>
              <a:rPr sz="2000" b="1" dirty="0">
                <a:solidFill>
                  <a:schemeClr val="tx1">
                    <a:lumMod val="75000"/>
                    <a:lumOff val="25000"/>
                  </a:schemeClr>
                </a:solidFill>
                <a:latin typeface="微软雅黑" panose="020B0503020204020204" pitchFamily="34" charset="-122"/>
                <a:ea typeface="微软雅黑" panose="020B0503020204020204" pitchFamily="34" charset="-122"/>
              </a:rPr>
              <a:t>。</a:t>
            </a:r>
          </a:p>
          <a:p>
            <a:pPr marL="0" indent="0" fontAlgn="auto">
              <a:lnSpc>
                <a:spcPct val="150000"/>
              </a:lnSpc>
              <a:spcBef>
                <a:spcPts val="0"/>
              </a:spcBef>
              <a:spcAft>
                <a:spcPts val="0"/>
              </a:spcAft>
              <a:buNone/>
              <a:defRPr/>
            </a:pPr>
            <a:r>
              <a:rPr sz="2000" b="1" dirty="0">
                <a:solidFill>
                  <a:schemeClr val="tx1">
                    <a:lumMod val="75000"/>
                    <a:lumOff val="25000"/>
                  </a:schemeClr>
                </a:solidFill>
                <a:latin typeface="微软雅黑" panose="020B0503020204020204" pitchFamily="34" charset="-122"/>
                <a:ea typeface="微软雅黑" panose="020B0503020204020204" pitchFamily="34" charset="-122"/>
              </a:rPr>
              <a:t>	</a:t>
            </a:r>
            <a:r>
              <a:rPr sz="2000" b="1" dirty="0" err="1">
                <a:solidFill>
                  <a:schemeClr val="tx1">
                    <a:lumMod val="75000"/>
                    <a:lumOff val="25000"/>
                  </a:schemeClr>
                </a:solidFill>
                <a:latin typeface="微软雅黑" panose="020B0503020204020204" pitchFamily="34" charset="-122"/>
                <a:ea typeface="微软雅黑" panose="020B0503020204020204" pitchFamily="34" charset="-122"/>
              </a:rPr>
              <a:t>操作</a:t>
            </a:r>
            <a:r>
              <a:rPr sz="2000" b="1" dirty="0">
                <a:solidFill>
                  <a:schemeClr val="tx1">
                    <a:lumMod val="75000"/>
                    <a:lumOff val="25000"/>
                  </a:schemeClr>
                </a:solidFill>
                <a:latin typeface="微软雅黑" panose="020B0503020204020204" pitchFamily="34" charset="-122"/>
                <a:ea typeface="微软雅黑" panose="020B0503020204020204" pitchFamily="34" charset="-122"/>
              </a:rPr>
              <a:t>：</a:t>
            </a:r>
          </a:p>
          <a:p>
            <a:pPr marL="0" indent="0" fontAlgn="auto">
              <a:lnSpc>
                <a:spcPct val="150000"/>
              </a:lnSpc>
              <a:spcBef>
                <a:spcPts val="0"/>
              </a:spcBef>
              <a:spcAft>
                <a:spcPts val="0"/>
              </a:spcAft>
              <a:buNone/>
              <a:defRPr/>
            </a:pPr>
            <a:r>
              <a:rPr sz="2000" b="1" dirty="0">
                <a:solidFill>
                  <a:schemeClr val="tx1">
                    <a:lumMod val="75000"/>
                    <a:lumOff val="25000"/>
                  </a:schemeClr>
                </a:solidFill>
                <a:latin typeface="微软雅黑" panose="020B0503020204020204" pitchFamily="34" charset="-122"/>
                <a:ea typeface="微软雅黑" panose="020B0503020204020204" pitchFamily="34" charset="-122"/>
              </a:rPr>
              <a:t>	temp ←GPR[</a:t>
            </a:r>
            <a:r>
              <a:rPr sz="2000" b="1" dirty="0" err="1">
                <a:solidFill>
                  <a:schemeClr val="tx1">
                    <a:lumMod val="75000"/>
                    <a:lumOff val="25000"/>
                  </a:schemeClr>
                </a:solidFill>
                <a:latin typeface="微软雅黑" panose="020B0503020204020204" pitchFamily="34" charset="-122"/>
                <a:ea typeface="微软雅黑" panose="020B0503020204020204" pitchFamily="34" charset="-122"/>
              </a:rPr>
              <a:t>rs</a:t>
            </a:r>
            <a:r>
              <a:rPr sz="2000" b="1" dirty="0">
                <a:solidFill>
                  <a:schemeClr val="tx1">
                    <a:lumMod val="75000"/>
                    <a:lumOff val="25000"/>
                  </a:schemeClr>
                </a:solidFill>
                <a:latin typeface="微软雅黑" panose="020B0503020204020204" pitchFamily="34" charset="-122"/>
                <a:ea typeface="微软雅黑" panose="020B0503020204020204" pitchFamily="34" charset="-122"/>
              </a:rPr>
              <a:t>] + </a:t>
            </a:r>
            <a:r>
              <a:rPr sz="2000" b="1" dirty="0" err="1">
                <a:solidFill>
                  <a:schemeClr val="tx1">
                    <a:lumMod val="75000"/>
                    <a:lumOff val="25000"/>
                  </a:schemeClr>
                </a:solidFill>
                <a:latin typeface="微软雅黑" panose="020B0503020204020204" pitchFamily="34" charset="-122"/>
                <a:ea typeface="微软雅黑" panose="020B0503020204020204" pitchFamily="34" charset="-122"/>
              </a:rPr>
              <a:t>sign_extend</a:t>
            </a:r>
            <a:r>
              <a:rPr sz="2000" b="1" dirty="0">
                <a:solidFill>
                  <a:schemeClr val="tx1">
                    <a:lumMod val="75000"/>
                    <a:lumOff val="25000"/>
                  </a:schemeClr>
                </a:solidFill>
                <a:latin typeface="微软雅黑" panose="020B0503020204020204" pitchFamily="34" charset="-122"/>
                <a:ea typeface="微软雅黑" panose="020B0503020204020204" pitchFamily="34" charset="-122"/>
              </a:rPr>
              <a:t>(immediate)</a:t>
            </a:r>
          </a:p>
          <a:p>
            <a:pPr marL="0" indent="0" fontAlgn="auto">
              <a:lnSpc>
                <a:spcPct val="150000"/>
              </a:lnSpc>
              <a:spcBef>
                <a:spcPts val="0"/>
              </a:spcBef>
              <a:spcAft>
                <a:spcPts val="0"/>
              </a:spcAft>
              <a:buNone/>
              <a:defRPr/>
            </a:pPr>
            <a:r>
              <a:rPr lang="en-US" sz="2000" b="1" dirty="0" smtClean="0">
                <a:solidFill>
                  <a:schemeClr val="tx1">
                    <a:lumMod val="75000"/>
                    <a:lumOff val="25000"/>
                  </a:schemeClr>
                </a:solidFill>
                <a:latin typeface="微软雅黑" panose="020B0503020204020204" pitchFamily="34" charset="-122"/>
                <a:ea typeface="微软雅黑" panose="020B0503020204020204" pitchFamily="34" charset="-122"/>
              </a:rPr>
              <a:t>            </a:t>
            </a:r>
            <a:r>
              <a:rPr sz="2000" b="1" dirty="0" smtClean="0">
                <a:solidFill>
                  <a:schemeClr val="tx1">
                    <a:lumMod val="75000"/>
                    <a:lumOff val="25000"/>
                  </a:schemeClr>
                </a:solidFill>
                <a:latin typeface="微软雅黑" panose="020B0503020204020204" pitchFamily="34" charset="-122"/>
                <a:ea typeface="微软雅黑" panose="020B0503020204020204" pitchFamily="34" charset="-122"/>
              </a:rPr>
              <a:t>GPR[</a:t>
            </a:r>
            <a:r>
              <a:rPr sz="2000" b="1" dirty="0" err="1" smtClean="0">
                <a:solidFill>
                  <a:schemeClr val="tx1">
                    <a:lumMod val="75000"/>
                    <a:lumOff val="25000"/>
                  </a:schemeClr>
                </a:solidFill>
                <a:latin typeface="微软雅黑" panose="020B0503020204020204" pitchFamily="34" charset="-122"/>
                <a:ea typeface="微软雅黑" panose="020B0503020204020204" pitchFamily="34" charset="-122"/>
              </a:rPr>
              <a:t>rt</a:t>
            </a:r>
            <a:r>
              <a:rPr sz="2000" b="1" dirty="0">
                <a:solidFill>
                  <a:schemeClr val="tx1">
                    <a:lumMod val="75000"/>
                    <a:lumOff val="25000"/>
                  </a:schemeClr>
                </a:solidFill>
                <a:latin typeface="微软雅黑" panose="020B0503020204020204" pitchFamily="34" charset="-122"/>
                <a:ea typeface="微软雅黑" panose="020B0503020204020204" pitchFamily="34" charset="-122"/>
              </a:rPr>
              <a:t>] ← temp</a:t>
            </a:r>
          </a:p>
        </p:txBody>
      </p:sp>
      <p:sp>
        <p:nvSpPr>
          <p:cNvPr id="7266" name="标题 7265"/>
          <p:cNvSpPr>
            <a:spLocks noGrp="1"/>
          </p:cNvSpPr>
          <p:nvPr>
            <p:ph type="title"/>
          </p:nvPr>
        </p:nvSpPr>
        <p:spPr/>
        <p:txBody>
          <a:bodyPr/>
          <a:lstStyle/>
          <a:p>
            <a:pPr algn="l"/>
            <a:r>
              <a:rPr b="1"/>
              <a:t>ADDIU</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46100" y="1555115"/>
            <a:ext cx="8216900" cy="5077460"/>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格式:  ADDU rd, rs, rt </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目的:  32位数据相加</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描述:  rd ← rs + rt</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将通用寄存器中存的32位数据rs与rt相加产生一个32位数据存入目标寄存器rd。</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在任何情况下都不会有溢出的异常。</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temp ← GPR[rs] + GPR[rt]</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GPR[rd] ← temp</a:t>
            </a:r>
          </a:p>
        </p:txBody>
      </p:sp>
      <p:sp>
        <p:nvSpPr>
          <p:cNvPr id="7266" name="标题 7265"/>
          <p:cNvSpPr>
            <a:spLocks noGrp="1"/>
          </p:cNvSpPr>
          <p:nvPr>
            <p:ph type="title"/>
          </p:nvPr>
        </p:nvSpPr>
        <p:spPr/>
        <p:txBody>
          <a:bodyPr/>
          <a:lstStyle/>
          <a:p>
            <a:pPr algn="l"/>
            <a:r>
              <a:rPr b="1"/>
              <a:t>ADDU</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58800" y="1638935"/>
            <a:ext cx="8216900" cy="3969385"/>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格式:  AND rd, rs, rt</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目的:  按位逻辑与</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描述:  rd ← rs AND rt</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将通用寄存器rs和rd中的数据每一位做按位与操作，将结果存入目标寄存器rd中。</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GPR[rd] ← GPR[rs] and GPR[rt]</a:t>
            </a:r>
          </a:p>
        </p:txBody>
      </p:sp>
      <p:sp>
        <p:nvSpPr>
          <p:cNvPr id="7266" name="标题 7265"/>
          <p:cNvSpPr>
            <a:spLocks noGrp="1"/>
          </p:cNvSpPr>
          <p:nvPr>
            <p:ph type="title"/>
          </p:nvPr>
        </p:nvSpPr>
        <p:spPr/>
        <p:txBody>
          <a:bodyPr/>
          <a:lstStyle/>
          <a:p>
            <a:pPr algn="l"/>
            <a:r>
              <a:rPr b="1"/>
              <a:t>AND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2770" y="1716405"/>
            <a:ext cx="8216900" cy="3969385"/>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格式:  ANDI rt, rs, immediate</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目的:  与一个常数做按位逻辑与</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描述:  rt ← rs AND immediate</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将16位立即数做0扩展后与通用寄存器rs中的32位数据做按位与，将结果存入目标寄存器rt。</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GPR[rt] ← GPR[rs] and zero_extend(immediate)</a:t>
            </a:r>
          </a:p>
        </p:txBody>
      </p:sp>
      <p:sp>
        <p:nvSpPr>
          <p:cNvPr id="7266" name="标题 7265"/>
          <p:cNvSpPr>
            <a:spLocks noGrp="1"/>
          </p:cNvSpPr>
          <p:nvPr>
            <p:ph type="title"/>
          </p:nvPr>
        </p:nvSpPr>
        <p:spPr/>
        <p:txBody>
          <a:bodyPr/>
          <a:lstStyle/>
          <a:p>
            <a:pPr algn="l"/>
            <a:r>
              <a:rPr b="1"/>
              <a:t>ANDI</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2770" y="1584325"/>
            <a:ext cx="8216900" cy="5077460"/>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格式:  BEQ rs, rt, offset </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目的:  比较通用寄存器的值，然后做pc相关的分支跳转</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描述:  比较通用寄存器的值，然后做pc相关的分支跳转。</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如果 rs = rt ，那么将offset左移两位，再进行符号扩展到32位与当前pc相加，形成有效转移地址，转到该地址。</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如果rs != rt，则继续执行下条指令。</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I:  target_offset ← sign_extend(offset || 0</a:t>
            </a:r>
            <a:r>
              <a:rPr sz="1800" b="1" baseline="30000">
                <a:solidFill>
                  <a:schemeClr val="tx1">
                    <a:lumMod val="75000"/>
                    <a:lumOff val="25000"/>
                  </a:schemeClr>
                </a:solidFill>
                <a:uFillTx/>
                <a:latin typeface="微软雅黑" panose="020B0503020204020204" pitchFamily="34" charset="-122"/>
                <a:ea typeface="微软雅黑" panose="020B0503020204020204" pitchFamily="34" charset="-122"/>
              </a:rPr>
              <a:t>2</a:t>
            </a:r>
            <a:r>
              <a:rPr sz="1800" b="1">
                <a:solidFill>
                  <a:schemeClr val="tx1">
                    <a:lumMod val="75000"/>
                    <a:lumOff val="25000"/>
                  </a:schemeClr>
                </a:solidFill>
                <a:latin typeface="微软雅黑" panose="020B0503020204020204" pitchFamily="34" charset="-122"/>
                <a:ea typeface="微软雅黑" panose="020B0503020204020204" pitchFamily="34" charset="-122"/>
              </a:rPr>
              <a:t>)</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condition ←(GPR[rs] = GPR[rt])</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I+1:  if condition then</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PC ←PC + target_offset</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endif</a:t>
            </a:r>
          </a:p>
        </p:txBody>
      </p:sp>
      <p:sp>
        <p:nvSpPr>
          <p:cNvPr id="7266" name="标题 7265"/>
          <p:cNvSpPr>
            <a:spLocks noGrp="1"/>
          </p:cNvSpPr>
          <p:nvPr>
            <p:ph type="title"/>
          </p:nvPr>
        </p:nvSpPr>
        <p:spPr/>
        <p:txBody>
          <a:bodyPr/>
          <a:lstStyle/>
          <a:p>
            <a:pPr algn="l"/>
            <a:r>
              <a:rPr b="1"/>
              <a:t>BEQ</a:t>
            </a:r>
          </a:p>
        </p:txBody>
      </p:sp>
      <p:graphicFrame>
        <p:nvGraphicFramePr>
          <p:cNvPr id="2" name="对象 1">
            <a:hlinkClick r:id="" action="ppaction://ole?verb=0"/>
          </p:cNvPr>
          <p:cNvGraphicFramePr>
            <a:graphicFrameLocks noChangeAspect="1"/>
          </p:cNvGraphicFramePr>
          <p:nvPr/>
        </p:nvGraphicFramePr>
        <p:xfrm>
          <a:off x="4114800" y="3321050"/>
          <a:ext cx="914400" cy="215900"/>
        </p:xfrm>
        <a:graphic>
          <a:graphicData uri="http://schemas.openxmlformats.org/presentationml/2006/ole">
            <mc:AlternateContent xmlns:mc="http://schemas.openxmlformats.org/markup-compatibility/2006">
              <mc:Choice xmlns:v="urn:schemas-microsoft-com:vml" Requires="v">
                <p:oleObj spid="_x0000_s1029" r:id="rId4" imgW="914400" imgH="215900" progId="Equation.KSEE3">
                  <p:embed/>
                </p:oleObj>
              </mc:Choice>
              <mc:Fallback>
                <p:oleObj r:id="rId4" imgW="914400" imgH="215900" progId="Equation.KSEE3">
                  <p:embed/>
                  <p:pic>
                    <p:nvPicPr>
                      <p:cNvPr id="0" name="图片 1024"/>
                      <p:cNvPicPr/>
                      <p:nvPr/>
                    </p:nvPicPr>
                    <p:blipFill>
                      <a:blip r:embed="rId5"/>
                      <a:stretch>
                        <a:fillRect/>
                      </a:stretch>
                    </p:blipFill>
                    <p:spPr>
                      <a:xfrm>
                        <a:off x="4114800" y="3321050"/>
                        <a:ext cx="914400" cy="215900"/>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2770" y="1731010"/>
            <a:ext cx="8216900" cy="4661535"/>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格式:  BNE rs, rt, offset </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目的:  比较通用寄存器的值，然后做pc相关的分支跳转</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描述:  如果 rs != rt ，那么将会跳转到现在pc与偏移量offset（如果是16位需扩展到18位）相加后所得的指令。</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如果rs = rt，则继续执行。</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I:  target_offset ← sign_extend(offset || 0</a:t>
            </a:r>
            <a:r>
              <a:rPr sz="1800" b="1" baseline="30000">
                <a:solidFill>
                  <a:schemeClr val="tx1">
                    <a:lumMod val="75000"/>
                    <a:lumOff val="25000"/>
                  </a:schemeClr>
                </a:solidFill>
                <a:uFillTx/>
                <a:latin typeface="微软雅黑" panose="020B0503020204020204" pitchFamily="34" charset="-122"/>
                <a:ea typeface="微软雅黑" panose="020B0503020204020204" pitchFamily="34" charset="-122"/>
              </a:rPr>
              <a:t>2</a:t>
            </a:r>
            <a:r>
              <a:rPr sz="1800" b="1">
                <a:solidFill>
                  <a:schemeClr val="tx1">
                    <a:lumMod val="75000"/>
                    <a:lumOff val="25000"/>
                  </a:schemeClr>
                </a:solidFill>
                <a:latin typeface="微软雅黑" panose="020B0503020204020204" pitchFamily="34" charset="-122"/>
                <a:ea typeface="微软雅黑" panose="020B0503020204020204" pitchFamily="34" charset="-122"/>
              </a:rPr>
              <a:t>)</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condition ← (GPR[rs] ≠ GPR[rt])</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I+1:  if condition then</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PC ← PC + target_offset</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endif</a:t>
            </a:r>
          </a:p>
        </p:txBody>
      </p:sp>
      <p:sp>
        <p:nvSpPr>
          <p:cNvPr id="7266" name="标题 7265"/>
          <p:cNvSpPr>
            <a:spLocks noGrp="1"/>
          </p:cNvSpPr>
          <p:nvPr>
            <p:ph type="title"/>
          </p:nvPr>
        </p:nvSpPr>
        <p:spPr/>
        <p:txBody>
          <a:bodyPr/>
          <a:lstStyle/>
          <a:p>
            <a:pPr algn="l"/>
            <a:r>
              <a:rPr b="1"/>
              <a:t>BNE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600075" y="1623695"/>
            <a:ext cx="8216900" cy="3969385"/>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格式:  J target </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目的:  在256MB的范围内跳转</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描述:  该指令无条件跳转到一个绝对地址，instr_index有26位，在左移过后访问空间能达到228B，既是256M。</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I:</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I+1: PC ← PC</a:t>
            </a:r>
            <a:r>
              <a:rPr sz="1400" b="1">
                <a:solidFill>
                  <a:schemeClr val="tx1">
                    <a:lumMod val="75000"/>
                    <a:lumOff val="25000"/>
                  </a:schemeClr>
                </a:solidFill>
                <a:latin typeface="微软雅黑" panose="020B0503020204020204" pitchFamily="34" charset="-122"/>
                <a:ea typeface="微软雅黑" panose="020B0503020204020204" pitchFamily="34" charset="-122"/>
              </a:rPr>
              <a:t>GPRLEN-1..28 </a:t>
            </a:r>
            <a:r>
              <a:rPr b="1">
                <a:solidFill>
                  <a:schemeClr val="tx1">
                    <a:lumMod val="75000"/>
                    <a:lumOff val="25000"/>
                  </a:schemeClr>
                </a:solidFill>
                <a:latin typeface="微软雅黑" panose="020B0503020204020204" pitchFamily="34" charset="-122"/>
                <a:ea typeface="微软雅黑" panose="020B0503020204020204" pitchFamily="34" charset="-122"/>
              </a:rPr>
              <a:t>|| instr_index || 0</a:t>
            </a:r>
            <a:r>
              <a:rPr b="1" baseline="30000">
                <a:solidFill>
                  <a:schemeClr val="tx1">
                    <a:lumMod val="75000"/>
                    <a:lumOff val="25000"/>
                  </a:schemeClr>
                </a:solidFill>
                <a:uFillTx/>
                <a:latin typeface="微软雅黑" panose="020B0503020204020204" pitchFamily="34" charset="-122"/>
                <a:ea typeface="微软雅黑" panose="020B0503020204020204" pitchFamily="34" charset="-122"/>
              </a:rPr>
              <a:t>2</a:t>
            </a:r>
          </a:p>
        </p:txBody>
      </p:sp>
      <p:sp>
        <p:nvSpPr>
          <p:cNvPr id="7266" name="标题 7265"/>
          <p:cNvSpPr>
            <a:spLocks noGrp="1"/>
          </p:cNvSpPr>
          <p:nvPr>
            <p:ph type="title"/>
          </p:nvPr>
        </p:nvSpPr>
        <p:spPr/>
        <p:txBody>
          <a:bodyPr/>
          <a:lstStyle/>
          <a:p>
            <a:pPr algn="l"/>
            <a:r>
              <a:rPr b="1"/>
              <a:t>J</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2770" y="1767205"/>
            <a:ext cx="8216900" cy="3969385"/>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格式:  JAL target </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目的:  在256MB范围内执行一个过程调用</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描述:  在跳转到指定地址执行子程序调用的同时，在31号寄存器中存放返回地址（当前地址后的第二条指令地址）。</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I:  GPR[31] ←PC + 8</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I+1:  PC ←PC</a:t>
            </a:r>
            <a:r>
              <a:rPr sz="1400" b="1">
                <a:solidFill>
                  <a:schemeClr val="tx1">
                    <a:lumMod val="75000"/>
                    <a:lumOff val="25000"/>
                  </a:schemeClr>
                </a:solidFill>
                <a:latin typeface="微软雅黑" panose="020B0503020204020204" pitchFamily="34" charset="-122"/>
                <a:ea typeface="微软雅黑" panose="020B0503020204020204" pitchFamily="34" charset="-122"/>
              </a:rPr>
              <a:t>GPRLEN-1..28</a:t>
            </a:r>
            <a:r>
              <a:rPr b="1">
                <a:solidFill>
                  <a:schemeClr val="tx1">
                    <a:lumMod val="75000"/>
                    <a:lumOff val="25000"/>
                  </a:schemeClr>
                </a:solidFill>
                <a:latin typeface="微软雅黑" panose="020B0503020204020204" pitchFamily="34" charset="-122"/>
                <a:ea typeface="微软雅黑" panose="020B0503020204020204" pitchFamily="34" charset="-122"/>
              </a:rPr>
              <a:t> || instr_index || 0</a:t>
            </a:r>
            <a:r>
              <a:rPr b="1" baseline="30000">
                <a:solidFill>
                  <a:schemeClr val="tx1">
                    <a:lumMod val="75000"/>
                    <a:lumOff val="25000"/>
                  </a:schemeClr>
                </a:solidFill>
                <a:uFillTx/>
                <a:latin typeface="微软雅黑" panose="020B0503020204020204" pitchFamily="34" charset="-122"/>
                <a:ea typeface="微软雅黑" panose="020B0503020204020204" pitchFamily="34" charset="-122"/>
              </a:rPr>
              <a:t>2</a:t>
            </a:r>
          </a:p>
        </p:txBody>
      </p:sp>
      <p:sp>
        <p:nvSpPr>
          <p:cNvPr id="7266" name="标题 7265"/>
          <p:cNvSpPr>
            <a:spLocks noGrp="1"/>
          </p:cNvSpPr>
          <p:nvPr>
            <p:ph type="title"/>
          </p:nvPr>
        </p:nvSpPr>
        <p:spPr/>
        <p:txBody>
          <a:bodyPr/>
          <a:lstStyle/>
          <a:p>
            <a:pPr algn="l"/>
            <a:r>
              <a:rPr b="1"/>
              <a:t>JAL</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2770" y="1584325"/>
            <a:ext cx="8216900" cy="5077460"/>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格式:  JR rs </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目的:  使用寄存器的跳转指令</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描述:  PC ← rs</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跳转地址存放在通用寄存器rs中，直接跳转到寄存器所存地址。</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I:  temp ← GPR[rs]</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I+1:  if Config1</a:t>
            </a:r>
            <a:r>
              <a:rPr sz="1000" b="1">
                <a:solidFill>
                  <a:schemeClr val="tx1">
                    <a:lumMod val="75000"/>
                    <a:lumOff val="25000"/>
                  </a:schemeClr>
                </a:solidFill>
                <a:latin typeface="微软雅黑" panose="020B0503020204020204" pitchFamily="34" charset="-122"/>
                <a:ea typeface="微软雅黑" panose="020B0503020204020204" pitchFamily="34" charset="-122"/>
              </a:rPr>
              <a:t>CA</a:t>
            </a:r>
            <a:r>
              <a:rPr sz="1800" b="1">
                <a:solidFill>
                  <a:schemeClr val="tx1">
                    <a:lumMod val="75000"/>
                    <a:lumOff val="25000"/>
                  </a:schemeClr>
                </a:solidFill>
                <a:latin typeface="微软雅黑" panose="020B0503020204020204" pitchFamily="34" charset="-122"/>
                <a:ea typeface="微软雅黑" panose="020B0503020204020204" pitchFamily="34" charset="-122"/>
              </a:rPr>
              <a:t> = 0 then</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PC ← temp</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else</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PC ← temp</a:t>
            </a:r>
            <a:r>
              <a:rPr sz="1000" b="1">
                <a:solidFill>
                  <a:schemeClr val="tx1">
                    <a:lumMod val="75000"/>
                    <a:lumOff val="25000"/>
                  </a:schemeClr>
                </a:solidFill>
                <a:latin typeface="微软雅黑" panose="020B0503020204020204" pitchFamily="34" charset="-122"/>
                <a:ea typeface="微软雅黑" panose="020B0503020204020204" pitchFamily="34" charset="-122"/>
              </a:rPr>
              <a:t>GPRLEN-1..1</a:t>
            </a:r>
            <a:r>
              <a:rPr sz="1800" b="1">
                <a:solidFill>
                  <a:schemeClr val="tx1">
                    <a:lumMod val="75000"/>
                    <a:lumOff val="25000"/>
                  </a:schemeClr>
                </a:solidFill>
                <a:latin typeface="微软雅黑" panose="020B0503020204020204" pitchFamily="34" charset="-122"/>
                <a:ea typeface="微软雅黑" panose="020B0503020204020204" pitchFamily="34" charset="-122"/>
              </a:rPr>
              <a:t> || 0</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ISAMode ← temp</a:t>
            </a:r>
            <a:r>
              <a:rPr sz="1000" b="1">
                <a:solidFill>
                  <a:schemeClr val="tx1">
                    <a:lumMod val="75000"/>
                    <a:lumOff val="25000"/>
                  </a:schemeClr>
                </a:solidFill>
                <a:latin typeface="微软雅黑" panose="020B0503020204020204" pitchFamily="34" charset="-122"/>
                <a:ea typeface="微软雅黑" panose="020B0503020204020204" pitchFamily="34" charset="-122"/>
              </a:rPr>
              <a:t>0</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endif</a:t>
            </a:r>
          </a:p>
        </p:txBody>
      </p:sp>
      <p:sp>
        <p:nvSpPr>
          <p:cNvPr id="7266" name="标题 7265"/>
          <p:cNvSpPr>
            <a:spLocks noGrp="1"/>
          </p:cNvSpPr>
          <p:nvPr>
            <p:ph type="title"/>
          </p:nvPr>
        </p:nvSpPr>
        <p:spPr/>
        <p:txBody>
          <a:bodyPr/>
          <a:lstStyle/>
          <a:p>
            <a:pPr algn="l"/>
            <a:r>
              <a:rPr b="1"/>
              <a:t>JR</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2135" y="1687830"/>
            <a:ext cx="8216900" cy="3969385"/>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格式:  LUI rt, immediate </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目的:  把一个立即数载入到寄存器的高位，低位补0</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描述:  rt ← immediate || 0</a:t>
            </a:r>
            <a:r>
              <a:rPr b="1" baseline="30000">
                <a:solidFill>
                  <a:schemeClr val="tx1">
                    <a:lumMod val="75000"/>
                    <a:lumOff val="25000"/>
                  </a:schemeClr>
                </a:solidFill>
                <a:uFillTx/>
                <a:latin typeface="微软雅黑" panose="020B0503020204020204" pitchFamily="34" charset="-122"/>
                <a:ea typeface="微软雅黑" panose="020B0503020204020204" pitchFamily="34" charset="-122"/>
              </a:rPr>
              <a:t>16</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	将一个16位的立即数载入到通用寄存器rt的高位，低16位补0。</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GPR[rt] ← immediate || 0</a:t>
            </a:r>
            <a:r>
              <a:rPr b="1" baseline="30000">
                <a:solidFill>
                  <a:schemeClr val="tx1">
                    <a:lumMod val="75000"/>
                    <a:lumOff val="25000"/>
                  </a:schemeClr>
                </a:solidFill>
                <a:uFillTx/>
                <a:latin typeface="微软雅黑" panose="020B0503020204020204" pitchFamily="34" charset="-122"/>
                <a:ea typeface="微软雅黑" panose="020B0503020204020204" pitchFamily="34" charset="-122"/>
              </a:rPr>
              <a:t>16</a:t>
            </a:r>
          </a:p>
        </p:txBody>
      </p:sp>
      <p:sp>
        <p:nvSpPr>
          <p:cNvPr id="7266" name="标题 7265"/>
          <p:cNvSpPr>
            <a:spLocks noGrp="1"/>
          </p:cNvSpPr>
          <p:nvPr>
            <p:ph type="title"/>
          </p:nvPr>
        </p:nvSpPr>
        <p:spPr/>
        <p:txBody>
          <a:bodyPr/>
          <a:lstStyle/>
          <a:p>
            <a:pPr algn="l"/>
            <a:r>
              <a:rPr b="1"/>
              <a:t>LUI</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2770" y="1584325"/>
            <a:ext cx="8216900" cy="5077460"/>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格式:  LW rt, offset(base) </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目的:  从内存读取一个字的有符号数据</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描述:  rt ← memory[base+offset]</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从内存中基地址加偏移量所得到的准确地址中的内容加载到通用寄存器rt中。</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vAddr ← sign_extend(offset) + GPR[base]</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if vAddr</a:t>
            </a:r>
            <a:r>
              <a:rPr sz="1000" b="1">
                <a:solidFill>
                  <a:schemeClr val="tx1">
                    <a:lumMod val="75000"/>
                    <a:lumOff val="25000"/>
                  </a:schemeClr>
                </a:solidFill>
                <a:latin typeface="微软雅黑" panose="020B0503020204020204" pitchFamily="34" charset="-122"/>
                <a:ea typeface="微软雅黑" panose="020B0503020204020204" pitchFamily="34" charset="-122"/>
              </a:rPr>
              <a:t>1..0</a:t>
            </a:r>
            <a:r>
              <a:rPr sz="1800" b="1">
                <a:solidFill>
                  <a:schemeClr val="tx1">
                    <a:lumMod val="75000"/>
                    <a:lumOff val="25000"/>
                  </a:schemeClr>
                </a:solidFill>
                <a:latin typeface="微软雅黑" panose="020B0503020204020204" pitchFamily="34" charset="-122"/>
                <a:ea typeface="微软雅黑" panose="020B0503020204020204" pitchFamily="34" charset="-122"/>
              </a:rPr>
              <a:t> ≠ 0</a:t>
            </a:r>
            <a:r>
              <a:rPr sz="1800" b="1" baseline="30000">
                <a:solidFill>
                  <a:schemeClr val="tx1">
                    <a:lumMod val="75000"/>
                    <a:lumOff val="25000"/>
                  </a:schemeClr>
                </a:solidFill>
                <a:uFillTx/>
                <a:latin typeface="微软雅黑" panose="020B0503020204020204" pitchFamily="34" charset="-122"/>
                <a:ea typeface="微软雅黑" panose="020B0503020204020204" pitchFamily="34" charset="-122"/>
              </a:rPr>
              <a:t>2</a:t>
            </a:r>
            <a:r>
              <a:rPr sz="1800" b="1">
                <a:solidFill>
                  <a:schemeClr val="tx1">
                    <a:lumMod val="75000"/>
                    <a:lumOff val="25000"/>
                  </a:schemeClr>
                </a:solidFill>
                <a:latin typeface="微软雅黑" panose="020B0503020204020204" pitchFamily="34" charset="-122"/>
                <a:ea typeface="微软雅黑" panose="020B0503020204020204" pitchFamily="34" charset="-122"/>
              </a:rPr>
              <a:t> then</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SignalException(AddressError)</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endif</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(pAddr, CCA) ← AddressTranslation (vAddr, DATA, LOAD)</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memword← LoadMemory (CCA, WORD, pAddr, vAddr, DATA)</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GPR[rt] ← memword</a:t>
            </a:r>
          </a:p>
        </p:txBody>
      </p:sp>
      <p:sp>
        <p:nvSpPr>
          <p:cNvPr id="7266" name="标题 7265"/>
          <p:cNvSpPr>
            <a:spLocks noGrp="1"/>
          </p:cNvSpPr>
          <p:nvPr>
            <p:ph type="title"/>
          </p:nvPr>
        </p:nvSpPr>
        <p:spPr/>
        <p:txBody>
          <a:bodyPr/>
          <a:lstStyle/>
          <a:p>
            <a:pPr algn="l"/>
            <a:r>
              <a:rPr b="1"/>
              <a:t>LW</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86105" y="1697990"/>
            <a:ext cx="8216900" cy="3969385"/>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格式:  NOR rd, rs, rt </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目的:  按位逻辑或非</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描述:  rd ← rs NOR rt</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将通用寄存器rs和rt中的数据每一位做按位或非操作，将结果存入目标寄存器rd中。</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GPR[rd] ← GPR[rs] nor GPR[rt]</a:t>
            </a:r>
          </a:p>
        </p:txBody>
      </p:sp>
      <p:sp>
        <p:nvSpPr>
          <p:cNvPr id="7266" name="标题 7265"/>
          <p:cNvSpPr>
            <a:spLocks noGrp="1"/>
          </p:cNvSpPr>
          <p:nvPr>
            <p:ph type="title"/>
          </p:nvPr>
        </p:nvSpPr>
        <p:spPr/>
        <p:txBody>
          <a:bodyPr/>
          <a:lstStyle/>
          <a:p>
            <a:pPr algn="l"/>
            <a:r>
              <a:rPr b="1"/>
              <a:t>NOR</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2770" y="1731645"/>
            <a:ext cx="8216900" cy="3969385"/>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格式:  OR rd, rs, rt </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目的:  按位逻辑或</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描述:  rd ← rs or rt</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将通用寄存器rs和rt中的数据每一位做按位或操作，将结果存入目标寄存器rd中。</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GPR[rd] ← GPR[rs] or GPR[rt]</a:t>
            </a:r>
          </a:p>
        </p:txBody>
      </p:sp>
      <p:sp>
        <p:nvSpPr>
          <p:cNvPr id="7266" name="标题 7265"/>
          <p:cNvSpPr>
            <a:spLocks noGrp="1"/>
          </p:cNvSpPr>
          <p:nvPr>
            <p:ph type="title"/>
          </p:nvPr>
        </p:nvSpPr>
        <p:spPr/>
        <p:txBody>
          <a:bodyPr/>
          <a:lstStyle/>
          <a:p>
            <a:pPr algn="l"/>
            <a:r>
              <a:rPr b="1"/>
              <a:t>OR</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600075" y="1652905"/>
            <a:ext cx="8216900" cy="3969385"/>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格式:  ORI rt, rs, immediate </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目的:  和一个常数做按位逻辑或</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描述:  rt ← rs or immediate</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将通用寄存器rs和经过0扩展的立即数每一位做按位或操作，将结果存入目标寄存器rd中。</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GPR[rt] ← GPR[rs] or zero_extend(immediate)</a:t>
            </a:r>
          </a:p>
        </p:txBody>
      </p:sp>
      <p:sp>
        <p:nvSpPr>
          <p:cNvPr id="7266" name="标题 7265"/>
          <p:cNvSpPr>
            <a:spLocks noGrp="1"/>
          </p:cNvSpPr>
          <p:nvPr>
            <p:ph type="title"/>
          </p:nvPr>
        </p:nvSpPr>
        <p:spPr/>
        <p:txBody>
          <a:bodyPr/>
          <a:lstStyle/>
          <a:p>
            <a:pPr algn="l"/>
            <a:r>
              <a:rPr b="1"/>
              <a:t>ORI</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2770" y="1529080"/>
            <a:ext cx="8216900" cy="5077460"/>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格式:  SLL rd, rt, sa </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目的:  通过数字填充逻辑左移</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描述:  rd ← rt &lt;&lt; sa</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将通用寄存器rt的内容左移sa位，空余出来的位置用0来填充，把结果存入rd寄存器。</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s ← sa</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temp ← GPR[rt]</a:t>
            </a:r>
            <a:r>
              <a:rPr sz="1400" b="1">
                <a:solidFill>
                  <a:schemeClr val="tx1">
                    <a:lumMod val="75000"/>
                    <a:lumOff val="25000"/>
                  </a:schemeClr>
                </a:solidFill>
                <a:latin typeface="微软雅黑" panose="020B0503020204020204" pitchFamily="34" charset="-122"/>
                <a:ea typeface="微软雅黑" panose="020B0503020204020204" pitchFamily="34" charset="-122"/>
              </a:rPr>
              <a:t>(31-s)..0</a:t>
            </a:r>
            <a:r>
              <a:rPr b="1">
                <a:solidFill>
                  <a:schemeClr val="tx1">
                    <a:lumMod val="75000"/>
                    <a:lumOff val="25000"/>
                  </a:schemeClr>
                </a:solidFill>
                <a:latin typeface="微软雅黑" panose="020B0503020204020204" pitchFamily="34" charset="-122"/>
                <a:ea typeface="微软雅黑" panose="020B0503020204020204" pitchFamily="34" charset="-122"/>
              </a:rPr>
              <a:t> || 0</a:t>
            </a:r>
            <a:r>
              <a:rPr b="1" baseline="30000">
                <a:solidFill>
                  <a:schemeClr val="tx1">
                    <a:lumMod val="75000"/>
                    <a:lumOff val="25000"/>
                  </a:schemeClr>
                </a:solidFill>
                <a:uFillTx/>
                <a:latin typeface="微软雅黑" panose="020B0503020204020204" pitchFamily="34" charset="-122"/>
                <a:ea typeface="微软雅黑" panose="020B0503020204020204" pitchFamily="34" charset="-122"/>
              </a:rPr>
              <a:t>s</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GPR[rd] ← temp</a:t>
            </a:r>
          </a:p>
        </p:txBody>
      </p:sp>
      <p:sp>
        <p:nvSpPr>
          <p:cNvPr id="7266" name="标题 7265"/>
          <p:cNvSpPr>
            <a:spLocks noGrp="1"/>
          </p:cNvSpPr>
          <p:nvPr>
            <p:ph type="title"/>
          </p:nvPr>
        </p:nvSpPr>
        <p:spPr/>
        <p:txBody>
          <a:bodyPr/>
          <a:lstStyle/>
          <a:p>
            <a:pPr algn="l"/>
            <a:r>
              <a:rPr b="1"/>
              <a:t>SLL</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2770" y="1584325"/>
            <a:ext cx="8216900" cy="4246245"/>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格式:  SLLV rd, rt, rs </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目的:  通过数字填充逻辑左移</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描述:  rd ← rt &lt;&lt; rs</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将通用寄存器rt的内容逻辑左移，左移的位数保存在rs寄存器中，空余出来的位置用0来填充，把结果存入rd寄存器。</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s ← GPR[rs]</a:t>
            </a:r>
            <a:r>
              <a:rPr sz="1200" b="1">
                <a:solidFill>
                  <a:schemeClr val="tx1">
                    <a:lumMod val="75000"/>
                    <a:lumOff val="25000"/>
                  </a:schemeClr>
                </a:solidFill>
                <a:latin typeface="微软雅黑" panose="020B0503020204020204" pitchFamily="34" charset="-122"/>
                <a:ea typeface="微软雅黑" panose="020B0503020204020204" pitchFamily="34" charset="-122"/>
              </a:rPr>
              <a:t>4..0</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temp ← GPR[rt]</a:t>
            </a:r>
            <a:r>
              <a:rPr sz="1200" b="1">
                <a:solidFill>
                  <a:schemeClr val="tx1">
                    <a:lumMod val="75000"/>
                    <a:lumOff val="25000"/>
                  </a:schemeClr>
                </a:solidFill>
                <a:latin typeface="微软雅黑" panose="020B0503020204020204" pitchFamily="34" charset="-122"/>
                <a:ea typeface="微软雅黑" panose="020B0503020204020204" pitchFamily="34" charset="-122"/>
              </a:rPr>
              <a:t>(31-s)..0 </a:t>
            </a:r>
            <a:r>
              <a:rPr sz="2000" b="1">
                <a:solidFill>
                  <a:schemeClr val="tx1">
                    <a:lumMod val="75000"/>
                    <a:lumOff val="25000"/>
                  </a:schemeClr>
                </a:solidFill>
                <a:latin typeface="微软雅黑" panose="020B0503020204020204" pitchFamily="34" charset="-122"/>
                <a:ea typeface="微软雅黑" panose="020B0503020204020204" pitchFamily="34" charset="-122"/>
              </a:rPr>
              <a:t>|| 0</a:t>
            </a:r>
            <a:r>
              <a:rPr sz="2000" b="1" baseline="30000">
                <a:solidFill>
                  <a:schemeClr val="tx1">
                    <a:lumMod val="75000"/>
                    <a:lumOff val="25000"/>
                  </a:schemeClr>
                </a:solidFill>
                <a:uFillTx/>
                <a:latin typeface="微软雅黑" panose="020B0503020204020204" pitchFamily="34" charset="-122"/>
                <a:ea typeface="微软雅黑" panose="020B0503020204020204" pitchFamily="34" charset="-122"/>
              </a:rPr>
              <a:t>s</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GPR[rd] ← temp</a:t>
            </a:r>
          </a:p>
        </p:txBody>
      </p:sp>
      <p:sp>
        <p:nvSpPr>
          <p:cNvPr id="7266" name="标题 7265"/>
          <p:cNvSpPr>
            <a:spLocks noGrp="1"/>
          </p:cNvSpPr>
          <p:nvPr>
            <p:ph type="title"/>
          </p:nvPr>
        </p:nvSpPr>
        <p:spPr/>
        <p:txBody>
          <a:bodyPr/>
          <a:lstStyle/>
          <a:p>
            <a:pPr algn="l"/>
            <a:r>
              <a:rPr b="1"/>
              <a:t>SLLV</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2770" y="1584325"/>
            <a:ext cx="8216900" cy="4661535"/>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格式:  SLT rd, rs, rt </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目的:  通过小于的比较来记录结果</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描述:  rd ←(rs &lt; rt)</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比较在rs和rt寄存器中保存的有符号数，用boolean值保存结果到rd寄存器中。如果rs小于rt，则结果为1，反之结果为0。算数比较不会引起溢出异常。</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if GPR[rs] &lt; GPR[rt] then</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GPR[rd] ← 0</a:t>
            </a:r>
            <a:r>
              <a:rPr sz="1800" b="1" baseline="30000">
                <a:solidFill>
                  <a:schemeClr val="tx1">
                    <a:lumMod val="75000"/>
                    <a:lumOff val="25000"/>
                  </a:schemeClr>
                </a:solidFill>
                <a:uFillTx/>
                <a:latin typeface="微软雅黑" panose="020B0503020204020204" pitchFamily="34" charset="-122"/>
                <a:ea typeface="微软雅黑" panose="020B0503020204020204" pitchFamily="34" charset="-122"/>
              </a:rPr>
              <a:t>GPRLEN-1</a:t>
            </a:r>
            <a:r>
              <a:rPr sz="1800" b="1">
                <a:solidFill>
                  <a:schemeClr val="tx1">
                    <a:lumMod val="75000"/>
                    <a:lumOff val="25000"/>
                  </a:schemeClr>
                </a:solidFill>
                <a:latin typeface="微软雅黑" panose="020B0503020204020204" pitchFamily="34" charset="-122"/>
                <a:ea typeface="微软雅黑" panose="020B0503020204020204" pitchFamily="34" charset="-122"/>
              </a:rPr>
              <a:t> || 1</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else</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GPR[rd] ← 0</a:t>
            </a:r>
            <a:r>
              <a:rPr sz="1800" b="1" baseline="30000">
                <a:solidFill>
                  <a:schemeClr val="tx1">
                    <a:lumMod val="75000"/>
                    <a:lumOff val="25000"/>
                  </a:schemeClr>
                </a:solidFill>
                <a:uFillTx/>
                <a:latin typeface="微软雅黑" panose="020B0503020204020204" pitchFamily="34" charset="-122"/>
                <a:ea typeface="微软雅黑" panose="020B0503020204020204" pitchFamily="34" charset="-122"/>
              </a:rPr>
              <a:t>GPRLEN</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endif</a:t>
            </a:r>
          </a:p>
        </p:txBody>
      </p:sp>
      <p:sp>
        <p:nvSpPr>
          <p:cNvPr id="7266" name="标题 7265"/>
          <p:cNvSpPr>
            <a:spLocks noGrp="1"/>
          </p:cNvSpPr>
          <p:nvPr>
            <p:ph type="title"/>
          </p:nvPr>
        </p:nvSpPr>
        <p:spPr/>
        <p:txBody>
          <a:bodyPr/>
          <a:lstStyle/>
          <a:p>
            <a:pPr algn="l"/>
            <a:r>
              <a:rPr b="1"/>
              <a:t>SLT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2770" y="1584325"/>
            <a:ext cx="8216900" cy="4661535"/>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格式:  SLTI rt, rs, immediate </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目的:  通过跟立即数小于的比较来记录结果</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描述:  rt ←(rs &lt; immediate)</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比较在rs和经过符号扩展的16位立即数，用boolean值保存结果到rd寄存器中。如果rs小于rt，则结果为1，反之结果为0。算数比较不会引起溢出异常。</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if GPR[rs] &lt; sign_extend(immediate) then</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GPR[rd] ← 0</a:t>
            </a:r>
            <a:r>
              <a:rPr sz="1800" b="1" baseline="30000">
                <a:solidFill>
                  <a:schemeClr val="tx1">
                    <a:lumMod val="75000"/>
                    <a:lumOff val="25000"/>
                  </a:schemeClr>
                </a:solidFill>
                <a:uFillTx/>
                <a:latin typeface="微软雅黑" panose="020B0503020204020204" pitchFamily="34" charset="-122"/>
                <a:ea typeface="微软雅黑" panose="020B0503020204020204" pitchFamily="34" charset="-122"/>
              </a:rPr>
              <a:t>GPRLEN-1</a:t>
            </a:r>
            <a:r>
              <a:rPr sz="1800" b="1">
                <a:solidFill>
                  <a:schemeClr val="tx1">
                    <a:lumMod val="75000"/>
                    <a:lumOff val="25000"/>
                  </a:schemeClr>
                </a:solidFill>
                <a:latin typeface="微软雅黑" panose="020B0503020204020204" pitchFamily="34" charset="-122"/>
                <a:ea typeface="微软雅黑" panose="020B0503020204020204" pitchFamily="34" charset="-122"/>
              </a:rPr>
              <a:t>|| 1</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else</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GPR[rd] ← 0</a:t>
            </a:r>
            <a:r>
              <a:rPr sz="1800" b="1" baseline="30000">
                <a:solidFill>
                  <a:schemeClr val="tx1">
                    <a:lumMod val="75000"/>
                    <a:lumOff val="25000"/>
                  </a:schemeClr>
                </a:solidFill>
                <a:uFillTx/>
                <a:latin typeface="微软雅黑" panose="020B0503020204020204" pitchFamily="34" charset="-122"/>
                <a:ea typeface="微软雅黑" panose="020B0503020204020204" pitchFamily="34" charset="-122"/>
              </a:rPr>
              <a:t>GPRLEN</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endif</a:t>
            </a:r>
          </a:p>
        </p:txBody>
      </p:sp>
      <p:sp>
        <p:nvSpPr>
          <p:cNvPr id="7266" name="标题 7265"/>
          <p:cNvSpPr>
            <a:spLocks noGrp="1"/>
          </p:cNvSpPr>
          <p:nvPr>
            <p:ph type="title"/>
          </p:nvPr>
        </p:nvSpPr>
        <p:spPr/>
        <p:txBody>
          <a:bodyPr/>
          <a:lstStyle/>
          <a:p>
            <a:pPr algn="l"/>
            <a:r>
              <a:rPr b="1"/>
              <a:t>SLTI</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2770" y="1584325"/>
            <a:ext cx="8216900" cy="4661535"/>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格式:  SLTIU rt, rs, immediate </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目的:  通过跟立即数无符号小于的比较来记录结果</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描述:  rt ←(rs &lt; immediate)</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比较在rs和经过0扩展的16位立即数，用boolean值保存结果到rd寄存器中。如果rs小于rt，则结果为1，反之结果为0。算数比较不会引起溢出异常。</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if (0 || GPR[rs]) &lt; (0 || sign_extend(immediate)) then</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GPR[rd] ← 0</a:t>
            </a:r>
            <a:r>
              <a:rPr sz="1800" b="1" baseline="30000">
                <a:solidFill>
                  <a:schemeClr val="tx1">
                    <a:lumMod val="75000"/>
                    <a:lumOff val="25000"/>
                  </a:schemeClr>
                </a:solidFill>
                <a:uFillTx/>
                <a:latin typeface="微软雅黑" panose="020B0503020204020204" pitchFamily="34" charset="-122"/>
                <a:ea typeface="微软雅黑" panose="020B0503020204020204" pitchFamily="34" charset="-122"/>
              </a:rPr>
              <a:t>GPRLEN-1</a:t>
            </a:r>
            <a:r>
              <a:rPr sz="1800" b="1">
                <a:solidFill>
                  <a:schemeClr val="tx1">
                    <a:lumMod val="75000"/>
                    <a:lumOff val="25000"/>
                  </a:schemeClr>
                </a:solidFill>
                <a:latin typeface="微软雅黑" panose="020B0503020204020204" pitchFamily="34" charset="-122"/>
                <a:ea typeface="微软雅黑" panose="020B0503020204020204" pitchFamily="34" charset="-122"/>
              </a:rPr>
              <a:t> || 1</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else</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GPR[rd] ← 0</a:t>
            </a:r>
            <a:r>
              <a:rPr sz="1800" b="1" baseline="30000">
                <a:solidFill>
                  <a:schemeClr val="tx1">
                    <a:lumMod val="75000"/>
                    <a:lumOff val="25000"/>
                  </a:schemeClr>
                </a:solidFill>
                <a:uFillTx/>
                <a:latin typeface="微软雅黑" panose="020B0503020204020204" pitchFamily="34" charset="-122"/>
                <a:ea typeface="微软雅黑" panose="020B0503020204020204" pitchFamily="34" charset="-122"/>
              </a:rPr>
              <a:t>GPRLEN</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endif</a:t>
            </a:r>
          </a:p>
        </p:txBody>
      </p:sp>
      <p:sp>
        <p:nvSpPr>
          <p:cNvPr id="7266" name="标题 7265"/>
          <p:cNvSpPr>
            <a:spLocks noGrp="1"/>
          </p:cNvSpPr>
          <p:nvPr>
            <p:ph type="title"/>
          </p:nvPr>
        </p:nvSpPr>
        <p:spPr/>
        <p:txBody>
          <a:bodyPr/>
          <a:lstStyle/>
          <a:p>
            <a:pPr algn="l"/>
            <a:r>
              <a:rPr b="1"/>
              <a:t>SLTIU</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2770" y="1584325"/>
            <a:ext cx="8216900" cy="4661535"/>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格式:  SLTU rd, rs, rt </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目的:  通过跟立即数无符号小于的比较来记录结果</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描述:  rd ←(rs &lt; rt)</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比较在rs和rt寄存器中保存的无符号数，用boolean值保存结果到rd寄存器中。如果rs小于rt，则结果为1，反之结果为0。算数比较不会引起溢出异常。</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if (0 || GPR[rs]) &lt; (0 || GPR[rt]) then</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GPR[rd] ← 0</a:t>
            </a:r>
            <a:r>
              <a:rPr sz="1800" b="1" baseline="30000">
                <a:solidFill>
                  <a:schemeClr val="tx1">
                    <a:lumMod val="75000"/>
                    <a:lumOff val="25000"/>
                  </a:schemeClr>
                </a:solidFill>
                <a:uFillTx/>
                <a:latin typeface="微软雅黑" panose="020B0503020204020204" pitchFamily="34" charset="-122"/>
                <a:ea typeface="微软雅黑" panose="020B0503020204020204" pitchFamily="34" charset="-122"/>
              </a:rPr>
              <a:t>GPRLEN-1</a:t>
            </a:r>
            <a:r>
              <a:rPr sz="1800" b="1">
                <a:solidFill>
                  <a:schemeClr val="tx1">
                    <a:lumMod val="75000"/>
                    <a:lumOff val="25000"/>
                  </a:schemeClr>
                </a:solidFill>
                <a:latin typeface="微软雅黑" panose="020B0503020204020204" pitchFamily="34" charset="-122"/>
                <a:ea typeface="微软雅黑" panose="020B0503020204020204" pitchFamily="34" charset="-122"/>
              </a:rPr>
              <a:t> || 1</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else</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GPR[rd] ← 0</a:t>
            </a:r>
            <a:r>
              <a:rPr sz="1800" b="1" baseline="30000">
                <a:solidFill>
                  <a:schemeClr val="tx1">
                    <a:lumMod val="75000"/>
                    <a:lumOff val="25000"/>
                  </a:schemeClr>
                </a:solidFill>
                <a:uFillTx/>
                <a:latin typeface="微软雅黑" panose="020B0503020204020204" pitchFamily="34" charset="-122"/>
                <a:ea typeface="微软雅黑" panose="020B0503020204020204" pitchFamily="34" charset="-122"/>
              </a:rPr>
              <a:t>GPRLEN</a:t>
            </a:r>
          </a:p>
          <a:p>
            <a:pPr marL="0" indent="0" fontAlgn="auto">
              <a:lnSpc>
                <a:spcPct val="150000"/>
              </a:lnSpc>
              <a:spcBef>
                <a:spcPts val="0"/>
              </a:spcBef>
              <a:spcAft>
                <a:spcPts val="0"/>
              </a:spcAft>
              <a:buNone/>
              <a:defRPr/>
            </a:pPr>
            <a:r>
              <a:rPr sz="1800" b="1">
                <a:solidFill>
                  <a:schemeClr val="tx1">
                    <a:lumMod val="75000"/>
                    <a:lumOff val="25000"/>
                  </a:schemeClr>
                </a:solidFill>
                <a:latin typeface="微软雅黑" panose="020B0503020204020204" pitchFamily="34" charset="-122"/>
                <a:ea typeface="微软雅黑" panose="020B0503020204020204" pitchFamily="34" charset="-122"/>
              </a:rPr>
              <a:t>endif</a:t>
            </a:r>
          </a:p>
        </p:txBody>
      </p:sp>
      <p:sp>
        <p:nvSpPr>
          <p:cNvPr id="7266" name="标题 7265"/>
          <p:cNvSpPr>
            <a:spLocks noGrp="1"/>
          </p:cNvSpPr>
          <p:nvPr>
            <p:ph type="title"/>
          </p:nvPr>
        </p:nvSpPr>
        <p:spPr/>
        <p:txBody>
          <a:bodyPr/>
          <a:lstStyle/>
          <a:p>
            <a:pPr algn="l"/>
            <a:r>
              <a:rPr b="1"/>
              <a:t>SLTU</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2770" y="1584325"/>
            <a:ext cx="8216900" cy="5077460"/>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格式:  SRA rd, rt, sa </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目的:  通过数字填充算术右移</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描述:  rd ←rt &gt;&gt; sa (arithmetic)</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将通用寄存器rt中的32位内容右移sa位，高位用rt[31]来填充，结果存入通用寄存器rd。</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s ← sa</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temp ← (GPR[rt]31)</a:t>
            </a:r>
            <a:r>
              <a:rPr b="1" baseline="30000">
                <a:solidFill>
                  <a:schemeClr val="tx1">
                    <a:lumMod val="75000"/>
                    <a:lumOff val="25000"/>
                  </a:schemeClr>
                </a:solidFill>
                <a:uFillTx/>
                <a:latin typeface="微软雅黑" panose="020B0503020204020204" pitchFamily="34" charset="-122"/>
                <a:ea typeface="微软雅黑" panose="020B0503020204020204" pitchFamily="34" charset="-122"/>
              </a:rPr>
              <a:t>s</a:t>
            </a:r>
            <a:r>
              <a:rPr b="1">
                <a:solidFill>
                  <a:schemeClr val="tx1">
                    <a:lumMod val="75000"/>
                    <a:lumOff val="25000"/>
                  </a:schemeClr>
                </a:solidFill>
                <a:latin typeface="微软雅黑" panose="020B0503020204020204" pitchFamily="34" charset="-122"/>
                <a:ea typeface="微软雅黑" panose="020B0503020204020204" pitchFamily="34" charset="-122"/>
              </a:rPr>
              <a:t> || GPR[rt]</a:t>
            </a:r>
            <a:r>
              <a:rPr sz="1400" b="1">
                <a:solidFill>
                  <a:schemeClr val="tx1">
                    <a:lumMod val="75000"/>
                    <a:lumOff val="25000"/>
                  </a:schemeClr>
                </a:solidFill>
                <a:latin typeface="微软雅黑" panose="020B0503020204020204" pitchFamily="34" charset="-122"/>
                <a:ea typeface="微软雅黑" panose="020B0503020204020204" pitchFamily="34" charset="-122"/>
              </a:rPr>
              <a:t>31..s</a:t>
            </a:r>
          </a:p>
          <a:p>
            <a:pPr marL="0" indent="0" fontAlgn="auto">
              <a:lnSpc>
                <a:spcPct val="150000"/>
              </a:lnSpc>
              <a:spcBef>
                <a:spcPts val="0"/>
              </a:spcBef>
              <a:spcAft>
                <a:spcPts val="0"/>
              </a:spcAft>
              <a:buNone/>
              <a:defRPr/>
            </a:pPr>
            <a:r>
              <a:rPr b="1">
                <a:solidFill>
                  <a:schemeClr val="tx1">
                    <a:lumMod val="75000"/>
                    <a:lumOff val="25000"/>
                  </a:schemeClr>
                </a:solidFill>
                <a:latin typeface="微软雅黑" panose="020B0503020204020204" pitchFamily="34" charset="-122"/>
                <a:ea typeface="微软雅黑" panose="020B0503020204020204" pitchFamily="34" charset="-122"/>
              </a:rPr>
              <a:t>GPR[rd] ← temp</a:t>
            </a:r>
          </a:p>
        </p:txBody>
      </p:sp>
      <p:sp>
        <p:nvSpPr>
          <p:cNvPr id="7266" name="标题 7265"/>
          <p:cNvSpPr>
            <a:spLocks noGrp="1"/>
          </p:cNvSpPr>
          <p:nvPr>
            <p:ph type="title"/>
          </p:nvPr>
        </p:nvSpPr>
        <p:spPr/>
        <p:txBody>
          <a:bodyPr/>
          <a:lstStyle/>
          <a:p>
            <a:pPr algn="l"/>
            <a:r>
              <a:rPr b="1"/>
              <a:t>SRA</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2770" y="1584325"/>
            <a:ext cx="8216900" cy="4246245"/>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格式:  SRAV rd, rt, rs </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目的:  通过数字填充算术右移</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描述:  rd ←rt &gt;&gt; rs (arithmetic)</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将通用寄存器rt中的32位内容右移，高位用rt[31]来填充，结果存入通用寄存器rd。右移的位数由通用寄存器rs中的0-4bit确定。</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s ← GPR[rs]</a:t>
            </a:r>
            <a:r>
              <a:rPr sz="1200" b="1">
                <a:solidFill>
                  <a:schemeClr val="tx1">
                    <a:lumMod val="75000"/>
                    <a:lumOff val="25000"/>
                  </a:schemeClr>
                </a:solidFill>
                <a:latin typeface="微软雅黑" panose="020B0503020204020204" pitchFamily="34" charset="-122"/>
                <a:ea typeface="微软雅黑" panose="020B0503020204020204" pitchFamily="34" charset="-122"/>
              </a:rPr>
              <a:t>4..0</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temp ← (GPR[rt]31)</a:t>
            </a:r>
            <a:r>
              <a:rPr sz="2000" b="1" baseline="30000">
                <a:solidFill>
                  <a:schemeClr val="tx1">
                    <a:lumMod val="75000"/>
                    <a:lumOff val="25000"/>
                  </a:schemeClr>
                </a:solidFill>
                <a:uFillTx/>
                <a:latin typeface="微软雅黑" panose="020B0503020204020204" pitchFamily="34" charset="-122"/>
                <a:ea typeface="微软雅黑" panose="020B0503020204020204" pitchFamily="34" charset="-122"/>
              </a:rPr>
              <a:t>s</a:t>
            </a:r>
            <a:r>
              <a:rPr sz="2000" b="1">
                <a:solidFill>
                  <a:schemeClr val="tx1">
                    <a:lumMod val="75000"/>
                    <a:lumOff val="25000"/>
                  </a:schemeClr>
                </a:solidFill>
                <a:latin typeface="微软雅黑" panose="020B0503020204020204" pitchFamily="34" charset="-122"/>
                <a:ea typeface="微软雅黑" panose="020B0503020204020204" pitchFamily="34" charset="-122"/>
              </a:rPr>
              <a:t> || GPR[rt]</a:t>
            </a:r>
            <a:r>
              <a:rPr sz="1200" b="1">
                <a:solidFill>
                  <a:schemeClr val="tx1">
                    <a:lumMod val="75000"/>
                    <a:lumOff val="25000"/>
                  </a:schemeClr>
                </a:solidFill>
                <a:latin typeface="微软雅黑" panose="020B0503020204020204" pitchFamily="34" charset="-122"/>
                <a:ea typeface="微软雅黑" panose="020B0503020204020204" pitchFamily="34" charset="-122"/>
              </a:rPr>
              <a:t>31..s</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GPR[rd] ← temp</a:t>
            </a:r>
          </a:p>
        </p:txBody>
      </p:sp>
      <p:sp>
        <p:nvSpPr>
          <p:cNvPr id="7266" name="标题 7265"/>
          <p:cNvSpPr>
            <a:spLocks noGrp="1"/>
          </p:cNvSpPr>
          <p:nvPr>
            <p:ph type="title"/>
          </p:nvPr>
        </p:nvSpPr>
        <p:spPr/>
        <p:txBody>
          <a:bodyPr/>
          <a:lstStyle/>
          <a:p>
            <a:pPr algn="l"/>
            <a:r>
              <a:rPr b="1"/>
              <a:t>SRAV</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2770" y="1584325"/>
            <a:ext cx="8216900" cy="4246245"/>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格式:  SRL rd, rt, sa </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目的:  通过数字填充逻辑右移</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描述:  rd ←rt &gt;&gt; sa (logical)</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将通用寄存器rt中的32位内容右移sa位，高位用0来填充，结果存入通用寄存器rd。</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s ← sa</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temp ← 0</a:t>
            </a:r>
            <a:r>
              <a:rPr sz="2000" b="1" baseline="30000">
                <a:solidFill>
                  <a:schemeClr val="tx1">
                    <a:lumMod val="75000"/>
                    <a:lumOff val="25000"/>
                  </a:schemeClr>
                </a:solidFill>
                <a:uFillTx/>
                <a:latin typeface="微软雅黑" panose="020B0503020204020204" pitchFamily="34" charset="-122"/>
                <a:ea typeface="微软雅黑" panose="020B0503020204020204" pitchFamily="34" charset="-122"/>
              </a:rPr>
              <a:t>s</a:t>
            </a:r>
            <a:r>
              <a:rPr sz="2000" b="1">
                <a:solidFill>
                  <a:schemeClr val="tx1">
                    <a:lumMod val="75000"/>
                    <a:lumOff val="25000"/>
                  </a:schemeClr>
                </a:solidFill>
                <a:latin typeface="微软雅黑" panose="020B0503020204020204" pitchFamily="34" charset="-122"/>
                <a:ea typeface="微软雅黑" panose="020B0503020204020204" pitchFamily="34" charset="-122"/>
              </a:rPr>
              <a:t> || GPR[rt]</a:t>
            </a:r>
            <a:r>
              <a:rPr sz="1200" b="1">
                <a:solidFill>
                  <a:schemeClr val="tx1">
                    <a:lumMod val="75000"/>
                    <a:lumOff val="25000"/>
                  </a:schemeClr>
                </a:solidFill>
                <a:latin typeface="微软雅黑" panose="020B0503020204020204" pitchFamily="34" charset="-122"/>
                <a:ea typeface="微软雅黑" panose="020B0503020204020204" pitchFamily="34" charset="-122"/>
              </a:rPr>
              <a:t>31..s</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GPR[rd] ← temp</a:t>
            </a:r>
          </a:p>
        </p:txBody>
      </p:sp>
      <p:sp>
        <p:nvSpPr>
          <p:cNvPr id="7266" name="标题 7265"/>
          <p:cNvSpPr>
            <a:spLocks noGrp="1"/>
          </p:cNvSpPr>
          <p:nvPr>
            <p:ph type="title"/>
          </p:nvPr>
        </p:nvSpPr>
        <p:spPr/>
        <p:txBody>
          <a:bodyPr/>
          <a:lstStyle/>
          <a:p>
            <a:pPr algn="l"/>
            <a:r>
              <a:rPr b="1"/>
              <a:t>SRL</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2770" y="1584325"/>
            <a:ext cx="8216900" cy="4246245"/>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格式:  SRLV rd, rt, rs </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目的:  通过数字填充逻辑右移</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描述:  rd ←rt &gt;&gt; rs (logical)</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将通用寄存器rt中的32位内容右移，高位用rt[31]来填充，结果存入通用寄存器rd。右移的位数由通用寄存器rs中的0-4bit确定。</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s ← GPR[rs]</a:t>
            </a:r>
            <a:r>
              <a:rPr sz="1200" b="1">
                <a:solidFill>
                  <a:schemeClr val="tx1">
                    <a:lumMod val="75000"/>
                    <a:lumOff val="25000"/>
                  </a:schemeClr>
                </a:solidFill>
                <a:latin typeface="微软雅黑" panose="020B0503020204020204" pitchFamily="34" charset="-122"/>
                <a:ea typeface="微软雅黑" panose="020B0503020204020204" pitchFamily="34" charset="-122"/>
              </a:rPr>
              <a:t>4..0</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temp ← 0</a:t>
            </a:r>
            <a:r>
              <a:rPr sz="2000" b="1" baseline="30000">
                <a:solidFill>
                  <a:schemeClr val="tx1">
                    <a:lumMod val="75000"/>
                    <a:lumOff val="25000"/>
                  </a:schemeClr>
                </a:solidFill>
                <a:uFillTx/>
                <a:latin typeface="微软雅黑" panose="020B0503020204020204" pitchFamily="34" charset="-122"/>
                <a:ea typeface="微软雅黑" panose="020B0503020204020204" pitchFamily="34" charset="-122"/>
              </a:rPr>
              <a:t>s</a:t>
            </a:r>
            <a:r>
              <a:rPr sz="2000" b="1">
                <a:solidFill>
                  <a:schemeClr val="tx1">
                    <a:lumMod val="75000"/>
                    <a:lumOff val="25000"/>
                  </a:schemeClr>
                </a:solidFill>
                <a:latin typeface="微软雅黑" panose="020B0503020204020204" pitchFamily="34" charset="-122"/>
                <a:ea typeface="微软雅黑" panose="020B0503020204020204" pitchFamily="34" charset="-122"/>
              </a:rPr>
              <a:t> || GPR[rt]</a:t>
            </a:r>
            <a:r>
              <a:rPr sz="1200" b="1">
                <a:solidFill>
                  <a:schemeClr val="tx1">
                    <a:lumMod val="75000"/>
                    <a:lumOff val="25000"/>
                  </a:schemeClr>
                </a:solidFill>
                <a:latin typeface="微软雅黑" panose="020B0503020204020204" pitchFamily="34" charset="-122"/>
                <a:ea typeface="微软雅黑" panose="020B0503020204020204" pitchFamily="34" charset="-122"/>
              </a:rPr>
              <a:t>31..s</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GPR[rd] ← temp</a:t>
            </a:r>
          </a:p>
        </p:txBody>
      </p:sp>
      <p:sp>
        <p:nvSpPr>
          <p:cNvPr id="7266" name="标题 7265"/>
          <p:cNvSpPr>
            <a:spLocks noGrp="1"/>
          </p:cNvSpPr>
          <p:nvPr>
            <p:ph type="title"/>
          </p:nvPr>
        </p:nvSpPr>
        <p:spPr/>
        <p:txBody>
          <a:bodyPr/>
          <a:lstStyle/>
          <a:p>
            <a:pPr algn="l"/>
            <a:r>
              <a:rPr b="1"/>
              <a:t>SRLV</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2770" y="1584325"/>
            <a:ext cx="8216900" cy="4892675"/>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格式:  SUB rd, rs, rt MIPS32</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目的:  与32位数相减</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描述:  rd ←rs - rt</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将通用寄存器中存的32位数据rs与rt相减产生一个32位数据存入目标寄存器rd。</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 如果发生了溢出，则rd不改变并且产生一个溢出的异常。</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 如果相加不溢出，则产生的32位数据直接存入目标寄存器rd。</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temp ← (GPR[rs]</a:t>
            </a:r>
            <a:r>
              <a:rPr sz="900" b="1">
                <a:solidFill>
                  <a:schemeClr val="tx1">
                    <a:lumMod val="75000"/>
                    <a:lumOff val="25000"/>
                  </a:schemeClr>
                </a:solidFill>
                <a:latin typeface="微软雅黑" panose="020B0503020204020204" pitchFamily="34" charset="-122"/>
                <a:ea typeface="微软雅黑" panose="020B0503020204020204" pitchFamily="34" charset="-122"/>
              </a:rPr>
              <a:t>31</a:t>
            </a:r>
            <a:r>
              <a:rPr sz="1600" b="1">
                <a:solidFill>
                  <a:schemeClr val="tx1">
                    <a:lumMod val="75000"/>
                    <a:lumOff val="25000"/>
                  </a:schemeClr>
                </a:solidFill>
                <a:latin typeface="微软雅黑" panose="020B0503020204020204" pitchFamily="34" charset="-122"/>
                <a:ea typeface="微软雅黑" panose="020B0503020204020204" pitchFamily="34" charset="-122"/>
              </a:rPr>
              <a:t>||GPR[rs]</a:t>
            </a:r>
            <a:r>
              <a:rPr sz="900" b="1">
                <a:solidFill>
                  <a:schemeClr val="tx1">
                    <a:lumMod val="75000"/>
                    <a:lumOff val="25000"/>
                  </a:schemeClr>
                </a:solidFill>
                <a:latin typeface="微软雅黑" panose="020B0503020204020204" pitchFamily="34" charset="-122"/>
                <a:ea typeface="微软雅黑" panose="020B0503020204020204" pitchFamily="34" charset="-122"/>
              </a:rPr>
              <a:t>31..0</a:t>
            </a:r>
            <a:r>
              <a:rPr sz="1600" b="1">
                <a:solidFill>
                  <a:schemeClr val="tx1">
                    <a:lumMod val="75000"/>
                    <a:lumOff val="25000"/>
                  </a:schemeClr>
                </a:solidFill>
                <a:latin typeface="微软雅黑" panose="020B0503020204020204" pitchFamily="34" charset="-122"/>
                <a:ea typeface="微软雅黑" panose="020B0503020204020204" pitchFamily="34" charset="-122"/>
              </a:rPr>
              <a:t>) - (GPR[rt]</a:t>
            </a:r>
            <a:r>
              <a:rPr sz="900" b="1">
                <a:solidFill>
                  <a:schemeClr val="tx1">
                    <a:lumMod val="75000"/>
                    <a:lumOff val="25000"/>
                  </a:schemeClr>
                </a:solidFill>
                <a:latin typeface="微软雅黑" panose="020B0503020204020204" pitchFamily="34" charset="-122"/>
                <a:ea typeface="微软雅黑" panose="020B0503020204020204" pitchFamily="34" charset="-122"/>
              </a:rPr>
              <a:t>31</a:t>
            </a:r>
            <a:r>
              <a:rPr sz="1600" b="1">
                <a:solidFill>
                  <a:schemeClr val="tx1">
                    <a:lumMod val="75000"/>
                    <a:lumOff val="25000"/>
                  </a:schemeClr>
                </a:solidFill>
                <a:latin typeface="微软雅黑" panose="020B0503020204020204" pitchFamily="34" charset="-122"/>
                <a:ea typeface="微软雅黑" panose="020B0503020204020204" pitchFamily="34" charset="-122"/>
              </a:rPr>
              <a:t>||GPR[rt]</a:t>
            </a:r>
            <a:r>
              <a:rPr sz="900" b="1">
                <a:solidFill>
                  <a:schemeClr val="tx1">
                    <a:lumMod val="75000"/>
                    <a:lumOff val="25000"/>
                  </a:schemeClr>
                </a:solidFill>
                <a:latin typeface="微软雅黑" panose="020B0503020204020204" pitchFamily="34" charset="-122"/>
                <a:ea typeface="微软雅黑" panose="020B0503020204020204" pitchFamily="34" charset="-122"/>
              </a:rPr>
              <a:t>31..0</a:t>
            </a:r>
            <a:r>
              <a:rPr sz="1600" b="1">
                <a:solidFill>
                  <a:schemeClr val="tx1">
                    <a:lumMod val="75000"/>
                    <a:lumOff val="25000"/>
                  </a:schemeClr>
                </a:solidFill>
                <a:latin typeface="微软雅黑" panose="020B0503020204020204" pitchFamily="34" charset="-122"/>
                <a:ea typeface="微软雅黑" panose="020B0503020204020204" pitchFamily="34" charset="-122"/>
              </a:rPr>
              <a:t>)</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if temp</a:t>
            </a:r>
            <a:r>
              <a:rPr sz="900" b="1">
                <a:solidFill>
                  <a:schemeClr val="tx1">
                    <a:lumMod val="75000"/>
                    <a:lumOff val="25000"/>
                  </a:schemeClr>
                </a:solidFill>
                <a:latin typeface="微软雅黑" panose="020B0503020204020204" pitchFamily="34" charset="-122"/>
                <a:ea typeface="微软雅黑" panose="020B0503020204020204" pitchFamily="34" charset="-122"/>
              </a:rPr>
              <a:t>32</a:t>
            </a:r>
            <a:r>
              <a:rPr sz="1600" b="1">
                <a:solidFill>
                  <a:schemeClr val="tx1">
                    <a:lumMod val="75000"/>
                    <a:lumOff val="25000"/>
                  </a:schemeClr>
                </a:solidFill>
                <a:latin typeface="微软雅黑" panose="020B0503020204020204" pitchFamily="34" charset="-122"/>
                <a:ea typeface="微软雅黑" panose="020B0503020204020204" pitchFamily="34" charset="-122"/>
              </a:rPr>
              <a:t> ≠ temp</a:t>
            </a:r>
            <a:r>
              <a:rPr sz="900" b="1">
                <a:solidFill>
                  <a:schemeClr val="tx1">
                    <a:lumMod val="75000"/>
                    <a:lumOff val="25000"/>
                  </a:schemeClr>
                </a:solidFill>
                <a:latin typeface="微软雅黑" panose="020B0503020204020204" pitchFamily="34" charset="-122"/>
                <a:ea typeface="微软雅黑" panose="020B0503020204020204" pitchFamily="34" charset="-122"/>
              </a:rPr>
              <a:t>31</a:t>
            </a:r>
            <a:r>
              <a:rPr sz="1600" b="1">
                <a:solidFill>
                  <a:schemeClr val="tx1">
                    <a:lumMod val="75000"/>
                    <a:lumOff val="25000"/>
                  </a:schemeClr>
                </a:solidFill>
                <a:latin typeface="微软雅黑" panose="020B0503020204020204" pitchFamily="34" charset="-122"/>
                <a:ea typeface="微软雅黑" panose="020B0503020204020204" pitchFamily="34" charset="-122"/>
              </a:rPr>
              <a:t> then</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SignalException(IntegerOverflow)</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else</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GPR[rd] ← temp</a:t>
            </a:r>
            <a:r>
              <a:rPr sz="900" b="1">
                <a:solidFill>
                  <a:schemeClr val="tx1">
                    <a:lumMod val="75000"/>
                    <a:lumOff val="25000"/>
                  </a:schemeClr>
                </a:solidFill>
                <a:latin typeface="微软雅黑" panose="020B0503020204020204" pitchFamily="34" charset="-122"/>
                <a:ea typeface="微软雅黑" panose="020B0503020204020204" pitchFamily="34" charset="-122"/>
              </a:rPr>
              <a:t>31..0</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endif</a:t>
            </a:r>
          </a:p>
        </p:txBody>
      </p:sp>
      <p:sp>
        <p:nvSpPr>
          <p:cNvPr id="7266" name="标题 7265"/>
          <p:cNvSpPr>
            <a:spLocks noGrp="1"/>
          </p:cNvSpPr>
          <p:nvPr>
            <p:ph type="title"/>
          </p:nvPr>
        </p:nvSpPr>
        <p:spPr/>
        <p:txBody>
          <a:bodyPr/>
          <a:lstStyle/>
          <a:p>
            <a:pPr algn="l"/>
            <a:r>
              <a:rPr b="1"/>
              <a:t>SUB</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2770" y="1584325"/>
            <a:ext cx="8216900" cy="4246245"/>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格式:  SUBU rd, rs, rt</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目的:  32位数据相减</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描述:  rd ←rs - rt</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将通用寄存器中存的32位数据rs与rt相减产生一个32位数据存入目标寄存器rd。</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在任何情况下都不会有溢出的异常。</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temp ← GPR[rs] - GPR[rt]</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GPR[rd] ← temp</a:t>
            </a:r>
          </a:p>
        </p:txBody>
      </p:sp>
      <p:sp>
        <p:nvSpPr>
          <p:cNvPr id="7266" name="标题 7265"/>
          <p:cNvSpPr>
            <a:spLocks noGrp="1"/>
          </p:cNvSpPr>
          <p:nvPr>
            <p:ph type="title"/>
          </p:nvPr>
        </p:nvSpPr>
        <p:spPr/>
        <p:txBody>
          <a:bodyPr/>
          <a:lstStyle/>
          <a:p>
            <a:pPr algn="l"/>
            <a:r>
              <a:rPr b="1"/>
              <a:t>SUBU</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2770" y="1584325"/>
            <a:ext cx="8216900" cy="4892675"/>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格式:  SW rt, offset(base) </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目的:  存一个字到内存</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描述:  memory[base+offset] ←rt</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将通用寄存器rt中的32位数据存入内存中的有效地址，有效地址由基地址和16位偏移量相加所得。</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vAddr ← sign_extend(offset) + GPR[base]</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if vAddr</a:t>
            </a:r>
            <a:r>
              <a:rPr sz="900" b="1">
                <a:solidFill>
                  <a:schemeClr val="tx1">
                    <a:lumMod val="75000"/>
                    <a:lumOff val="25000"/>
                  </a:schemeClr>
                </a:solidFill>
                <a:latin typeface="微软雅黑" panose="020B0503020204020204" pitchFamily="34" charset="-122"/>
                <a:ea typeface="微软雅黑" panose="020B0503020204020204" pitchFamily="34" charset="-122"/>
              </a:rPr>
              <a:t>1..0 </a:t>
            </a:r>
            <a:r>
              <a:rPr sz="1600" b="1">
                <a:solidFill>
                  <a:schemeClr val="tx1">
                    <a:lumMod val="75000"/>
                    <a:lumOff val="25000"/>
                  </a:schemeClr>
                </a:solidFill>
                <a:latin typeface="微软雅黑" panose="020B0503020204020204" pitchFamily="34" charset="-122"/>
                <a:ea typeface="微软雅黑" panose="020B0503020204020204" pitchFamily="34" charset="-122"/>
              </a:rPr>
              <a:t>≠ 0</a:t>
            </a:r>
            <a:r>
              <a:rPr sz="1600" b="1" baseline="30000">
                <a:solidFill>
                  <a:schemeClr val="tx1">
                    <a:lumMod val="75000"/>
                    <a:lumOff val="25000"/>
                  </a:schemeClr>
                </a:solidFill>
                <a:uFillTx/>
                <a:latin typeface="微软雅黑" panose="020B0503020204020204" pitchFamily="34" charset="-122"/>
                <a:ea typeface="微软雅黑" panose="020B0503020204020204" pitchFamily="34" charset="-122"/>
              </a:rPr>
              <a:t>2</a:t>
            </a:r>
            <a:r>
              <a:rPr sz="1600" b="1">
                <a:solidFill>
                  <a:schemeClr val="tx1">
                    <a:lumMod val="75000"/>
                    <a:lumOff val="25000"/>
                  </a:schemeClr>
                </a:solidFill>
                <a:latin typeface="微软雅黑" panose="020B0503020204020204" pitchFamily="34" charset="-122"/>
                <a:ea typeface="微软雅黑" panose="020B0503020204020204" pitchFamily="34" charset="-122"/>
              </a:rPr>
              <a:t> then</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SignalException(AddressError)</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endif</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(pAddr, CCA) ← AddressTranslation (vAddr, DATA, STORE)</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dataword← GPR[rt]</a:t>
            </a:r>
          </a:p>
          <a:p>
            <a:pPr marL="0" indent="0" fontAlgn="auto">
              <a:lnSpc>
                <a:spcPct val="150000"/>
              </a:lnSpc>
              <a:spcBef>
                <a:spcPts val="0"/>
              </a:spcBef>
              <a:spcAft>
                <a:spcPts val="0"/>
              </a:spcAft>
              <a:buNone/>
              <a:defRPr/>
            </a:pPr>
            <a:r>
              <a:rPr sz="1600" b="1">
                <a:solidFill>
                  <a:schemeClr val="tx1">
                    <a:lumMod val="75000"/>
                    <a:lumOff val="25000"/>
                  </a:schemeClr>
                </a:solidFill>
                <a:latin typeface="微软雅黑" panose="020B0503020204020204" pitchFamily="34" charset="-122"/>
                <a:ea typeface="微软雅黑" panose="020B0503020204020204" pitchFamily="34" charset="-122"/>
              </a:rPr>
              <a:t>StoreMemory (CCA, WORD, dataword, pAddr, vAddr, DATA)</a:t>
            </a:r>
          </a:p>
        </p:txBody>
      </p:sp>
      <p:sp>
        <p:nvSpPr>
          <p:cNvPr id="7266" name="标题 7265"/>
          <p:cNvSpPr>
            <a:spLocks noGrp="1"/>
          </p:cNvSpPr>
          <p:nvPr>
            <p:ph type="title"/>
          </p:nvPr>
        </p:nvSpPr>
        <p:spPr/>
        <p:txBody>
          <a:bodyPr/>
          <a:lstStyle/>
          <a:p>
            <a:pPr algn="l"/>
            <a:r>
              <a:rPr b="1"/>
              <a:t>SW</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2770" y="1584325"/>
            <a:ext cx="8216900" cy="2861310"/>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格式:  XOR rd, rs, rt </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目的:  按位逻辑异或</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描述:  rd ←rs XOR rt</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将通用寄存器rs和rt中的内容按位进行异或操作，将结果存入rd中。</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GPR[rd] ← GPR[rs] xor GPR[rt]</a:t>
            </a:r>
          </a:p>
        </p:txBody>
      </p:sp>
      <p:sp>
        <p:nvSpPr>
          <p:cNvPr id="7266" name="标题 7265"/>
          <p:cNvSpPr>
            <a:spLocks noGrp="1"/>
          </p:cNvSpPr>
          <p:nvPr>
            <p:ph type="title"/>
          </p:nvPr>
        </p:nvSpPr>
        <p:spPr/>
        <p:txBody>
          <a:bodyPr/>
          <a:lstStyle/>
          <a:p>
            <a:pPr algn="l"/>
            <a:r>
              <a:rPr b="1"/>
              <a:t>XOR</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72770" y="1584325"/>
            <a:ext cx="8216900" cy="3322955"/>
          </a:xfrm>
          <a:prstGeom prst="rect">
            <a:avLst/>
          </a:prstGeom>
          <a:noFill/>
        </p:spPr>
        <p:txBody>
          <a:bodyPr wrap="square" lIns="72000" rIns="72000">
            <a:spAutoFit/>
          </a:bodyPr>
          <a:lstStyle/>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格式:  XORI rt, rs, immediate </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目的:  和一个常数做按位逻辑异或</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描述:  rt ←rs XOR immediate</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将通用寄存器rs和经过0扩展的立即数每一位做按位异或操作，将结果存入目标寄存器rd中。</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操作：</a:t>
            </a:r>
          </a:p>
          <a:p>
            <a:pPr marL="0" indent="0" fontAlgn="auto">
              <a:lnSpc>
                <a:spcPct val="150000"/>
              </a:lnSpc>
              <a:spcBef>
                <a:spcPts val="0"/>
              </a:spcBef>
              <a:spcAft>
                <a:spcPts val="0"/>
              </a:spcAft>
              <a:buNone/>
              <a:defRPr/>
            </a:pPr>
            <a:r>
              <a:rPr sz="2000" b="1">
                <a:solidFill>
                  <a:schemeClr val="tx1">
                    <a:lumMod val="75000"/>
                    <a:lumOff val="25000"/>
                  </a:schemeClr>
                </a:solidFill>
                <a:latin typeface="微软雅黑" panose="020B0503020204020204" pitchFamily="34" charset="-122"/>
                <a:ea typeface="微软雅黑" panose="020B0503020204020204" pitchFamily="34" charset="-122"/>
              </a:rPr>
              <a:t>GPR[rt] ← GPR[rs] xor zero_extend(immediate)</a:t>
            </a:r>
          </a:p>
        </p:txBody>
      </p:sp>
      <p:sp>
        <p:nvSpPr>
          <p:cNvPr id="7266" name="标题 7265"/>
          <p:cNvSpPr>
            <a:spLocks noGrp="1"/>
          </p:cNvSpPr>
          <p:nvPr>
            <p:ph type="title"/>
          </p:nvPr>
        </p:nvSpPr>
        <p:spPr/>
        <p:txBody>
          <a:bodyPr/>
          <a:lstStyle/>
          <a:p>
            <a:pPr algn="l"/>
            <a:r>
              <a:rPr b="1"/>
              <a:t>XORI</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6523" t="15384" b="513"/>
          <a:stretch>
            <a:fillRect/>
          </a:stretch>
        </p:blipFill>
        <p:spPr bwMode="auto">
          <a:xfrm>
            <a:off x="0" y="1"/>
            <a:ext cx="9143999" cy="4760686"/>
          </a:xfrm>
          <a:prstGeom prst="rect">
            <a:avLst/>
          </a:prstGeom>
          <a:noFill/>
          <a:extLst>
            <a:ext uri="{909E8E84-426E-40DD-AFC4-6F175D3DCCD1}">
              <a14:hiddenFill xmlns:a14="http://schemas.microsoft.com/office/drawing/2010/main">
                <a:solidFill>
                  <a:srgbClr val="FFFFFF"/>
                </a:solidFill>
              </a14:hiddenFill>
            </a:ext>
          </a:extLst>
        </p:spPr>
      </p:pic>
      <p:sp>
        <p:nvSpPr>
          <p:cNvPr id="14" name="任意多边形 13"/>
          <p:cNvSpPr/>
          <p:nvPr/>
        </p:nvSpPr>
        <p:spPr>
          <a:xfrm>
            <a:off x="0" y="2842036"/>
            <a:ext cx="9143999" cy="2051818"/>
          </a:xfrm>
          <a:custGeom>
            <a:avLst/>
            <a:gdLst>
              <a:gd name="connsiteX0" fmla="*/ 9143999 w 9143999"/>
              <a:gd name="connsiteY0" fmla="*/ 0 h 2051818"/>
              <a:gd name="connsiteX1" fmla="*/ 9143999 w 9143999"/>
              <a:gd name="connsiteY1" fmla="*/ 2051818 h 2051818"/>
              <a:gd name="connsiteX2" fmla="*/ 0 w 9143999"/>
              <a:gd name="connsiteY2" fmla="*/ 2051818 h 2051818"/>
              <a:gd name="connsiteX3" fmla="*/ 0 w 9143999"/>
              <a:gd name="connsiteY3" fmla="*/ 1204077 h 2051818"/>
              <a:gd name="connsiteX4" fmla="*/ 6027 w 9143999"/>
              <a:gd name="connsiteY4" fmla="*/ 1207403 h 2051818"/>
              <a:gd name="connsiteX5" fmla="*/ 7674511 w 9143999"/>
              <a:gd name="connsiteY5" fmla="*/ 718908 h 2051818"/>
              <a:gd name="connsiteX6" fmla="*/ 9044856 w 9143999"/>
              <a:gd name="connsiteY6" fmla="*/ 57555 h 2051818"/>
              <a:gd name="connsiteX7" fmla="*/ 9143999 w 9143999"/>
              <a:gd name="connsiteY7" fmla="*/ 0 h 205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3999" h="2051818">
                <a:moveTo>
                  <a:pt x="9143999" y="0"/>
                </a:moveTo>
                <a:lnTo>
                  <a:pt x="9143999" y="2051818"/>
                </a:lnTo>
                <a:lnTo>
                  <a:pt x="0" y="2051818"/>
                </a:lnTo>
                <a:lnTo>
                  <a:pt x="0" y="1204077"/>
                </a:lnTo>
                <a:lnTo>
                  <a:pt x="6027" y="1207403"/>
                </a:lnTo>
                <a:cubicBezTo>
                  <a:pt x="2066505" y="2238985"/>
                  <a:pt x="5621740" y="1499327"/>
                  <a:pt x="7674511" y="718908"/>
                </a:cubicBezTo>
                <a:cubicBezTo>
                  <a:pt x="8085065" y="562824"/>
                  <a:pt x="8552064" y="336225"/>
                  <a:pt x="9044856" y="57555"/>
                </a:cubicBezTo>
                <a:lnTo>
                  <a:pt x="9143999" y="0"/>
                </a:lnTo>
                <a:close/>
              </a:path>
            </a:pathLst>
          </a:custGeom>
          <a:gradFill>
            <a:gsLst>
              <a:gs pos="0">
                <a:srgbClr val="04619D"/>
              </a:gs>
              <a:gs pos="100000">
                <a:srgbClr val="342275">
                  <a:alpha val="8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5" name="任意多边形 14"/>
          <p:cNvSpPr/>
          <p:nvPr/>
        </p:nvSpPr>
        <p:spPr>
          <a:xfrm>
            <a:off x="0" y="3379990"/>
            <a:ext cx="9143999" cy="3478011"/>
          </a:xfrm>
          <a:custGeom>
            <a:avLst/>
            <a:gdLst>
              <a:gd name="connsiteX0" fmla="*/ 9143999 w 9143999"/>
              <a:gd name="connsiteY0" fmla="*/ 0 h 3478011"/>
              <a:gd name="connsiteX1" fmla="*/ 9143999 w 9143999"/>
              <a:gd name="connsiteY1" fmla="*/ 1393716 h 3478011"/>
              <a:gd name="connsiteX2" fmla="*/ 9143999 w 9143999"/>
              <a:gd name="connsiteY2" fmla="*/ 1513865 h 3478011"/>
              <a:gd name="connsiteX3" fmla="*/ 9143999 w 9143999"/>
              <a:gd name="connsiteY3" fmla="*/ 3478011 h 3478011"/>
              <a:gd name="connsiteX4" fmla="*/ 0 w 9143999"/>
              <a:gd name="connsiteY4" fmla="*/ 3478011 h 3478011"/>
              <a:gd name="connsiteX5" fmla="*/ 0 w 9143999"/>
              <a:gd name="connsiteY5" fmla="*/ 1513865 h 3478011"/>
              <a:gd name="connsiteX6" fmla="*/ 0 w 9143999"/>
              <a:gd name="connsiteY6" fmla="*/ 1393716 h 3478011"/>
              <a:gd name="connsiteX7" fmla="*/ 0 w 9143999"/>
              <a:gd name="connsiteY7" fmla="*/ 846204 h 3478011"/>
              <a:gd name="connsiteX8" fmla="*/ 303379 w 9143999"/>
              <a:gd name="connsiteY8" fmla="*/ 970246 h 3478011"/>
              <a:gd name="connsiteX9" fmla="*/ 8360497 w 9143999"/>
              <a:gd name="connsiteY9" fmla="*/ 342756 h 3478011"/>
              <a:gd name="connsiteX10" fmla="*/ 8941037 w 9143999"/>
              <a:gd name="connsiteY10" fmla="*/ 98098 h 347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43999" h="3478011">
                <a:moveTo>
                  <a:pt x="9143999" y="0"/>
                </a:moveTo>
                <a:lnTo>
                  <a:pt x="9143999" y="1393716"/>
                </a:lnTo>
                <a:lnTo>
                  <a:pt x="9143999" y="1513865"/>
                </a:lnTo>
                <a:lnTo>
                  <a:pt x="9143999" y="3478011"/>
                </a:lnTo>
                <a:lnTo>
                  <a:pt x="0" y="3478011"/>
                </a:lnTo>
                <a:lnTo>
                  <a:pt x="0" y="1513865"/>
                </a:lnTo>
                <a:lnTo>
                  <a:pt x="0" y="1393716"/>
                </a:lnTo>
                <a:lnTo>
                  <a:pt x="0" y="846204"/>
                </a:lnTo>
                <a:lnTo>
                  <a:pt x="303379" y="970246"/>
                </a:lnTo>
                <a:cubicBezTo>
                  <a:pt x="2685816" y="1852356"/>
                  <a:pt x="6241504" y="1135756"/>
                  <a:pt x="8360497" y="342756"/>
                </a:cubicBezTo>
                <a:cubicBezTo>
                  <a:pt x="8544757" y="273800"/>
                  <a:pt x="8739002" y="191802"/>
                  <a:pt x="8941037" y="98098"/>
                </a:cubicBezTo>
                <a:close/>
              </a:path>
            </a:pathLst>
          </a:custGeom>
          <a:gradFill flip="none" rotWithShape="1">
            <a:gsLst>
              <a:gs pos="17000">
                <a:schemeClr val="bg1"/>
              </a:gs>
              <a:gs pos="100000">
                <a:srgbClr val="DFDFDF">
                  <a:lumMod val="52000"/>
                  <a:lumOff val="48000"/>
                </a:srgbClr>
              </a:gs>
            </a:gsLst>
            <a:lin ang="2700000" scaled="1"/>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ea typeface="微软雅黑" panose="020B0503020204020204" pitchFamily="34" charset="-122"/>
            </a:endParaRPr>
          </a:p>
        </p:txBody>
      </p:sp>
      <p:sp>
        <p:nvSpPr>
          <p:cNvPr id="8" name="TextBox 8"/>
          <p:cNvSpPr txBox="1"/>
          <p:nvPr/>
        </p:nvSpPr>
        <p:spPr>
          <a:xfrm>
            <a:off x="6588842" y="5305300"/>
            <a:ext cx="2228139" cy="1200329"/>
          </a:xfrm>
          <a:prstGeom prst="rect">
            <a:avLst/>
          </a:prstGeom>
          <a:noFill/>
        </p:spPr>
        <p:txBody>
          <a:bodyPr wrap="square" rtlCol="0">
            <a:spAutoFit/>
          </a:bodyPr>
          <a:lstStyle/>
          <a:p>
            <a:pPr algn="r">
              <a:lnSpc>
                <a:spcPct val="120000"/>
              </a:lnSpc>
            </a:pPr>
            <a:r>
              <a:rPr lang="zh-CN" altLang="en-US" sz="3600" b="1" smtClean="0">
                <a:solidFill>
                  <a:srgbClr val="04619D"/>
                </a:solidFill>
                <a:latin typeface="Arial" panose="020B0604020202020204" pitchFamily="34" charset="0"/>
                <a:ea typeface="微软雅黑" panose="020B0503020204020204" pitchFamily="34" charset="-122"/>
                <a:cs typeface="Arial" panose="020B0604020202020204" pitchFamily="34" charset="0"/>
              </a:rPr>
              <a:t>谢谢聆听</a:t>
            </a:r>
            <a:endParaRPr lang="en-US" altLang="zh-CN" sz="3600" b="1" dirty="0" smtClean="0">
              <a:solidFill>
                <a:srgbClr val="04619D"/>
              </a:solidFill>
              <a:latin typeface="Arial" panose="020B0604020202020204" pitchFamily="34" charset="0"/>
              <a:ea typeface="微软雅黑" panose="020B0503020204020204" pitchFamily="34" charset="-122"/>
              <a:cs typeface="Arial" panose="020B0604020202020204" pitchFamily="34" charset="0"/>
            </a:endParaRPr>
          </a:p>
          <a:p>
            <a:pPr algn="r">
              <a:lnSpc>
                <a:spcPct val="120000"/>
              </a:lnSpc>
            </a:pPr>
            <a:r>
              <a:rPr lang="en-US" altLang="zh-CN" smtClean="0">
                <a:solidFill>
                  <a:schemeClr val="tx1">
                    <a:lumMod val="75000"/>
                    <a:lumOff val="25000"/>
                  </a:schemeClr>
                </a:solidFill>
                <a:latin typeface="Arial" panose="020B0604020202020204" pitchFamily="34" charset="0"/>
                <a:ea typeface="微软雅黑" panose="020B0503020204020204" pitchFamily="34" charset="-122"/>
                <a:cs typeface="Arial" panose="020B0604020202020204" pitchFamily="34" charset="0"/>
              </a:rPr>
              <a:t>Thank You</a:t>
            </a:r>
            <a:endParaRPr lang="zh-CN" altLang="en-US" dirty="0">
              <a:solidFill>
                <a:schemeClr val="tx1">
                  <a:lumMod val="75000"/>
                  <a:lumOff val="25000"/>
                </a:schemeClr>
              </a:solidFill>
              <a:latin typeface="Arial" panose="020B0604020202020204" pitchFamily="34" charset="0"/>
              <a:ea typeface="微软雅黑" panose="020B0503020204020204" pitchFamily="34" charset="-122"/>
              <a:cs typeface="Arial" panose="020B0604020202020204" pitchFamily="34" charset="0"/>
            </a:endParaRPr>
          </a:p>
        </p:txBody>
      </p:sp>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r="69975"/>
          <a:stretch>
            <a:fillRect/>
          </a:stretch>
        </p:blipFill>
        <p:spPr>
          <a:xfrm>
            <a:off x="352949" y="5516842"/>
            <a:ext cx="865985" cy="86967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默认设计模板">
  <a:themeElements>
    <a:clrScheme name="自定义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cap="flat" cmpd="sng" algn="ctr">
          <a:noFill/>
          <a:prstDash val="solid"/>
          <a:round/>
          <a:headEnd type="none" w="med" len="med"/>
          <a:tailEnd type="none" w="med" len="med"/>
        </a:ln>
      </a:spPr>
      <a:bodyPr vert="horz" wrap="square" lIns="91440" tIns="45720" rIns="91440" bIns="45720" numCol="1" rtlCol="0"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sz="1800" b="0" i="0" u="none" strike="noStrike" cap="none" normalizeH="0" baseline="0" dirty="0" smtClean="0">
            <a:ln>
              <a:noFill/>
            </a:ln>
            <a:solidFill>
              <a:schemeClr val="tx2"/>
            </a:solidFill>
            <a:effectLst/>
            <a:latin typeface="微软雅黑" panose="020B0503020204020204" pitchFamily="34" charset="-122"/>
            <a:ea typeface="微软雅黑" panose="020B0503020204020204" pitchFamily="34"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r" defTabSz="914400" rtl="0" eaLnBrk="1" fontAlgn="base" latinLnBrk="0" hangingPunct="1">
          <a:lnSpc>
            <a:spcPct val="100000"/>
          </a:lnSpc>
          <a:spcBef>
            <a:spcPct val="0"/>
          </a:spcBef>
          <a:spcAft>
            <a:spcPct val="0"/>
          </a:spcAft>
          <a:buClrTx/>
          <a:buSzTx/>
          <a:buFontTx/>
          <a:buNone/>
          <a:defRPr kumimoji="0" lang="zh-CN" altLang="en-US" sz="2400" b="0" i="0" u="none" strike="noStrike" cap="none" normalizeH="0" baseline="0" smtClean="0">
            <a:ln>
              <a:noFill/>
            </a:ln>
            <a:solidFill>
              <a:schemeClr val="tx2"/>
            </a:solidFill>
            <a:effectLst/>
            <a:latin typeface="Arial" panose="020B0604020202020204" pitchFamily="34" charset="0"/>
            <a:ea typeface="宋体" panose="02010600030101010101" pitchFamily="2" charset="-122"/>
          </a:defRPr>
        </a:defPPr>
      </a:lstStyle>
    </a:lnDef>
    <a:txDef>
      <a:spPr>
        <a:noFill/>
      </a:spPr>
      <a:bodyPr wrap="square" rtlCol="0">
        <a:noAutofit/>
      </a:bodyPr>
      <a:lstStyle>
        <a:defPPr algn="l">
          <a:defRPr sz="1800" dirty="0">
            <a:latin typeface="微软雅黑" panose="020B0503020204020204" pitchFamily="34" charset="-122"/>
            <a:ea typeface="微软雅黑" panose="020B0503020204020204" pitchFamily="34" charset="-122"/>
          </a:defRPr>
        </a:defPPr>
      </a:lstStyle>
    </a:tx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TotalTime>
  <Words>2106</Words>
  <Application>Microsoft Office PowerPoint</Application>
  <PresentationFormat>全屏显示(4:3)</PresentationFormat>
  <Paragraphs>364</Paragraphs>
  <Slides>33</Slides>
  <Notes>31</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33</vt:i4>
      </vt:variant>
    </vt:vector>
  </HeadingPairs>
  <TitlesOfParts>
    <vt:vector size="35" baseType="lpstr">
      <vt:lpstr>默认设计模板</vt:lpstr>
      <vt:lpstr>Equation.KSEE3</vt:lpstr>
      <vt:lpstr>7.3 MIPS 31条指令介绍</vt:lpstr>
      <vt:lpstr>ADD</vt:lpstr>
      <vt:lpstr>ADDI</vt:lpstr>
      <vt:lpstr>ADDIU</vt:lpstr>
      <vt:lpstr>ADDU</vt:lpstr>
      <vt:lpstr>AND</vt:lpstr>
      <vt:lpstr>ANDI</vt:lpstr>
      <vt:lpstr>BEQ</vt:lpstr>
      <vt:lpstr>BNE</vt:lpstr>
      <vt:lpstr>J</vt:lpstr>
      <vt:lpstr>JAL</vt:lpstr>
      <vt:lpstr>JR</vt:lpstr>
      <vt:lpstr>LUI</vt:lpstr>
      <vt:lpstr>LW</vt:lpstr>
      <vt:lpstr>NOR</vt:lpstr>
      <vt:lpstr>OR</vt:lpstr>
      <vt:lpstr>ORI</vt:lpstr>
      <vt:lpstr>SLL</vt:lpstr>
      <vt:lpstr>SLLV</vt:lpstr>
      <vt:lpstr>SLT</vt:lpstr>
      <vt:lpstr>SLTI</vt:lpstr>
      <vt:lpstr>SLTIU</vt:lpstr>
      <vt:lpstr>SLTU</vt:lpstr>
      <vt:lpstr>SRA</vt:lpstr>
      <vt:lpstr>SRAV</vt:lpstr>
      <vt:lpstr>SRL</vt:lpstr>
      <vt:lpstr>SRLV</vt:lpstr>
      <vt:lpstr>SUB</vt:lpstr>
      <vt:lpstr>SUBU</vt:lpstr>
      <vt:lpstr>SW</vt:lpstr>
      <vt:lpstr>XOR</vt:lpstr>
      <vt:lpstr>XORI</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PPTfans网设计</dc:title>
  <dc:creator>林辉强</dc:creator>
  <cp:keywords>www.pptfans.cn</cp:keywords>
  <cp:lastModifiedBy>ddzhang</cp:lastModifiedBy>
  <cp:revision>1685</cp:revision>
  <cp:lastPrinted>2113-01-01T00:00:00Z</cp:lastPrinted>
  <dcterms:created xsi:type="dcterms:W3CDTF">2113-01-01T00:00:00Z</dcterms:created>
  <dcterms:modified xsi:type="dcterms:W3CDTF">2018-03-06T09:43:14Z</dcterms:modified>
  <cp:category>ppt模板设计</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y fmtid="{D5CDD505-2E9C-101B-9397-08002B2CF9AE}" pid="3" name="KSOProductBuildVer">
    <vt:lpwstr>2052-10.1.0.7106</vt:lpwstr>
  </property>
</Properties>
</file>
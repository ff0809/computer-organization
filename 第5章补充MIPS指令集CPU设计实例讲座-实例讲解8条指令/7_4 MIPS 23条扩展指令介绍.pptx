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31"/>
  </p:notesMasterIdLst>
  <p:handoutMasterIdLst>
    <p:handoutMasterId r:id="rId32"/>
  </p:handoutMasterIdLst>
  <p:sldIdLst>
    <p:sldId id="735" r:id="rId2"/>
    <p:sldId id="839" r:id="rId3"/>
    <p:sldId id="862" r:id="rId4"/>
    <p:sldId id="863" r:id="rId5"/>
    <p:sldId id="864" r:id="rId6"/>
    <p:sldId id="808" r:id="rId7"/>
    <p:sldId id="840" r:id="rId8"/>
    <p:sldId id="841" r:id="rId9"/>
    <p:sldId id="842" r:id="rId10"/>
    <p:sldId id="843" r:id="rId11"/>
    <p:sldId id="844" r:id="rId12"/>
    <p:sldId id="845" r:id="rId13"/>
    <p:sldId id="846" r:id="rId14"/>
    <p:sldId id="847" r:id="rId15"/>
    <p:sldId id="848" r:id="rId16"/>
    <p:sldId id="849" r:id="rId17"/>
    <p:sldId id="850" r:id="rId18"/>
    <p:sldId id="851" r:id="rId19"/>
    <p:sldId id="852" r:id="rId20"/>
    <p:sldId id="853" r:id="rId21"/>
    <p:sldId id="854" r:id="rId22"/>
    <p:sldId id="855" r:id="rId23"/>
    <p:sldId id="856" r:id="rId24"/>
    <p:sldId id="857" r:id="rId25"/>
    <p:sldId id="858" r:id="rId26"/>
    <p:sldId id="859" r:id="rId27"/>
    <p:sldId id="860" r:id="rId28"/>
    <p:sldId id="861" r:id="rId29"/>
    <p:sldId id="737" r:id="rId30"/>
  </p:sldIdLst>
  <p:sldSz cx="9144000" cy="6858000" type="screen4x3"/>
  <p:notesSz cx="7099300" cy="10234613"/>
  <p:defaultTextStyle>
    <a:defPPr>
      <a:defRPr lang="zh-CN"/>
    </a:defPPr>
    <a:lvl1pPr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4619D"/>
    <a:srgbClr val="DA2A22"/>
    <a:srgbClr val="15994D"/>
    <a:srgbClr val="342275"/>
    <a:srgbClr val="E67A1C"/>
    <a:srgbClr val="E57717"/>
    <a:srgbClr val="5891D6"/>
    <a:srgbClr val="72A2DC"/>
    <a:srgbClr val="EE9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00" autoAdjust="0"/>
    <p:restoredTop sz="92281" autoAdjust="0"/>
  </p:normalViewPr>
  <p:slideViewPr>
    <p:cSldViewPr snapToGrid="0" showGuides="1">
      <p:cViewPr varScale="1">
        <p:scale>
          <a:sx n="92" d="100"/>
          <a:sy n="92" d="100"/>
        </p:scale>
        <p:origin x="-618" y="-102"/>
      </p:cViewPr>
      <p:guideLst>
        <p:guide orient="horz" pos="570"/>
        <p:guide pos="292"/>
        <p:guide pos="54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4" d="100"/>
          <a:sy n="74" d="100"/>
        </p:scale>
        <p:origin x="-4026" y="-120"/>
      </p:cViewPr>
      <p:guideLst>
        <p:guide orient="horz" pos="3177"/>
        <p:guide pos="223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smtClean="0">
                <a:latin typeface="Arial" panose="020B0604020202020204" pitchFamily="34" charset="0"/>
                <a:ea typeface="微软雅黑" panose="020B0503020204020204" pitchFamily="34" charset="-122"/>
              </a:defRPr>
            </a:lvl1pPr>
          </a:lstStyle>
          <a:p>
            <a:pPr>
              <a:defRPr/>
            </a:pPr>
            <a:fld id="{83A91915-E571-4570-80B3-E65B02A79A95}" type="datetimeFigureOut">
              <a:rPr lang="zh-CN" altLang="en-US"/>
              <a:t>2018/3/7</a:t>
            </a:fld>
            <a:endParaRPr lang="zh-CN" altLang="en-US" dirty="0"/>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wrap="square" lIns="99048" tIns="49524" rIns="99048" bIns="49524" numCol="1" anchor="b" anchorCtr="0" compatLnSpc="1"/>
          <a:lstStyle>
            <a:lvl1pPr algn="r">
              <a:defRPr sz="1300">
                <a:ea typeface="微软雅黑" panose="020B0503020204020204" pitchFamily="34" charset="-122"/>
              </a:defRPr>
            </a:lvl1pPr>
          </a:lstStyle>
          <a:p>
            <a:fld id="{E0BB458E-555F-42C7-BDA8-CA9357AC47B4}" type="slidenum">
              <a:rPr lang="zh-CN" altLang="en-US"/>
              <a:t>‹#›</a:t>
            </a:fld>
            <a:endParaRPr lang="zh-CN" altLang="en-US"/>
          </a:p>
        </p:txBody>
      </p:sp>
    </p:spTree>
    <p:extLst>
      <p:ext uri="{BB962C8B-B14F-4D97-AF65-F5344CB8AC3E}">
        <p14:creationId xmlns:p14="http://schemas.microsoft.com/office/powerpoint/2010/main" val="37324813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dirty="0" smtClean="0"/>
              <a:t>单击此处编辑母版文本样式</a:t>
            </a:r>
          </a:p>
          <a:p>
            <a:pPr lvl="1"/>
            <a:r>
              <a:rPr lang="zh-CN" altLang="en-US" noProof="0" dirty="0" smtClean="0"/>
              <a:t>第二级</a:t>
            </a:r>
          </a:p>
          <a:p>
            <a:pPr lvl="2"/>
            <a:r>
              <a:rPr lang="zh-CN" altLang="en-US" noProof="0" dirty="0" smtClean="0"/>
              <a:t>第三级</a:t>
            </a:r>
          </a:p>
          <a:p>
            <a:pPr lvl="3"/>
            <a:r>
              <a:rPr lang="zh-CN" altLang="en-US" noProof="0" dirty="0" smtClean="0"/>
              <a:t>第四级</a:t>
            </a:r>
          </a:p>
          <a:p>
            <a:pPr lvl="4"/>
            <a:r>
              <a:rPr lang="zh-CN" altLang="en-US" noProof="0" dirty="0" smtClean="0"/>
              <a:t>第五级</a:t>
            </a:r>
          </a:p>
        </p:txBody>
      </p:sp>
      <p:sp>
        <p:nvSpPr>
          <p:cNvPr id="1024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a:defRPr sz="1300">
                <a:solidFill>
                  <a:schemeClr val="tx1"/>
                </a:solidFill>
                <a:ea typeface="微软雅黑" panose="020B0503020204020204" pitchFamily="34" charset="-122"/>
              </a:defRPr>
            </a:lvl1pPr>
          </a:lstStyle>
          <a:p>
            <a:fld id="{0B48A77E-79FB-4BFF-B1F0-CFD29F30865E}" type="slidenum">
              <a:rPr lang="en-US" altLang="zh-CN"/>
              <a:t>‹#›</a:t>
            </a:fld>
            <a:endParaRPr lang="en-US" altLang="zh-CN"/>
          </a:p>
        </p:txBody>
      </p:sp>
    </p:spTree>
    <p:extLst>
      <p:ext uri="{BB962C8B-B14F-4D97-AF65-F5344CB8AC3E}">
        <p14:creationId xmlns:p14="http://schemas.microsoft.com/office/powerpoint/2010/main" val="20253413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3"/>
          <p:cNvGrpSpPr/>
          <p:nvPr userDrawn="1"/>
        </p:nvGrpSpPr>
        <p:grpSpPr>
          <a:xfrm>
            <a:off x="0" y="6126486"/>
            <a:ext cx="9143999" cy="731514"/>
            <a:chOff x="1" y="2947547"/>
            <a:chExt cx="9143999" cy="2827685"/>
          </a:xfrm>
        </p:grpSpPr>
        <p:sp>
          <p:nvSpPr>
            <p:cNvPr id="5" name="任意多边形 4"/>
            <p:cNvSpPr/>
            <p:nvPr/>
          </p:nvSpPr>
          <p:spPr>
            <a:xfrm>
              <a:off x="1" y="2947547"/>
              <a:ext cx="9143999" cy="229735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6" name="任意多边形 5"/>
            <p:cNvSpPr/>
            <p:nvPr/>
          </p:nvSpPr>
          <p:spPr>
            <a:xfrm>
              <a:off x="1" y="3559995"/>
              <a:ext cx="9143999" cy="2215237"/>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26000">
                  <a:schemeClr val="bg1"/>
                </a:gs>
                <a:gs pos="100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7" name="组合 6"/>
          <p:cNvGrpSpPr/>
          <p:nvPr userDrawn="1"/>
        </p:nvGrpSpPr>
        <p:grpSpPr>
          <a:xfrm rot="10800000">
            <a:off x="-7" y="-1"/>
            <a:ext cx="9144001" cy="1882013"/>
            <a:chOff x="1" y="2994858"/>
            <a:chExt cx="9144001" cy="3162457"/>
          </a:xfrm>
        </p:grpSpPr>
        <p:sp>
          <p:nvSpPr>
            <p:cNvPr id="8" name="任意多边形 7"/>
            <p:cNvSpPr/>
            <p:nvPr/>
          </p:nvSpPr>
          <p:spPr>
            <a:xfrm>
              <a:off x="1" y="2994858"/>
              <a:ext cx="9143999" cy="215401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9" name="任意多边形 8"/>
            <p:cNvSpPr/>
            <p:nvPr/>
          </p:nvSpPr>
          <p:spPr>
            <a:xfrm>
              <a:off x="3" y="3474503"/>
              <a:ext cx="9143999" cy="2682812"/>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73000"/>
                    <a:lumOff val="27000"/>
                  </a:srgbClr>
                </a:gs>
                <a:gs pos="81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10" name="矩形 9"/>
          <p:cNvSpPr/>
          <p:nvPr userDrawn="1"/>
        </p:nvSpPr>
        <p:spPr>
          <a:xfrm>
            <a:off x="7302092" y="6511210"/>
            <a:ext cx="1292860" cy="213995"/>
          </a:xfrm>
          <a:prstGeom prst="rect">
            <a:avLst/>
          </a:prstGeom>
        </p:spPr>
        <p:txBody>
          <a:bodyPr wrap="none">
            <a:spAutoFit/>
          </a:bodyPr>
          <a:lstStyle/>
          <a:p>
            <a:pPr algn="r"/>
            <a:r>
              <a:rPr sz="800" kern="100" smtClean="0">
                <a:solidFill>
                  <a:schemeClr val="tx1">
                    <a:lumMod val="50000"/>
                    <a:lumOff val="50000"/>
                  </a:schemeClr>
                </a:solidFill>
                <a:latin typeface="微软雅黑" panose="020B0503020204020204" pitchFamily="34" charset="-122"/>
                <a:ea typeface="微软雅黑" panose="020B0503020204020204" pitchFamily="34" charset="-122"/>
              </a:rPr>
              <a:t>MIPS 23条扩展指令介绍</a:t>
            </a:r>
          </a:p>
        </p:txBody>
      </p:sp>
      <p:sp>
        <p:nvSpPr>
          <p:cNvPr id="11" name="文本框 10"/>
          <p:cNvSpPr txBox="1"/>
          <p:nvPr userDrawn="1"/>
        </p:nvSpPr>
        <p:spPr>
          <a:xfrm>
            <a:off x="8703044" y="6511211"/>
            <a:ext cx="211221" cy="215442"/>
          </a:xfrm>
          <a:prstGeom prst="rect">
            <a:avLst/>
          </a:prstGeom>
          <a:noFill/>
          <a:ln>
            <a:solidFill>
              <a:schemeClr val="bg1">
                <a:lumMod val="75000"/>
              </a:schemeClr>
            </a:solidFill>
          </a:ln>
        </p:spPr>
        <p:txBody>
          <a:bodyPr wrap="none" lIns="72000" tIns="72000" rIns="72000" bIns="72000" rtlCol="0" anchor="ctr">
            <a:noAutofit/>
          </a:bodyPr>
          <a:lstStyle/>
          <a:p>
            <a:pPr algn="ctr"/>
            <a:fld id="{CE5B7511-CC96-41DE-A965-D9C44FD5C89D}" type="slidenum">
              <a:rPr lang="zh-CN" altLang="en-US" sz="800" b="1" smtClean="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矩形 12"/>
          <p:cNvSpPr/>
          <p:nvPr userDrawn="1"/>
        </p:nvSpPr>
        <p:spPr>
          <a:xfrm>
            <a:off x="453759" y="6511210"/>
            <a:ext cx="1412240" cy="213995"/>
          </a:xfrm>
          <a:prstGeom prst="rect">
            <a:avLst/>
          </a:prstGeom>
        </p:spPr>
        <p:txBody>
          <a:bodyPr wrap="none" lIns="0">
            <a:spAutoFit/>
          </a:bodyPr>
          <a:lstStyle/>
          <a:p>
            <a:r>
              <a:rPr lang="zh-CN" altLang="en-US" sz="800" b="1" kern="100" smtClean="0">
                <a:solidFill>
                  <a:schemeClr val="tx1">
                    <a:lumMod val="50000"/>
                    <a:lumOff val="50000"/>
                  </a:schemeClr>
                </a:solidFill>
                <a:latin typeface="微软雅黑" panose="020B0503020204020204" pitchFamily="34" charset="-122"/>
                <a:ea typeface="微软雅黑" panose="020B0503020204020204" pitchFamily="34" charset="-122"/>
              </a:rPr>
              <a:t>同济大学电子与信息工程学院</a:t>
            </a:r>
          </a:p>
        </p:txBody>
      </p:sp>
      <p:sp>
        <p:nvSpPr>
          <p:cNvPr id="2" name="标题 1"/>
          <p:cNvSpPr>
            <a:spLocks noGrp="1"/>
          </p:cNvSpPr>
          <p:nvPr>
            <p:ph type="title"/>
          </p:nvPr>
        </p:nvSpPr>
        <p:spPr>
          <a:xfrm>
            <a:off x="361950" y="371408"/>
            <a:ext cx="8229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72000" rIns="0" bIns="72000"/>
          <a:lstStyle>
            <a:lvl1pPr algn="l" rtl="0" eaLnBrk="0" fontAlgn="base" hangingPunct="0">
              <a:spcBef>
                <a:spcPct val="0"/>
              </a:spcBef>
              <a:spcAft>
                <a:spcPct val="0"/>
              </a:spcAft>
              <a:defRPr lang="zh-CN" altLang="en-US" sz="2400" b="0" kern="120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stStyle>
          <a:p>
            <a:pPr lvl="0" algn="l"/>
            <a:r>
              <a:rPr lang="zh-CN" altLang="en-US" smtClean="0"/>
              <a:t>单击此处编辑母版标题样式</a:t>
            </a:r>
            <a:endParaRPr lang="zh-CN" altLang="en-US"/>
          </a:p>
        </p:txBody>
      </p:sp>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r="69975"/>
          <a:stretch>
            <a:fillRect/>
          </a:stretch>
        </p:blipFill>
        <p:spPr>
          <a:xfrm>
            <a:off x="8041082" y="247834"/>
            <a:ext cx="865985" cy="869670"/>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3">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
          <p:cNvSpPr>
            <a:spLocks noChangeArrowheads="1"/>
          </p:cNvSpPr>
          <p:nvPr userDrawn="1"/>
        </p:nvSpPr>
        <p:spPr bwMode="auto">
          <a:xfrm>
            <a:off x="-6324600" y="6096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027" name="TextBox 3"/>
          <p:cNvSpPr txBox="1">
            <a:spLocks noChangeArrowheads="1"/>
          </p:cNvSpPr>
          <p:nvPr userDrawn="1"/>
        </p:nvSpPr>
        <p:spPr bwMode="auto">
          <a:xfrm>
            <a:off x="2081213" y="2679700"/>
            <a:ext cx="5502275"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algn="l" eaLnBrk="1" hangingPunct="1"/>
            <a:endParaRPr lang="zh-CN" altLang="en-US" sz="180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5pPr>
      <a:lvl6pPr marL="4572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5" name="任意多边形 14"/>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任意多边形 21"/>
          <p:cNvSpPr/>
          <p:nvPr/>
        </p:nvSpPr>
        <p:spPr>
          <a:xfrm>
            <a:off x="0" y="336602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18" name="标题 3"/>
          <p:cNvSpPr>
            <a:spLocks noGrp="1"/>
          </p:cNvSpPr>
          <p:nvPr>
            <p:ph type="title" idx="4294967295"/>
          </p:nvPr>
        </p:nvSpPr>
        <p:spPr>
          <a:xfrm>
            <a:off x="503555" y="5272405"/>
            <a:ext cx="5600700" cy="583565"/>
          </a:xfrm>
          <a:prstGeom prst="rect">
            <a:avLst/>
          </a:prstGeom>
        </p:spPr>
        <p:txBody>
          <a:bodyPr wrap="square">
            <a:spAutoFit/>
          </a:bodyPr>
          <a:lstStyle/>
          <a:p>
            <a:pPr algn="l">
              <a:lnSpc>
                <a:spcPct val="100000"/>
              </a:lnSpc>
            </a:pPr>
            <a:r>
              <a:rPr sz="3200">
                <a:solidFill>
                  <a:srgbClr val="04619D"/>
                </a:solidFill>
              </a:rPr>
              <a:t>7.</a:t>
            </a:r>
            <a:r>
              <a:rPr lang="en-US" sz="3200">
                <a:solidFill>
                  <a:srgbClr val="04619D"/>
                </a:solidFill>
              </a:rPr>
              <a:t>4</a:t>
            </a:r>
            <a:r>
              <a:rPr sz="3200">
                <a:solidFill>
                  <a:srgbClr val="04619D"/>
                </a:solidFill>
              </a:rPr>
              <a:t> MIPS 23条扩展指令介绍</a:t>
            </a:r>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r="69975"/>
          <a:stretch>
            <a:fillRect/>
          </a:stretch>
        </p:blipFill>
        <p:spPr>
          <a:xfrm>
            <a:off x="7513630" y="5143321"/>
            <a:ext cx="1456200" cy="14623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3"/>
          <p:cNvSpPr txBox="1"/>
          <p:nvPr/>
        </p:nvSpPr>
        <p:spPr bwMode="auto">
          <a:xfrm>
            <a:off x="1445320" y="2672071"/>
            <a:ext cx="6420597" cy="1754326"/>
          </a:xfrm>
          <a:prstGeom prst="rect">
            <a:avLst/>
          </a:prstGeom>
          <a:noFill/>
        </p:spPr>
        <p:txBody>
          <a:bodyPr wrap="square">
            <a:spAutoFit/>
          </a:bodyPr>
          <a:lstStyle/>
          <a:p>
            <a:pPr fontAlgn="auto">
              <a:lnSpc>
                <a:spcPct val="150000"/>
              </a:lnSpc>
              <a:spcBef>
                <a:spcPts val="0"/>
              </a:spcBef>
              <a:spcAft>
                <a:spcPts val="0"/>
              </a:spcAft>
              <a:defRPr/>
            </a:pPr>
            <a:r>
              <a:rPr lang="zh-CN" altLang="en-US" b="1" kern="0" dirty="0">
                <a:solidFill>
                  <a:schemeClr val="tx1">
                    <a:lumMod val="75000"/>
                    <a:lumOff val="25000"/>
                  </a:schemeClr>
                </a:solidFill>
                <a:latin typeface="微软雅黑" panose="020B0503020204020204" pitchFamily="34" charset="-122"/>
                <a:ea typeface="微软雅黑" panose="020B0503020204020204" pitchFamily="34" charset="-122"/>
              </a:rPr>
              <a:t>本节介绍乘除法运算、对Lo/Hi寄存器的读写、内存半字和字节的存取操作、CP0的异常处理指令和CP0寄存器的读写，以及一些跳转指令</a:t>
            </a:r>
          </a:p>
        </p:txBody>
      </p:sp>
      <p:sp>
        <p:nvSpPr>
          <p:cNvPr id="8" name="标题 7"/>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91" y="290946"/>
            <a:ext cx="8967882" cy="5968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079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189" y="290946"/>
            <a:ext cx="8791538" cy="59050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60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3" y="295569"/>
            <a:ext cx="9050482" cy="58454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846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70789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BGEZ rs, offset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检测通用寄存器的值然后进行pc相关的跳转</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如果 rs &gt;= 0那么将会在指令延时槽执行后跳转到现在pc与偏移量offset（如果是16位需扩展到18位）相加后所得的指令。</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I:  target_offset ← sign_extend(offset || 0</a:t>
            </a:r>
            <a:r>
              <a:rPr sz="20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r>
              <a:rPr sz="20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condition ← GPR[rs] ≥ 0</a:t>
            </a:r>
            <a:r>
              <a:rPr sz="20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I+1:  if condition then</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PC ← PC + target_offset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BGEZ</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41503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BREAK MIPS32</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引起一个断点异常</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当一个断点异常发生时，将立刻并且不可控制的转入异常处理。</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SignalException(Breakpoint)</a:t>
            </a:r>
          </a:p>
        </p:txBody>
      </p:sp>
      <p:sp>
        <p:nvSpPr>
          <p:cNvPr id="7266" name="标题 7265"/>
          <p:cNvSpPr>
            <a:spLocks noGrp="1"/>
          </p:cNvSpPr>
          <p:nvPr>
            <p:ph type="title"/>
          </p:nvPr>
        </p:nvSpPr>
        <p:spPr/>
        <p:txBody>
          <a:bodyPr/>
          <a:lstStyle/>
          <a:p>
            <a:pPr algn="l"/>
            <a:r>
              <a:rPr b="1"/>
              <a:t>BREAK</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59435" y="1433830"/>
            <a:ext cx="8216900" cy="516953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DIV rs, rt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32位有符号数除法</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(HI, LO) ←rs / rt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将通用寄存器rs和rt中的数据当做有符号数来进行除法运算。32位的商数被存入寄存器LO，32位的余数被存入HI。在任何情况下不会有算术异常的发生。</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q ← GPR[rs]</a:t>
            </a:r>
            <a:r>
              <a:rPr sz="1200" b="1">
                <a:solidFill>
                  <a:schemeClr val="tx1">
                    <a:lumMod val="75000"/>
                    <a:lumOff val="25000"/>
                  </a:schemeClr>
                </a:solidFill>
                <a:uFillTx/>
                <a:latin typeface="微软雅黑" panose="020B0503020204020204" pitchFamily="34" charset="-122"/>
                <a:ea typeface="微软雅黑" panose="020B0503020204020204" pitchFamily="34" charset="-122"/>
              </a:rPr>
              <a:t>31..0</a:t>
            </a:r>
            <a:r>
              <a:rPr sz="2000" b="1">
                <a:solidFill>
                  <a:schemeClr val="tx1">
                    <a:lumMod val="75000"/>
                    <a:lumOff val="25000"/>
                  </a:schemeClr>
                </a:solidFill>
                <a:latin typeface="微软雅黑" panose="020B0503020204020204" pitchFamily="34" charset="-122"/>
                <a:ea typeface="微软雅黑" panose="020B0503020204020204" pitchFamily="34" charset="-122"/>
              </a:rPr>
              <a:t> div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LO ← q</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r ← GPR[rs]</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r>
              <a:rPr sz="2000" b="1">
                <a:solidFill>
                  <a:schemeClr val="tx1">
                    <a:lumMod val="75000"/>
                    <a:lumOff val="25000"/>
                  </a:schemeClr>
                </a:solidFill>
                <a:latin typeface="微软雅黑" panose="020B0503020204020204" pitchFamily="34" charset="-122"/>
                <a:ea typeface="微软雅黑" panose="020B0503020204020204" pitchFamily="34" charset="-122"/>
              </a:rPr>
              <a:t> mod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HI ← r</a:t>
            </a:r>
          </a:p>
        </p:txBody>
      </p:sp>
      <p:sp>
        <p:nvSpPr>
          <p:cNvPr id="7266" name="标题 7265"/>
          <p:cNvSpPr>
            <a:spLocks noGrp="1"/>
          </p:cNvSpPr>
          <p:nvPr>
            <p:ph type="title"/>
          </p:nvPr>
        </p:nvSpPr>
        <p:spPr/>
        <p:txBody>
          <a:bodyPr/>
          <a:lstStyle/>
          <a:p>
            <a:pPr algn="l"/>
            <a:r>
              <a:rPr b="1"/>
              <a:t>DIV</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461135"/>
            <a:ext cx="8216900" cy="516953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DIVU rs, rt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32位无符号数除法</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(HI, LO) ←rs / rt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将通用寄存器rs和rt中的数据当做无符号数来进行除法运算。32位的商数被存入寄存器LO，32位的余数被存入HI。在任何情况下不会有算术异常的发生。</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q ← (0 || GPR[rs]</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r>
              <a:rPr sz="2000" b="1">
                <a:solidFill>
                  <a:schemeClr val="tx1">
                    <a:lumMod val="75000"/>
                    <a:lumOff val="25000"/>
                  </a:schemeClr>
                </a:solidFill>
                <a:latin typeface="微软雅黑" panose="020B0503020204020204" pitchFamily="34" charset="-122"/>
                <a:ea typeface="微软雅黑" panose="020B0503020204020204" pitchFamily="34" charset="-122"/>
              </a:rPr>
              <a:t>) div (0 ||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r>
              <a:rPr sz="20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r ← (0 || GPR[rs]</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r>
              <a:rPr sz="2000" b="1">
                <a:solidFill>
                  <a:schemeClr val="tx1">
                    <a:lumMod val="75000"/>
                    <a:lumOff val="25000"/>
                  </a:schemeClr>
                </a:solidFill>
                <a:latin typeface="微软雅黑" panose="020B0503020204020204" pitchFamily="34" charset="-122"/>
                <a:ea typeface="微软雅黑" panose="020B0503020204020204" pitchFamily="34" charset="-122"/>
              </a:rPr>
              <a:t>) mod (0 ||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r>
              <a:rPr sz="20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LO ← sign_extend(q</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r>
              <a:rPr sz="20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HI ← sign_extend(r</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r>
              <a:rPr sz="2000" b="1">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r>
              <a:rPr b="1"/>
              <a:t>DIVU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52310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格式:  ERET </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目的:  从异常，中断返回</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描述:  ERET返回到中断指令在所有中断处理过程结束后。ERET不执行下一条指令。</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if Status</a:t>
            </a:r>
            <a:r>
              <a:rPr sz="900" b="1">
                <a:solidFill>
                  <a:schemeClr val="tx1">
                    <a:lumMod val="75000"/>
                    <a:lumOff val="25000"/>
                  </a:schemeClr>
                </a:solidFill>
                <a:latin typeface="微软雅黑" panose="020B0503020204020204" pitchFamily="34" charset="-122"/>
                <a:ea typeface="微软雅黑" panose="020B0503020204020204" pitchFamily="34" charset="-122"/>
              </a:rPr>
              <a:t>ERL</a:t>
            </a:r>
            <a:r>
              <a:rPr sz="1600" b="1">
                <a:solidFill>
                  <a:schemeClr val="tx1">
                    <a:lumMod val="75000"/>
                    <a:lumOff val="25000"/>
                  </a:schemeClr>
                </a:solidFill>
                <a:latin typeface="微软雅黑" panose="020B0503020204020204" pitchFamily="34" charset="-122"/>
                <a:ea typeface="微软雅黑" panose="020B0503020204020204" pitchFamily="34" charset="-122"/>
              </a:rPr>
              <a:t> = 1 then</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temp ← ErrorEPC</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Status</a:t>
            </a:r>
            <a:r>
              <a:rPr sz="900" b="1">
                <a:solidFill>
                  <a:schemeClr val="tx1">
                    <a:lumMod val="75000"/>
                    <a:lumOff val="25000"/>
                  </a:schemeClr>
                </a:solidFill>
                <a:latin typeface="微软雅黑" panose="020B0503020204020204" pitchFamily="34" charset="-122"/>
                <a:ea typeface="微软雅黑" panose="020B0503020204020204" pitchFamily="34" charset="-122"/>
              </a:rPr>
              <a:t>ERL</a:t>
            </a:r>
            <a:r>
              <a:rPr sz="1600" b="1">
                <a:solidFill>
                  <a:schemeClr val="tx1">
                    <a:lumMod val="75000"/>
                    <a:lumOff val="25000"/>
                  </a:schemeClr>
                </a:solidFill>
                <a:latin typeface="微软雅黑" panose="020B0503020204020204" pitchFamily="34" charset="-122"/>
                <a:ea typeface="微软雅黑" panose="020B0503020204020204" pitchFamily="34" charset="-122"/>
              </a:rPr>
              <a:t> ← 0</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temp← EPC</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StatusEXL ← 0</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endif</a:t>
            </a:r>
          </a:p>
          <a:p>
            <a:pPr marL="0" indent="0" fontAlgn="auto">
              <a:lnSpc>
                <a:spcPct val="150000"/>
              </a:lnSpc>
              <a:spcBef>
                <a:spcPts val="0"/>
              </a:spcBef>
              <a:spcAft>
                <a:spcPts val="0"/>
              </a:spcAft>
              <a:buNone/>
              <a:defRPr/>
            </a:pPr>
            <a:r>
              <a:rPr lang="en-US" sz="1600" b="1">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r>
              <a:rPr b="1"/>
              <a:t>ERET</a:t>
            </a:r>
          </a:p>
        </p:txBody>
      </p:sp>
      <p:sp>
        <p:nvSpPr>
          <p:cNvPr id="2" name="文本框 1"/>
          <p:cNvSpPr txBox="1"/>
          <p:nvPr/>
        </p:nvSpPr>
        <p:spPr>
          <a:xfrm>
            <a:off x="4321175" y="3048635"/>
            <a:ext cx="3642360" cy="3058795"/>
          </a:xfrm>
          <a:prstGeom prst="rect">
            <a:avLst/>
          </a:prstGeom>
          <a:noFill/>
        </p:spPr>
        <p:txBody>
          <a:bodyPr wrap="none" rtlCol="0">
            <a:noAutofit/>
          </a:bodyPr>
          <a:lstStyle/>
          <a:p>
            <a:pPr marL="0" indent="0" algn="l" fontAlgn="auto">
              <a:lnSpc>
                <a:spcPct val="150000"/>
              </a:lnSpc>
              <a:spcBef>
                <a:spcPts val="0"/>
              </a:spcBef>
              <a:spcAft>
                <a:spcPts val="0"/>
              </a:spcAft>
              <a:buNone/>
              <a:defRPr/>
            </a:pPr>
            <a:r>
              <a:rPr lang="en-US" sz="1600" b="1">
                <a:solidFill>
                  <a:schemeClr val="tx1">
                    <a:lumMod val="75000"/>
                    <a:lumOff val="25000"/>
                  </a:schemeClr>
                </a:solidFill>
                <a:latin typeface="微软雅黑" panose="020B0503020204020204" pitchFamily="34" charset="-122"/>
                <a:ea typeface="微软雅黑" panose="020B0503020204020204" pitchFamily="34" charset="-122"/>
                <a:sym typeface="+mn-ea"/>
              </a:rPr>
              <a:t>...</a:t>
            </a:r>
          </a:p>
          <a:p>
            <a:pPr marL="0" indent="0" algn="l"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if IsMIPS16Implemented() then</a:t>
            </a:r>
          </a:p>
          <a:p>
            <a:pPr marL="0" indent="0" algn="l"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PC ← temp</a:t>
            </a:r>
            <a:r>
              <a:rPr sz="900" b="1">
                <a:solidFill>
                  <a:schemeClr val="tx1">
                    <a:lumMod val="75000"/>
                    <a:lumOff val="25000"/>
                  </a:schemeClr>
                </a:solidFill>
                <a:latin typeface="微软雅黑" panose="020B0503020204020204" pitchFamily="34" charset="-122"/>
                <a:ea typeface="微软雅黑" panose="020B0503020204020204" pitchFamily="34" charset="-122"/>
                <a:sym typeface="+mn-ea"/>
              </a:rPr>
              <a:t>31..1</a:t>
            </a: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 || 0</a:t>
            </a:r>
          </a:p>
          <a:p>
            <a:pPr marL="0" indent="0" algn="l"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ISAMode ← temp</a:t>
            </a:r>
            <a:r>
              <a:rPr sz="900" b="1">
                <a:solidFill>
                  <a:schemeClr val="tx1">
                    <a:lumMod val="75000"/>
                    <a:lumOff val="25000"/>
                  </a:schemeClr>
                </a:solidFill>
                <a:latin typeface="微软雅黑" panose="020B0503020204020204" pitchFamily="34" charset="-122"/>
                <a:ea typeface="微软雅黑" panose="020B0503020204020204" pitchFamily="34" charset="-122"/>
                <a:sym typeface="+mn-ea"/>
              </a:rPr>
              <a:t>0</a:t>
            </a:r>
          </a:p>
          <a:p>
            <a:pPr marL="0" indent="0" algn="l"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else</a:t>
            </a:r>
          </a:p>
          <a:p>
            <a:pPr marL="0" indent="0" algn="l"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PC ← temp</a:t>
            </a:r>
          </a:p>
          <a:p>
            <a:pPr marL="0" indent="0" algn="l"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endif</a:t>
            </a:r>
          </a:p>
          <a:p>
            <a:pPr marL="0" indent="0" algn="l"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LLbit ← 0</a:t>
            </a:r>
          </a:p>
          <a:p>
            <a:pPr algn="l"/>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89267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格式:  JALR rs (rd = 31 implied)</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JALR rd, rs </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目的: 执行一个在寄存器中存放指令地址的过程调用</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描述:  rd ←return_addr, PC ←rs</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使用寄存器的跳转指令，并且带有链接功能，指令的跳转地址在寄存器rs中，跳转发生时指令的返回地址存在31号寄存器中。</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I:  temp ← GPR[rs]</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GPR[rd] ← PC + 8</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I+1:  if Config1</a:t>
            </a:r>
            <a:r>
              <a:rPr sz="900" b="1">
                <a:solidFill>
                  <a:schemeClr val="tx1">
                    <a:lumMod val="75000"/>
                    <a:lumOff val="25000"/>
                  </a:schemeClr>
                </a:solidFill>
                <a:latin typeface="微软雅黑" panose="020B0503020204020204" pitchFamily="34" charset="-122"/>
                <a:ea typeface="微软雅黑" panose="020B0503020204020204" pitchFamily="34" charset="-122"/>
              </a:rPr>
              <a:t>CA</a:t>
            </a:r>
            <a:r>
              <a:rPr sz="1600" b="1">
                <a:solidFill>
                  <a:schemeClr val="tx1">
                    <a:lumMod val="75000"/>
                    <a:lumOff val="25000"/>
                  </a:schemeClr>
                </a:solidFill>
                <a:latin typeface="微软雅黑" panose="020B0503020204020204" pitchFamily="34" charset="-122"/>
                <a:ea typeface="微软雅黑" panose="020B0503020204020204" pitchFamily="34" charset="-122"/>
              </a:rPr>
              <a:t> = 0 then</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PC ← temp</a:t>
            </a:r>
          </a:p>
          <a:p>
            <a:pPr marL="0" indent="0" fontAlgn="auto">
              <a:lnSpc>
                <a:spcPct val="150000"/>
              </a:lnSpc>
              <a:spcBef>
                <a:spcPts val="0"/>
              </a:spcBef>
              <a:spcAft>
                <a:spcPts val="0"/>
              </a:spcAft>
              <a:buNone/>
              <a:defRPr/>
            </a:pPr>
            <a:r>
              <a:rPr lang="en-US" sz="16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lang="en-US" altLang="zh-CN" sz="1600" b="1">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r>
              <a:rPr b="1"/>
              <a:t>JALR</a:t>
            </a:r>
          </a:p>
        </p:txBody>
      </p:sp>
      <p:sp>
        <p:nvSpPr>
          <p:cNvPr id="2" name="文本框 1"/>
          <p:cNvSpPr txBox="1"/>
          <p:nvPr/>
        </p:nvSpPr>
        <p:spPr>
          <a:xfrm>
            <a:off x="3801110" y="4112895"/>
            <a:ext cx="3043555" cy="1639570"/>
          </a:xfrm>
          <a:prstGeom prst="rect">
            <a:avLst/>
          </a:prstGeom>
          <a:noFill/>
        </p:spPr>
        <p:txBody>
          <a:bodyPr wrap="square" rtlCol="0">
            <a:noAutofit/>
          </a:bodyPr>
          <a:lstStyle/>
          <a:p>
            <a:pPr marL="0" indent="0" fontAlgn="auto">
              <a:lnSpc>
                <a:spcPct val="150000"/>
              </a:lnSpc>
              <a:spcBef>
                <a:spcPts val="0"/>
              </a:spcBef>
              <a:spcAft>
                <a:spcPts val="0"/>
              </a:spcAft>
              <a:buNone/>
              <a:defRPr/>
            </a:pPr>
            <a:r>
              <a:rPr lang="en-US" sz="1600" b="1">
                <a:solidFill>
                  <a:schemeClr val="tx1">
                    <a:lumMod val="75000"/>
                    <a:lumOff val="25000"/>
                  </a:schemeClr>
                </a:solidFill>
                <a:latin typeface="微软雅黑" panose="020B0503020204020204" pitchFamily="34" charset="-122"/>
                <a:ea typeface="微软雅黑" panose="020B0503020204020204" pitchFamily="34" charset="-122"/>
                <a:sym typeface="+mn-ea"/>
              </a:rPr>
              <a:t>...</a:t>
            </a:r>
            <a:endParaRPr sz="1600" b="1">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PC← temp</a:t>
            </a:r>
            <a:r>
              <a:rPr sz="900" b="1">
                <a:solidFill>
                  <a:schemeClr val="tx1">
                    <a:lumMod val="75000"/>
                    <a:lumOff val="25000"/>
                  </a:schemeClr>
                </a:solidFill>
                <a:latin typeface="微软雅黑" panose="020B0503020204020204" pitchFamily="34" charset="-122"/>
                <a:ea typeface="微软雅黑" panose="020B0503020204020204" pitchFamily="34" charset="-122"/>
                <a:sym typeface="+mn-ea"/>
              </a:rPr>
              <a:t>GPRLEN-1..1</a:t>
            </a: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 || 0</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ISAMode ← temp</a:t>
            </a:r>
            <a:r>
              <a:rPr sz="900" b="1">
                <a:solidFill>
                  <a:schemeClr val="tx1">
                    <a:lumMod val="75000"/>
                    <a:lumOff val="25000"/>
                  </a:schemeClr>
                </a:solidFill>
                <a:latin typeface="微软雅黑" panose="020B0503020204020204" pitchFamily="34" charset="-122"/>
                <a:ea typeface="微软雅黑" panose="020B0503020204020204" pitchFamily="34" charset="-122"/>
                <a:sym typeface="+mn-ea"/>
              </a:rPr>
              <a:t>0</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sym typeface="+mn-ea"/>
              </a:rPr>
              <a:t>endif</a:t>
            </a:r>
          </a:p>
          <a:p>
            <a:pPr algn="l"/>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52310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格式:  LB rt, offset(base) </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目的:  从内存加载一个有符号字节</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描述:  rt ←memory[base+offset]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在内存中通过基地址和偏移量相加所得的有效地址中取一个8bit的字节通过符号扩展后存入rt寄存器中。</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vAddr ← sign_extend(offset) + GPR[base]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(pAddr, CCA) ← AddressTranslation (vAddr, DATA, LOAD)</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pAddr ← pAddr</a:t>
            </a:r>
            <a:r>
              <a:rPr sz="900" b="1">
                <a:solidFill>
                  <a:schemeClr val="tx1">
                    <a:lumMod val="75000"/>
                    <a:lumOff val="25000"/>
                  </a:schemeClr>
                </a:solidFill>
                <a:latin typeface="微软雅黑" panose="020B0503020204020204" pitchFamily="34" charset="-122"/>
                <a:ea typeface="微软雅黑" panose="020B0503020204020204" pitchFamily="34" charset="-122"/>
              </a:rPr>
              <a:t>PSIZE-1..2</a:t>
            </a:r>
            <a:r>
              <a:rPr sz="1600" b="1">
                <a:solidFill>
                  <a:schemeClr val="tx1">
                    <a:lumMod val="75000"/>
                    <a:lumOff val="25000"/>
                  </a:schemeClr>
                </a:solidFill>
                <a:latin typeface="微软雅黑" panose="020B0503020204020204" pitchFamily="34" charset="-122"/>
                <a:ea typeface="微软雅黑" panose="020B0503020204020204" pitchFamily="34" charset="-122"/>
              </a:rPr>
              <a:t> || (pAddr</a:t>
            </a:r>
            <a:r>
              <a:rPr sz="900" b="1">
                <a:solidFill>
                  <a:schemeClr val="tx1">
                    <a:lumMod val="75000"/>
                    <a:lumOff val="25000"/>
                  </a:schemeClr>
                </a:solidFill>
                <a:latin typeface="微软雅黑" panose="020B0503020204020204" pitchFamily="34" charset="-122"/>
                <a:ea typeface="微软雅黑" panose="020B0503020204020204" pitchFamily="34" charset="-122"/>
              </a:rPr>
              <a:t>1..0</a:t>
            </a:r>
            <a:r>
              <a:rPr sz="1600" b="1">
                <a:solidFill>
                  <a:schemeClr val="tx1">
                    <a:lumMod val="75000"/>
                    <a:lumOff val="25000"/>
                  </a:schemeClr>
                </a:solidFill>
                <a:latin typeface="微软雅黑" panose="020B0503020204020204" pitchFamily="34" charset="-122"/>
                <a:ea typeface="微软雅黑" panose="020B0503020204020204" pitchFamily="34" charset="-122"/>
              </a:rPr>
              <a:t> xor ReverseEndian</a:t>
            </a:r>
            <a:r>
              <a:rPr sz="16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r>
              <a:rPr sz="16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memword← LoadMemory (CCA, BYTE, pAddr, vAddr, DATA)</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byte ← vAddr</a:t>
            </a:r>
            <a:r>
              <a:rPr sz="900" b="1">
                <a:solidFill>
                  <a:schemeClr val="tx1">
                    <a:lumMod val="75000"/>
                    <a:lumOff val="25000"/>
                  </a:schemeClr>
                </a:solidFill>
                <a:latin typeface="微软雅黑" panose="020B0503020204020204" pitchFamily="34" charset="-122"/>
                <a:ea typeface="微软雅黑" panose="020B0503020204020204" pitchFamily="34" charset="-122"/>
              </a:rPr>
              <a:t>1..0</a:t>
            </a:r>
            <a:r>
              <a:rPr sz="1600" b="1">
                <a:solidFill>
                  <a:schemeClr val="tx1">
                    <a:lumMod val="75000"/>
                    <a:lumOff val="25000"/>
                  </a:schemeClr>
                </a:solidFill>
                <a:latin typeface="微软雅黑" panose="020B0503020204020204" pitchFamily="34" charset="-122"/>
                <a:ea typeface="微软雅黑" panose="020B0503020204020204" pitchFamily="34" charset="-122"/>
              </a:rPr>
              <a:t> xor BigEndianCPU</a:t>
            </a:r>
            <a:r>
              <a:rPr sz="16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GPR[rt] ← sign_extend(memword</a:t>
            </a:r>
            <a:r>
              <a:rPr sz="900" b="1">
                <a:solidFill>
                  <a:schemeClr val="tx1">
                    <a:lumMod val="75000"/>
                    <a:lumOff val="25000"/>
                  </a:schemeClr>
                </a:solidFill>
                <a:latin typeface="微软雅黑" panose="020B0503020204020204" pitchFamily="34" charset="-122"/>
                <a:ea typeface="微软雅黑" panose="020B0503020204020204" pitchFamily="34" charset="-122"/>
              </a:rPr>
              <a:t>7+8*byte..8*byte</a:t>
            </a:r>
            <a:r>
              <a:rPr sz="1600" b="1">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r>
              <a:rPr b="1"/>
              <a:t>LB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52310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格式:  LBU rt, offset(base) </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目的:  从内存加载一个无符号字节</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描述:  rt ←memory[base+offset]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在内存中通过基地址和偏移量相加所得的有效地址中取一个8bit的字节通过0扩展后存入rt寄存器中。</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vAddr ← sign_extend(offset) + GPR[base]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(pAddr, CCA) ← AddressTranslation (vAddr, DATA, LOAD)</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pAddr ← pAddr</a:t>
            </a:r>
            <a:r>
              <a:rPr sz="900" b="1">
                <a:solidFill>
                  <a:schemeClr val="tx1">
                    <a:lumMod val="75000"/>
                    <a:lumOff val="25000"/>
                  </a:schemeClr>
                </a:solidFill>
                <a:latin typeface="微软雅黑" panose="020B0503020204020204" pitchFamily="34" charset="-122"/>
                <a:ea typeface="微软雅黑" panose="020B0503020204020204" pitchFamily="34" charset="-122"/>
              </a:rPr>
              <a:t>PSIZE-1..2</a:t>
            </a:r>
            <a:r>
              <a:rPr sz="1600" b="1">
                <a:solidFill>
                  <a:schemeClr val="tx1">
                    <a:lumMod val="75000"/>
                    <a:lumOff val="25000"/>
                  </a:schemeClr>
                </a:solidFill>
                <a:latin typeface="微软雅黑" panose="020B0503020204020204" pitchFamily="34" charset="-122"/>
                <a:ea typeface="微软雅黑" panose="020B0503020204020204" pitchFamily="34" charset="-122"/>
              </a:rPr>
              <a:t> || (pAddr</a:t>
            </a:r>
            <a:r>
              <a:rPr sz="900" b="1">
                <a:solidFill>
                  <a:schemeClr val="tx1">
                    <a:lumMod val="75000"/>
                    <a:lumOff val="25000"/>
                  </a:schemeClr>
                </a:solidFill>
                <a:latin typeface="微软雅黑" panose="020B0503020204020204" pitchFamily="34" charset="-122"/>
                <a:ea typeface="微软雅黑" panose="020B0503020204020204" pitchFamily="34" charset="-122"/>
              </a:rPr>
              <a:t>1..0</a:t>
            </a:r>
            <a:r>
              <a:rPr sz="1600" b="1">
                <a:solidFill>
                  <a:schemeClr val="tx1">
                    <a:lumMod val="75000"/>
                    <a:lumOff val="25000"/>
                  </a:schemeClr>
                </a:solidFill>
                <a:latin typeface="微软雅黑" panose="020B0503020204020204" pitchFamily="34" charset="-122"/>
                <a:ea typeface="微软雅黑" panose="020B0503020204020204" pitchFamily="34" charset="-122"/>
              </a:rPr>
              <a:t> xor ReverseEndian</a:t>
            </a:r>
            <a:r>
              <a:rPr sz="16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r>
              <a:rPr sz="16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memword← LoadMemory (CCA, BYTE, pAddr, vAddr, DATA)</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byte ← vAddr</a:t>
            </a:r>
            <a:r>
              <a:rPr sz="900" b="1">
                <a:solidFill>
                  <a:schemeClr val="tx1">
                    <a:lumMod val="75000"/>
                    <a:lumOff val="25000"/>
                  </a:schemeClr>
                </a:solidFill>
                <a:latin typeface="微软雅黑" panose="020B0503020204020204" pitchFamily="34" charset="-122"/>
                <a:ea typeface="微软雅黑" panose="020B0503020204020204" pitchFamily="34" charset="-122"/>
              </a:rPr>
              <a:t>1..0 </a:t>
            </a:r>
            <a:r>
              <a:rPr sz="1600" b="1">
                <a:solidFill>
                  <a:schemeClr val="tx1">
                    <a:lumMod val="75000"/>
                    <a:lumOff val="25000"/>
                  </a:schemeClr>
                </a:solidFill>
                <a:latin typeface="微软雅黑" panose="020B0503020204020204" pitchFamily="34" charset="-122"/>
                <a:ea typeface="微软雅黑" panose="020B0503020204020204" pitchFamily="34" charset="-122"/>
              </a:rPr>
              <a:t>xor BigEndianCPU</a:t>
            </a:r>
            <a:r>
              <a:rPr sz="16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GPR[rt] ← zero_extend(memword</a:t>
            </a:r>
            <a:r>
              <a:rPr sz="900" b="1">
                <a:solidFill>
                  <a:schemeClr val="tx1">
                    <a:lumMod val="75000"/>
                    <a:lumOff val="25000"/>
                  </a:schemeClr>
                </a:solidFill>
                <a:latin typeface="微软雅黑" panose="020B0503020204020204" pitchFamily="34" charset="-122"/>
                <a:ea typeface="微软雅黑" panose="020B0503020204020204" pitchFamily="34" charset="-122"/>
              </a:rPr>
              <a:t>7+8*byte..8*byte</a:t>
            </a:r>
            <a:r>
              <a:rPr sz="1600" b="1">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r>
              <a:rPr b="1"/>
              <a:t>LBU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61581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格式:  LH rt, offset(base) </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目的:  从内存加载一个有符号半字</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描述:  rt ←memory[base+offset]</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在内存中通过基地址和偏移量相加所得的有效地址中取一个半字通过符号扩展后存入rt寄存器中。</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vAddr ← sign_extend(offset) + GPR[base]</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if vAddr0 ≠ 0 then</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SignalException(AddressError) </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endif</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(pAddr, CCA) ← AddressTranslation (vAddr, DATA, LOAD)</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pAddr ← pAddr</a:t>
            </a:r>
            <a:r>
              <a:rPr sz="900" b="1">
                <a:solidFill>
                  <a:schemeClr val="tx1">
                    <a:lumMod val="75000"/>
                    <a:lumOff val="25000"/>
                  </a:schemeClr>
                </a:solidFill>
                <a:latin typeface="微软雅黑" panose="020B0503020204020204" pitchFamily="34" charset="-122"/>
                <a:ea typeface="微软雅黑" panose="020B0503020204020204" pitchFamily="34" charset="-122"/>
              </a:rPr>
              <a:t>PSIZE–1..2 </a:t>
            </a:r>
            <a:r>
              <a:rPr sz="1400" b="1">
                <a:solidFill>
                  <a:schemeClr val="tx1">
                    <a:lumMod val="75000"/>
                    <a:lumOff val="25000"/>
                  </a:schemeClr>
                </a:solidFill>
                <a:latin typeface="微软雅黑" panose="020B0503020204020204" pitchFamily="34" charset="-122"/>
                <a:ea typeface="微软雅黑" panose="020B0503020204020204" pitchFamily="34" charset="-122"/>
              </a:rPr>
              <a:t>|| (pAddr</a:t>
            </a:r>
            <a:r>
              <a:rPr sz="900" b="1">
                <a:solidFill>
                  <a:schemeClr val="tx1">
                    <a:lumMod val="75000"/>
                    <a:lumOff val="25000"/>
                  </a:schemeClr>
                </a:solidFill>
                <a:latin typeface="微软雅黑" panose="020B0503020204020204" pitchFamily="34" charset="-122"/>
                <a:ea typeface="微软雅黑" panose="020B0503020204020204" pitchFamily="34" charset="-122"/>
              </a:rPr>
              <a:t>1..0</a:t>
            </a:r>
            <a:r>
              <a:rPr sz="1400" b="1">
                <a:solidFill>
                  <a:schemeClr val="tx1">
                    <a:lumMod val="75000"/>
                    <a:lumOff val="25000"/>
                  </a:schemeClr>
                </a:solidFill>
                <a:latin typeface="微软雅黑" panose="020B0503020204020204" pitchFamily="34" charset="-122"/>
                <a:ea typeface="微软雅黑" panose="020B0503020204020204" pitchFamily="34" charset="-122"/>
              </a:rPr>
              <a:t> xor (ReverseEndian || 0))</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memword ← LoadMemory (CCA, HALFWORD, pAddr, vAddr, DATA)</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byte ← vAddr</a:t>
            </a:r>
            <a:r>
              <a:rPr sz="900" b="1">
                <a:solidFill>
                  <a:schemeClr val="tx1">
                    <a:lumMod val="75000"/>
                    <a:lumOff val="25000"/>
                  </a:schemeClr>
                </a:solidFill>
                <a:latin typeface="微软雅黑" panose="020B0503020204020204" pitchFamily="34" charset="-122"/>
                <a:ea typeface="微软雅黑" panose="020B0503020204020204" pitchFamily="34" charset="-122"/>
              </a:rPr>
              <a:t>1..0</a:t>
            </a:r>
            <a:r>
              <a:rPr sz="1400" b="1">
                <a:solidFill>
                  <a:schemeClr val="tx1">
                    <a:lumMod val="75000"/>
                    <a:lumOff val="25000"/>
                  </a:schemeClr>
                </a:solidFill>
                <a:latin typeface="微软雅黑" panose="020B0503020204020204" pitchFamily="34" charset="-122"/>
                <a:ea typeface="微软雅黑" panose="020B0503020204020204" pitchFamily="34" charset="-122"/>
              </a:rPr>
              <a:t> xor (BigEndianCPU || 0)</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GPR[rt] ← sign_extend(memword</a:t>
            </a:r>
            <a:r>
              <a:rPr sz="900" b="1">
                <a:solidFill>
                  <a:schemeClr val="tx1">
                    <a:lumMod val="75000"/>
                    <a:lumOff val="25000"/>
                  </a:schemeClr>
                </a:solidFill>
                <a:latin typeface="微软雅黑" panose="020B0503020204020204" pitchFamily="34" charset="-122"/>
                <a:ea typeface="微软雅黑" panose="020B0503020204020204" pitchFamily="34" charset="-122"/>
              </a:rPr>
              <a:t>15+8*byte..8*byte</a:t>
            </a:r>
            <a:r>
              <a:rPr sz="1400" b="1">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r>
              <a:rPr b="1"/>
              <a:t>LH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61581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格式:  LHU rt, offset(base) </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目的:  从内存加载一个无符号半字</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描述:  rt ←memory[base+offset]</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在内存中通过基地址和偏移量相加所得的有效地址中取一个半字通过0扩展后存入rt寄存器中。</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vAddr ← sign_extend(offset) + GPR[base]</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if vAddr0 ≠ 0 then</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SignalException(AddressError)</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endif</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(pAddr, CCA) ← AddressTranslation (vAddr, DATA, LOAD)</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pAddr ← pAddr</a:t>
            </a:r>
            <a:r>
              <a:rPr sz="900" b="1">
                <a:solidFill>
                  <a:schemeClr val="tx1">
                    <a:lumMod val="75000"/>
                    <a:lumOff val="25000"/>
                  </a:schemeClr>
                </a:solidFill>
                <a:latin typeface="微软雅黑" panose="020B0503020204020204" pitchFamily="34" charset="-122"/>
                <a:ea typeface="微软雅黑" panose="020B0503020204020204" pitchFamily="34" charset="-122"/>
              </a:rPr>
              <a:t>PSIZE–1..2</a:t>
            </a:r>
            <a:r>
              <a:rPr sz="1400" b="1">
                <a:solidFill>
                  <a:schemeClr val="tx1">
                    <a:lumMod val="75000"/>
                    <a:lumOff val="25000"/>
                  </a:schemeClr>
                </a:solidFill>
                <a:latin typeface="微软雅黑" panose="020B0503020204020204" pitchFamily="34" charset="-122"/>
                <a:ea typeface="微软雅黑" panose="020B0503020204020204" pitchFamily="34" charset="-122"/>
              </a:rPr>
              <a:t> || (pAddr</a:t>
            </a:r>
            <a:r>
              <a:rPr sz="900" b="1">
                <a:solidFill>
                  <a:schemeClr val="tx1">
                    <a:lumMod val="75000"/>
                    <a:lumOff val="25000"/>
                  </a:schemeClr>
                </a:solidFill>
                <a:latin typeface="微软雅黑" panose="020B0503020204020204" pitchFamily="34" charset="-122"/>
                <a:ea typeface="微软雅黑" panose="020B0503020204020204" pitchFamily="34" charset="-122"/>
              </a:rPr>
              <a:t>1..0</a:t>
            </a:r>
            <a:r>
              <a:rPr sz="1400" b="1">
                <a:solidFill>
                  <a:schemeClr val="tx1">
                    <a:lumMod val="75000"/>
                    <a:lumOff val="25000"/>
                  </a:schemeClr>
                </a:solidFill>
                <a:latin typeface="微软雅黑" panose="020B0503020204020204" pitchFamily="34" charset="-122"/>
                <a:ea typeface="微软雅黑" panose="020B0503020204020204" pitchFamily="34" charset="-122"/>
              </a:rPr>
              <a:t> xor (ReverseEndian || 0))</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memword ← LoadMemory (CCA, HALFWORD, pAddr, vAddr, DATA)</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byte ← vAddr</a:t>
            </a:r>
            <a:r>
              <a:rPr sz="900" b="1">
                <a:solidFill>
                  <a:schemeClr val="tx1">
                    <a:lumMod val="75000"/>
                    <a:lumOff val="25000"/>
                  </a:schemeClr>
                </a:solidFill>
                <a:latin typeface="微软雅黑" panose="020B0503020204020204" pitchFamily="34" charset="-122"/>
                <a:ea typeface="微软雅黑" panose="020B0503020204020204" pitchFamily="34" charset="-122"/>
              </a:rPr>
              <a:t>1..0</a:t>
            </a:r>
            <a:r>
              <a:rPr sz="1400" b="1">
                <a:solidFill>
                  <a:schemeClr val="tx1">
                    <a:lumMod val="75000"/>
                    <a:lumOff val="25000"/>
                  </a:schemeClr>
                </a:solidFill>
                <a:latin typeface="微软雅黑" panose="020B0503020204020204" pitchFamily="34" charset="-122"/>
                <a:ea typeface="微软雅黑" panose="020B0503020204020204" pitchFamily="34" charset="-122"/>
              </a:rPr>
              <a:t> xor (BigEndianCPU || 0)</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GPR[rt] ← zero_extend(memword</a:t>
            </a:r>
            <a:r>
              <a:rPr sz="900" b="1">
                <a:solidFill>
                  <a:schemeClr val="tx1">
                    <a:lumMod val="75000"/>
                    <a:lumOff val="25000"/>
                  </a:schemeClr>
                </a:solidFill>
                <a:latin typeface="微软雅黑" panose="020B0503020204020204" pitchFamily="34" charset="-122"/>
                <a:ea typeface="微软雅黑" panose="020B0503020204020204" pitchFamily="34" charset="-122"/>
              </a:rPr>
              <a:t>15+8*byte..8*byte</a:t>
            </a:r>
            <a:r>
              <a:rPr sz="1400" b="1">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66" name="标题 7265"/>
          <p:cNvSpPr>
            <a:spLocks noGrp="1"/>
          </p:cNvSpPr>
          <p:nvPr>
            <p:ph type="title"/>
          </p:nvPr>
        </p:nvSpPr>
        <p:spPr/>
        <p:txBody>
          <a:bodyPr/>
          <a:lstStyle/>
          <a:p>
            <a:pPr algn="l"/>
            <a:r>
              <a:rPr b="1"/>
              <a:t>LHU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04609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格式:   MFC0 rt, rd </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MFC0 rt, rd, sel </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目的:  把一个数据从特殊寄存器移到通用寄存器</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描述:  rt ←CPR[0,rd,sel]</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由rd和sel选择协处理器0中的特殊寄存器，把它的内容转移到通用寄存器rt中。</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data ← CPR[0,rd,sel]</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GPR[rt] ←data</a:t>
            </a:r>
          </a:p>
        </p:txBody>
      </p:sp>
      <p:sp>
        <p:nvSpPr>
          <p:cNvPr id="7266" name="标题 7265"/>
          <p:cNvSpPr>
            <a:spLocks noGrp="1"/>
          </p:cNvSpPr>
          <p:nvPr>
            <p:ph type="title"/>
          </p:nvPr>
        </p:nvSpPr>
        <p:spPr/>
        <p:txBody>
          <a:bodyPr/>
          <a:lstStyle/>
          <a:p>
            <a:pPr algn="l"/>
            <a:r>
              <a:rPr b="1"/>
              <a:t>MFC0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41503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MFLO rd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复制特殊寄存器LO的内容到通用寄存器</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rd ←LO</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特殊寄存器LO中的数据复制到通用寄存器rd中。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GPR[rd] ← LO</a:t>
            </a:r>
          </a:p>
        </p:txBody>
      </p:sp>
      <p:sp>
        <p:nvSpPr>
          <p:cNvPr id="7266" name="标题 7265"/>
          <p:cNvSpPr>
            <a:spLocks noGrp="1"/>
          </p:cNvSpPr>
          <p:nvPr>
            <p:ph type="title"/>
          </p:nvPr>
        </p:nvSpPr>
        <p:spPr>
          <a:xfrm>
            <a:off x="361950" y="371408"/>
            <a:ext cx="8229600" cy="533400"/>
          </a:xfrm>
        </p:spPr>
        <p:txBody>
          <a:bodyPr/>
          <a:lstStyle/>
          <a:p>
            <a:pPr algn="l"/>
            <a:r>
              <a:rPr b="1"/>
              <a:t>MFLO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52310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MTC0 rt, rd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MTC0 rt, rd, sel</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把一个数据从通用寄存器移到特殊寄存器</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CPR[r0, rd, sel] ← 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由rd和sel选择协处理器0中的特殊寄存器，把通用寄存器rt中的内容转移到特殊寄存器中。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CPR[0,rd,sel] ← data</a:t>
            </a:r>
          </a:p>
        </p:txBody>
      </p:sp>
      <p:sp>
        <p:nvSpPr>
          <p:cNvPr id="7266" name="标题 7265"/>
          <p:cNvSpPr>
            <a:spLocks noGrp="1"/>
          </p:cNvSpPr>
          <p:nvPr>
            <p:ph type="title"/>
          </p:nvPr>
        </p:nvSpPr>
        <p:spPr/>
        <p:txBody>
          <a:bodyPr/>
          <a:lstStyle/>
          <a:p>
            <a:pPr algn="l"/>
            <a:r>
              <a:rPr b="1"/>
              <a:t>MTC0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41503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MTHI rs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复制通用寄存器的内容到特殊寄存器HI中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HI ←rs</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通用寄存器rs中德尔内容复制到特殊寄存器HI中。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HI ← GPR[rs]</a:t>
            </a:r>
          </a:p>
        </p:txBody>
      </p:sp>
      <p:sp>
        <p:nvSpPr>
          <p:cNvPr id="7266" name="标题 7265"/>
          <p:cNvSpPr>
            <a:spLocks noGrp="1"/>
          </p:cNvSpPr>
          <p:nvPr>
            <p:ph type="title"/>
          </p:nvPr>
        </p:nvSpPr>
        <p:spPr/>
        <p:txBody>
          <a:bodyPr/>
          <a:lstStyle/>
          <a:p>
            <a:pPr algn="l"/>
            <a:r>
              <a:rPr b="1"/>
              <a:t>MTHI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41503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MTLO rs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复制通用寄存器的内容到特殊寄存器LO中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LO ←rs</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通用寄存器rs中德尔内容复制到特殊寄存器LO中。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LO ← GPR[rs]</a:t>
            </a:r>
          </a:p>
        </p:txBody>
      </p:sp>
      <p:sp>
        <p:nvSpPr>
          <p:cNvPr id="7266" name="标题 7265"/>
          <p:cNvSpPr>
            <a:spLocks noGrp="1"/>
          </p:cNvSpPr>
          <p:nvPr>
            <p:ph type="title"/>
          </p:nvPr>
        </p:nvSpPr>
        <p:spPr/>
        <p:txBody>
          <a:bodyPr/>
          <a:lstStyle/>
          <a:p>
            <a:pPr algn="l"/>
            <a:r>
              <a:rPr b="1"/>
              <a:t>MTLO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41503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MFHI rd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复制特殊寄存器HI的内容到通用寄存器</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rd ←HI</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特殊寄存器HI中的数据复制到通用寄存器rd中。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GPR[rd] ← HI</a:t>
            </a:r>
          </a:p>
        </p:txBody>
      </p:sp>
      <p:sp>
        <p:nvSpPr>
          <p:cNvPr id="7266" name="标题 7265"/>
          <p:cNvSpPr>
            <a:spLocks noGrp="1"/>
          </p:cNvSpPr>
          <p:nvPr>
            <p:ph type="title"/>
          </p:nvPr>
        </p:nvSpPr>
        <p:spPr/>
        <p:txBody>
          <a:bodyPr/>
          <a:lstStyle/>
          <a:p>
            <a:pPr algn="l"/>
            <a:r>
              <a:rPr b="1"/>
              <a:t>MFHI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70789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MULT rs, rt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32位有符号数乘法</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(HI, LO) ←rs* rt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在通用寄存器rs和rt中的数据当做有符号数来进行乘法运算产生一个64位的结果， 结果的低32位写入LO寄存器，高32位写入HI寄存器。 在任何情况下不会产生算术异常。</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prod ← GPR[rs]</a:t>
            </a:r>
            <a:r>
              <a:rPr sz="1200" b="1">
                <a:solidFill>
                  <a:schemeClr val="tx1">
                    <a:lumMod val="75000"/>
                    <a:lumOff val="25000"/>
                  </a:schemeClr>
                </a:solidFill>
                <a:latin typeface="微软雅黑" panose="020B0503020204020204" pitchFamily="34" charset="-122"/>
                <a:ea typeface="微软雅黑" panose="020B0503020204020204" pitchFamily="34" charset="-122"/>
              </a:rPr>
              <a:t>31..0 </a:t>
            </a:r>
            <a:r>
              <a:rPr sz="2000" b="1">
                <a:solidFill>
                  <a:schemeClr val="tx1">
                    <a:lumMod val="75000"/>
                    <a:lumOff val="25000"/>
                  </a:schemeClr>
                </a:solidFill>
                <a:latin typeface="微软雅黑" panose="020B0503020204020204" pitchFamily="34" charset="-122"/>
                <a:ea typeface="微软雅黑" panose="020B0503020204020204" pitchFamily="34" charset="-122"/>
              </a:rPr>
              <a:t>*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LO ← prod</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HI ← prod</a:t>
            </a:r>
            <a:r>
              <a:rPr sz="1200" b="1">
                <a:solidFill>
                  <a:schemeClr val="tx1">
                    <a:lumMod val="75000"/>
                    <a:lumOff val="25000"/>
                  </a:schemeClr>
                </a:solidFill>
                <a:latin typeface="微软雅黑" panose="020B0503020204020204" pitchFamily="34" charset="-122"/>
                <a:ea typeface="微软雅黑" panose="020B0503020204020204" pitchFamily="34" charset="-122"/>
              </a:rPr>
              <a:t>63..32</a:t>
            </a:r>
          </a:p>
        </p:txBody>
      </p:sp>
      <p:sp>
        <p:nvSpPr>
          <p:cNvPr id="7266" name="标题 7265"/>
          <p:cNvSpPr>
            <a:spLocks noGrp="1"/>
          </p:cNvSpPr>
          <p:nvPr>
            <p:ph type="title"/>
          </p:nvPr>
        </p:nvSpPr>
        <p:spPr/>
        <p:txBody>
          <a:bodyPr/>
          <a:lstStyle/>
          <a:p>
            <a:pPr algn="l"/>
            <a:r>
              <a:rPr b="1"/>
              <a:t>MULT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70789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MULTU rs, rt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32位无符号数乘法</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(HI, LO) ←rs * rt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在通用寄存器rs和rt中的数据当做无符号数来进行乘法运算产生一个64位的结果， 结果的低32位写入LO寄存器，高32位写入HI寄存器。 在任何情况下不会产生算术异常。</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prod← (0 || GPR[rs]31..0) * (0 || GPR[rt]31..0)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LO ← prod</a:t>
            </a:r>
            <a:r>
              <a:rPr sz="1200" b="1">
                <a:solidFill>
                  <a:schemeClr val="tx1">
                    <a:lumMod val="75000"/>
                    <a:lumOff val="25000"/>
                  </a:schemeClr>
                </a:solidFill>
                <a:latin typeface="微软雅黑" panose="020B0503020204020204" pitchFamily="34" charset="-122"/>
                <a:ea typeface="微软雅黑" panose="020B0503020204020204" pitchFamily="34" charset="-122"/>
              </a:rPr>
              <a:t>31..0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HI ← prod</a:t>
            </a:r>
            <a:r>
              <a:rPr sz="1200" b="1">
                <a:solidFill>
                  <a:schemeClr val="tx1">
                    <a:lumMod val="75000"/>
                    <a:lumOff val="25000"/>
                  </a:schemeClr>
                </a:solidFill>
                <a:latin typeface="微软雅黑" panose="020B0503020204020204" pitchFamily="34" charset="-122"/>
                <a:ea typeface="微软雅黑" panose="020B0503020204020204" pitchFamily="34" charset="-122"/>
              </a:rPr>
              <a:t>63..32</a:t>
            </a:r>
          </a:p>
        </p:txBody>
      </p:sp>
      <p:sp>
        <p:nvSpPr>
          <p:cNvPr id="7266" name="标题 7265"/>
          <p:cNvSpPr>
            <a:spLocks noGrp="1"/>
          </p:cNvSpPr>
          <p:nvPr>
            <p:ph type="title"/>
          </p:nvPr>
        </p:nvSpPr>
        <p:spPr/>
        <p:txBody>
          <a:bodyPr/>
          <a:lstStyle/>
          <a:p>
            <a:pPr algn="l"/>
            <a:r>
              <a:rPr b="1"/>
              <a:t>MULTU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507746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SB rt, offset(base)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存一字节到内存</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memory[base+offset] ←rt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在rt寄存器中最低8位的数据被存入到由基地址和偏移量相加所得有效地址的内存中。</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vAddr ← sign_extend(offset) + GPR[base]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(pAddr, CCA) ← AddressTranslation (vAddr, DATA, STORE)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pAddr ← pAddr</a:t>
            </a:r>
            <a:r>
              <a:rPr sz="1000" b="1">
                <a:solidFill>
                  <a:schemeClr val="tx1">
                    <a:lumMod val="75000"/>
                    <a:lumOff val="25000"/>
                  </a:schemeClr>
                </a:solidFill>
                <a:latin typeface="微软雅黑" panose="020B0503020204020204" pitchFamily="34" charset="-122"/>
                <a:ea typeface="微软雅黑" panose="020B0503020204020204" pitchFamily="34" charset="-122"/>
              </a:rPr>
              <a:t>PSIZE-1..2</a:t>
            </a:r>
            <a:r>
              <a:rPr sz="1800" b="1">
                <a:solidFill>
                  <a:schemeClr val="tx1">
                    <a:lumMod val="75000"/>
                    <a:lumOff val="25000"/>
                  </a:schemeClr>
                </a:solidFill>
                <a:latin typeface="微软雅黑" panose="020B0503020204020204" pitchFamily="34" charset="-122"/>
                <a:ea typeface="微软雅黑" panose="020B0503020204020204" pitchFamily="34" charset="-122"/>
              </a:rPr>
              <a:t> || (pAddr</a:t>
            </a:r>
            <a:r>
              <a:rPr sz="1000" b="1">
                <a:solidFill>
                  <a:schemeClr val="tx1">
                    <a:lumMod val="75000"/>
                    <a:lumOff val="25000"/>
                  </a:schemeClr>
                </a:solidFill>
                <a:latin typeface="微软雅黑" panose="020B0503020204020204" pitchFamily="34" charset="-122"/>
                <a:ea typeface="微软雅黑" panose="020B0503020204020204" pitchFamily="34" charset="-122"/>
              </a:rPr>
              <a:t>1..0</a:t>
            </a:r>
            <a:r>
              <a:rPr sz="1800" b="1">
                <a:solidFill>
                  <a:schemeClr val="tx1">
                    <a:lumMod val="75000"/>
                    <a:lumOff val="25000"/>
                  </a:schemeClr>
                </a:solidFill>
                <a:latin typeface="微软雅黑" panose="020B0503020204020204" pitchFamily="34" charset="-122"/>
                <a:ea typeface="微软雅黑" panose="020B0503020204020204" pitchFamily="34" charset="-122"/>
              </a:rPr>
              <a:t> xor ReverseEndian</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r>
              <a:rPr sz="18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bytesel ← vAddr</a:t>
            </a:r>
            <a:r>
              <a:rPr sz="1000" b="1">
                <a:solidFill>
                  <a:schemeClr val="tx1">
                    <a:lumMod val="75000"/>
                    <a:lumOff val="25000"/>
                  </a:schemeClr>
                </a:solidFill>
                <a:latin typeface="微软雅黑" panose="020B0503020204020204" pitchFamily="34" charset="-122"/>
                <a:ea typeface="微软雅黑" panose="020B0503020204020204" pitchFamily="34" charset="-122"/>
              </a:rPr>
              <a:t>1..0</a:t>
            </a:r>
            <a:r>
              <a:rPr sz="1800" b="1">
                <a:solidFill>
                  <a:schemeClr val="tx1">
                    <a:lumMod val="75000"/>
                    <a:lumOff val="25000"/>
                  </a:schemeClr>
                </a:solidFill>
                <a:latin typeface="微软雅黑" panose="020B0503020204020204" pitchFamily="34" charset="-122"/>
                <a:ea typeface="微软雅黑" panose="020B0503020204020204" pitchFamily="34" charset="-122"/>
              </a:rPr>
              <a:t> xor BigEndianCPU</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dataword ← GPR[rt]</a:t>
            </a:r>
            <a:r>
              <a:rPr sz="1000" b="1">
                <a:solidFill>
                  <a:schemeClr val="tx1">
                    <a:lumMod val="75000"/>
                    <a:lumOff val="25000"/>
                  </a:schemeClr>
                </a:solidFill>
                <a:latin typeface="微软雅黑" panose="020B0503020204020204" pitchFamily="34" charset="-122"/>
                <a:ea typeface="微软雅黑" panose="020B0503020204020204" pitchFamily="34" charset="-122"/>
              </a:rPr>
              <a:t>31–8*bytesel..0</a:t>
            </a:r>
            <a:r>
              <a:rPr sz="1800" b="1">
                <a:solidFill>
                  <a:schemeClr val="tx1">
                    <a:lumMod val="75000"/>
                    <a:lumOff val="25000"/>
                  </a:schemeClr>
                </a:solidFill>
                <a:latin typeface="微软雅黑" panose="020B0503020204020204" pitchFamily="34" charset="-122"/>
                <a:ea typeface="微软雅黑" panose="020B0503020204020204" pitchFamily="34" charset="-122"/>
              </a:rPr>
              <a:t>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8*bytesel</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StoreMemory (CCA, BYTE, dataword, pAddr, vAddr, DATA)</a:t>
            </a:r>
          </a:p>
        </p:txBody>
      </p:sp>
      <p:sp>
        <p:nvSpPr>
          <p:cNvPr id="7266" name="标题 7265"/>
          <p:cNvSpPr>
            <a:spLocks noGrp="1"/>
          </p:cNvSpPr>
          <p:nvPr>
            <p:ph type="title"/>
          </p:nvPr>
        </p:nvSpPr>
        <p:spPr/>
        <p:txBody>
          <a:bodyPr/>
          <a:lstStyle/>
          <a:p>
            <a:pPr algn="l"/>
            <a:r>
              <a:rPr b="1"/>
              <a:t>SB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61581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格式:  SH rt, offset(base) </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目的:  存一个半字到内存</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描述:  memory[base+offset] ←rt</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在rt寄存器中最低16位的数据被存入到由基地址和偏移量相加所得有效地址的内存中。</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vAddr ← sign_extend(offset) + GPR[base]</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if vAddr0 ≠ 0 then</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SignalException(AddressError)</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endif</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(pAddr, CCA) ← AddressTranslation (vAddr, DATA, STORE)</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pAddr ← pAddr</a:t>
            </a:r>
            <a:r>
              <a:rPr sz="900" b="1">
                <a:solidFill>
                  <a:schemeClr val="tx1">
                    <a:lumMod val="75000"/>
                    <a:lumOff val="25000"/>
                  </a:schemeClr>
                </a:solidFill>
                <a:latin typeface="微软雅黑" panose="020B0503020204020204" pitchFamily="34" charset="-122"/>
                <a:ea typeface="微软雅黑" panose="020B0503020204020204" pitchFamily="34" charset="-122"/>
              </a:rPr>
              <a:t>PSIZE-1..2</a:t>
            </a:r>
            <a:r>
              <a:rPr sz="1400" b="1">
                <a:solidFill>
                  <a:schemeClr val="tx1">
                    <a:lumMod val="75000"/>
                    <a:lumOff val="25000"/>
                  </a:schemeClr>
                </a:solidFill>
                <a:latin typeface="微软雅黑" panose="020B0503020204020204" pitchFamily="34" charset="-122"/>
                <a:ea typeface="微软雅黑" panose="020B0503020204020204" pitchFamily="34" charset="-122"/>
              </a:rPr>
              <a:t> || (pAddr</a:t>
            </a:r>
            <a:r>
              <a:rPr sz="900" b="1">
                <a:solidFill>
                  <a:schemeClr val="tx1">
                    <a:lumMod val="75000"/>
                    <a:lumOff val="25000"/>
                  </a:schemeClr>
                </a:solidFill>
                <a:latin typeface="微软雅黑" panose="020B0503020204020204" pitchFamily="34" charset="-122"/>
                <a:ea typeface="微软雅黑" panose="020B0503020204020204" pitchFamily="34" charset="-122"/>
              </a:rPr>
              <a:t>11..0</a:t>
            </a:r>
            <a:r>
              <a:rPr sz="1400" b="1">
                <a:solidFill>
                  <a:schemeClr val="tx1">
                    <a:lumMod val="75000"/>
                    <a:lumOff val="25000"/>
                  </a:schemeClr>
                </a:solidFill>
                <a:latin typeface="微软雅黑" panose="020B0503020204020204" pitchFamily="34" charset="-122"/>
                <a:ea typeface="微软雅黑" panose="020B0503020204020204" pitchFamily="34" charset="-122"/>
              </a:rPr>
              <a:t> xor (ReverseEndian || 0))</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bytesel← vAddr</a:t>
            </a:r>
            <a:r>
              <a:rPr sz="900" b="1">
                <a:solidFill>
                  <a:schemeClr val="tx1">
                    <a:lumMod val="75000"/>
                    <a:lumOff val="25000"/>
                  </a:schemeClr>
                </a:solidFill>
                <a:latin typeface="微软雅黑" panose="020B0503020204020204" pitchFamily="34" charset="-122"/>
                <a:ea typeface="微软雅黑" panose="020B0503020204020204" pitchFamily="34" charset="-122"/>
              </a:rPr>
              <a:t>11..0</a:t>
            </a:r>
            <a:r>
              <a:rPr sz="1400" b="1">
                <a:solidFill>
                  <a:schemeClr val="tx1">
                    <a:lumMod val="75000"/>
                    <a:lumOff val="25000"/>
                  </a:schemeClr>
                </a:solidFill>
                <a:latin typeface="微软雅黑" panose="020B0503020204020204" pitchFamily="34" charset="-122"/>
                <a:ea typeface="微软雅黑" panose="020B0503020204020204" pitchFamily="34" charset="-122"/>
              </a:rPr>
              <a:t> xor (BigEndianCPU || 0)</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dataword← GPR[rt]</a:t>
            </a:r>
            <a:r>
              <a:rPr sz="900" b="1">
                <a:solidFill>
                  <a:schemeClr val="tx1">
                    <a:lumMod val="75000"/>
                    <a:lumOff val="25000"/>
                  </a:schemeClr>
                </a:solidFill>
                <a:latin typeface="微软雅黑" panose="020B0503020204020204" pitchFamily="34" charset="-122"/>
                <a:ea typeface="微软雅黑" panose="020B0503020204020204" pitchFamily="34" charset="-122"/>
              </a:rPr>
              <a:t>31–8*bytesel..0</a:t>
            </a:r>
            <a:r>
              <a:rPr sz="1400" b="1">
                <a:solidFill>
                  <a:schemeClr val="tx1">
                    <a:lumMod val="75000"/>
                    <a:lumOff val="25000"/>
                  </a:schemeClr>
                </a:solidFill>
                <a:latin typeface="微软雅黑" panose="020B0503020204020204" pitchFamily="34" charset="-122"/>
                <a:ea typeface="微软雅黑" panose="020B0503020204020204" pitchFamily="34" charset="-122"/>
              </a:rPr>
              <a:t> || 0</a:t>
            </a:r>
            <a:r>
              <a:rPr sz="1400" b="1" baseline="30000">
                <a:solidFill>
                  <a:schemeClr val="tx1">
                    <a:lumMod val="75000"/>
                    <a:lumOff val="25000"/>
                  </a:schemeClr>
                </a:solidFill>
                <a:uFillTx/>
                <a:latin typeface="微软雅黑" panose="020B0503020204020204" pitchFamily="34" charset="-122"/>
                <a:ea typeface="微软雅黑" panose="020B0503020204020204" pitchFamily="34" charset="-122"/>
              </a:rPr>
              <a:t>8*bytesel</a:t>
            </a:r>
          </a:p>
          <a:p>
            <a:pPr marL="0" indent="0" fontAlgn="auto">
              <a:lnSpc>
                <a:spcPct val="150000"/>
              </a:lnSpc>
              <a:spcBef>
                <a:spcPts val="0"/>
              </a:spcBef>
              <a:spcAft>
                <a:spcPts val="0"/>
              </a:spcAft>
              <a:buNone/>
              <a:defRPr/>
            </a:pPr>
            <a:r>
              <a:rPr sz="1400" b="1">
                <a:solidFill>
                  <a:schemeClr val="tx1">
                    <a:lumMod val="75000"/>
                    <a:lumOff val="25000"/>
                  </a:schemeClr>
                </a:solidFill>
                <a:latin typeface="微软雅黑" panose="020B0503020204020204" pitchFamily="34" charset="-122"/>
                <a:ea typeface="微软雅黑" panose="020B0503020204020204" pitchFamily="34" charset="-122"/>
              </a:rPr>
              <a:t>StoreMemory (CCA, HALFWORD, dataword, pAddr, vAddr, DATA)</a:t>
            </a:r>
          </a:p>
        </p:txBody>
      </p:sp>
      <p:sp>
        <p:nvSpPr>
          <p:cNvPr id="7266" name="标题 7265"/>
          <p:cNvSpPr>
            <a:spLocks noGrp="1"/>
          </p:cNvSpPr>
          <p:nvPr>
            <p:ph type="title"/>
          </p:nvPr>
        </p:nvSpPr>
        <p:spPr/>
        <p:txBody>
          <a:bodyPr/>
          <a:lstStyle/>
          <a:p>
            <a:pPr algn="l"/>
            <a:r>
              <a:rPr b="1"/>
              <a:t>SH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41503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SYSCALL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引发一个系统调用异常</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当一个系统调用发生时，将立刻并且不可控制的转入异常处理。</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SignalException(SystemCall)</a:t>
            </a:r>
          </a:p>
        </p:txBody>
      </p:sp>
      <p:sp>
        <p:nvSpPr>
          <p:cNvPr id="7266" name="标题 7265"/>
          <p:cNvSpPr>
            <a:spLocks noGrp="1"/>
          </p:cNvSpPr>
          <p:nvPr>
            <p:ph type="title"/>
          </p:nvPr>
        </p:nvSpPr>
        <p:spPr/>
        <p:txBody>
          <a:bodyPr/>
          <a:lstStyle/>
          <a:p>
            <a:pPr algn="l"/>
            <a:r>
              <a:rPr b="1"/>
              <a:t>SYSCALL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507746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CLZ rd, rs</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计算32位字中的前导零个数</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计算rs寄存器中32位数前导零的个数，存入rd寄存器中。</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temp ← 32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for i in 31 .. 0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if GPR[rs]i = 1 then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temp ← 31 – i</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break</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endfor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CLZ</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TEQ rs, 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比较寄存器值根据条件引发异常</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比较寄存器rs和rt的值，若相等则引发一个自陷异常</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if GPR[rs] = GPR[rt] then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SignalException(Trap)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endif </a:t>
            </a:r>
          </a:p>
        </p:txBody>
      </p:sp>
      <p:sp>
        <p:nvSpPr>
          <p:cNvPr id="7266" name="标题 7265"/>
          <p:cNvSpPr>
            <a:spLocks noGrp="1"/>
          </p:cNvSpPr>
          <p:nvPr>
            <p:ph type="title"/>
          </p:nvPr>
        </p:nvSpPr>
        <p:spPr/>
        <p:txBody>
          <a:bodyPr/>
          <a:lstStyle/>
          <a:p>
            <a:pPr algn="l"/>
            <a:r>
              <a:rPr b="1"/>
              <a:t>TEQ</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4" name="任意多边形 13"/>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任意多边形 14"/>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8" name="TextBox 8"/>
          <p:cNvSpPr txBox="1"/>
          <p:nvPr/>
        </p:nvSpPr>
        <p:spPr>
          <a:xfrm>
            <a:off x="6588842" y="5305300"/>
            <a:ext cx="2228139" cy="1200329"/>
          </a:xfrm>
          <a:prstGeom prst="rect">
            <a:avLst/>
          </a:prstGeom>
          <a:noFill/>
        </p:spPr>
        <p:txBody>
          <a:bodyPr wrap="square" rtlCol="0">
            <a:spAutoFit/>
          </a:bodyPr>
          <a:lstStyle/>
          <a:p>
            <a:pPr algn="r">
              <a:lnSpc>
                <a:spcPct val="120000"/>
              </a:lnSpc>
            </a:pPr>
            <a:r>
              <a:rPr lang="zh-CN" altLang="en-US" sz="3600" b="1" smtClean="0">
                <a:solidFill>
                  <a:srgbClr val="04619D"/>
                </a:solidFill>
                <a:latin typeface="Arial" panose="020B0604020202020204" pitchFamily="34" charset="0"/>
                <a:ea typeface="微软雅黑" panose="020B0503020204020204" pitchFamily="34" charset="-122"/>
                <a:cs typeface="Arial" panose="020B0604020202020204" pitchFamily="34" charset="0"/>
              </a:rPr>
              <a:t>谢谢聆听</a:t>
            </a:r>
            <a:endParaRPr lang="en-US" altLang="zh-CN" sz="3600" b="1" dirty="0" smtClean="0">
              <a:solidFill>
                <a:srgbClr val="04619D"/>
              </a:solidFill>
              <a:latin typeface="Arial" panose="020B0604020202020204" pitchFamily="34" charset="0"/>
              <a:ea typeface="微软雅黑" panose="020B0503020204020204" pitchFamily="34" charset="-122"/>
              <a:cs typeface="Arial" panose="020B0604020202020204" pitchFamily="34" charset="0"/>
            </a:endParaRPr>
          </a:p>
          <a:p>
            <a:pPr algn="r">
              <a:lnSpc>
                <a:spcPct val="120000"/>
              </a:lnSpc>
            </a:pPr>
            <a:r>
              <a:rPr lang="en-US" altLang="zh-CN" smtClean="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rPr>
              <a:t>Thank You</a:t>
            </a:r>
            <a:endParaRPr lang="zh-CN" altLang="en-US"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r="69975"/>
          <a:stretch>
            <a:fillRect/>
          </a:stretch>
        </p:blipFill>
        <p:spPr>
          <a:xfrm>
            <a:off x="352949" y="5516842"/>
            <a:ext cx="865985" cy="8696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默认设计模板">
  <a:themeElements>
    <a:clrScheme name="自定义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no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1800" b="0" i="0" u="none" strike="noStrike" cap="none" normalizeH="0" baseline="0" dirty="0" smtClean="0">
            <a:ln>
              <a:noFill/>
            </a:ln>
            <a:solidFill>
              <a:schemeClr val="tx2"/>
            </a:solidFill>
            <a:effectLst/>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2"/>
            </a:solidFill>
            <a:effectLst/>
            <a:latin typeface="Arial" panose="020B0604020202020204" pitchFamily="34" charset="0"/>
            <a:ea typeface="宋体" panose="02010600030101010101" pitchFamily="2" charset="-122"/>
          </a:defRPr>
        </a:defPPr>
      </a:lstStyle>
    </a:lnDef>
    <a:txDef>
      <a:spPr>
        <a:noFill/>
      </a:spPr>
      <a:bodyPr wrap="square" rtlCol="0">
        <a:noAutofit/>
      </a:bodyPr>
      <a:lstStyle>
        <a:defPPr algn="l">
          <a:defRPr sz="1800" dirty="0">
            <a:latin typeface="微软雅黑" panose="020B0503020204020204" pitchFamily="34" charset="-122"/>
            <a:ea typeface="微软雅黑" panose="020B0503020204020204"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1817</Words>
  <Application>Microsoft Office PowerPoint</Application>
  <PresentationFormat>全屏显示(4:3)</PresentationFormat>
  <Paragraphs>303</Paragraphs>
  <Slides>29</Slides>
  <Notes>27</Notes>
  <HiddenSlides>0</HiddenSlides>
  <MMClips>0</MMClips>
  <ScaleCrop>false</ScaleCrop>
  <HeadingPairs>
    <vt:vector size="4" baseType="variant">
      <vt:variant>
        <vt:lpstr>主题</vt:lpstr>
      </vt:variant>
      <vt:variant>
        <vt:i4>1</vt:i4>
      </vt:variant>
      <vt:variant>
        <vt:lpstr>幻灯片标题</vt:lpstr>
      </vt:variant>
      <vt:variant>
        <vt:i4>29</vt:i4>
      </vt:variant>
    </vt:vector>
  </HeadingPairs>
  <TitlesOfParts>
    <vt:vector size="30" baseType="lpstr">
      <vt:lpstr>默认设计模板</vt:lpstr>
      <vt:lpstr>7.4 MIPS 23条扩展指令介绍</vt:lpstr>
      <vt:lpstr>PowerPoint 演示文稿</vt:lpstr>
      <vt:lpstr>PowerPoint 演示文稿</vt:lpstr>
      <vt:lpstr>PowerPoint 演示文稿</vt:lpstr>
      <vt:lpstr>PowerPoint 演示文稿</vt:lpstr>
      <vt:lpstr>BGEZ</vt:lpstr>
      <vt:lpstr>BREAK</vt:lpstr>
      <vt:lpstr>DIV</vt:lpstr>
      <vt:lpstr>DIVU</vt:lpstr>
      <vt:lpstr>ERET</vt:lpstr>
      <vt:lpstr>JALR</vt:lpstr>
      <vt:lpstr>LB</vt:lpstr>
      <vt:lpstr>LBU</vt:lpstr>
      <vt:lpstr>LH</vt:lpstr>
      <vt:lpstr>LHU</vt:lpstr>
      <vt:lpstr>MFC0</vt:lpstr>
      <vt:lpstr>MFLO</vt:lpstr>
      <vt:lpstr>MTC0</vt:lpstr>
      <vt:lpstr>MTHI</vt:lpstr>
      <vt:lpstr>MTLO</vt:lpstr>
      <vt:lpstr>MFHI</vt:lpstr>
      <vt:lpstr>MULT</vt:lpstr>
      <vt:lpstr>MULTU</vt:lpstr>
      <vt:lpstr>SB</vt:lpstr>
      <vt:lpstr>SH</vt:lpstr>
      <vt:lpstr>SYSCALL</vt:lpstr>
      <vt:lpstr>CLZ</vt:lpstr>
      <vt:lpstr>TEQ</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PPTfans网设计</dc:title>
  <dc:creator>林辉强</dc:creator>
  <cp:keywords>www.pptfans.cn</cp:keywords>
  <cp:lastModifiedBy>ddzhang</cp:lastModifiedBy>
  <cp:revision>1685</cp:revision>
  <cp:lastPrinted>2113-01-01T00:00:00Z</cp:lastPrinted>
  <dcterms:created xsi:type="dcterms:W3CDTF">2113-01-01T00:00:00Z</dcterms:created>
  <dcterms:modified xsi:type="dcterms:W3CDTF">2018-03-07T02:36:23Z</dcterms:modified>
  <cp:category>ppt模板设计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2052-10.1.0.7106</vt:lpwstr>
  </property>
</Properties>
</file>
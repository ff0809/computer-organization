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15"/>
  </p:notesMasterIdLst>
  <p:handoutMasterIdLst>
    <p:handoutMasterId r:id="rId16"/>
  </p:handoutMasterIdLst>
  <p:sldIdLst>
    <p:sldId id="735" r:id="rId2"/>
    <p:sldId id="736" r:id="rId3"/>
    <p:sldId id="750" r:id="rId4"/>
    <p:sldId id="751" r:id="rId5"/>
    <p:sldId id="762" r:id="rId6"/>
    <p:sldId id="764" r:id="rId7"/>
    <p:sldId id="798" r:id="rId8"/>
    <p:sldId id="794" r:id="rId9"/>
    <p:sldId id="795" r:id="rId10"/>
    <p:sldId id="720" r:id="rId11"/>
    <p:sldId id="796" r:id="rId12"/>
    <p:sldId id="797" r:id="rId13"/>
    <p:sldId id="737" r:id="rId14"/>
  </p:sldIdLst>
  <p:sldSz cx="9144000" cy="6858000" type="screen4x3"/>
  <p:notesSz cx="7099300" cy="10234613"/>
  <p:defaultTextStyle>
    <a:defPPr>
      <a:defRPr lang="zh-CN"/>
    </a:defPPr>
    <a:lvl1pPr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4619D"/>
    <a:srgbClr val="DA2A22"/>
    <a:srgbClr val="15994D"/>
    <a:srgbClr val="342275"/>
    <a:srgbClr val="E67A1C"/>
    <a:srgbClr val="E57717"/>
    <a:srgbClr val="5891D6"/>
    <a:srgbClr val="72A2DC"/>
    <a:srgbClr val="EE9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00" autoAdjust="0"/>
    <p:restoredTop sz="95119" autoAdjust="0"/>
  </p:normalViewPr>
  <p:slideViewPr>
    <p:cSldViewPr snapToGrid="0" showGuides="1">
      <p:cViewPr varScale="1">
        <p:scale>
          <a:sx n="95" d="100"/>
          <a:sy n="95" d="100"/>
        </p:scale>
        <p:origin x="-528" y="-102"/>
      </p:cViewPr>
      <p:guideLst>
        <p:guide orient="horz" pos="570"/>
        <p:guide pos="286"/>
        <p:guide pos="548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74" d="100"/>
          <a:sy n="74" d="100"/>
        </p:scale>
        <p:origin x="-4026" y="-120"/>
      </p:cViewPr>
      <p:guideLst>
        <p:guide orient="horz" pos="3211"/>
        <p:guide pos="2236"/>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smtClean="0">
                <a:latin typeface="Arial" panose="020B0604020202020204" pitchFamily="34" charset="0"/>
                <a:ea typeface="微软雅黑" panose="020B0503020204020204" pitchFamily="34" charset="-122"/>
              </a:defRPr>
            </a:lvl1pPr>
          </a:lstStyle>
          <a:p>
            <a:pPr>
              <a:defRPr/>
            </a:pPr>
            <a:fld id="{83A91915-E571-4570-80B3-E65B02A79A95}" type="datetimeFigureOut">
              <a:rPr lang="zh-CN" altLang="en-US"/>
              <a:t>2018/3/6</a:t>
            </a:fld>
            <a:endParaRPr lang="zh-CN" altLang="en-US" dirty="0"/>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wrap="square" lIns="99048" tIns="49524" rIns="99048" bIns="49524" numCol="1" anchor="b" anchorCtr="0" compatLnSpc="1"/>
          <a:lstStyle>
            <a:lvl1pPr algn="r">
              <a:defRPr sz="1300">
                <a:ea typeface="微软雅黑" panose="020B0503020204020204" pitchFamily="34" charset="-122"/>
              </a:defRPr>
            </a:lvl1pPr>
          </a:lstStyle>
          <a:p>
            <a:fld id="{E0BB458E-555F-42C7-BDA8-CA9357AC47B4}" type="slidenum">
              <a:rPr lang="zh-CN" altLang="en-US"/>
              <a:t>‹#›</a:t>
            </a:fld>
            <a:endParaRPr lang="zh-CN" altLang="en-US"/>
          </a:p>
        </p:txBody>
      </p:sp>
    </p:spTree>
    <p:extLst>
      <p:ext uri="{BB962C8B-B14F-4D97-AF65-F5344CB8AC3E}">
        <p14:creationId xmlns:p14="http://schemas.microsoft.com/office/powerpoint/2010/main" val="23260642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6388"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dirty="0" smtClean="0"/>
              <a:t>单击此处编辑母版文本样式</a:t>
            </a:r>
          </a:p>
          <a:p>
            <a:pPr lvl="1"/>
            <a:r>
              <a:rPr lang="zh-CN" altLang="en-US" noProof="0" dirty="0" smtClean="0"/>
              <a:t>第二级</a:t>
            </a:r>
          </a:p>
          <a:p>
            <a:pPr lvl="2"/>
            <a:r>
              <a:rPr lang="zh-CN" altLang="en-US" noProof="0" dirty="0" smtClean="0"/>
              <a:t>第三级</a:t>
            </a:r>
          </a:p>
          <a:p>
            <a:pPr lvl="3"/>
            <a:r>
              <a:rPr lang="zh-CN" altLang="en-US" noProof="0" dirty="0" smtClean="0"/>
              <a:t>第四级</a:t>
            </a:r>
          </a:p>
          <a:p>
            <a:pPr lvl="4"/>
            <a:r>
              <a:rPr lang="zh-CN" altLang="en-US" noProof="0" dirty="0" smtClean="0"/>
              <a:t>第五级</a:t>
            </a:r>
          </a:p>
        </p:txBody>
      </p:sp>
      <p:sp>
        <p:nvSpPr>
          <p:cNvPr id="1024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a:defRPr sz="1300">
                <a:solidFill>
                  <a:schemeClr val="tx1"/>
                </a:solidFill>
                <a:ea typeface="微软雅黑" panose="020B0503020204020204" pitchFamily="34" charset="-122"/>
              </a:defRPr>
            </a:lvl1pPr>
          </a:lstStyle>
          <a:p>
            <a:fld id="{0B48A77E-79FB-4BFF-B1F0-CFD29F30865E}" type="slidenum">
              <a:rPr lang="en-US" altLang="zh-CN"/>
              <a:t>‹#›</a:t>
            </a:fld>
            <a:endParaRPr lang="en-US" altLang="zh-CN"/>
          </a:p>
        </p:txBody>
      </p:sp>
    </p:spTree>
    <p:extLst>
      <p:ext uri="{BB962C8B-B14F-4D97-AF65-F5344CB8AC3E}">
        <p14:creationId xmlns:p14="http://schemas.microsoft.com/office/powerpoint/2010/main" val="7555692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baike.baidu.com/item/%E9%A1%B5%E8%A1%A8"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aike.baidu.com/item/%E9%A1%B5%E8%A1%A8"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48A77E-79FB-4BFF-B1F0-CFD29F30865E}"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TLB(Translation Lookaside Buffer)</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转换检测缓冲区是一个内存管理单元</a:t>
            </a:r>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用于改进虚拟地址到物理地址转换速度的缓存。</a:t>
            </a:r>
          </a:p>
          <a:p>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TLB</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是一个小的，虚拟寻址的缓存，其中每一行都保存着一个由单个</a:t>
            </a:r>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PTE(Page Table Entry,</a:t>
            </a:r>
            <a:r>
              <a:rPr lang="zh-CN" altLang="en-US" sz="1200" b="0" i="0" u="none" strike="noStrike" kern="1200" dirty="0" smtClean="0">
                <a:solidFill>
                  <a:schemeClr val="tx1"/>
                </a:solidFill>
                <a:effectLst/>
                <a:latin typeface="Arial" panose="020B0604020202020204" pitchFamily="34" charset="0"/>
                <a:ea typeface="微软雅黑" panose="020B0503020204020204" pitchFamily="34" charset="-122"/>
                <a:cs typeface="+mn-cs"/>
                <a:hlinkClick r:id="rId3"/>
              </a:rPr>
              <a:t>页表</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项</a:t>
            </a:r>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组成的块。如果没有</a:t>
            </a:r>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TLB</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，则每次取数据都需要两次访问内存，即查页表获得物理地址和取数据。</a:t>
            </a:r>
            <a:endParaRPr lang="zh-CN" altLang="en-US" sz="1200" b="0" i="0" kern="1200" dirty="0">
              <a:solidFill>
                <a:schemeClr val="tx1"/>
              </a:solidFill>
              <a:effectLst/>
              <a:latin typeface="Arial" panose="020B0604020202020204" pitchFamily="34" charset="0"/>
              <a:ea typeface="微软雅黑" panose="020B0503020204020204" pitchFamily="34"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TLB(Translation Lookaside Buffer)</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转换检测缓冲区是一个内存管理单元</a:t>
            </a:r>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用于改进虚拟地址到物理地址转换速度的缓存。</a:t>
            </a:r>
          </a:p>
          <a:p>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TLB</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是一个小的，虚拟寻址的缓存，其中每一行都保存着一个由单个</a:t>
            </a:r>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PTE(Page Table Entry,</a:t>
            </a:r>
            <a:r>
              <a:rPr lang="zh-CN" altLang="en-US" sz="1200" b="0" i="0" u="none" strike="noStrike" kern="1200" dirty="0" smtClean="0">
                <a:solidFill>
                  <a:schemeClr val="tx1"/>
                </a:solidFill>
                <a:effectLst/>
                <a:latin typeface="Arial" panose="020B0604020202020204" pitchFamily="34" charset="0"/>
                <a:ea typeface="微软雅黑" panose="020B0503020204020204" pitchFamily="34" charset="-122"/>
                <a:cs typeface="+mn-cs"/>
                <a:hlinkClick r:id="rId3"/>
              </a:rPr>
              <a:t>页表</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项</a:t>
            </a:r>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组成的块。如果没有</a:t>
            </a:r>
            <a:r>
              <a:rPr lang="en-US" altLang="zh-CN" sz="1200" b="0" i="0" kern="1200" dirty="0" smtClean="0">
                <a:solidFill>
                  <a:schemeClr val="tx1"/>
                </a:solidFill>
                <a:effectLst/>
                <a:latin typeface="Arial" panose="020B0604020202020204" pitchFamily="34" charset="0"/>
                <a:ea typeface="微软雅黑" panose="020B0503020204020204" pitchFamily="34" charset="-122"/>
                <a:cs typeface="+mn-cs"/>
              </a:rPr>
              <a:t>TLB</a:t>
            </a:r>
            <a:r>
              <a:rPr lang="zh-CN" altLang="en-US" sz="1200" b="0" i="0" kern="1200" dirty="0" smtClean="0">
                <a:solidFill>
                  <a:schemeClr val="tx1"/>
                </a:solidFill>
                <a:effectLst/>
                <a:latin typeface="Arial" panose="020B0604020202020204" pitchFamily="34" charset="0"/>
                <a:ea typeface="微软雅黑" panose="020B0503020204020204" pitchFamily="34" charset="-122"/>
                <a:cs typeface="+mn-cs"/>
              </a:rPr>
              <a:t>，则每次取数据都需要两次访问内存，即查页表获得物理地址和取数据。</a:t>
            </a:r>
            <a:endParaRPr lang="zh-CN" altLang="en-US" sz="1200" b="0" i="0" kern="1200" dirty="0">
              <a:solidFill>
                <a:schemeClr val="tx1"/>
              </a:solidFill>
              <a:effectLst/>
              <a:latin typeface="Arial" panose="020B0604020202020204" pitchFamily="34" charset="0"/>
              <a:ea typeface="微软雅黑" panose="020B0503020204020204" pitchFamily="34"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8</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9</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10</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3"/>
          <p:cNvGrpSpPr/>
          <p:nvPr userDrawn="1"/>
        </p:nvGrpSpPr>
        <p:grpSpPr>
          <a:xfrm>
            <a:off x="0" y="6126486"/>
            <a:ext cx="9143999" cy="731514"/>
            <a:chOff x="1" y="2947547"/>
            <a:chExt cx="9143999" cy="2827685"/>
          </a:xfrm>
        </p:grpSpPr>
        <p:sp>
          <p:nvSpPr>
            <p:cNvPr id="5" name="任意多边形 4"/>
            <p:cNvSpPr/>
            <p:nvPr/>
          </p:nvSpPr>
          <p:spPr>
            <a:xfrm>
              <a:off x="1" y="2947547"/>
              <a:ext cx="9143999" cy="229735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6" name="任意多边形 5"/>
            <p:cNvSpPr/>
            <p:nvPr/>
          </p:nvSpPr>
          <p:spPr>
            <a:xfrm>
              <a:off x="1" y="3559995"/>
              <a:ext cx="9143999" cy="2215237"/>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26000">
                  <a:schemeClr val="bg1"/>
                </a:gs>
                <a:gs pos="100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grpSp>
        <p:nvGrpSpPr>
          <p:cNvPr id="7" name="组合 6"/>
          <p:cNvGrpSpPr/>
          <p:nvPr userDrawn="1"/>
        </p:nvGrpSpPr>
        <p:grpSpPr>
          <a:xfrm rot="10800000">
            <a:off x="-7" y="-1"/>
            <a:ext cx="9144001" cy="1882013"/>
            <a:chOff x="1" y="2994858"/>
            <a:chExt cx="9144001" cy="3162457"/>
          </a:xfrm>
        </p:grpSpPr>
        <p:sp>
          <p:nvSpPr>
            <p:cNvPr id="8" name="任意多边形 7"/>
            <p:cNvSpPr/>
            <p:nvPr/>
          </p:nvSpPr>
          <p:spPr>
            <a:xfrm>
              <a:off x="1" y="2994858"/>
              <a:ext cx="9143999" cy="215401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9" name="任意多边形 8"/>
            <p:cNvSpPr/>
            <p:nvPr/>
          </p:nvSpPr>
          <p:spPr>
            <a:xfrm>
              <a:off x="3" y="3474503"/>
              <a:ext cx="9143999" cy="2682812"/>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73000"/>
                    <a:lumOff val="27000"/>
                  </a:srgbClr>
                </a:gs>
                <a:gs pos="81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sp>
        <p:nvSpPr>
          <p:cNvPr id="10" name="矩形 9"/>
          <p:cNvSpPr/>
          <p:nvPr userDrawn="1"/>
        </p:nvSpPr>
        <p:spPr>
          <a:xfrm>
            <a:off x="7723732" y="6511210"/>
            <a:ext cx="871220" cy="213995"/>
          </a:xfrm>
          <a:prstGeom prst="rect">
            <a:avLst/>
          </a:prstGeom>
        </p:spPr>
        <p:txBody>
          <a:bodyPr wrap="none">
            <a:spAutoFit/>
          </a:bodyPr>
          <a:lstStyle/>
          <a:p>
            <a:pPr algn="r"/>
            <a:r>
              <a:rPr lang="en-US" altLang="zh-CN" sz="800" kern="100" smtClean="0">
                <a:solidFill>
                  <a:schemeClr val="tx1">
                    <a:lumMod val="50000"/>
                    <a:lumOff val="50000"/>
                  </a:schemeClr>
                </a:solidFill>
                <a:latin typeface="微软雅黑" panose="020B0503020204020204" pitchFamily="34" charset="-122"/>
                <a:ea typeface="微软雅黑" panose="020B0503020204020204" pitchFamily="34" charset="-122"/>
              </a:rPr>
              <a:t>MIPS CPU概述</a:t>
            </a:r>
          </a:p>
        </p:txBody>
      </p:sp>
      <p:sp>
        <p:nvSpPr>
          <p:cNvPr id="11" name="文本框 10"/>
          <p:cNvSpPr txBox="1"/>
          <p:nvPr userDrawn="1"/>
        </p:nvSpPr>
        <p:spPr>
          <a:xfrm>
            <a:off x="8703044" y="6511211"/>
            <a:ext cx="211221" cy="215442"/>
          </a:xfrm>
          <a:prstGeom prst="rect">
            <a:avLst/>
          </a:prstGeom>
          <a:noFill/>
          <a:ln>
            <a:solidFill>
              <a:schemeClr val="bg1">
                <a:lumMod val="75000"/>
              </a:schemeClr>
            </a:solidFill>
          </a:ln>
        </p:spPr>
        <p:txBody>
          <a:bodyPr wrap="none" lIns="72000" tIns="72000" rIns="72000" bIns="72000" rtlCol="0" anchor="ctr">
            <a:noAutofit/>
          </a:bodyPr>
          <a:lstStyle/>
          <a:p>
            <a:pPr algn="ctr"/>
            <a:fld id="{CE5B7511-CC96-41DE-A965-D9C44FD5C89D}" type="slidenum">
              <a:rPr lang="zh-CN" altLang="en-US" sz="800" b="1" smtClean="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a:t>
            </a:fld>
            <a:endParaRPr lang="zh-CN" altLang="en-US" sz="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3" name="矩形 12"/>
          <p:cNvSpPr/>
          <p:nvPr userDrawn="1"/>
        </p:nvSpPr>
        <p:spPr>
          <a:xfrm>
            <a:off x="453759" y="6511210"/>
            <a:ext cx="1412240" cy="213995"/>
          </a:xfrm>
          <a:prstGeom prst="rect">
            <a:avLst/>
          </a:prstGeom>
        </p:spPr>
        <p:txBody>
          <a:bodyPr wrap="none" lIns="0">
            <a:spAutoFit/>
          </a:bodyPr>
          <a:lstStyle/>
          <a:p>
            <a:r>
              <a:rPr lang="zh-CN" altLang="en-US" sz="800" b="1" kern="100" smtClean="0">
                <a:solidFill>
                  <a:schemeClr val="tx1">
                    <a:lumMod val="50000"/>
                    <a:lumOff val="50000"/>
                  </a:schemeClr>
                </a:solidFill>
                <a:latin typeface="微软雅黑" panose="020B0503020204020204" pitchFamily="34" charset="-122"/>
                <a:ea typeface="微软雅黑" panose="020B0503020204020204" pitchFamily="34" charset="-122"/>
              </a:rPr>
              <a:t>同济大学电子与信息工程学院</a:t>
            </a:r>
          </a:p>
        </p:txBody>
      </p:sp>
      <p:sp>
        <p:nvSpPr>
          <p:cNvPr id="2" name="标题 1"/>
          <p:cNvSpPr>
            <a:spLocks noGrp="1"/>
          </p:cNvSpPr>
          <p:nvPr>
            <p:ph type="title"/>
          </p:nvPr>
        </p:nvSpPr>
        <p:spPr>
          <a:xfrm>
            <a:off x="361950" y="371408"/>
            <a:ext cx="8229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72000" rIns="0" bIns="72000"/>
          <a:lstStyle>
            <a:lvl1pPr algn="l" rtl="0" eaLnBrk="0" fontAlgn="base" hangingPunct="0">
              <a:spcBef>
                <a:spcPct val="0"/>
              </a:spcBef>
              <a:spcAft>
                <a:spcPct val="0"/>
              </a:spcAft>
              <a:defRPr lang="zh-CN" altLang="en-US" sz="2400" b="0" kern="120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stStyle>
          <a:p>
            <a:pPr lvl="0" algn="l"/>
            <a:r>
              <a:rPr lang="zh-CN" altLang="en-US" smtClean="0"/>
              <a:t>单击此处编辑母版标题样式</a:t>
            </a:r>
            <a:endParaRPr lang="zh-CN" altLang="en-US"/>
          </a:p>
        </p:txBody>
      </p:sp>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r="69975"/>
          <a:stretch>
            <a:fillRect/>
          </a:stretch>
        </p:blipFill>
        <p:spPr>
          <a:xfrm>
            <a:off x="8041082" y="247834"/>
            <a:ext cx="865985" cy="869670"/>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2">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3">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
          <p:cNvSpPr>
            <a:spLocks noChangeArrowheads="1"/>
          </p:cNvSpPr>
          <p:nvPr userDrawn="1"/>
        </p:nvSpPr>
        <p:spPr bwMode="auto">
          <a:xfrm>
            <a:off x="-6324600" y="6096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027" name="TextBox 3"/>
          <p:cNvSpPr txBox="1">
            <a:spLocks noChangeArrowheads="1"/>
          </p:cNvSpPr>
          <p:nvPr userDrawn="1"/>
        </p:nvSpPr>
        <p:spPr bwMode="auto">
          <a:xfrm>
            <a:off x="2081213" y="2679700"/>
            <a:ext cx="5502275"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algn="l" eaLnBrk="1" hangingPunct="1"/>
            <a:endParaRPr lang="zh-CN" altLang="en-US" sz="180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txStyles>
    <p:titleStyle>
      <a:lvl1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cs typeface="+mj-cs"/>
        </a:defRPr>
      </a:lvl1pPr>
      <a:lvl2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2pPr>
      <a:lvl3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3pPr>
      <a:lvl4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4pPr>
      <a:lvl5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5pPr>
      <a:lvl6pPr marL="4572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5" name="任意多边形 14"/>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任意多边形 21"/>
          <p:cNvSpPr/>
          <p:nvPr/>
        </p:nvSpPr>
        <p:spPr>
          <a:xfrm>
            <a:off x="0" y="337999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18" name="标题 3"/>
          <p:cNvSpPr>
            <a:spLocks noGrp="1"/>
          </p:cNvSpPr>
          <p:nvPr>
            <p:ph type="title" idx="4294967295"/>
          </p:nvPr>
        </p:nvSpPr>
        <p:spPr>
          <a:xfrm>
            <a:off x="503238" y="5272088"/>
            <a:ext cx="5135563" cy="583565"/>
          </a:xfrm>
          <a:prstGeom prst="rect">
            <a:avLst/>
          </a:prstGeom>
        </p:spPr>
        <p:txBody>
          <a:bodyPr wrap="square">
            <a:spAutoFit/>
          </a:bodyPr>
          <a:lstStyle/>
          <a:p>
            <a:pPr algn="l">
              <a:lnSpc>
                <a:spcPct val="100000"/>
              </a:lnSpc>
            </a:pPr>
            <a:r>
              <a:rPr sz="3200">
                <a:solidFill>
                  <a:srgbClr val="04619D"/>
                </a:solidFill>
              </a:rPr>
              <a:t>7.1 MIPS CPU概述</a:t>
            </a:r>
          </a:p>
        </p:txBody>
      </p:sp>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r="69975"/>
          <a:stretch>
            <a:fillRect/>
          </a:stretch>
        </p:blipFill>
        <p:spPr>
          <a:xfrm>
            <a:off x="7513630" y="5143321"/>
            <a:ext cx="1456200" cy="146239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bwMode="auto">
          <a:xfrm>
            <a:off x="-1" y="0"/>
            <a:ext cx="4368801" cy="6858000"/>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47" name="矩形 46"/>
          <p:cNvSpPr/>
          <p:nvPr/>
        </p:nvSpPr>
        <p:spPr bwMode="auto">
          <a:xfrm rot="5400000" flipV="1">
            <a:off x="1270707" y="-1270708"/>
            <a:ext cx="1827382" cy="4368800"/>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38" name="矩形 37"/>
          <p:cNvSpPr/>
          <p:nvPr/>
        </p:nvSpPr>
        <p:spPr bwMode="auto">
          <a:xfrm rot="5400000">
            <a:off x="1371901" y="3861106"/>
            <a:ext cx="1624987" cy="4368801"/>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nvGrpSpPr>
          <p:cNvPr id="53" name="组合 52"/>
          <p:cNvGrpSpPr/>
          <p:nvPr/>
        </p:nvGrpSpPr>
        <p:grpSpPr>
          <a:xfrm>
            <a:off x="0" y="1070223"/>
            <a:ext cx="2754050" cy="4646991"/>
            <a:chOff x="0" y="1111187"/>
            <a:chExt cx="2754050" cy="4646991"/>
          </a:xfrm>
        </p:grpSpPr>
        <p:sp>
          <p:nvSpPr>
            <p:cNvPr id="48" name="椭圆 47"/>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椭圆 51"/>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29"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441" t="10084" r="295" b="10084"/>
          <a:stretch>
            <a:fillRect/>
          </a:stretch>
        </p:blipFill>
        <p:spPr bwMode="auto">
          <a:xfrm>
            <a:off x="0" y="2120900"/>
            <a:ext cx="4592057" cy="2818596"/>
          </a:xfrm>
          <a:prstGeom prst="rect">
            <a:avLst/>
          </a:prstGeom>
          <a:noFill/>
          <a:extLst>
            <a:ext uri="{909E8E84-426E-40DD-AFC4-6F175D3DCCD1}">
              <a14:hiddenFill xmlns:a14="http://schemas.microsoft.com/office/drawing/2010/main">
                <a:solidFill>
                  <a:srgbClr val="FFFFFF"/>
                </a:solidFill>
              </a14:hiddenFill>
            </a:ext>
          </a:extLst>
        </p:spPr>
      </p:pic>
      <p:sp>
        <p:nvSpPr>
          <p:cNvPr id="39" name="任意多边形 38"/>
          <p:cNvSpPr/>
          <p:nvPr/>
        </p:nvSpPr>
        <p:spPr>
          <a:xfrm rot="16200000">
            <a:off x="67870" y="1470438"/>
            <a:ext cx="6858003" cy="391712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4" name="任意多边形 43"/>
          <p:cNvSpPr/>
          <p:nvPr/>
        </p:nvSpPr>
        <p:spPr>
          <a:xfrm rot="16200000">
            <a:off x="2269997" y="-16039"/>
            <a:ext cx="6868891" cy="6879174"/>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gradFill flip="none" rotWithShape="1">
            <a:gsLst>
              <a:gs pos="25000">
                <a:schemeClr val="bg1"/>
              </a:gs>
              <a:gs pos="100000">
                <a:srgbClr val="DFDFDF">
                  <a:lumMod val="52000"/>
                  <a:lumOff val="48000"/>
                </a:srgbClr>
              </a:gs>
            </a:gsLst>
            <a:lin ang="2700000" scaled="1"/>
            <a:tileRect/>
          </a:gradFill>
          <a:ln>
            <a:noFill/>
          </a:ln>
          <a:effectLst>
            <a:outerShdw blurRad="25400" dist="25400" dir="10800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ea typeface="微软雅黑" panose="020B0503020204020204" pitchFamily="34" charset="-122"/>
            </a:endParaRPr>
          </a:p>
        </p:txBody>
      </p:sp>
      <p:sp>
        <p:nvSpPr>
          <p:cNvPr id="5" name="矩形 4"/>
          <p:cNvSpPr/>
          <p:nvPr/>
        </p:nvSpPr>
        <p:spPr>
          <a:xfrm>
            <a:off x="5629404" y="4258152"/>
            <a:ext cx="316801" cy="316801"/>
          </a:xfrm>
          <a:prstGeom prst="rect">
            <a:avLst/>
          </a:prstGeom>
          <a:solidFill>
            <a:srgbClr val="0461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latin typeface="微软雅黑" panose="020B0503020204020204" pitchFamily="34" charset="-122"/>
                <a:ea typeface="微软雅黑" panose="020B0503020204020204" pitchFamily="34" charset="-122"/>
              </a:rPr>
              <a:t>1</a:t>
            </a:r>
            <a:endParaRPr lang="zh-CN" altLang="en-US" sz="1400" b="1" dirty="0">
              <a:latin typeface="微软雅黑" panose="020B0503020204020204" pitchFamily="34" charset="-122"/>
              <a:ea typeface="微软雅黑" panose="020B0503020204020204" pitchFamily="34" charset="-122"/>
            </a:endParaRPr>
          </a:p>
        </p:txBody>
      </p:sp>
      <p:sp>
        <p:nvSpPr>
          <p:cNvPr id="6" name="矩形 5"/>
          <p:cNvSpPr/>
          <p:nvPr/>
        </p:nvSpPr>
        <p:spPr>
          <a:xfrm>
            <a:off x="6092209" y="4263200"/>
            <a:ext cx="1022350" cy="306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lang="en-US" altLang="zh-CN" sz="1400" b="1" dirty="0" smtClean="0">
                <a:solidFill>
                  <a:srgbClr val="04619D"/>
                </a:solidFill>
                <a:latin typeface="微软雅黑" panose="020B0503020204020204" pitchFamily="34" charset="-122"/>
                <a:ea typeface="微软雅黑" panose="020B0503020204020204" pitchFamily="34" charset="-122"/>
              </a:rPr>
              <a:t>7.1.1 </a:t>
            </a:r>
            <a:r>
              <a:rPr lang="zh-CN" altLang="en-US" sz="1400" b="1" dirty="0" smtClean="0">
                <a:solidFill>
                  <a:srgbClr val="04619D"/>
                </a:solidFill>
                <a:latin typeface="微软雅黑" panose="020B0503020204020204" pitchFamily="34" charset="-122"/>
                <a:ea typeface="微软雅黑" panose="020B0503020204020204" pitchFamily="34" charset="-122"/>
              </a:rPr>
              <a:t>概述</a:t>
            </a:r>
          </a:p>
        </p:txBody>
      </p:sp>
      <p:sp>
        <p:nvSpPr>
          <p:cNvPr id="9" name="矩形 8"/>
          <p:cNvSpPr/>
          <p:nvPr/>
        </p:nvSpPr>
        <p:spPr>
          <a:xfrm>
            <a:off x="5629404" y="4691705"/>
            <a:ext cx="316801" cy="3168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latin typeface="微软雅黑" panose="020B0503020204020204" pitchFamily="34" charset="-122"/>
                <a:ea typeface="微软雅黑" panose="020B0503020204020204" pitchFamily="34" charset="-122"/>
              </a:rPr>
              <a:t>2</a:t>
            </a:r>
            <a:endParaRPr lang="zh-CN" altLang="en-US" sz="1400" b="1" dirty="0">
              <a:latin typeface="微软雅黑" panose="020B0503020204020204" pitchFamily="34" charset="-122"/>
              <a:ea typeface="微软雅黑" panose="020B0503020204020204" pitchFamily="34" charset="-122"/>
            </a:endParaRPr>
          </a:p>
        </p:txBody>
      </p:sp>
      <p:sp>
        <p:nvSpPr>
          <p:cNvPr id="10" name="矩形 9"/>
          <p:cNvSpPr/>
          <p:nvPr/>
        </p:nvSpPr>
        <p:spPr>
          <a:xfrm>
            <a:off x="6092209" y="4696753"/>
            <a:ext cx="2266950" cy="306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lang="en-US" altLang="zh-CN" sz="1400" b="1" dirty="0">
                <a:solidFill>
                  <a:schemeClr val="tx1">
                    <a:lumMod val="50000"/>
                    <a:lumOff val="50000"/>
                  </a:schemeClr>
                </a:solidFill>
                <a:latin typeface="微软雅黑" panose="020B0503020204020204" pitchFamily="34" charset="-122"/>
                <a:ea typeface="微软雅黑" panose="020B0503020204020204" pitchFamily="34" charset="-122"/>
              </a:rPr>
              <a:t>7.1.2 </a:t>
            </a:r>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rPr>
              <a:t>基本架构及编程模型</a:t>
            </a:r>
          </a:p>
        </p:txBody>
      </p:sp>
      <p:sp>
        <p:nvSpPr>
          <p:cNvPr id="12" name="矩形 11"/>
          <p:cNvSpPr/>
          <p:nvPr/>
        </p:nvSpPr>
        <p:spPr>
          <a:xfrm>
            <a:off x="5629404" y="5125259"/>
            <a:ext cx="316801" cy="3168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latin typeface="微软雅黑" panose="020B0503020204020204" pitchFamily="34" charset="-122"/>
                <a:ea typeface="微软雅黑" panose="020B0503020204020204" pitchFamily="34" charset="-122"/>
              </a:rPr>
              <a:t>3</a:t>
            </a:r>
            <a:endParaRPr lang="zh-CN" altLang="en-US" sz="1400" b="1" dirty="0">
              <a:latin typeface="微软雅黑" panose="020B0503020204020204" pitchFamily="34" charset="-122"/>
              <a:ea typeface="微软雅黑" panose="020B0503020204020204" pitchFamily="34" charset="-122"/>
            </a:endParaRPr>
          </a:p>
        </p:txBody>
      </p:sp>
      <p:sp>
        <p:nvSpPr>
          <p:cNvPr id="13" name="矩形 12"/>
          <p:cNvSpPr/>
          <p:nvPr/>
        </p:nvSpPr>
        <p:spPr>
          <a:xfrm>
            <a:off x="6092209" y="5129771"/>
            <a:ext cx="1663661"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1400" b="1" dirty="0">
                <a:solidFill>
                  <a:schemeClr val="tx1">
                    <a:lumMod val="50000"/>
                    <a:lumOff val="50000"/>
                  </a:schemeClr>
                </a:solidFill>
                <a:latin typeface="微软雅黑" panose="020B0503020204020204" pitchFamily="34" charset="-122"/>
                <a:ea typeface="微软雅黑" panose="020B0503020204020204" pitchFamily="34" charset="-122"/>
              </a:rPr>
              <a:t>7.1.5 </a:t>
            </a:r>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rPr>
              <a:t>Mars汇编器</a:t>
            </a:r>
          </a:p>
        </p:txBody>
      </p:sp>
      <p:sp>
        <p:nvSpPr>
          <p:cNvPr id="18" name="Text Box 6"/>
          <p:cNvSpPr txBox="1">
            <a:spLocks noChangeArrowheads="1"/>
          </p:cNvSpPr>
          <p:nvPr/>
        </p:nvSpPr>
        <p:spPr bwMode="auto">
          <a:xfrm>
            <a:off x="5600376" y="3230751"/>
            <a:ext cx="2550698" cy="461665"/>
          </a:xfrm>
          <a:prstGeom prst="rect">
            <a:avLst/>
          </a:prstGeom>
          <a:noFill/>
          <a:ln w="9525">
            <a:noFill/>
            <a:miter lim="800000"/>
          </a:ln>
          <a:effectLst/>
        </p:spPr>
        <p:txBody>
          <a:bodyPr wrap="none" lIns="0">
            <a:spAutoFit/>
            <a:scene3d>
              <a:camera prst="orthographicFront"/>
              <a:lightRig rig="soft" dir="tl">
                <a:rot lat="0" lon="0" rev="0"/>
              </a:lightRig>
            </a:scene3d>
            <a:sp3d contourW="25400" prstMaterial="matte">
              <a:contourClr>
                <a:schemeClr val="accent2">
                  <a:tint val="20000"/>
                </a:schemeClr>
              </a:contourClr>
            </a:sp3d>
          </a:bodyPr>
          <a:lstStyle/>
          <a:p>
            <a:r>
              <a:rPr lang="zh-CN" altLang="en-US" spc="67" dirty="0" smtClean="0">
                <a:ln w="11430">
                  <a:noFill/>
                </a:ln>
                <a:solidFill>
                  <a:sysClr val="windowText" lastClr="000000"/>
                </a:solidFill>
                <a:latin typeface="微软雅黑" panose="020B0503020204020204" pitchFamily="34" charset="-122"/>
                <a:ea typeface="微软雅黑" panose="020B0503020204020204" pitchFamily="34" charset="-122"/>
              </a:rPr>
              <a:t>目录 </a:t>
            </a:r>
            <a:r>
              <a:rPr lang="en-US" altLang="zh-CN" spc="67" dirty="0" smtClean="0">
                <a:ln w="11430">
                  <a:noFill/>
                </a:ln>
                <a:solidFill>
                  <a:schemeClr val="bg1">
                    <a:lumMod val="75000"/>
                  </a:schemeClr>
                </a:solidFill>
                <a:latin typeface="微软雅黑" panose="020B0503020204020204" pitchFamily="34" charset="-122"/>
                <a:ea typeface="微软雅黑" panose="020B0503020204020204" pitchFamily="34" charset="-122"/>
              </a:rPr>
              <a:t>| CONTENT</a:t>
            </a:r>
            <a:endParaRPr lang="en-US" altLang="zh-CN" spc="67" dirty="0">
              <a:ln w="11430">
                <a:noFill/>
              </a:ln>
              <a:solidFill>
                <a:schemeClr val="bg1">
                  <a:lumMod val="7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3813" y="679899"/>
            <a:ext cx="2833688" cy="85441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14921" y="1478876"/>
            <a:ext cx="8485241" cy="5622052"/>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sz="1800" b="1" dirty="0" err="1">
                <a:solidFill>
                  <a:schemeClr val="tx1">
                    <a:lumMod val="75000"/>
                    <a:lumOff val="25000"/>
                  </a:schemeClr>
                </a:solidFill>
                <a:latin typeface="微软雅黑" panose="020B0503020204020204" pitchFamily="34" charset="-122"/>
                <a:ea typeface="微软雅黑" panose="020B0503020204020204" pitchFamily="34" charset="-122"/>
              </a:rPr>
              <a:t>MIPS的全名为“Microcomputer</a:t>
            </a:r>
            <a:r>
              <a:rPr sz="1800" b="1" dirty="0">
                <a:solidFill>
                  <a:schemeClr val="tx1">
                    <a:lumMod val="75000"/>
                    <a:lumOff val="25000"/>
                  </a:schemeClr>
                </a:solidFill>
                <a:latin typeface="微软雅黑" panose="020B0503020204020204" pitchFamily="34" charset="-122"/>
                <a:ea typeface="微软雅黑" panose="020B0503020204020204" pitchFamily="34" charset="-122"/>
              </a:rPr>
              <a:t> without interlocked pipeline stages”，</a:t>
            </a:r>
            <a:r>
              <a:rPr sz="1800" b="1" dirty="0" err="1">
                <a:solidFill>
                  <a:schemeClr val="tx1">
                    <a:lumMod val="75000"/>
                    <a:lumOff val="25000"/>
                  </a:schemeClr>
                </a:solidFill>
                <a:latin typeface="微软雅黑" panose="020B0503020204020204" pitchFamily="34" charset="-122"/>
                <a:ea typeface="微软雅黑" panose="020B0503020204020204" pitchFamily="34" charset="-122"/>
              </a:rPr>
              <a:t>另外一个通常的非正式的说法是“Millions</a:t>
            </a:r>
            <a:r>
              <a:rPr sz="1800" b="1" dirty="0">
                <a:solidFill>
                  <a:schemeClr val="tx1">
                    <a:lumMod val="75000"/>
                    <a:lumOff val="25000"/>
                  </a:schemeClr>
                </a:solidFill>
                <a:latin typeface="微软雅黑" panose="020B0503020204020204" pitchFamily="34" charset="-122"/>
                <a:ea typeface="微软雅黑" panose="020B0503020204020204" pitchFamily="34" charset="-122"/>
              </a:rPr>
              <a:t> of instructions per second”</a:t>
            </a:r>
            <a:r>
              <a:rPr lang="zh-CN" sz="1800" b="1" dirty="0">
                <a:solidFill>
                  <a:schemeClr val="tx1">
                    <a:lumMod val="75000"/>
                    <a:lumOff val="25000"/>
                  </a:schemeClr>
                </a:solidFill>
                <a:latin typeface="微软雅黑" panose="020B0503020204020204" pitchFamily="34" charset="-122"/>
                <a:ea typeface="微软雅黑" panose="020B0503020204020204" pitchFamily="34" charset="-122"/>
              </a:rPr>
              <a:t>，是最早最成功的RISC（Reduced Instruction Set Computer）处理器之一。</a:t>
            </a:r>
          </a:p>
          <a:p>
            <a:pPr marL="285750" indent="-285750" fontAlgn="auto">
              <a:lnSpc>
                <a:spcPct val="150000"/>
              </a:lnSpc>
              <a:spcBef>
                <a:spcPts val="0"/>
              </a:spcBef>
              <a:spcAft>
                <a:spcPts val="0"/>
              </a:spcAft>
              <a:buFont typeface="Wingdings" panose="05000000000000000000" charset="0"/>
              <a:buChar char=""/>
              <a:defRPr/>
            </a:pPr>
            <a:r>
              <a:rPr lang="zh-CN" sz="1800" b="1" dirty="0">
                <a:solidFill>
                  <a:schemeClr val="tx1">
                    <a:lumMod val="75000"/>
                    <a:lumOff val="25000"/>
                  </a:schemeClr>
                </a:solidFill>
                <a:latin typeface="微软雅黑" panose="020B0503020204020204" pitchFamily="34" charset="-122"/>
                <a:ea typeface="微软雅黑" panose="020B0503020204020204" pitchFamily="34" charset="-122"/>
              </a:rPr>
              <a:t>John Hennessy教授和他的学生们探寻了精简指令集（RISC）体系结构概念，并成立了MIPS计算机系统公司，该概念基于如下理论：使用相对简单的指令，结合优秀的编译器以及采用流水线执行指令的硬件，就可以用更少的晶元面积生产更快的处理器。</a:t>
            </a:r>
          </a:p>
          <a:p>
            <a:pPr marL="285750" indent="-285750" fontAlgn="auto">
              <a:lnSpc>
                <a:spcPct val="150000"/>
              </a:lnSpc>
              <a:spcBef>
                <a:spcPts val="0"/>
              </a:spcBef>
              <a:spcAft>
                <a:spcPts val="0"/>
              </a:spcAft>
              <a:buFont typeface="Wingdings" panose="05000000000000000000" charset="0"/>
              <a:buChar char=""/>
              <a:defRPr/>
            </a:pPr>
            <a:r>
              <a:rPr lang="zh-CN" sz="1800" b="1" dirty="0">
                <a:solidFill>
                  <a:schemeClr val="tx1">
                    <a:lumMod val="75000"/>
                    <a:lumOff val="25000"/>
                  </a:schemeClr>
                </a:solidFill>
                <a:latin typeface="微软雅黑" panose="020B0503020204020204" pitchFamily="34" charset="-122"/>
                <a:ea typeface="微软雅黑" panose="020B0503020204020204" pitchFamily="34" charset="-122"/>
              </a:rPr>
              <a:t>MIPS在RISC处理器方面占有重要地位，是最早的RISC微处理器以及较早的超标量与64位微处理器。</a:t>
            </a:r>
          </a:p>
          <a:p>
            <a:pPr marL="285750" indent="-285750" fontAlgn="auto">
              <a:lnSpc>
                <a:spcPct val="150000"/>
              </a:lnSpc>
              <a:spcBef>
                <a:spcPts val="0"/>
              </a:spcBef>
              <a:spcAft>
                <a:spcPts val="0"/>
              </a:spcAft>
              <a:buFont typeface="Wingdings" panose="05000000000000000000" charset="0"/>
              <a:buChar char=""/>
              <a:defRPr/>
            </a:pPr>
            <a:r>
              <a:rPr lang="zh-CN" sz="1800" b="1" dirty="0">
                <a:solidFill>
                  <a:schemeClr val="tx1">
                    <a:lumMod val="75000"/>
                    <a:lumOff val="25000"/>
                  </a:schemeClr>
                </a:solidFill>
                <a:latin typeface="微软雅黑" panose="020B0503020204020204" pitchFamily="34" charset="-122"/>
                <a:ea typeface="微软雅黑" panose="020B0503020204020204" pitchFamily="34" charset="-122"/>
              </a:rPr>
              <a:t>MIPS微处理器经常能在处理器的每个技术发展阶段保持速度最快的同时保持设计的简洁。</a:t>
            </a:r>
          </a:p>
          <a:p>
            <a:pPr marL="285750" indent="-285750" fontAlgn="auto">
              <a:lnSpc>
                <a:spcPct val="150000"/>
              </a:lnSpc>
              <a:spcBef>
                <a:spcPts val="0"/>
              </a:spcBef>
              <a:spcAft>
                <a:spcPts val="0"/>
              </a:spcAft>
              <a:buFont typeface="Wingdings" panose="05000000000000000000" charset="0"/>
              <a:buChar char=""/>
              <a:defRPr/>
            </a:pPr>
            <a:r>
              <a:rPr lang="zh-CN" sz="1800" b="1" dirty="0">
                <a:solidFill>
                  <a:schemeClr val="tx1">
                    <a:lumMod val="75000"/>
                    <a:lumOff val="25000"/>
                  </a:schemeClr>
                </a:solidFill>
                <a:latin typeface="微软雅黑" panose="020B0503020204020204" pitchFamily="34" charset="-122"/>
                <a:ea typeface="微软雅黑" panose="020B0503020204020204" pitchFamily="34" charset="-122"/>
              </a:rPr>
              <a:t>在设计理念上MIPS强调软硬件协同提高性能，同时简化硬件设计。</a:t>
            </a:r>
          </a:p>
          <a:p>
            <a:pPr marL="285750" indent="-285750">
              <a:lnSpc>
                <a:spcPct val="150000"/>
              </a:lnSpc>
              <a:spcBef>
                <a:spcPts val="1000"/>
              </a:spcBef>
              <a:buNone/>
              <a:defRPr/>
            </a:pPr>
            <a:endParaRPr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r>
              <a:rPr lang="en-US" altLang="zh-CN" b="1"/>
              <a:t>7.1.1 </a:t>
            </a:r>
            <a:r>
              <a:rPr b="1"/>
              <a:t>概述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85628" y="1588994"/>
            <a:ext cx="8363306" cy="4632037"/>
          </a:xfrm>
          <a:prstGeom prst="rect">
            <a:avLst/>
          </a:prstGeom>
          <a:noFill/>
        </p:spPr>
        <p:txBody>
          <a:bodyPr wrap="square" lIns="72000" rIns="72000">
            <a:spAutoFit/>
          </a:bodyPr>
          <a:lstStyle/>
          <a:p>
            <a:pPr marL="0" indent="0" fontAlgn="auto">
              <a:lnSpc>
                <a:spcPct val="150000"/>
              </a:lnSpc>
              <a:spcBef>
                <a:spcPts val="0"/>
              </a:spcBef>
              <a:spcAft>
                <a:spcPts val="0"/>
              </a:spcAft>
              <a:buFont typeface="Wingdings" panose="05000000000000000000" charset="0"/>
              <a:buNone/>
              <a:defRPr/>
            </a:pPr>
            <a:r>
              <a:rPr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本</a:t>
            </a:r>
            <a:r>
              <a:rPr lang="zh-CN"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课程</a:t>
            </a:r>
            <a:r>
              <a:rPr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所讲的基本架构为MIPS32架构。</a:t>
            </a:r>
            <a:endParaRPr sz="18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MIPS32架构中有32个通用寄存器，虽然硬件没有强制性的指定寄存器使用规则，但在实际使用中，这些寄存器的用法都遵循一系列约定。这些约定与硬件确实无关，但如果你想使用别人的代码、编译器和操作系统，最好是遵循这些约定。通用寄存器的命名约定及用法如表7.1.1所示。</a:t>
            </a:r>
            <a:endParaRPr sz="18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MIPS32中没有条件码，比如在X86中常见的状态寄存器中的Z、C标志位在MIPS32中是没有的，但是MIPS32中是有状态寄存器的。</a:t>
            </a:r>
            <a:endParaRPr sz="18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MIPS32中不同于其它的RISC架构的地方是其有整数乘法部件，这个部件使用两个特殊的寄存器HI、LO，并且提供相应的指令 </a:t>
            </a:r>
            <a:r>
              <a:rPr sz="18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mfhi</a:t>
            </a:r>
            <a:r>
              <a:rPr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sz="18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mthi,mthi</a:t>
            </a:r>
            <a:r>
              <a:rPr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sz="18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mtlo</a:t>
            </a:r>
            <a:r>
              <a:rPr sz="1800" b="1" dirty="0" err="1" smtClean="0">
                <a:solidFill>
                  <a:schemeClr val="tx1">
                    <a:lumMod val="75000"/>
                    <a:lumOff val="25000"/>
                  </a:schemeClr>
                </a:solidFill>
                <a:latin typeface="微软雅黑" panose="020B0503020204020204" pitchFamily="34" charset="-122"/>
                <a:ea typeface="微软雅黑" panose="020B0503020204020204" pitchFamily="34" charset="-122"/>
                <a:sym typeface="+mn-ea"/>
              </a:rPr>
              <a:t>来实现整数乘法结果</a:t>
            </a:r>
            <a:r>
              <a:rPr lang="en-US" altLang="zh-CN" sz="1800" b="1" dirty="0" err="1" smtClean="0">
                <a:solidFill>
                  <a:schemeClr val="tx1">
                    <a:lumMod val="75000"/>
                    <a:lumOff val="25000"/>
                  </a:schemeClr>
                </a:solidFill>
                <a:latin typeface="微软雅黑" panose="020B0503020204020204" pitchFamily="34" charset="-122"/>
                <a:ea typeface="微软雅黑" panose="020B0503020204020204" pitchFamily="34" charset="-122"/>
                <a:sym typeface="+mn-ea"/>
              </a:rPr>
              <a:t>H</a:t>
            </a:r>
            <a:r>
              <a:rPr lang="en-US" altLang="zh-CN" sz="18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I</a:t>
            </a:r>
            <a:r>
              <a:rPr sz="1800" b="1" dirty="0" smtClean="0">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lang="en-US" altLang="zh-CN" sz="1800" b="1" dirty="0" err="1" smtClean="0">
                <a:solidFill>
                  <a:schemeClr val="tx1">
                    <a:lumMod val="75000"/>
                    <a:lumOff val="25000"/>
                  </a:schemeClr>
                </a:solidFill>
                <a:latin typeface="微软雅黑" panose="020B0503020204020204" pitchFamily="34" charset="-122"/>
                <a:ea typeface="微软雅黑" panose="020B0503020204020204" pitchFamily="34" charset="-122"/>
                <a:sym typeface="+mn-ea"/>
              </a:rPr>
              <a:t>LO</a:t>
            </a:r>
            <a:r>
              <a:rPr sz="1800" b="1" dirty="0" err="1" smtClean="0">
                <a:solidFill>
                  <a:schemeClr val="tx1">
                    <a:lumMod val="75000"/>
                    <a:lumOff val="25000"/>
                  </a:schemeClr>
                </a:solidFill>
                <a:latin typeface="微软雅黑" panose="020B0503020204020204" pitchFamily="34" charset="-122"/>
                <a:ea typeface="微软雅黑" panose="020B0503020204020204" pitchFamily="34" charset="-122"/>
                <a:sym typeface="+mn-ea"/>
              </a:rPr>
              <a:t>寄存器与通用寄存器之间的数据交换</a:t>
            </a:r>
            <a:r>
              <a:rPr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endParaRPr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r>
              <a:rPr lang="en-US" altLang="zh-CN" b="1"/>
              <a:t>7.1.2 </a:t>
            </a:r>
            <a:r>
              <a:rPr b="1"/>
              <a:t>基本架构及编程模型</a:t>
            </a:r>
          </a:p>
        </p:txBody>
      </p:sp>
      <p:sp>
        <p:nvSpPr>
          <p:cNvPr id="4" name="文本框 3"/>
          <p:cNvSpPr txBox="1"/>
          <p:nvPr/>
        </p:nvSpPr>
        <p:spPr>
          <a:xfrm>
            <a:off x="2032000" y="4510405"/>
            <a:ext cx="5080000" cy="414020"/>
          </a:xfrm>
          <a:prstGeom prst="rect">
            <a:avLst/>
          </a:prstGeom>
          <a:noFill/>
          <a:ln w="9525">
            <a:noFill/>
          </a:ln>
        </p:spPr>
        <p:txBody>
          <a:bodyPr>
            <a:spAutoFit/>
          </a:bodyPr>
          <a:lstStyle/>
          <a:p>
            <a:pPr marL="0" indent="266700"/>
            <a:endParaRPr lang="en-US" altLang="zh-CN" sz="1050" b="0">
              <a:latin typeface="Calibri" panose="020F0502020204030204" charset="0"/>
              <a:cs typeface="Calibri" panose="020F0502020204030204" charset="0"/>
            </a:endParaRPr>
          </a:p>
          <a:p>
            <a:pPr marL="0" indent="266700"/>
            <a:r>
              <a:rPr lang="en-US" altLang="zh-CN" sz="1050" b="0">
                <a:latin typeface="Calibri" panose="020F0502020204030204" charset="0"/>
                <a:cs typeface="Calibri" panose="020F0502020204030204" charset="0"/>
              </a:rPr>
              <a:t> </a:t>
            </a: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endParaRPr/>
          </a:p>
        </p:txBody>
      </p:sp>
      <p:sp>
        <p:nvSpPr>
          <p:cNvPr id="100" name="文本框 99"/>
          <p:cNvSpPr txBox="1"/>
          <p:nvPr/>
        </p:nvSpPr>
        <p:spPr>
          <a:xfrm>
            <a:off x="1936750" y="6045200"/>
            <a:ext cx="5080000" cy="337185"/>
          </a:xfrm>
          <a:prstGeom prst="rect">
            <a:avLst/>
          </a:prstGeom>
          <a:noFill/>
          <a:ln w="9525">
            <a:noFill/>
          </a:ln>
        </p:spPr>
        <p:txBody>
          <a:bodyPr>
            <a:spAutoFit/>
          </a:bodyPr>
          <a:lstStyle/>
          <a:p>
            <a:pPr marL="0" indent="266700" algn="ctr"/>
            <a:r>
              <a:rPr sz="1600" b="1">
                <a:solidFill>
                  <a:schemeClr val="tx1">
                    <a:lumMod val="75000"/>
                    <a:lumOff val="25000"/>
                  </a:schemeClr>
                </a:solidFill>
                <a:latin typeface="宋体" panose="02010600030101010101" pitchFamily="2" charset="-122"/>
              </a:rPr>
              <a:t>表7.1.1 寄存器命名及用法</a:t>
            </a:r>
          </a:p>
        </p:txBody>
      </p:sp>
      <p:graphicFrame>
        <p:nvGraphicFramePr>
          <p:cNvPr id="2" name="表格 1"/>
          <p:cNvGraphicFramePr/>
          <p:nvPr/>
        </p:nvGraphicFramePr>
        <p:xfrm>
          <a:off x="1160145" y="1658620"/>
          <a:ext cx="6824345" cy="4263390"/>
        </p:xfrm>
        <a:graphic>
          <a:graphicData uri="http://schemas.openxmlformats.org/drawingml/2006/table">
            <a:tbl>
              <a:tblPr firstRow="1" bandRow="1">
                <a:tableStyleId>{5940675A-B579-460E-94D1-54222C63F5DA}</a:tableStyleId>
              </a:tblPr>
              <a:tblGrid>
                <a:gridCol w="1537335"/>
                <a:gridCol w="1332230"/>
                <a:gridCol w="3954780"/>
              </a:tblGrid>
              <a:tr h="326390">
                <a:tc>
                  <a:txBody>
                    <a:bodyPr/>
                    <a:lstStyle/>
                    <a:p>
                      <a:pPr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寄存器编号</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a:solidFill>
                        <a:schemeClr val="tx1"/>
                      </a:solidFill>
                      <a:prstDash val="soli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记忆符</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a:solidFill>
                        <a:schemeClr val="tx1"/>
                      </a:solidFill>
                      <a:prstDash val="soli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用   途</a:t>
                      </a: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a:solidFill>
                        <a:schemeClr val="tx1"/>
                      </a:solidFill>
                      <a:prstDash val="solid"/>
                    </a:lnT>
                    <a:lnB w="12700" cap="flat" cmpd="sng">
                      <a:solidFill>
                        <a:schemeClr val="tx1"/>
                      </a:solidFill>
                      <a:prstDash val="solid"/>
                      <a:headEnd type="none" w="med" len="med"/>
                      <a:tailEnd type="none" w="med" len="med"/>
                    </a:lnB>
                    <a:lnTlToBr>
                      <a:noFill/>
                    </a:lnTlToBr>
                    <a:lnBlToTr>
                      <a:noFill/>
                    </a:lnBlToTr>
                    <a:noFill/>
                  </a:tcPr>
                </a:tc>
              </a:tr>
              <a:tr h="325755">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0</a:t>
                      </a: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zero</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总是返回0</a:t>
                      </a: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1</a:t>
                      </a: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at</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lnTlToBr>
                      <a:noFill/>
                    </a:lnTlToBr>
                    <a:lnBlToTr>
                      <a:noFill/>
                    </a:lnBlToTr>
                    <a:noFill/>
                  </a:tcPr>
                </a:tc>
                <a:tc>
                  <a:txBody>
                    <a:bodyPr/>
                    <a:lstStyle/>
                    <a:p>
                      <a:pPr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汇编暂存寄存器</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5755">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2~3</a:t>
                      </a:r>
                    </a:p>
                  </a:txBody>
                  <a:tcPr marL="0" marR="0" marT="0" marB="1" anchor="ctr">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v0~v1</a:t>
                      </a:r>
                    </a:p>
                  </a:txBody>
                  <a:tcPr marL="0" marR="0" marT="0" marB="1"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子程序返回值</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nchor="ctr">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4~7</a:t>
                      </a: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a0~a3</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a:solidFill>
                        <a:schemeClr val="tx1"/>
                      </a:solidFill>
                      <a:prstDash val="soli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调用子程序参数</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8~15</a:t>
                      </a: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t0~t7</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暂存器</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16~23</a:t>
                      </a: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s0~s7</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通用寄存器</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5755">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24~25</a:t>
                      </a: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t8~t9</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暂存器</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lstStyle/>
                    <a:p>
                      <a:pPr algn="ctr">
                        <a:buNone/>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26~27</a:t>
                      </a: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k0~k1</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中断</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自陷寄存器</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28</a:t>
                      </a: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gp</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全局指针</a:t>
                      </a: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5755">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29</a:t>
                      </a: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sp</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堆栈指针</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5755">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30</a:t>
                      </a: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s8/fp</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通用寄存器/帧指针</a:t>
                      </a: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49885">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31</a:t>
                      </a:r>
                    </a:p>
                  </a:txBody>
                  <a:tcPr marL="0" marR="0" marT="0" marB="1"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lnTlToBr>
                      <a:noFill/>
                    </a:lnTlToBr>
                    <a:lnBlToTr>
                      <a:noFill/>
                    </a:lnBlToTr>
                    <a:noFill/>
                  </a:tcPr>
                </a:tc>
                <a:tc>
                  <a:txBody>
                    <a:bodyPr/>
                    <a:lstStyle/>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ra</a:t>
                      </a: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lnTlToBr>
                      <a:noFill/>
                    </a:lnTlToBr>
                    <a:lnBlToTr>
                      <a:noFill/>
                    </a:lnBlToTr>
                    <a:noFill/>
                  </a:tcPr>
                </a:tc>
                <a:tc>
                  <a:txBody>
                    <a:bodyPr/>
                    <a:lstStyle/>
                    <a:p>
                      <a:pPr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子程序返回地址</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a:solidFill>
                        <a:schemeClr val="tx1"/>
                      </a:solidFill>
                      <a:prstDash val="solid"/>
                    </a:lnB>
                    <a:lnTlToBr>
                      <a:noFill/>
                    </a:lnTlToBr>
                    <a:lnBlToTr>
                      <a:noFill/>
                    </a:lnBlToTr>
                    <a:noFill/>
                  </a:tcPr>
                </a:tc>
              </a:tr>
            </a:tbl>
          </a:graphicData>
        </a:graphic>
      </p:graphicFrame>
      <p:sp>
        <p:nvSpPr>
          <p:cNvPr id="4" name="文本框 3"/>
          <p:cNvSpPr txBox="1"/>
          <p:nvPr/>
        </p:nvSpPr>
        <p:spPr>
          <a:xfrm>
            <a:off x="2032000" y="4510405"/>
            <a:ext cx="5080000" cy="414020"/>
          </a:xfrm>
          <a:prstGeom prst="rect">
            <a:avLst/>
          </a:prstGeom>
          <a:noFill/>
          <a:ln w="9525">
            <a:noFill/>
          </a:ln>
        </p:spPr>
        <p:txBody>
          <a:bodyPr>
            <a:spAutoFit/>
          </a:bodyPr>
          <a:lstStyle/>
          <a:p>
            <a:pPr marL="0" indent="266700"/>
            <a:endParaRPr lang="en-US" altLang="zh-CN" sz="1050" b="0">
              <a:latin typeface="Calibri" panose="020F0502020204030204" charset="0"/>
              <a:cs typeface="Calibri" panose="020F0502020204030204" charset="0"/>
            </a:endParaRPr>
          </a:p>
          <a:p>
            <a:pPr marL="0" indent="266700"/>
            <a:r>
              <a:rPr lang="en-US" altLang="zh-CN" sz="1050" b="0">
                <a:latin typeface="Calibri" panose="020F0502020204030204" charset="0"/>
                <a:cs typeface="Calibri" panose="020F0502020204030204" charset="0"/>
              </a:rPr>
              <a:t> </a:t>
            </a: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776730"/>
            <a:ext cx="7232322" cy="4042132"/>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sz="2000" b="1" dirty="0">
                <a:solidFill>
                  <a:schemeClr val="tx1">
                    <a:lumMod val="75000"/>
                    <a:lumOff val="25000"/>
                  </a:schemeClr>
                </a:solidFill>
                <a:latin typeface="微软雅黑" panose="020B0503020204020204" pitchFamily="34" charset="-122"/>
                <a:ea typeface="微软雅黑" panose="020B0503020204020204" pitchFamily="34" charset="-122"/>
              </a:rPr>
              <a:t>MIPS32中如果有FPA（浮点协处理器），将会有32个浮点寄存器，按汇编语言的约定为$f0~$f31</a:t>
            </a:r>
          </a:p>
          <a:p>
            <a:pPr marL="285750" indent="-285750" fontAlgn="auto">
              <a:lnSpc>
                <a:spcPct val="150000"/>
              </a:lnSpc>
              <a:spcBef>
                <a:spcPts val="1000"/>
              </a:spcBef>
              <a:buFont typeface="Wingdings" panose="05000000000000000000" charset="0"/>
              <a:buChar char=""/>
              <a:defRPr/>
            </a:pPr>
            <a:r>
              <a:rPr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CP0（协处理器0）被MIPS处理器控制</a:t>
            </a:r>
            <a:r>
              <a:rPr 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用于控制和设置MIPS</a:t>
            </a:r>
            <a:r>
              <a:rPr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CPU，里面包含了一些寄存器</a:t>
            </a:r>
            <a:r>
              <a:rPr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通</a:t>
            </a:r>
            <a:r>
              <a:rPr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过对这些寄存器的不同的位的操作可以实现对处理器的设置</a:t>
            </a:r>
            <a:r>
              <a:rPr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 CP0提供了中断异常处理、内存管理（包括CACHE、TLB）、</a:t>
            </a:r>
            <a:r>
              <a:rPr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外设管理等</a:t>
            </a:r>
            <a:r>
              <a:rPr 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功能</a:t>
            </a:r>
            <a:r>
              <a:rPr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marL="285750" indent="-285750" fontAlgn="auto">
              <a:lnSpc>
                <a:spcPct val="150000"/>
              </a:lnSpc>
              <a:spcBef>
                <a:spcPts val="1000"/>
              </a:spcBef>
              <a:buFont typeface="Wingdings" panose="05000000000000000000" charset="0"/>
              <a:buChar char=""/>
              <a:defRPr/>
            </a:pPr>
            <a:r>
              <a:rPr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MIPS32中的存储器模型被划分为四个大块，如图7.1.1所示</a:t>
            </a:r>
          </a:p>
        </p:txBody>
      </p:sp>
      <p:sp>
        <p:nvSpPr>
          <p:cNvPr id="7266" name="标题 7265"/>
          <p:cNvSpPr>
            <a:spLocks noGrp="1"/>
          </p:cNvSpPr>
          <p:nvPr>
            <p:ph type="title"/>
          </p:nvPr>
        </p:nvSpPr>
        <p:spPr/>
        <p:txBody>
          <a:bodyPr/>
          <a:lstStyle/>
          <a:p>
            <a:r>
              <a:rPr lang="en-US" altLang="zh-CN" b="1"/>
              <a:t>7.1.2 </a:t>
            </a:r>
            <a:r>
              <a:rPr b="1"/>
              <a:t>基本架构及编程模型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03434" y="1776730"/>
            <a:ext cx="5137271" cy="4247317"/>
          </a:xfrm>
          <a:prstGeom prst="rect">
            <a:avLst/>
          </a:prstGeom>
          <a:noFill/>
        </p:spPr>
        <p:txBody>
          <a:bodyPr wrap="square" lIns="72000" rIns="72000">
            <a:spAutoFit/>
          </a:bodyPr>
          <a:lstStyle/>
          <a:p>
            <a:r>
              <a:rPr lang="en-US" altLang="zh-CN" sz="1800" b="1" dirty="0"/>
              <a:t>0x0000 0000~0x7fff </a:t>
            </a:r>
            <a:r>
              <a:rPr lang="en-US" altLang="zh-CN" sz="1800" b="1" dirty="0" err="1"/>
              <a:t>ffff</a:t>
            </a:r>
            <a:r>
              <a:rPr lang="zh-CN" altLang="zh-CN" sz="1800" b="1" dirty="0"/>
              <a:t>（</a:t>
            </a:r>
            <a:r>
              <a:rPr lang="en-US" altLang="zh-CN" sz="1800" b="1" dirty="0"/>
              <a:t>0~2G-1</a:t>
            </a:r>
            <a:r>
              <a:rPr lang="zh-CN" altLang="zh-CN" sz="1800" b="1" dirty="0"/>
              <a:t>）</a:t>
            </a:r>
            <a:r>
              <a:rPr lang="en-US" altLang="zh-CN" sz="1800" b="1" dirty="0" err="1"/>
              <a:t>Kuseg</a:t>
            </a:r>
            <a:endParaRPr lang="zh-CN" altLang="zh-CN" sz="1800" b="1" dirty="0"/>
          </a:p>
          <a:p>
            <a:r>
              <a:rPr lang="en-US" altLang="zh-CN" sz="1800" dirty="0"/>
              <a:t>must be mapped</a:t>
            </a:r>
            <a:r>
              <a:rPr lang="zh-CN" altLang="zh-CN" sz="1800" dirty="0"/>
              <a:t>（</a:t>
            </a:r>
            <a:r>
              <a:rPr lang="en-US" altLang="zh-CN" sz="1800" dirty="0"/>
              <a:t>set page table and TLB</a:t>
            </a:r>
            <a:r>
              <a:rPr lang="zh-CN" altLang="zh-CN" sz="1800" dirty="0"/>
              <a:t>）</a:t>
            </a:r>
            <a:r>
              <a:rPr lang="en-US" altLang="zh-CN" sz="1800" dirty="0"/>
              <a:t>and set cache before </a:t>
            </a:r>
            <a:r>
              <a:rPr lang="en-US" altLang="zh-CN" sz="1800" dirty="0" smtClean="0"/>
              <a:t>use</a:t>
            </a:r>
          </a:p>
          <a:p>
            <a:endParaRPr lang="zh-CN" altLang="zh-CN" sz="1800" dirty="0"/>
          </a:p>
          <a:p>
            <a:r>
              <a:rPr lang="en-US" altLang="zh-CN" sz="1800" b="1" dirty="0"/>
              <a:t>0x8000 0000~0x9fff </a:t>
            </a:r>
            <a:r>
              <a:rPr lang="en-US" altLang="zh-CN" sz="1800" b="1" dirty="0" err="1"/>
              <a:t>ffff</a:t>
            </a:r>
            <a:r>
              <a:rPr lang="zh-CN" altLang="zh-CN" sz="1800" b="1" dirty="0"/>
              <a:t>（</a:t>
            </a:r>
            <a:r>
              <a:rPr lang="en-US" altLang="zh-CN" sz="1800" b="1" dirty="0"/>
              <a:t>2G~2.5G-1</a:t>
            </a:r>
            <a:r>
              <a:rPr lang="zh-CN" altLang="zh-CN" sz="1800" b="1" dirty="0"/>
              <a:t>）</a:t>
            </a:r>
            <a:r>
              <a:rPr lang="en-US" altLang="zh-CN" sz="1800" b="1" dirty="0"/>
              <a:t>Kseg0</a:t>
            </a:r>
            <a:endParaRPr lang="zh-CN" altLang="zh-CN" sz="1800" b="1" dirty="0"/>
          </a:p>
          <a:p>
            <a:r>
              <a:rPr lang="en-US" altLang="zh-CN" sz="1800" dirty="0"/>
              <a:t>directly mapped</a:t>
            </a:r>
            <a:r>
              <a:rPr lang="zh-CN" altLang="zh-CN" sz="1800" dirty="0"/>
              <a:t>（</a:t>
            </a:r>
            <a:r>
              <a:rPr lang="en-US" altLang="zh-CN" sz="1800" dirty="0"/>
              <a:t>no need to set page table and TLB</a:t>
            </a:r>
            <a:r>
              <a:rPr lang="zh-CN" altLang="zh-CN" sz="1800" dirty="0"/>
              <a:t>）</a:t>
            </a:r>
            <a:r>
              <a:rPr lang="en-US" altLang="zh-CN" sz="1800" dirty="0"/>
              <a:t>but need to set cache before </a:t>
            </a:r>
            <a:r>
              <a:rPr lang="en-US" altLang="zh-CN" sz="1800" dirty="0" smtClean="0"/>
              <a:t>use</a:t>
            </a:r>
          </a:p>
          <a:p>
            <a:endParaRPr lang="zh-CN" altLang="zh-CN" sz="1800" dirty="0"/>
          </a:p>
          <a:p>
            <a:r>
              <a:rPr lang="en-US" altLang="zh-CN" sz="1800" b="1" dirty="0"/>
              <a:t>0xa000 0000~0xbfff </a:t>
            </a:r>
            <a:r>
              <a:rPr lang="en-US" altLang="zh-CN" sz="1800" b="1" dirty="0" err="1"/>
              <a:t>ffff</a:t>
            </a:r>
            <a:r>
              <a:rPr lang="zh-CN" altLang="zh-CN" sz="1800" b="1" dirty="0"/>
              <a:t>（</a:t>
            </a:r>
            <a:r>
              <a:rPr lang="en-US" altLang="zh-CN" sz="1800" b="1" dirty="0"/>
              <a:t>2.5G~3G-1</a:t>
            </a:r>
            <a:r>
              <a:rPr lang="zh-CN" altLang="zh-CN" sz="1800" b="1" dirty="0"/>
              <a:t>）</a:t>
            </a:r>
            <a:r>
              <a:rPr lang="en-US" altLang="zh-CN" sz="1800" b="1" dirty="0"/>
              <a:t> Kseg1</a:t>
            </a:r>
            <a:endParaRPr lang="zh-CN" altLang="zh-CN" sz="1800" b="1" dirty="0"/>
          </a:p>
          <a:p>
            <a:r>
              <a:rPr lang="en-US" altLang="zh-CN" sz="1800" dirty="0"/>
              <a:t>directly mapped</a:t>
            </a:r>
            <a:r>
              <a:rPr lang="zh-CN" altLang="zh-CN" sz="1800" dirty="0"/>
              <a:t>（</a:t>
            </a:r>
            <a:r>
              <a:rPr lang="en-US" altLang="zh-CN" sz="1800" dirty="0"/>
              <a:t>no need to set page table and TLB</a:t>
            </a:r>
            <a:r>
              <a:rPr lang="zh-CN" altLang="zh-CN" sz="1800" dirty="0"/>
              <a:t>）</a:t>
            </a:r>
            <a:r>
              <a:rPr lang="en-US" altLang="zh-CN" sz="1800" dirty="0"/>
              <a:t>and never use </a:t>
            </a:r>
            <a:r>
              <a:rPr lang="en-US" altLang="zh-CN" sz="1800" dirty="0" smtClean="0"/>
              <a:t>cache</a:t>
            </a:r>
          </a:p>
          <a:p>
            <a:endParaRPr lang="zh-CN" altLang="zh-CN" sz="1800" dirty="0"/>
          </a:p>
          <a:p>
            <a:r>
              <a:rPr lang="en-US" altLang="zh-CN" sz="1800" b="1" dirty="0"/>
              <a:t>0xc000</a:t>
            </a:r>
            <a:r>
              <a:rPr lang="zh-CN" altLang="zh-CN" sz="1800" b="1" dirty="0"/>
              <a:t>，</a:t>
            </a:r>
            <a:r>
              <a:rPr lang="en-US" altLang="zh-CN" sz="1800" b="1" dirty="0"/>
              <a:t>0000~0xffff </a:t>
            </a:r>
            <a:r>
              <a:rPr lang="en-US" altLang="zh-CN" sz="1800" b="1" dirty="0" err="1"/>
              <a:t>ffff</a:t>
            </a:r>
            <a:r>
              <a:rPr lang="zh-CN" altLang="zh-CN" sz="1800" b="1" dirty="0"/>
              <a:t>（</a:t>
            </a:r>
            <a:r>
              <a:rPr lang="en-US" altLang="zh-CN" sz="1800" b="1" dirty="0"/>
              <a:t>3G~4G-1</a:t>
            </a:r>
            <a:r>
              <a:rPr lang="zh-CN" altLang="zh-CN" sz="1800" b="1" dirty="0"/>
              <a:t>）</a:t>
            </a:r>
            <a:r>
              <a:rPr lang="en-US" altLang="zh-CN" sz="1800" b="1" dirty="0"/>
              <a:t> Kseg2</a:t>
            </a:r>
            <a:endParaRPr lang="zh-CN" altLang="zh-CN" sz="1800" b="1" dirty="0"/>
          </a:p>
          <a:p>
            <a:r>
              <a:rPr lang="en-US" altLang="zh-CN" sz="1800" dirty="0"/>
              <a:t>muse be mapped</a:t>
            </a:r>
            <a:r>
              <a:rPr lang="zh-CN" altLang="zh-CN" sz="1800" dirty="0"/>
              <a:t>（</a:t>
            </a:r>
            <a:r>
              <a:rPr lang="en-US" altLang="zh-CN" sz="1800" dirty="0"/>
              <a:t>set page table and TLB</a:t>
            </a:r>
            <a:r>
              <a:rPr lang="zh-CN" altLang="zh-CN" sz="1800" dirty="0"/>
              <a:t>）</a:t>
            </a:r>
            <a:r>
              <a:rPr lang="en-US" altLang="zh-CN" sz="1800" dirty="0"/>
              <a:t>and set cache before use</a:t>
            </a:r>
            <a:endParaRPr lang="zh-CN" altLang="zh-CN" sz="1800" dirty="0"/>
          </a:p>
        </p:txBody>
      </p:sp>
      <p:sp>
        <p:nvSpPr>
          <p:cNvPr id="7266" name="标题 7265"/>
          <p:cNvSpPr>
            <a:spLocks noGrp="1"/>
          </p:cNvSpPr>
          <p:nvPr>
            <p:ph type="title"/>
          </p:nvPr>
        </p:nvSpPr>
        <p:spPr/>
        <p:txBody>
          <a:bodyPr/>
          <a:lstStyle/>
          <a:p>
            <a:r>
              <a:rPr lang="en-US" altLang="zh-CN" b="1"/>
              <a:t>7.1.2 </a:t>
            </a:r>
            <a:r>
              <a:rPr b="1"/>
              <a:t>基本架构及编程模型</a:t>
            </a:r>
          </a:p>
        </p:txBody>
      </p:sp>
      <p:pic>
        <p:nvPicPr>
          <p:cNvPr id="2"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3289" y="1394004"/>
            <a:ext cx="2625083" cy="3831054"/>
          </a:xfrm>
          <a:prstGeom prst="rect">
            <a:avLst/>
          </a:prstGeom>
        </p:spPr>
      </p:pic>
      <p:sp>
        <p:nvSpPr>
          <p:cNvPr id="6" name="TextBox 2"/>
          <p:cNvSpPr txBox="1"/>
          <p:nvPr/>
        </p:nvSpPr>
        <p:spPr>
          <a:xfrm>
            <a:off x="5989833" y="5478662"/>
            <a:ext cx="2568539" cy="414020"/>
          </a:xfrm>
          <a:prstGeom prst="rect">
            <a:avLst/>
          </a:prstGeom>
          <a:noFill/>
        </p:spPr>
        <p:txBody>
          <a:bodyPr wrap="square" lIns="72000" rIns="72000">
            <a:spAutoFit/>
          </a:bodyPr>
          <a:lstStyle/>
          <a:p>
            <a:pPr marL="0" indent="0" algn="ctr" fontAlgn="auto">
              <a:lnSpc>
                <a:spcPct val="150000"/>
              </a:lnSpc>
              <a:spcBef>
                <a:spcPts val="0"/>
              </a:spcBef>
              <a:spcAft>
                <a:spcPts val="0"/>
              </a:spcAft>
              <a:buFont typeface="Wingdings" panose="05000000000000000000" charset="0"/>
              <a:buNone/>
              <a:defRPr/>
            </a:pPr>
            <a:r>
              <a:rPr lang="en-US" sz="1400" b="1" dirty="0">
                <a:solidFill>
                  <a:schemeClr val="tx1">
                    <a:lumMod val="75000"/>
                    <a:lumOff val="25000"/>
                  </a:schemeClr>
                </a:solidFill>
                <a:latin typeface="宋体" panose="02010600030101010101" pitchFamily="2" charset="-122"/>
                <a:sym typeface="+mn-ea"/>
              </a:rPr>
              <a:t>图7.1.1 </a:t>
            </a:r>
            <a:r>
              <a:rPr lang="en-US" sz="1400" b="1" dirty="0" err="1">
                <a:solidFill>
                  <a:schemeClr val="tx1">
                    <a:lumMod val="75000"/>
                    <a:lumOff val="25000"/>
                  </a:schemeClr>
                </a:solidFill>
                <a:latin typeface="宋体" panose="02010600030101010101" pitchFamily="2" charset="-122"/>
                <a:sym typeface="+mn-ea"/>
              </a:rPr>
              <a:t>存储器模型</a:t>
            </a:r>
            <a:endParaRPr lang="en-US" sz="1400" b="1" dirty="0">
              <a:solidFill>
                <a:schemeClr val="tx1">
                  <a:lumMod val="75000"/>
                  <a:lumOff val="25000"/>
                </a:schemeClr>
              </a:solidFill>
              <a:latin typeface="宋体" panose="02010600030101010101" pitchFamily="2" charset="-122"/>
              <a:sym typeface="+mn-ea"/>
            </a:endParaRPr>
          </a:p>
        </p:txBody>
      </p:sp>
    </p:spTree>
    <p:extLst>
      <p:ext uri="{BB962C8B-B14F-4D97-AF65-F5344CB8AC3E}">
        <p14:creationId xmlns:p14="http://schemas.microsoft.com/office/powerpoint/2010/main" val="20769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48689" y="1513840"/>
            <a:ext cx="7944101" cy="4247317"/>
          </a:xfrm>
          <a:prstGeom prst="rect">
            <a:avLst/>
          </a:prstGeom>
          <a:noFill/>
        </p:spPr>
        <p:txBody>
          <a:bodyPr wrap="square" lIns="72000" rIns="72000">
            <a:spAutoFit/>
          </a:bodyPr>
          <a:lstStyle/>
          <a:p>
            <a:pPr marL="0" indent="0" fontAlgn="auto">
              <a:lnSpc>
                <a:spcPct val="150000"/>
              </a:lnSpc>
              <a:spcBef>
                <a:spcPts val="0"/>
              </a:spcBef>
              <a:spcAft>
                <a:spcPts val="0"/>
              </a:spcAft>
              <a:buFont typeface="Wingdings" panose="05000000000000000000" charset="0"/>
              <a:buNone/>
              <a:defRPr/>
            </a:pPr>
            <a:r>
              <a:rPr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MARS（the</a:t>
            </a:r>
            <a:r>
              <a:rPr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Mips</a:t>
            </a:r>
            <a:r>
              <a:rPr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 Assembly and Runtime Simulator</a:t>
            </a:r>
            <a:r>
              <a:rPr sz="2000" b="1" dirty="0" smtClean="0">
                <a:solidFill>
                  <a:schemeClr val="tx1">
                    <a:lumMod val="75000"/>
                    <a:lumOff val="25000"/>
                  </a:schemeClr>
                </a:solidFill>
                <a:latin typeface="微软雅黑" panose="020B0503020204020204" pitchFamily="34" charset="-122"/>
                <a:ea typeface="微软雅黑" panose="020B0503020204020204" pitchFamily="34" charset="-122"/>
                <a:sym typeface="+mn-ea"/>
              </a:rPr>
              <a:t>）</a:t>
            </a:r>
            <a:endParaRPr lang="en-US" sz="2000" b="1" dirty="0" smtClean="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342900" indent="-342900" fontAlgn="auto">
              <a:lnSpc>
                <a:spcPct val="150000"/>
              </a:lnSpc>
              <a:spcBef>
                <a:spcPts val="0"/>
              </a:spcBef>
              <a:spcAft>
                <a:spcPts val="0"/>
              </a:spcAft>
              <a:buFont typeface="Wingdings" panose="05000000000000000000" pitchFamily="2" charset="2"/>
              <a:buChar char="l"/>
              <a:defRPr/>
            </a:pPr>
            <a:r>
              <a:rPr sz="2000" b="1" dirty="0" err="1" smtClean="0">
                <a:solidFill>
                  <a:schemeClr val="tx1">
                    <a:lumMod val="75000"/>
                    <a:lumOff val="25000"/>
                  </a:schemeClr>
                </a:solidFill>
                <a:latin typeface="微软雅黑" panose="020B0503020204020204" pitchFamily="34" charset="-122"/>
                <a:ea typeface="微软雅黑" panose="020B0503020204020204" pitchFamily="34" charset="-122"/>
              </a:rPr>
              <a:t>Mips</a:t>
            </a:r>
            <a:r>
              <a:rPr sz="2000" b="1" dirty="0" smtClean="0">
                <a:solidFill>
                  <a:schemeClr val="tx1">
                    <a:lumMod val="75000"/>
                    <a:lumOff val="25000"/>
                  </a:schemeClr>
                </a:solidFill>
                <a:latin typeface="微软雅黑" panose="020B0503020204020204" pitchFamily="34" charset="-122"/>
                <a:ea typeface="微软雅黑" panose="020B0503020204020204" pitchFamily="34" charset="-122"/>
              </a:rPr>
              <a:t>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汇编程序运行模拟器，可以通过命令行和集成开发环境两种途径运行。该软件主要用于模拟真实</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Mips</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处理器，运行</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Mips汇编程序。用户通过查看运行结果检验汇编程序的正确性</a:t>
            </a:r>
            <a:r>
              <a:rPr sz="2000" b="1"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sz="20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defRPr/>
            </a:pPr>
            <a:endParaRPr lang="en-US" sz="20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pitchFamily="2" charset="2"/>
              <a:buChar char="l"/>
              <a:defRPr/>
            </a:pPr>
            <a:r>
              <a:rPr sz="2000" b="1" dirty="0" err="1" smtClean="0">
                <a:solidFill>
                  <a:schemeClr val="tx1">
                    <a:lumMod val="75000"/>
                    <a:lumOff val="25000"/>
                  </a:schemeClr>
                </a:solidFill>
                <a:latin typeface="微软雅黑" panose="020B0503020204020204" pitchFamily="34" charset="-122"/>
                <a:ea typeface="微软雅黑" panose="020B0503020204020204" pitchFamily="34" charset="-122"/>
              </a:rPr>
              <a:t>软件运行需要</a:t>
            </a:r>
            <a:r>
              <a:rPr sz="2000" b="1" dirty="0" smtClean="0">
                <a:solidFill>
                  <a:schemeClr val="tx1">
                    <a:lumMod val="75000"/>
                    <a:lumOff val="25000"/>
                  </a:schemeClr>
                </a:solidFill>
                <a:latin typeface="微软雅黑" panose="020B0503020204020204" pitchFamily="34" charset="-122"/>
                <a:ea typeface="微软雅黑" panose="020B0503020204020204" pitchFamily="34" charset="-122"/>
              </a:rPr>
              <a:t> </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java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运行环境。在</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MARS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的集成开发环境中，用户可以编辑或导入</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Mips</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汇编程序，汇编并运行或调试程序。用户可以设置、移除断点，并向前、向后分步执行，或者在运行过程中修改寄存器和内存内容</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266" name="标题 7265"/>
          <p:cNvSpPr>
            <a:spLocks noGrp="1"/>
          </p:cNvSpPr>
          <p:nvPr>
            <p:ph type="title"/>
          </p:nvPr>
        </p:nvSpPr>
        <p:spPr/>
        <p:txBody>
          <a:bodyPr/>
          <a:lstStyle/>
          <a:p>
            <a:pPr algn="l"/>
            <a:r>
              <a:rPr b="1"/>
              <a:t>7.1.5 Mars汇编器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054407" y="1353178"/>
            <a:ext cx="7647466" cy="493903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用户界面</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菜单和工具栏：最常用的工具，包括新建、导入文件，汇编，执行，单步等，把鼠标箭头移到按钮上会有提示</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编辑窗口：编辑</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Mips</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汇编代码</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执行窗口：汇编之后进入运行状态，执行窗口会有信息。该窗口包括三部分：代码段（显示要运行的代码，包括汇编和二进制形式以及地址</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数据段（显示用到的数据在内存中的值）和标签栏（显示跳转的标签地址</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代码段：显示要运行的代码，包括汇编和二进制形式以及地址</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数据段：显示用到的数据在内存中的值</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标签栏：显示跳转的标签地址</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消息区域：执行反馈，包括程序结果和错误信息等</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MIPS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寄存器：显示</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Mips</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处理器</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32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个通用寄存器以及</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PC 的值。如图7.1.</a:t>
            </a:r>
            <a:r>
              <a:rPr lang="en-US" sz="1600" b="1" dirty="0">
                <a:solidFill>
                  <a:schemeClr val="tx1">
                    <a:lumMod val="75000"/>
                    <a:lumOff val="25000"/>
                  </a:schemeClr>
                </a:solidFill>
                <a:latin typeface="微软雅黑" panose="020B0503020204020204" pitchFamily="34" charset="-122"/>
                <a:ea typeface="微软雅黑" panose="020B0503020204020204" pitchFamily="34" charset="-122"/>
              </a:rPr>
              <a:t>3</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所示。</a:t>
            </a:r>
          </a:p>
        </p:txBody>
      </p:sp>
      <p:sp>
        <p:nvSpPr>
          <p:cNvPr id="7266" name="标题 7265"/>
          <p:cNvSpPr>
            <a:spLocks noGrp="1"/>
          </p:cNvSpPr>
          <p:nvPr>
            <p:ph type="title"/>
          </p:nvPr>
        </p:nvSpPr>
        <p:spPr/>
        <p:txBody>
          <a:bodyPr/>
          <a:lstStyle/>
          <a:p>
            <a:pPr algn="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r>
              <a:rPr lang="zh-CN" altLang="en-US">
                <a:sym typeface="Wingdings" panose="05000000000000000000" pitchFamily="2" charset="2"/>
              </a:rPr>
              <a:t>请在这里输入</a:t>
            </a:r>
            <a:r>
              <a:rPr lang="zh-CN" altLang="en-US" smtClean="0">
                <a:sym typeface="Wingdings" panose="05000000000000000000" pitchFamily="2" charset="2"/>
              </a:rPr>
              <a:t>标题</a:t>
            </a:r>
            <a:endParaRPr lang="zh-CN" altLang="en-US"/>
          </a:p>
        </p:txBody>
      </p:sp>
      <p:pic>
        <p:nvPicPr>
          <p:cNvPr id="2" name="图片 1"/>
          <p:cNvPicPr>
            <a:picLocks noChangeAspect="1"/>
          </p:cNvPicPr>
          <p:nvPr/>
        </p:nvPicPr>
        <p:blipFill>
          <a:blip r:embed="rId3"/>
          <a:stretch>
            <a:fillRect/>
          </a:stretch>
        </p:blipFill>
        <p:spPr>
          <a:xfrm>
            <a:off x="1078930" y="1479479"/>
            <a:ext cx="7623424" cy="4645081"/>
          </a:xfrm>
          <a:prstGeom prst="rect">
            <a:avLst/>
          </a:prstGeom>
        </p:spPr>
      </p:pic>
      <p:sp>
        <p:nvSpPr>
          <p:cNvPr id="4" name="文本框 3"/>
          <p:cNvSpPr txBox="1"/>
          <p:nvPr/>
        </p:nvSpPr>
        <p:spPr>
          <a:xfrm>
            <a:off x="3754120" y="6011545"/>
            <a:ext cx="1979930" cy="414020"/>
          </a:xfrm>
          <a:prstGeom prst="rect">
            <a:avLst/>
          </a:prstGeom>
          <a:noFill/>
        </p:spPr>
        <p:txBody>
          <a:bodyPr wrap="none" rtlCol="0">
            <a:spAutoFit/>
          </a:bodyPr>
          <a:lstStyle/>
          <a:p>
            <a:pPr algn="l" fontAlgn="auto">
              <a:lnSpc>
                <a:spcPct val="150000"/>
              </a:lnSpc>
              <a:spcBef>
                <a:spcPts val="0"/>
              </a:spcBef>
              <a:spcAft>
                <a:spcPts val="0"/>
              </a:spcAft>
              <a:defRPr/>
            </a:pPr>
            <a:r>
              <a:rPr lang="zh-CN" altLang="en-US" sz="1400" b="1" dirty="0">
                <a:solidFill>
                  <a:schemeClr val="tx1"/>
                </a:solidFill>
                <a:latin typeface="宋体" panose="02010600030101010101" pitchFamily="2" charset="-122"/>
                <a:sym typeface="+mn-ea"/>
              </a:rPr>
              <a:t>图7.1.</a:t>
            </a:r>
            <a:r>
              <a:rPr lang="en-US" altLang="zh-CN" sz="1400" b="1" dirty="0">
                <a:solidFill>
                  <a:schemeClr val="tx1"/>
                </a:solidFill>
                <a:latin typeface="宋体" panose="02010600030101010101" pitchFamily="2" charset="-122"/>
                <a:sym typeface="+mn-ea"/>
              </a:rPr>
              <a:t>4</a:t>
            </a:r>
            <a:r>
              <a:rPr lang="zh-CN" altLang="en-US" sz="1400" b="1" dirty="0">
                <a:solidFill>
                  <a:schemeClr val="tx1"/>
                </a:solidFill>
                <a:latin typeface="宋体" panose="02010600030101010101" pitchFamily="2" charset="-122"/>
                <a:sym typeface="+mn-ea"/>
              </a:rPr>
              <a:t> MARS用户界面</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592060" cy="456946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基本使用</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导入汇编程序：File</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-&gt;</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Open，找到汇编程序，打开。或者</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File-&gt;</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New，在编辑窗口编辑汇编代码</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汇编：Run</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-&gt;</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Assemble，如果代码有错，在信息窗口会有提示，根据提示修改代码。否则正常进入执行窗口</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完整运行：Run</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-&gt;Go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或者</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F5</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分步运行：Run</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-&gt;Step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或者</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F7</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设置断点：在代码段最左侧的复选框中打钩设置断点。当程序运行到断点会自动停止。取消打钩就取消断点</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检验结果：可通过三种途径检查程序的正确性。一是看寄存器状态，查看寄存器中的值是否跟预想的一致；二是看内存值，看程序是否影响了特定的内存地址；三是程序的文本输出，在消息窗口中看，如图7.1.</a:t>
            </a:r>
            <a:r>
              <a:rPr lang="en-US" sz="1600" b="1" dirty="0">
                <a:solidFill>
                  <a:schemeClr val="tx1">
                    <a:lumMod val="75000"/>
                    <a:lumOff val="25000"/>
                  </a:schemeClr>
                </a:solidFill>
                <a:latin typeface="微软雅黑" panose="020B0503020204020204" pitchFamily="34" charset="-122"/>
                <a:ea typeface="微软雅黑" panose="020B0503020204020204" pitchFamily="34" charset="-122"/>
              </a:rPr>
              <a:t>4</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所示。</a:t>
            </a:r>
          </a:p>
        </p:txBody>
      </p:sp>
      <p:sp>
        <p:nvSpPr>
          <p:cNvPr id="7266" name="标题 7265"/>
          <p:cNvSpPr>
            <a:spLocks noGrp="1"/>
          </p:cNvSpPr>
          <p:nvPr>
            <p:ph type="title"/>
          </p:nvPr>
        </p:nvSpPr>
        <p:spPr/>
        <p:txBody>
          <a:bodyPr/>
          <a:lstStyle/>
          <a:p>
            <a:pPr algn="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r>
              <a:rPr lang="zh-CN" altLang="en-US">
                <a:sym typeface="Wingdings" panose="05000000000000000000" pitchFamily="2" charset="2"/>
              </a:rPr>
              <a:t>请在这里输入</a:t>
            </a:r>
            <a:r>
              <a:rPr lang="zh-CN" altLang="en-US" smtClean="0">
                <a:sym typeface="Wingdings" panose="05000000000000000000" pitchFamily="2" charset="2"/>
              </a:rPr>
              <a:t>标题</a:t>
            </a:r>
            <a:endParaRPr lang="zh-CN" altLang="en-US"/>
          </a:p>
        </p:txBody>
      </p:sp>
      <p:sp>
        <p:nvSpPr>
          <p:cNvPr id="4" name="文本框 3"/>
          <p:cNvSpPr txBox="1"/>
          <p:nvPr/>
        </p:nvSpPr>
        <p:spPr>
          <a:xfrm>
            <a:off x="3591560" y="5205730"/>
            <a:ext cx="1979930" cy="414020"/>
          </a:xfrm>
          <a:prstGeom prst="rect">
            <a:avLst/>
          </a:prstGeom>
          <a:noFill/>
        </p:spPr>
        <p:txBody>
          <a:bodyPr wrap="none" rtlCol="0">
            <a:spAutoFit/>
          </a:bodyPr>
          <a:lstStyle/>
          <a:p>
            <a:pPr algn="l" fontAlgn="auto">
              <a:lnSpc>
                <a:spcPct val="150000"/>
              </a:lnSpc>
              <a:spcBef>
                <a:spcPts val="0"/>
              </a:spcBef>
              <a:spcAft>
                <a:spcPts val="0"/>
              </a:spcAft>
              <a:defRPr/>
            </a:pPr>
            <a:r>
              <a:rPr lang="zh-CN" altLang="en-US" sz="1400" b="1" dirty="0">
                <a:solidFill>
                  <a:schemeClr val="tx1"/>
                </a:solidFill>
                <a:latin typeface="宋体" panose="02010600030101010101" pitchFamily="2" charset="-122"/>
                <a:sym typeface="+mn-ea"/>
              </a:rPr>
              <a:t>图7.1.5 MARS信息窗口</a:t>
            </a:r>
          </a:p>
        </p:txBody>
      </p:sp>
      <p:pic>
        <p:nvPicPr>
          <p:cNvPr id="6"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9325" y="1582220"/>
            <a:ext cx="7245350" cy="3623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4" name="任意多边形 13"/>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任意多边形 14"/>
          <p:cNvSpPr/>
          <p:nvPr/>
        </p:nvSpPr>
        <p:spPr>
          <a:xfrm>
            <a:off x="0" y="337999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8" name="TextBox 8"/>
          <p:cNvSpPr txBox="1"/>
          <p:nvPr/>
        </p:nvSpPr>
        <p:spPr>
          <a:xfrm>
            <a:off x="6588842" y="5305300"/>
            <a:ext cx="2228139" cy="1200329"/>
          </a:xfrm>
          <a:prstGeom prst="rect">
            <a:avLst/>
          </a:prstGeom>
          <a:noFill/>
        </p:spPr>
        <p:txBody>
          <a:bodyPr wrap="square" rtlCol="0">
            <a:spAutoFit/>
          </a:bodyPr>
          <a:lstStyle/>
          <a:p>
            <a:pPr algn="r">
              <a:lnSpc>
                <a:spcPct val="120000"/>
              </a:lnSpc>
            </a:pPr>
            <a:r>
              <a:rPr lang="zh-CN" altLang="en-US" sz="3600" b="1" smtClean="0">
                <a:solidFill>
                  <a:srgbClr val="04619D"/>
                </a:solidFill>
                <a:latin typeface="Arial" panose="020B0604020202020204" pitchFamily="34" charset="0"/>
                <a:ea typeface="微软雅黑" panose="020B0503020204020204" pitchFamily="34" charset="-122"/>
                <a:cs typeface="Arial" panose="020B0604020202020204" pitchFamily="34" charset="0"/>
              </a:rPr>
              <a:t>谢谢聆听</a:t>
            </a:r>
            <a:endParaRPr lang="en-US" altLang="zh-CN" sz="3600" b="1" dirty="0" smtClean="0">
              <a:solidFill>
                <a:srgbClr val="04619D"/>
              </a:solidFill>
              <a:latin typeface="Arial" panose="020B0604020202020204" pitchFamily="34" charset="0"/>
              <a:ea typeface="微软雅黑" panose="020B0503020204020204" pitchFamily="34" charset="-122"/>
              <a:cs typeface="Arial" panose="020B0604020202020204" pitchFamily="34" charset="0"/>
            </a:endParaRPr>
          </a:p>
          <a:p>
            <a:pPr algn="r">
              <a:lnSpc>
                <a:spcPct val="120000"/>
              </a:lnSpc>
            </a:pPr>
            <a:r>
              <a:rPr lang="en-US" altLang="zh-CN" smtClean="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rPr>
              <a:t>Thank You</a:t>
            </a:r>
            <a:endParaRPr lang="zh-CN" altLang="en-US"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r="69975"/>
          <a:stretch>
            <a:fillRect/>
          </a:stretch>
        </p:blipFill>
        <p:spPr>
          <a:xfrm>
            <a:off x="352949" y="5516842"/>
            <a:ext cx="865985" cy="8696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默认设计模板">
  <a:themeElements>
    <a:clrScheme name="自定义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noFill/>
          <a:prstDash val="solid"/>
          <a:round/>
          <a:headEnd type="none" w="med" len="med"/>
          <a:tailEnd type="none" w="med" len="med"/>
        </a:ln>
      </a:spPr>
      <a:bodyPr vert="horz" wrap="square" lIns="91440" tIns="45720" rIns="91440" bIns="45720" numCol="1" rtlCol="0"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sz="1800" b="0" i="0" u="none" strike="noStrike" cap="none" normalizeH="0" baseline="0" dirty="0" smtClean="0">
            <a:ln>
              <a:noFill/>
            </a:ln>
            <a:solidFill>
              <a:schemeClr val="tx2"/>
            </a:solidFill>
            <a:effectLst/>
            <a:latin typeface="微软雅黑" panose="020B0503020204020204" pitchFamily="34" charset="-122"/>
            <a:ea typeface="微软雅黑" panose="020B0503020204020204" pitchFamily="34"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2"/>
            </a:solidFill>
            <a:effectLst/>
            <a:latin typeface="Arial" panose="020B0604020202020204" pitchFamily="34" charset="0"/>
            <a:ea typeface="宋体" panose="02010600030101010101" pitchFamily="2" charset="-122"/>
          </a:defRPr>
        </a:defPPr>
      </a:lstStyle>
    </a:lnDef>
    <a:txDef>
      <a:spPr>
        <a:noFill/>
      </a:spPr>
      <a:bodyPr wrap="square" rtlCol="0">
        <a:noAutofit/>
      </a:bodyPr>
      <a:lstStyle>
        <a:defPPr algn="l">
          <a:defRPr sz="1800" dirty="0">
            <a:latin typeface="微软雅黑" panose="020B0503020204020204" pitchFamily="34" charset="-122"/>
            <a:ea typeface="微软雅黑" panose="020B0503020204020204" pitchFamily="34" charset="-122"/>
          </a:defRPr>
        </a:defPPr>
      </a:lstStyle>
    </a:tx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1207</TotalTime>
  <Words>968</Words>
  <Application>Microsoft Office PowerPoint</Application>
  <PresentationFormat>全屏显示(4:3)</PresentationFormat>
  <Paragraphs>130</Paragraphs>
  <Slides>13</Slides>
  <Notes>11</Notes>
  <HiddenSlides>0</HiddenSlides>
  <MMClips>0</MMClips>
  <ScaleCrop>false</ScaleCrop>
  <HeadingPairs>
    <vt:vector size="4" baseType="variant">
      <vt:variant>
        <vt:lpstr>主题</vt:lpstr>
      </vt:variant>
      <vt:variant>
        <vt:i4>1</vt:i4>
      </vt:variant>
      <vt:variant>
        <vt:lpstr>幻灯片标题</vt:lpstr>
      </vt:variant>
      <vt:variant>
        <vt:i4>13</vt:i4>
      </vt:variant>
    </vt:vector>
  </HeadingPairs>
  <TitlesOfParts>
    <vt:vector size="14" baseType="lpstr">
      <vt:lpstr>默认设计模板</vt:lpstr>
      <vt:lpstr>7.1 MIPS CPU概述</vt:lpstr>
      <vt:lpstr>PowerPoint 演示文稿</vt:lpstr>
      <vt:lpstr>7.1.1 概述</vt:lpstr>
      <vt:lpstr>7.1.2 基本架构及编程模型</vt:lpstr>
      <vt:lpstr>PowerPoint 演示文稿</vt:lpstr>
      <vt:lpstr>7.1.2 基本架构及编程模型</vt:lpstr>
      <vt:lpstr>7.1.2 基本架构及编程模型</vt:lpstr>
      <vt:lpstr>7.1.5 Mars汇编器</vt:lpstr>
      <vt:lpstr>PowerPoint 演示文稿</vt:lpstr>
      <vt:lpstr>请在这里输入标题</vt:lpstr>
      <vt:lpstr>PowerPoint 演示文稿</vt:lpstr>
      <vt:lpstr>请在这里输入标题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PPTfans网设计</dc:title>
  <dc:creator>林辉强</dc:creator>
  <cp:keywords>www.pptfans.cn</cp:keywords>
  <cp:lastModifiedBy>ddzhang</cp:lastModifiedBy>
  <cp:revision>1695</cp:revision>
  <cp:lastPrinted>2113-01-01T00:00:00Z</cp:lastPrinted>
  <dcterms:created xsi:type="dcterms:W3CDTF">2113-01-01T00:00:00Z</dcterms:created>
  <dcterms:modified xsi:type="dcterms:W3CDTF">2018-03-06T09:49:45Z</dcterms:modified>
  <cp:category>ppt模板设计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2052-10.1.0.7106</vt:lpwstr>
  </property>
</Properties>
</file>
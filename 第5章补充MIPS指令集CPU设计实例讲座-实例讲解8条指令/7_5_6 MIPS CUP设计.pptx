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71"/>
  </p:notesMasterIdLst>
  <p:handoutMasterIdLst>
    <p:handoutMasterId r:id="rId72"/>
  </p:handoutMasterIdLst>
  <p:sldIdLst>
    <p:sldId id="735" r:id="rId2"/>
    <p:sldId id="736" r:id="rId3"/>
    <p:sldId id="740" r:id="rId4"/>
    <p:sldId id="720" r:id="rId5"/>
    <p:sldId id="750" r:id="rId6"/>
    <p:sldId id="751" r:id="rId7"/>
    <p:sldId id="753" r:id="rId8"/>
    <p:sldId id="752" r:id="rId9"/>
    <p:sldId id="754" r:id="rId10"/>
    <p:sldId id="755" r:id="rId11"/>
    <p:sldId id="756" r:id="rId12"/>
    <p:sldId id="757" r:id="rId13"/>
    <p:sldId id="758" r:id="rId14"/>
    <p:sldId id="759" r:id="rId15"/>
    <p:sldId id="761" r:id="rId16"/>
    <p:sldId id="760" r:id="rId17"/>
    <p:sldId id="762" r:id="rId18"/>
    <p:sldId id="763" r:id="rId19"/>
    <p:sldId id="764" r:id="rId20"/>
    <p:sldId id="765" r:id="rId21"/>
    <p:sldId id="766" r:id="rId22"/>
    <p:sldId id="767" r:id="rId23"/>
    <p:sldId id="769" r:id="rId24"/>
    <p:sldId id="768" r:id="rId25"/>
    <p:sldId id="770" r:id="rId26"/>
    <p:sldId id="771" r:id="rId27"/>
    <p:sldId id="772" r:id="rId28"/>
    <p:sldId id="773" r:id="rId29"/>
    <p:sldId id="774" r:id="rId30"/>
    <p:sldId id="775" r:id="rId31"/>
    <p:sldId id="776" r:id="rId32"/>
    <p:sldId id="777" r:id="rId33"/>
    <p:sldId id="778" r:id="rId34"/>
    <p:sldId id="779" r:id="rId35"/>
    <p:sldId id="781" r:id="rId36"/>
    <p:sldId id="780" r:id="rId37"/>
    <p:sldId id="782" r:id="rId38"/>
    <p:sldId id="783" r:id="rId39"/>
    <p:sldId id="784" r:id="rId40"/>
    <p:sldId id="785" r:id="rId41"/>
    <p:sldId id="786" r:id="rId42"/>
    <p:sldId id="787" r:id="rId43"/>
    <p:sldId id="788" r:id="rId44"/>
    <p:sldId id="789" r:id="rId45"/>
    <p:sldId id="791" r:id="rId46"/>
    <p:sldId id="790" r:id="rId47"/>
    <p:sldId id="792" r:id="rId48"/>
    <p:sldId id="793" r:id="rId49"/>
    <p:sldId id="794" r:id="rId50"/>
    <p:sldId id="795" r:id="rId51"/>
    <p:sldId id="796" r:id="rId52"/>
    <p:sldId id="797" r:id="rId53"/>
    <p:sldId id="822" r:id="rId54"/>
    <p:sldId id="798" r:id="rId55"/>
    <p:sldId id="799" r:id="rId56"/>
    <p:sldId id="823" r:id="rId57"/>
    <p:sldId id="801" r:id="rId58"/>
    <p:sldId id="800" r:id="rId59"/>
    <p:sldId id="802" r:id="rId60"/>
    <p:sldId id="812" r:id="rId61"/>
    <p:sldId id="813" r:id="rId62"/>
    <p:sldId id="814" r:id="rId63"/>
    <p:sldId id="815" r:id="rId64"/>
    <p:sldId id="816" r:id="rId65"/>
    <p:sldId id="817" r:id="rId66"/>
    <p:sldId id="818" r:id="rId67"/>
    <p:sldId id="819" r:id="rId68"/>
    <p:sldId id="820" r:id="rId69"/>
    <p:sldId id="737" r:id="rId70"/>
  </p:sldIdLst>
  <p:sldSz cx="9144000" cy="6858000" type="screen4x3"/>
  <p:notesSz cx="7099300" cy="10234613"/>
  <p:defaultTextStyle>
    <a:defPPr>
      <a:defRPr lang="zh-CN"/>
    </a:defPPr>
    <a:lvl1pPr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2"/>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2"/>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pos="228">
          <p15:clr>
            <a:srgbClr val="A4A3A4"/>
          </p15:clr>
        </p15:guide>
        <p15:guide id="2" pos="5472">
          <p15:clr>
            <a:srgbClr val="A4A3A4"/>
          </p15:clr>
        </p15:guide>
        <p15:guide id="3" orient="horz" pos="570">
          <p15:clr>
            <a:srgbClr val="A4A3A4"/>
          </p15:clr>
        </p15:guide>
      </p15:sldGuideLst>
    </p:ext>
    <p:ext uri="{2D200454-40CA-4A62-9FC3-DE9A4176ACB9}">
      <p15:notesGuideLst xmlns:p15="http://schemas.microsoft.com/office/powerpoint/2012/main">
        <p15:guide id="1" orient="horz" pos="3368">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4619D"/>
    <a:srgbClr val="DA2A22"/>
    <a:srgbClr val="15994D"/>
    <a:srgbClr val="342275"/>
    <a:srgbClr val="E67A1C"/>
    <a:srgbClr val="E57717"/>
    <a:srgbClr val="5891D6"/>
    <a:srgbClr val="72A2DC"/>
    <a:srgbClr val="EE9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0" autoAdjust="0"/>
    <p:restoredTop sz="96788" autoAdjust="0"/>
  </p:normalViewPr>
  <p:slideViewPr>
    <p:cSldViewPr snapToGrid="0" showGuides="1">
      <p:cViewPr varScale="1">
        <p:scale>
          <a:sx n="124" d="100"/>
          <a:sy n="124" d="100"/>
        </p:scale>
        <p:origin x="2373" y="51"/>
      </p:cViewPr>
      <p:guideLst>
        <p:guide pos="228"/>
        <p:guide pos="5472"/>
        <p:guide orient="horz" pos="5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howGuides="1">
      <p:cViewPr varScale="1">
        <p:scale>
          <a:sx n="74" d="100"/>
          <a:sy n="74" d="100"/>
        </p:scale>
        <p:origin x="-4026" y="-120"/>
      </p:cViewPr>
      <p:guideLst>
        <p:guide orient="horz" pos="3368"/>
        <p:guide pos="2236"/>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3" name="日期占位符 2"/>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a:defRPr sz="1300" smtClean="0">
                <a:latin typeface="Arial" panose="020B0604020202020204" pitchFamily="34" charset="0"/>
                <a:ea typeface="微软雅黑" panose="020B0503020204020204" pitchFamily="34" charset="-122"/>
              </a:defRPr>
            </a:lvl1pPr>
          </a:lstStyle>
          <a:p>
            <a:pPr>
              <a:defRPr/>
            </a:pPr>
            <a:fld id="{83A91915-E571-4570-80B3-E65B02A79A95}" type="datetimeFigureOut">
              <a:rPr lang="zh-CN" altLang="en-US"/>
              <a:t>2022/5/23</a:t>
            </a:fld>
            <a:endParaRPr lang="zh-CN" altLang="en-US" dirty="0"/>
          </a:p>
        </p:txBody>
      </p:sp>
      <p:sp>
        <p:nvSpPr>
          <p:cNvPr id="4" name="页脚占位符 3"/>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a:defRPr sz="1300" dirty="0">
                <a:latin typeface="Arial" panose="020B0604020202020204" pitchFamily="34" charset="0"/>
                <a:ea typeface="微软雅黑" panose="020B0503020204020204" pitchFamily="34" charset="-122"/>
              </a:defRPr>
            </a:lvl1pPr>
          </a:lstStyle>
          <a:p>
            <a:pPr>
              <a:defRPr/>
            </a:pPr>
            <a:endParaRPr lang="zh-CN" altLang="en-US"/>
          </a:p>
        </p:txBody>
      </p:sp>
      <p:sp>
        <p:nvSpPr>
          <p:cNvPr id="5" name="灯片编号占位符 4"/>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lstStyle>
            <a:lvl1pPr algn="r">
              <a:defRPr sz="1300">
                <a:ea typeface="微软雅黑" panose="020B0503020204020204" pitchFamily="34" charset="-122"/>
              </a:defRPr>
            </a:lvl1pPr>
          </a:lstStyle>
          <a:p>
            <a:fld id="{E0BB458E-555F-42C7-BDA8-CA9357AC47B4}"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6388"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dirty="0"/>
              <a:t>单击此处编辑母版文本样式</a:t>
            </a:r>
          </a:p>
          <a:p>
            <a:pPr lvl="1"/>
            <a:r>
              <a:rPr lang="zh-CN" altLang="en-US" noProof="0" dirty="0"/>
              <a:t>第二级</a:t>
            </a:r>
          </a:p>
          <a:p>
            <a:pPr lvl="2"/>
            <a:r>
              <a:rPr lang="zh-CN" altLang="en-US" noProof="0" dirty="0"/>
              <a:t>第三级</a:t>
            </a:r>
          </a:p>
          <a:p>
            <a:pPr lvl="3"/>
            <a:r>
              <a:rPr lang="zh-CN" altLang="en-US" noProof="0" dirty="0"/>
              <a:t>第四级</a:t>
            </a:r>
          </a:p>
          <a:p>
            <a:pPr lvl="4"/>
            <a:r>
              <a:rPr lang="zh-CN" altLang="en-US" noProof="0" dirty="0"/>
              <a:t>第五级</a:t>
            </a:r>
          </a:p>
        </p:txBody>
      </p:sp>
      <p:sp>
        <p:nvSpPr>
          <p:cNvPr id="1024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algn="l">
              <a:defRPr sz="1300" dirty="0">
                <a:solidFill>
                  <a:schemeClr val="tx1"/>
                </a:solidFill>
                <a:latin typeface="Arial" panose="020B0604020202020204" pitchFamily="34" charset="0"/>
                <a:ea typeface="微软雅黑" panose="020B0503020204020204" pitchFamily="34" charset="-122"/>
              </a:defRPr>
            </a:lvl1pPr>
          </a:lstStyle>
          <a:p>
            <a:pPr>
              <a:defRPr/>
            </a:pPr>
            <a:endParaRPr lang="en-US" altLang="zh-CN"/>
          </a:p>
        </p:txBody>
      </p:sp>
      <p:sp>
        <p:nvSpPr>
          <p:cNvPr id="1024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a:defRPr sz="1300">
                <a:solidFill>
                  <a:schemeClr val="tx1"/>
                </a:solidFill>
                <a:ea typeface="微软雅黑" panose="020B0503020204020204" pitchFamily="34" charset="-122"/>
              </a:defRPr>
            </a:lvl1pPr>
          </a:lstStyle>
          <a:p>
            <a:fld id="{0B48A77E-79FB-4BFF-B1F0-CFD29F30865E}"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B48A77E-79FB-4BFF-B1F0-CFD29F30865E}"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19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28</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29</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30</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31</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32</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33</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34</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35</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36</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fld id="{419592D1-04C7-4D6D-ABC4-83651DEF2C1B}" type="slidenum">
              <a:rPr lang="en-US" altLang="zh-CN" sz="1300">
                <a:solidFill>
                  <a:schemeClr val="tx1"/>
                </a:solidFill>
                <a:ea typeface="微软雅黑" panose="020B0503020204020204" pitchFamily="34" charset="-122"/>
              </a:rPr>
              <a:t>37</a:t>
            </a:fld>
            <a:endParaRPr lang="en-US" altLang="zh-CN" sz="1300">
              <a:solidFill>
                <a:schemeClr val="tx1"/>
              </a:solidFill>
              <a:ea typeface="微软雅黑" panose="020B0503020204020204" pitchFamily="34"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Arial" panose="020B0604020202020204" pitchFamily="34" charset="0"/>
              </a:rPr>
              <a:t>引导学员思考经销商管理的方面，注重框架性思维的培训</a:t>
            </a:r>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4" name="组合 3"/>
          <p:cNvGrpSpPr/>
          <p:nvPr userDrawn="1"/>
        </p:nvGrpSpPr>
        <p:grpSpPr>
          <a:xfrm>
            <a:off x="0" y="6126486"/>
            <a:ext cx="9143999" cy="731514"/>
            <a:chOff x="1" y="2947547"/>
            <a:chExt cx="9143999" cy="2827685"/>
          </a:xfrm>
        </p:grpSpPr>
        <p:sp>
          <p:nvSpPr>
            <p:cNvPr id="5" name="任意多边形 4"/>
            <p:cNvSpPr/>
            <p:nvPr/>
          </p:nvSpPr>
          <p:spPr>
            <a:xfrm>
              <a:off x="1" y="2947547"/>
              <a:ext cx="9143999" cy="229735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6" name="任意多边形 5"/>
            <p:cNvSpPr/>
            <p:nvPr/>
          </p:nvSpPr>
          <p:spPr>
            <a:xfrm>
              <a:off x="1" y="3559995"/>
              <a:ext cx="9143999" cy="2215237"/>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26000">
                  <a:schemeClr val="bg1"/>
                </a:gs>
                <a:gs pos="100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grpSp>
        <p:nvGrpSpPr>
          <p:cNvPr id="7" name="组合 6"/>
          <p:cNvGrpSpPr/>
          <p:nvPr userDrawn="1"/>
        </p:nvGrpSpPr>
        <p:grpSpPr>
          <a:xfrm rot="10800000">
            <a:off x="-7" y="-1"/>
            <a:ext cx="9144001" cy="1882013"/>
            <a:chOff x="1" y="2994858"/>
            <a:chExt cx="9144001" cy="3162457"/>
          </a:xfrm>
        </p:grpSpPr>
        <p:sp>
          <p:nvSpPr>
            <p:cNvPr id="8" name="任意多边形 7"/>
            <p:cNvSpPr/>
            <p:nvPr/>
          </p:nvSpPr>
          <p:spPr>
            <a:xfrm>
              <a:off x="1" y="2994858"/>
              <a:ext cx="9143999" cy="2154016"/>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9" name="任意多边形 8"/>
            <p:cNvSpPr/>
            <p:nvPr/>
          </p:nvSpPr>
          <p:spPr>
            <a:xfrm>
              <a:off x="3" y="3474503"/>
              <a:ext cx="9143999" cy="2682812"/>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73000"/>
                    <a:lumOff val="27000"/>
                  </a:srgbClr>
                </a:gs>
                <a:gs pos="81000">
                  <a:srgbClr val="DFDFDF">
                    <a:lumMod val="52000"/>
                    <a:lumOff val="4800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grpSp>
      <p:sp>
        <p:nvSpPr>
          <p:cNvPr id="10" name="矩形 9"/>
          <p:cNvSpPr/>
          <p:nvPr userDrawn="1"/>
        </p:nvSpPr>
        <p:spPr>
          <a:xfrm>
            <a:off x="7389087" y="6511210"/>
            <a:ext cx="1205865" cy="213995"/>
          </a:xfrm>
          <a:prstGeom prst="rect">
            <a:avLst/>
          </a:prstGeom>
        </p:spPr>
        <p:txBody>
          <a:bodyPr wrap="none">
            <a:spAutoFit/>
          </a:bodyPr>
          <a:lstStyle/>
          <a:p>
            <a:pPr algn="r"/>
            <a:r>
              <a:rPr lang="en-US" altLang="zh-CN" sz="800" kern="100">
                <a:solidFill>
                  <a:schemeClr val="tx1">
                    <a:lumMod val="50000"/>
                    <a:lumOff val="50000"/>
                  </a:schemeClr>
                </a:solidFill>
                <a:latin typeface="微软雅黑" panose="020B0503020204020204" pitchFamily="34" charset="-122"/>
                <a:ea typeface="微软雅黑" panose="020B0503020204020204" pitchFamily="34" charset="-122"/>
              </a:rPr>
              <a:t>MIPS CPU </a:t>
            </a:r>
            <a:r>
              <a:rPr lang="zh-CN" altLang="en-US" sz="800" kern="100">
                <a:solidFill>
                  <a:schemeClr val="tx1">
                    <a:lumMod val="50000"/>
                    <a:lumOff val="50000"/>
                  </a:schemeClr>
                </a:solidFill>
                <a:latin typeface="微软雅黑" panose="020B0503020204020204" pitchFamily="34" charset="-122"/>
                <a:ea typeface="微软雅黑" panose="020B0503020204020204" pitchFamily="34" charset="-122"/>
              </a:rPr>
              <a:t>基础与设计</a:t>
            </a:r>
          </a:p>
        </p:txBody>
      </p:sp>
      <p:sp>
        <p:nvSpPr>
          <p:cNvPr id="11" name="文本框 10"/>
          <p:cNvSpPr txBox="1"/>
          <p:nvPr userDrawn="1"/>
        </p:nvSpPr>
        <p:spPr>
          <a:xfrm>
            <a:off x="8703044" y="6511211"/>
            <a:ext cx="211221" cy="215442"/>
          </a:xfrm>
          <a:prstGeom prst="rect">
            <a:avLst/>
          </a:prstGeom>
          <a:noFill/>
          <a:ln>
            <a:solidFill>
              <a:schemeClr val="bg1">
                <a:lumMod val="75000"/>
              </a:schemeClr>
            </a:solidFill>
          </a:ln>
        </p:spPr>
        <p:txBody>
          <a:bodyPr wrap="none" lIns="72000" tIns="72000" rIns="72000" bIns="72000" rtlCol="0" anchor="ctr">
            <a:noAutofit/>
          </a:bodyPr>
          <a:lstStyle/>
          <a:p>
            <a:pPr algn="ctr"/>
            <a:fld id="{CE5B7511-CC96-41DE-A965-D9C44FD5C89D}" type="slidenum">
              <a:rPr lang="zh-CN" altLang="en-US" sz="800" b="1" smtClean="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rPr>
              <a:t>‹#›</a:t>
            </a:fld>
            <a:endParaRPr lang="zh-CN" altLang="en-US" sz="800" b="1" dirty="0">
              <a:solidFill>
                <a:schemeClr val="tx1">
                  <a:lumMod val="50000"/>
                  <a:lumOff val="50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矩形 12"/>
          <p:cNvSpPr/>
          <p:nvPr userDrawn="1"/>
        </p:nvSpPr>
        <p:spPr>
          <a:xfrm>
            <a:off x="453759" y="6511210"/>
            <a:ext cx="1412240" cy="213995"/>
          </a:xfrm>
          <a:prstGeom prst="rect">
            <a:avLst/>
          </a:prstGeom>
        </p:spPr>
        <p:txBody>
          <a:bodyPr wrap="none" lIns="0">
            <a:spAutoFit/>
          </a:bodyPr>
          <a:lstStyle/>
          <a:p>
            <a:r>
              <a:rPr lang="zh-CN" altLang="en-US" sz="800" b="1" kern="100">
                <a:solidFill>
                  <a:schemeClr val="tx1">
                    <a:lumMod val="50000"/>
                    <a:lumOff val="50000"/>
                  </a:schemeClr>
                </a:solidFill>
                <a:latin typeface="微软雅黑" panose="020B0503020204020204" pitchFamily="34" charset="-122"/>
                <a:ea typeface="微软雅黑" panose="020B0503020204020204" pitchFamily="34" charset="-122"/>
              </a:rPr>
              <a:t>同济大学电子与信息工程学院</a:t>
            </a:r>
          </a:p>
        </p:txBody>
      </p:sp>
      <p:sp>
        <p:nvSpPr>
          <p:cNvPr id="2" name="标题 1"/>
          <p:cNvSpPr>
            <a:spLocks noGrp="1"/>
          </p:cNvSpPr>
          <p:nvPr>
            <p:ph type="title"/>
          </p:nvPr>
        </p:nvSpPr>
        <p:spPr>
          <a:xfrm>
            <a:off x="361950" y="371408"/>
            <a:ext cx="8229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2000" tIns="72000" rIns="0" bIns="72000"/>
          <a:lstStyle>
            <a:lvl1pPr algn="l" rtl="0" eaLnBrk="0" fontAlgn="base" hangingPunct="0">
              <a:spcBef>
                <a:spcPct val="0"/>
              </a:spcBef>
              <a:spcAft>
                <a:spcPct val="0"/>
              </a:spcAft>
              <a:defRPr lang="zh-CN" altLang="en-US" sz="2400" b="0" kern="120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stStyle>
          <a:p>
            <a:pPr lvl="0" algn="l"/>
            <a:r>
              <a:rPr lang="zh-CN" altLang="en-US"/>
              <a:t>单击此处编辑母版标题样式</a:t>
            </a:r>
          </a:p>
        </p:txBody>
      </p:sp>
      <p:pic>
        <p:nvPicPr>
          <p:cNvPr id="14" name="图片 13"/>
          <p:cNvPicPr>
            <a:picLocks noChangeAspect="1"/>
          </p:cNvPicPr>
          <p:nvPr userDrawn="1"/>
        </p:nvPicPr>
        <p:blipFill rotWithShape="1">
          <a:blip r:embed="rId2" cstate="print">
            <a:extLst>
              <a:ext uri="{28A0092B-C50C-407E-A947-70E740481C1C}">
                <a14:useLocalDpi xmlns:a14="http://schemas.microsoft.com/office/drawing/2010/main" val="0"/>
              </a:ext>
            </a:extLst>
          </a:blip>
          <a:srcRect r="69975"/>
          <a:stretch>
            <a:fillRect/>
          </a:stretch>
        </p:blipFill>
        <p:spPr>
          <a:xfrm>
            <a:off x="8041082" y="247834"/>
            <a:ext cx="865985" cy="86967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3">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矩形 1"/>
          <p:cNvSpPr>
            <a:spLocks noChangeArrowheads="1"/>
          </p:cNvSpPr>
          <p:nvPr userDrawn="1"/>
        </p:nvSpPr>
        <p:spPr bwMode="auto">
          <a:xfrm>
            <a:off x="-6324600" y="6096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eaLnBrk="1" hangingPunct="1"/>
            <a:endParaRPr lang="zh-CN" altLang="en-US">
              <a:ea typeface="微软雅黑" panose="020B0503020204020204" pitchFamily="34" charset="-122"/>
            </a:endParaRPr>
          </a:p>
        </p:txBody>
      </p:sp>
      <p:sp>
        <p:nvSpPr>
          <p:cNvPr id="1027" name="TextBox 3"/>
          <p:cNvSpPr txBox="1">
            <a:spLocks noChangeArrowheads="1"/>
          </p:cNvSpPr>
          <p:nvPr userDrawn="1"/>
        </p:nvSpPr>
        <p:spPr bwMode="auto">
          <a:xfrm>
            <a:off x="2081213" y="2679700"/>
            <a:ext cx="5502275"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eaLnBrk="0" hangingPunct="0">
              <a:defRPr sz="2400">
                <a:solidFill>
                  <a:schemeClr val="tx2"/>
                </a:solidFill>
                <a:latin typeface="Arial" panose="020B0604020202020204" pitchFamily="34" charset="0"/>
                <a:ea typeface="宋体" panose="02010600030101010101" pitchFamily="2" charset="-122"/>
              </a:defRPr>
            </a:lvl1pPr>
            <a:lvl2pPr marL="742950" indent="-285750" algn="r" eaLnBrk="0" hangingPunct="0">
              <a:defRPr sz="2400">
                <a:solidFill>
                  <a:schemeClr val="tx2"/>
                </a:solidFill>
                <a:latin typeface="Arial" panose="020B0604020202020204" pitchFamily="34" charset="0"/>
                <a:ea typeface="宋体" panose="02010600030101010101" pitchFamily="2" charset="-122"/>
              </a:defRPr>
            </a:lvl2pPr>
            <a:lvl3pPr marL="1143000" indent="-228600" algn="r" eaLnBrk="0" hangingPunct="0">
              <a:defRPr sz="2400">
                <a:solidFill>
                  <a:schemeClr val="tx2"/>
                </a:solidFill>
                <a:latin typeface="Arial" panose="020B0604020202020204" pitchFamily="34" charset="0"/>
                <a:ea typeface="宋体" panose="02010600030101010101" pitchFamily="2" charset="-122"/>
              </a:defRPr>
            </a:lvl3pPr>
            <a:lvl4pPr marL="1600200" indent="-228600" algn="r" eaLnBrk="0" hangingPunct="0">
              <a:defRPr sz="2400">
                <a:solidFill>
                  <a:schemeClr val="tx2"/>
                </a:solidFill>
                <a:latin typeface="Arial" panose="020B0604020202020204" pitchFamily="34" charset="0"/>
                <a:ea typeface="宋体" panose="02010600030101010101" pitchFamily="2" charset="-122"/>
              </a:defRPr>
            </a:lvl4pPr>
            <a:lvl5pPr marL="2057400" indent="-228600" algn="r" eaLnBrk="0" hangingPunct="0">
              <a:defRPr sz="2400">
                <a:solidFill>
                  <a:schemeClr val="tx2"/>
                </a:solidFill>
                <a:latin typeface="Arial" panose="020B0604020202020204" pitchFamily="34" charset="0"/>
                <a:ea typeface="宋体" panose="02010600030101010101" pitchFamily="2" charset="-122"/>
              </a:defRPr>
            </a:lvl5pPr>
            <a:lvl6pPr marL="25146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29718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34290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3886200" indent="-228600" algn="r" eaLnBrk="0" fontAlgn="base" hangingPunct="0">
              <a:spcBef>
                <a:spcPct val="0"/>
              </a:spcBef>
              <a:spcAft>
                <a:spcPct val="0"/>
              </a:spcAft>
              <a:defRPr sz="2400">
                <a:solidFill>
                  <a:schemeClr val="tx2"/>
                </a:solidFill>
                <a:latin typeface="Arial" panose="020B0604020202020204" pitchFamily="34" charset="0"/>
                <a:ea typeface="宋体" panose="02010600030101010101" pitchFamily="2" charset="-122"/>
              </a:defRPr>
            </a:lvl9pPr>
          </a:lstStyle>
          <a:p>
            <a:pPr algn="l" eaLnBrk="1" hangingPunct="1"/>
            <a:endParaRPr lang="zh-CN" altLang="en-US" sz="180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000" b="1">
          <a:solidFill>
            <a:srgbClr val="404040"/>
          </a:solidFill>
          <a:latin typeface="微软雅黑" panose="020B0503020204020204" pitchFamily="34" charset="-122"/>
          <a:ea typeface="微软雅黑" panose="020B0503020204020204" pitchFamily="34" charset="-122"/>
        </a:defRPr>
      </a:lvl5pPr>
      <a:lvl6pPr marL="4572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2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2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2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5" name="任意多边形 14"/>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22" name="任意多边形 21"/>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18" name="标题 3"/>
          <p:cNvSpPr>
            <a:spLocks noGrp="1"/>
          </p:cNvSpPr>
          <p:nvPr>
            <p:ph type="title" idx="4294967295"/>
          </p:nvPr>
        </p:nvSpPr>
        <p:spPr>
          <a:xfrm>
            <a:off x="503555" y="5272405"/>
            <a:ext cx="5546725" cy="583565"/>
          </a:xfrm>
          <a:prstGeom prst="rect">
            <a:avLst/>
          </a:prstGeom>
        </p:spPr>
        <p:txBody>
          <a:bodyPr wrap="square">
            <a:spAutoFit/>
          </a:bodyPr>
          <a:lstStyle/>
          <a:p>
            <a:pPr algn="l">
              <a:lnSpc>
                <a:spcPct val="100000"/>
              </a:lnSpc>
            </a:pPr>
            <a:r>
              <a:rPr sz="3200">
                <a:solidFill>
                  <a:srgbClr val="04619D"/>
                </a:solidFill>
              </a:rPr>
              <a:t>7.5  </a:t>
            </a:r>
            <a:r>
              <a:rPr lang="en-US" sz="3200">
                <a:solidFill>
                  <a:srgbClr val="04619D"/>
                </a:solidFill>
              </a:rPr>
              <a:t>MIPS </a:t>
            </a:r>
            <a:r>
              <a:rPr sz="3200">
                <a:solidFill>
                  <a:srgbClr val="04619D"/>
                </a:solidFill>
              </a:rPr>
              <a:t>CPU </a:t>
            </a:r>
            <a:r>
              <a:rPr lang="zh-CN" sz="3200">
                <a:solidFill>
                  <a:srgbClr val="04619D"/>
                </a:solidFill>
              </a:rPr>
              <a:t>基础与设计</a:t>
            </a:r>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r="69975"/>
          <a:stretch>
            <a:fillRect/>
          </a:stretch>
        </p:blipFill>
        <p:spPr>
          <a:xfrm>
            <a:off x="7513630" y="5143321"/>
            <a:ext cx="1456200" cy="146239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1" y="0"/>
            <a:ext cx="4368801" cy="68580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47" name="矩形 46"/>
          <p:cNvSpPr/>
          <p:nvPr/>
        </p:nvSpPr>
        <p:spPr bwMode="auto">
          <a:xfrm rot="5400000" flipV="1">
            <a:off x="1270707" y="-1270708"/>
            <a:ext cx="1827382" cy="4368800"/>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sp>
        <p:nvSpPr>
          <p:cNvPr id="38" name="矩形 37"/>
          <p:cNvSpPr/>
          <p:nvPr/>
        </p:nvSpPr>
        <p:spPr bwMode="auto">
          <a:xfrm rot="5400000">
            <a:off x="1371901" y="3861106"/>
            <a:ext cx="1624987" cy="4368801"/>
          </a:xfrm>
          <a:prstGeom prst="rect">
            <a:avLst/>
          </a:pr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dirty="0"/>
          </a:p>
        </p:txBody>
      </p:sp>
      <p:grpSp>
        <p:nvGrpSpPr>
          <p:cNvPr id="53" name="组合 52"/>
          <p:cNvGrpSpPr/>
          <p:nvPr/>
        </p:nvGrpSpPr>
        <p:grpSpPr>
          <a:xfrm>
            <a:off x="0" y="1070223"/>
            <a:ext cx="2754050" cy="4646991"/>
            <a:chOff x="0" y="1111187"/>
            <a:chExt cx="2754050" cy="4646991"/>
          </a:xfrm>
        </p:grpSpPr>
        <p:sp>
          <p:nvSpPr>
            <p:cNvPr id="48" name="椭圆 47"/>
            <p:cNvSpPr/>
            <p:nvPr/>
          </p:nvSpPr>
          <p:spPr>
            <a:xfrm>
              <a:off x="2450246" y="4863799"/>
              <a:ext cx="200570" cy="200570"/>
            </a:xfrm>
            <a:prstGeom prst="ellipse">
              <a:avLst/>
            </a:prstGeom>
            <a:solidFill>
              <a:schemeClr val="bg1">
                <a:alpha val="2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0" y="1111187"/>
              <a:ext cx="312134" cy="312134"/>
            </a:xfrm>
            <a:prstGeom prst="ellipse">
              <a:avLst/>
            </a:prstGeom>
            <a:solidFill>
              <a:schemeClr val="bg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1114320" y="1611397"/>
              <a:ext cx="904679" cy="904679"/>
            </a:xfrm>
            <a:prstGeom prst="ellipse">
              <a:avLst/>
            </a:prstGeom>
            <a:solidFill>
              <a:schemeClr val="bg1">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854236" y="5460064"/>
              <a:ext cx="298114" cy="298114"/>
            </a:xfrm>
            <a:prstGeom prst="ellipse">
              <a:avLst/>
            </a:prstGeom>
            <a:solidFill>
              <a:schemeClr val="bg1">
                <a:alpha val="2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椭圆 51"/>
            <p:cNvSpPr/>
            <p:nvPr/>
          </p:nvSpPr>
          <p:spPr>
            <a:xfrm>
              <a:off x="2313236" y="1194804"/>
              <a:ext cx="440814" cy="440814"/>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pic>
        <p:nvPicPr>
          <p:cNvPr id="29"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4441" t="10084" r="295" b="10084"/>
          <a:stretch>
            <a:fillRect/>
          </a:stretch>
        </p:blipFill>
        <p:spPr bwMode="auto">
          <a:xfrm>
            <a:off x="0" y="2120900"/>
            <a:ext cx="4592057" cy="2818596"/>
          </a:xfrm>
          <a:prstGeom prst="rect">
            <a:avLst/>
          </a:prstGeom>
          <a:noFill/>
          <a:extLst>
            <a:ext uri="{909E8E84-426E-40DD-AFC4-6F175D3DCCD1}">
              <a14:hiddenFill xmlns:a14="http://schemas.microsoft.com/office/drawing/2010/main">
                <a:solidFill>
                  <a:srgbClr val="FFFFFF"/>
                </a:solidFill>
              </a14:hiddenFill>
            </a:ext>
          </a:extLst>
        </p:spPr>
      </p:pic>
      <p:sp>
        <p:nvSpPr>
          <p:cNvPr id="39" name="任意多边形 38"/>
          <p:cNvSpPr/>
          <p:nvPr/>
        </p:nvSpPr>
        <p:spPr>
          <a:xfrm rot="16200000">
            <a:off x="67870" y="1470438"/>
            <a:ext cx="6858003" cy="3917120"/>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 name="connsiteX0-1" fmla="*/ 9143999 w 9143999"/>
              <a:gd name="connsiteY0-2" fmla="*/ 0 h 2051818"/>
              <a:gd name="connsiteX1-3" fmla="*/ 9143999 w 9143999"/>
              <a:gd name="connsiteY1-4" fmla="*/ 2051818 h 2051818"/>
              <a:gd name="connsiteX2-5" fmla="*/ 0 w 9143999"/>
              <a:gd name="connsiteY2-6" fmla="*/ 2051818 h 2051818"/>
              <a:gd name="connsiteX3-7" fmla="*/ 0 w 9143999"/>
              <a:gd name="connsiteY3-8" fmla="*/ 1204077 h 2051818"/>
              <a:gd name="connsiteX4-9" fmla="*/ 6027 w 9143999"/>
              <a:gd name="connsiteY4-10" fmla="*/ 1207403 h 2051818"/>
              <a:gd name="connsiteX5-11" fmla="*/ 9044856 w 9143999"/>
              <a:gd name="connsiteY5-12" fmla="*/ 57555 h 2051818"/>
              <a:gd name="connsiteX6-13" fmla="*/ 9143999 w 9143999"/>
              <a:gd name="connsiteY6-14" fmla="*/ 0 h 2051818"/>
              <a:gd name="connsiteX0-15" fmla="*/ 9143999 w 9143999"/>
              <a:gd name="connsiteY0-16" fmla="*/ 0 h 2051818"/>
              <a:gd name="connsiteX1-17" fmla="*/ 9143999 w 9143999"/>
              <a:gd name="connsiteY1-18" fmla="*/ 2051818 h 2051818"/>
              <a:gd name="connsiteX2-19" fmla="*/ 0 w 9143999"/>
              <a:gd name="connsiteY2-20" fmla="*/ 2051818 h 2051818"/>
              <a:gd name="connsiteX3-21" fmla="*/ 0 w 9143999"/>
              <a:gd name="connsiteY3-22" fmla="*/ 1204077 h 2051818"/>
              <a:gd name="connsiteX4-23" fmla="*/ 6027 w 9143999"/>
              <a:gd name="connsiteY4-24" fmla="*/ 1207403 h 2051818"/>
              <a:gd name="connsiteX5-25" fmla="*/ 9143999 w 9143999"/>
              <a:gd name="connsiteY5-26" fmla="*/ 0 h 2051818"/>
              <a:gd name="connsiteX0-27" fmla="*/ 9143999 w 9143999"/>
              <a:gd name="connsiteY0-28" fmla="*/ 0 h 2051818"/>
              <a:gd name="connsiteX1-29" fmla="*/ 9143999 w 9143999"/>
              <a:gd name="connsiteY1-30" fmla="*/ 2051818 h 2051818"/>
              <a:gd name="connsiteX2-31" fmla="*/ 0 w 9143999"/>
              <a:gd name="connsiteY2-32" fmla="*/ 2051818 h 2051818"/>
              <a:gd name="connsiteX3-33" fmla="*/ 0 w 9143999"/>
              <a:gd name="connsiteY3-34" fmla="*/ 1204077 h 2051818"/>
              <a:gd name="connsiteX4-35" fmla="*/ 6027 w 9143999"/>
              <a:gd name="connsiteY4-36" fmla="*/ 1207403 h 2051818"/>
              <a:gd name="connsiteX5-37" fmla="*/ 9143999 w 9143999"/>
              <a:gd name="connsiteY5-38" fmla="*/ 0 h 2051818"/>
              <a:gd name="connsiteX0-39" fmla="*/ 9143999 w 9143999"/>
              <a:gd name="connsiteY0-40" fmla="*/ 0 h 2051818"/>
              <a:gd name="connsiteX1-41" fmla="*/ 9143999 w 9143999"/>
              <a:gd name="connsiteY1-42" fmla="*/ 2051818 h 2051818"/>
              <a:gd name="connsiteX2-43" fmla="*/ 0 w 9143999"/>
              <a:gd name="connsiteY2-44" fmla="*/ 2051818 h 2051818"/>
              <a:gd name="connsiteX3-45" fmla="*/ 0 w 9143999"/>
              <a:gd name="connsiteY3-46" fmla="*/ 1204077 h 2051818"/>
              <a:gd name="connsiteX4-47" fmla="*/ 6027 w 9143999"/>
              <a:gd name="connsiteY4-48" fmla="*/ 1207403 h 2051818"/>
              <a:gd name="connsiteX5-49" fmla="*/ 9143999 w 9143999"/>
              <a:gd name="connsiteY5-50" fmla="*/ 0 h 2051818"/>
              <a:gd name="connsiteX0-51" fmla="*/ 9143999 w 9143999"/>
              <a:gd name="connsiteY0-52" fmla="*/ 0 h 2051818"/>
              <a:gd name="connsiteX1-53" fmla="*/ 9143999 w 9143999"/>
              <a:gd name="connsiteY1-54" fmla="*/ 2051818 h 2051818"/>
              <a:gd name="connsiteX2-55" fmla="*/ 0 w 9143999"/>
              <a:gd name="connsiteY2-56" fmla="*/ 2051818 h 2051818"/>
              <a:gd name="connsiteX3-57" fmla="*/ 0 w 9143999"/>
              <a:gd name="connsiteY3-58" fmla="*/ 1204077 h 2051818"/>
              <a:gd name="connsiteX4-59" fmla="*/ 6027 w 9143999"/>
              <a:gd name="connsiteY4-60" fmla="*/ 1207403 h 2051818"/>
              <a:gd name="connsiteX5-61" fmla="*/ 9143999 w 9143999"/>
              <a:gd name="connsiteY5-62" fmla="*/ 0 h 2051818"/>
              <a:gd name="connsiteX0-63" fmla="*/ 9143999 w 9143999"/>
              <a:gd name="connsiteY0-64" fmla="*/ 130228 h 2182046"/>
              <a:gd name="connsiteX1-65" fmla="*/ 9143999 w 9143999"/>
              <a:gd name="connsiteY1-66" fmla="*/ 2182046 h 2182046"/>
              <a:gd name="connsiteX2-67" fmla="*/ 0 w 9143999"/>
              <a:gd name="connsiteY2-68" fmla="*/ 2182046 h 2182046"/>
              <a:gd name="connsiteX3-69" fmla="*/ 0 w 9143999"/>
              <a:gd name="connsiteY3-70" fmla="*/ 1334305 h 2182046"/>
              <a:gd name="connsiteX4-71" fmla="*/ 6027 w 9143999"/>
              <a:gd name="connsiteY4-72" fmla="*/ 0 h 2182046"/>
              <a:gd name="connsiteX5-73" fmla="*/ 9143999 w 9143999"/>
              <a:gd name="connsiteY5-74" fmla="*/ 130228 h 2182046"/>
              <a:gd name="connsiteX0-75" fmla="*/ 9143999 w 9143999"/>
              <a:gd name="connsiteY0-76" fmla="*/ 0 h 2051818"/>
              <a:gd name="connsiteX1-77" fmla="*/ 9143999 w 9143999"/>
              <a:gd name="connsiteY1-78" fmla="*/ 2051818 h 2051818"/>
              <a:gd name="connsiteX2-79" fmla="*/ 0 w 9143999"/>
              <a:gd name="connsiteY2-80" fmla="*/ 2051818 h 2051818"/>
              <a:gd name="connsiteX3-81" fmla="*/ 0 w 9143999"/>
              <a:gd name="connsiteY3-82" fmla="*/ 1204077 h 2051818"/>
              <a:gd name="connsiteX4-83" fmla="*/ 25380 w 9143999"/>
              <a:gd name="connsiteY4-84" fmla="*/ 54648 h 2051818"/>
              <a:gd name="connsiteX5-85" fmla="*/ 9143999 w 9143999"/>
              <a:gd name="connsiteY5-86" fmla="*/ 0 h 2051818"/>
              <a:gd name="connsiteX0-87" fmla="*/ 9143999 w 9143999"/>
              <a:gd name="connsiteY0-88" fmla="*/ 0 h 2051818"/>
              <a:gd name="connsiteX1-89" fmla="*/ 9143999 w 9143999"/>
              <a:gd name="connsiteY1-90" fmla="*/ 2051818 h 2051818"/>
              <a:gd name="connsiteX2-91" fmla="*/ 0 w 9143999"/>
              <a:gd name="connsiteY2-92" fmla="*/ 2051818 h 2051818"/>
              <a:gd name="connsiteX3-93" fmla="*/ 0 w 9143999"/>
              <a:gd name="connsiteY3-94" fmla="*/ 1204077 h 2051818"/>
              <a:gd name="connsiteX4-95" fmla="*/ 25380 w 9143999"/>
              <a:gd name="connsiteY4-96" fmla="*/ 54648 h 2051818"/>
              <a:gd name="connsiteX5-97" fmla="*/ 9143999 w 9143999"/>
              <a:gd name="connsiteY5-98" fmla="*/ 0 h 2051818"/>
              <a:gd name="connsiteX0-99" fmla="*/ 9143999 w 9143999"/>
              <a:gd name="connsiteY0-100" fmla="*/ 0 h 2051818"/>
              <a:gd name="connsiteX1-101" fmla="*/ 9143999 w 9143999"/>
              <a:gd name="connsiteY1-102" fmla="*/ 2051818 h 2051818"/>
              <a:gd name="connsiteX2-103" fmla="*/ 0 w 9143999"/>
              <a:gd name="connsiteY2-104" fmla="*/ 2051818 h 2051818"/>
              <a:gd name="connsiteX3-105" fmla="*/ 0 w 9143999"/>
              <a:gd name="connsiteY3-106" fmla="*/ 1204077 h 2051818"/>
              <a:gd name="connsiteX4-107" fmla="*/ 25380 w 9143999"/>
              <a:gd name="connsiteY4-108" fmla="*/ 54648 h 2051818"/>
              <a:gd name="connsiteX5-109" fmla="*/ 9143999 w 9143999"/>
              <a:gd name="connsiteY5-110" fmla="*/ 0 h 2051818"/>
              <a:gd name="connsiteX0-111" fmla="*/ 9143999 w 9143999"/>
              <a:gd name="connsiteY0-112" fmla="*/ 0 h 2051818"/>
              <a:gd name="connsiteX1-113" fmla="*/ 9143999 w 9143999"/>
              <a:gd name="connsiteY1-114" fmla="*/ 2051818 h 2051818"/>
              <a:gd name="connsiteX2-115" fmla="*/ 0 w 9143999"/>
              <a:gd name="connsiteY2-116" fmla="*/ 2051818 h 2051818"/>
              <a:gd name="connsiteX3-117" fmla="*/ 0 w 9143999"/>
              <a:gd name="connsiteY3-118" fmla="*/ 1204077 h 2051818"/>
              <a:gd name="connsiteX4-119" fmla="*/ 25380 w 9143999"/>
              <a:gd name="connsiteY4-120" fmla="*/ 54648 h 2051818"/>
              <a:gd name="connsiteX5-121" fmla="*/ 9143999 w 9143999"/>
              <a:gd name="connsiteY5-122" fmla="*/ 0 h 2051818"/>
              <a:gd name="connsiteX0-123" fmla="*/ 9124647 w 9143999"/>
              <a:gd name="connsiteY0-124" fmla="*/ 0 h 2127943"/>
              <a:gd name="connsiteX1-125" fmla="*/ 9143999 w 9143999"/>
              <a:gd name="connsiteY1-126" fmla="*/ 2127943 h 2127943"/>
              <a:gd name="connsiteX2-127" fmla="*/ 0 w 9143999"/>
              <a:gd name="connsiteY2-128" fmla="*/ 2127943 h 2127943"/>
              <a:gd name="connsiteX3-129" fmla="*/ 0 w 9143999"/>
              <a:gd name="connsiteY3-130" fmla="*/ 1280202 h 2127943"/>
              <a:gd name="connsiteX4-131" fmla="*/ 25380 w 9143999"/>
              <a:gd name="connsiteY4-132" fmla="*/ 130773 h 2127943"/>
              <a:gd name="connsiteX5-133" fmla="*/ 9124647 w 9143999"/>
              <a:gd name="connsiteY5-134" fmla="*/ 0 h 2127943"/>
              <a:gd name="connsiteX0-135" fmla="*/ 9124647 w 9143999"/>
              <a:gd name="connsiteY0-136" fmla="*/ 0 h 2127943"/>
              <a:gd name="connsiteX1-137" fmla="*/ 9143999 w 9143999"/>
              <a:gd name="connsiteY1-138" fmla="*/ 2127943 h 2127943"/>
              <a:gd name="connsiteX2-139" fmla="*/ 0 w 9143999"/>
              <a:gd name="connsiteY2-140" fmla="*/ 2127943 h 2127943"/>
              <a:gd name="connsiteX3-141" fmla="*/ 0 w 9143999"/>
              <a:gd name="connsiteY3-142" fmla="*/ 1280202 h 2127943"/>
              <a:gd name="connsiteX4-143" fmla="*/ 25380 w 9143999"/>
              <a:gd name="connsiteY4-144" fmla="*/ 130773 h 2127943"/>
              <a:gd name="connsiteX5-145" fmla="*/ 9124647 w 9143999"/>
              <a:gd name="connsiteY5-146" fmla="*/ 0 h 2127943"/>
              <a:gd name="connsiteX0-147" fmla="*/ 9124647 w 9143999"/>
              <a:gd name="connsiteY0-148" fmla="*/ 0 h 2127943"/>
              <a:gd name="connsiteX1-149" fmla="*/ 9143999 w 9143999"/>
              <a:gd name="connsiteY1-150" fmla="*/ 2127943 h 2127943"/>
              <a:gd name="connsiteX2-151" fmla="*/ 0 w 9143999"/>
              <a:gd name="connsiteY2-152" fmla="*/ 2127943 h 2127943"/>
              <a:gd name="connsiteX3-153" fmla="*/ 0 w 9143999"/>
              <a:gd name="connsiteY3-154" fmla="*/ 1280202 h 2127943"/>
              <a:gd name="connsiteX4-155" fmla="*/ 6028 w 9143999"/>
              <a:gd name="connsiteY4-156" fmla="*/ 11147 h 2127943"/>
              <a:gd name="connsiteX5-157" fmla="*/ 9124647 w 9143999"/>
              <a:gd name="connsiteY5-158" fmla="*/ 0 h 2127943"/>
              <a:gd name="connsiteX0-159" fmla="*/ 9138134 w 9157486"/>
              <a:gd name="connsiteY0-160" fmla="*/ 0 h 2127943"/>
              <a:gd name="connsiteX1-161" fmla="*/ 9157486 w 9157486"/>
              <a:gd name="connsiteY1-162" fmla="*/ 2127943 h 2127943"/>
              <a:gd name="connsiteX2-163" fmla="*/ 13487 w 9157486"/>
              <a:gd name="connsiteY2-164" fmla="*/ 2127943 h 2127943"/>
              <a:gd name="connsiteX3-165" fmla="*/ 13487 w 9157486"/>
              <a:gd name="connsiteY3-166" fmla="*/ 1280202 h 2127943"/>
              <a:gd name="connsiteX4-167" fmla="*/ 163 w 9157486"/>
              <a:gd name="connsiteY4-168" fmla="*/ 141648 h 2127943"/>
              <a:gd name="connsiteX5-169" fmla="*/ 9138134 w 9157486"/>
              <a:gd name="connsiteY5-170" fmla="*/ 0 h 212794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9157486" h="2127943">
                <a:moveTo>
                  <a:pt x="9138134" y="0"/>
                </a:moveTo>
                <a:lnTo>
                  <a:pt x="9157486" y="2127943"/>
                </a:lnTo>
                <a:lnTo>
                  <a:pt x="13487" y="2127943"/>
                </a:lnTo>
                <a:lnTo>
                  <a:pt x="13487" y="1280202"/>
                </a:lnTo>
                <a:cubicBezTo>
                  <a:pt x="15496" y="857184"/>
                  <a:pt x="-1846" y="564666"/>
                  <a:pt x="163" y="141648"/>
                </a:cubicBezTo>
                <a:cubicBezTo>
                  <a:pt x="3568670" y="1577063"/>
                  <a:pt x="7137176" y="1131097"/>
                  <a:pt x="9138134" y="0"/>
                </a:cubicBez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4" name="任意多边形 43"/>
          <p:cNvSpPr/>
          <p:nvPr/>
        </p:nvSpPr>
        <p:spPr>
          <a:xfrm rot="16200000">
            <a:off x="2318257" y="-16039"/>
            <a:ext cx="6868891" cy="6879174"/>
          </a:xfrm>
          <a:custGeom>
            <a:avLst/>
            <a:gdLst>
              <a:gd name="connsiteX0" fmla="*/ 6858000 w 6858000"/>
              <a:gd name="connsiteY0" fmla="*/ 0 h 6459417"/>
              <a:gd name="connsiteX1" fmla="*/ 6858000 w 6858000"/>
              <a:gd name="connsiteY1" fmla="*/ 1675279 h 6459417"/>
              <a:gd name="connsiteX2" fmla="*/ 6858000 w 6858000"/>
              <a:gd name="connsiteY2" fmla="*/ 1819701 h 6459417"/>
              <a:gd name="connsiteX3" fmla="*/ 6858000 w 6858000"/>
              <a:gd name="connsiteY3" fmla="*/ 2278767 h 6459417"/>
              <a:gd name="connsiteX4" fmla="*/ 6858000 w 6858000"/>
              <a:gd name="connsiteY4" fmla="*/ 3954046 h 6459417"/>
              <a:gd name="connsiteX5" fmla="*/ 6858000 w 6858000"/>
              <a:gd name="connsiteY5" fmla="*/ 4098468 h 6459417"/>
              <a:gd name="connsiteX6" fmla="*/ 6858000 w 6858000"/>
              <a:gd name="connsiteY6" fmla="*/ 4180650 h 6459417"/>
              <a:gd name="connsiteX7" fmla="*/ 6858000 w 6858000"/>
              <a:gd name="connsiteY7" fmla="*/ 6459417 h 6459417"/>
              <a:gd name="connsiteX8" fmla="*/ 0 w 6858000"/>
              <a:gd name="connsiteY8" fmla="*/ 6459417 h 6459417"/>
              <a:gd name="connsiteX9" fmla="*/ 0 w 6858000"/>
              <a:gd name="connsiteY9" fmla="*/ 4180650 h 6459417"/>
              <a:gd name="connsiteX10" fmla="*/ 0 w 6858000"/>
              <a:gd name="connsiteY10" fmla="*/ 4098468 h 6459417"/>
              <a:gd name="connsiteX11" fmla="*/ 0 w 6858000"/>
              <a:gd name="connsiteY11" fmla="*/ 3954046 h 6459417"/>
              <a:gd name="connsiteX12" fmla="*/ 0 w 6858000"/>
              <a:gd name="connsiteY12" fmla="*/ 3295924 h 6459417"/>
              <a:gd name="connsiteX13" fmla="*/ 0 w 6858000"/>
              <a:gd name="connsiteY13" fmla="*/ 1819701 h 6459417"/>
              <a:gd name="connsiteX14" fmla="*/ 0 w 6858000"/>
              <a:gd name="connsiteY14" fmla="*/ 1675279 h 6459417"/>
              <a:gd name="connsiteX15" fmla="*/ 0 w 6858000"/>
              <a:gd name="connsiteY15" fmla="*/ 1017157 h 6459417"/>
              <a:gd name="connsiteX16" fmla="*/ 227535 w 6858000"/>
              <a:gd name="connsiteY16" fmla="*/ 1166258 h 6459417"/>
              <a:gd name="connsiteX17" fmla="*/ 6270374 w 6858000"/>
              <a:gd name="connsiteY17" fmla="*/ 412001 h 6459417"/>
              <a:gd name="connsiteX18" fmla="*/ 6705779 w 6858000"/>
              <a:gd name="connsiteY18" fmla="*/ 117916 h 6459417"/>
              <a:gd name="connsiteX0-1" fmla="*/ 6858000 w 6941935"/>
              <a:gd name="connsiteY0-2" fmla="*/ 56823 h 6516240"/>
              <a:gd name="connsiteX1-3" fmla="*/ 6858000 w 6941935"/>
              <a:gd name="connsiteY1-4" fmla="*/ 1732102 h 6516240"/>
              <a:gd name="connsiteX2-5" fmla="*/ 6858000 w 6941935"/>
              <a:gd name="connsiteY2-6" fmla="*/ 1876524 h 6516240"/>
              <a:gd name="connsiteX3-7" fmla="*/ 6858000 w 6941935"/>
              <a:gd name="connsiteY3-8" fmla="*/ 2335590 h 6516240"/>
              <a:gd name="connsiteX4-9" fmla="*/ 6858000 w 6941935"/>
              <a:gd name="connsiteY4-10" fmla="*/ 4010869 h 6516240"/>
              <a:gd name="connsiteX5-11" fmla="*/ 6858000 w 6941935"/>
              <a:gd name="connsiteY5-12" fmla="*/ 4155291 h 6516240"/>
              <a:gd name="connsiteX6-13" fmla="*/ 6858000 w 6941935"/>
              <a:gd name="connsiteY6-14" fmla="*/ 4237473 h 6516240"/>
              <a:gd name="connsiteX7-15" fmla="*/ 6858000 w 6941935"/>
              <a:gd name="connsiteY7-16" fmla="*/ 6516240 h 6516240"/>
              <a:gd name="connsiteX8-17" fmla="*/ 0 w 6941935"/>
              <a:gd name="connsiteY8-18" fmla="*/ 6516240 h 6516240"/>
              <a:gd name="connsiteX9-19" fmla="*/ 0 w 6941935"/>
              <a:gd name="connsiteY9-20" fmla="*/ 4237473 h 6516240"/>
              <a:gd name="connsiteX10-21" fmla="*/ 0 w 6941935"/>
              <a:gd name="connsiteY10-22" fmla="*/ 4155291 h 6516240"/>
              <a:gd name="connsiteX11-23" fmla="*/ 0 w 6941935"/>
              <a:gd name="connsiteY11-24" fmla="*/ 4010869 h 6516240"/>
              <a:gd name="connsiteX12-25" fmla="*/ 0 w 6941935"/>
              <a:gd name="connsiteY12-26" fmla="*/ 3352747 h 6516240"/>
              <a:gd name="connsiteX13-27" fmla="*/ 0 w 6941935"/>
              <a:gd name="connsiteY13-28" fmla="*/ 1876524 h 6516240"/>
              <a:gd name="connsiteX14-29" fmla="*/ 0 w 6941935"/>
              <a:gd name="connsiteY14-30" fmla="*/ 1732102 h 6516240"/>
              <a:gd name="connsiteX15-31" fmla="*/ 0 w 6941935"/>
              <a:gd name="connsiteY15-32" fmla="*/ 1073980 h 6516240"/>
              <a:gd name="connsiteX16-33" fmla="*/ 227535 w 6941935"/>
              <a:gd name="connsiteY16-34" fmla="*/ 1223081 h 6516240"/>
              <a:gd name="connsiteX17-35" fmla="*/ 6270374 w 6941935"/>
              <a:gd name="connsiteY17-36" fmla="*/ 468824 h 6516240"/>
              <a:gd name="connsiteX18-37" fmla="*/ 6858000 w 6941935"/>
              <a:gd name="connsiteY18-38" fmla="*/ 56823 h 6516240"/>
              <a:gd name="connsiteX0-39" fmla="*/ 6858000 w 6858000"/>
              <a:gd name="connsiteY0-40" fmla="*/ 4734 h 6464151"/>
              <a:gd name="connsiteX1-41" fmla="*/ 6858000 w 6858000"/>
              <a:gd name="connsiteY1-42" fmla="*/ 1680013 h 6464151"/>
              <a:gd name="connsiteX2-43" fmla="*/ 6858000 w 6858000"/>
              <a:gd name="connsiteY2-44" fmla="*/ 1824435 h 6464151"/>
              <a:gd name="connsiteX3-45" fmla="*/ 6858000 w 6858000"/>
              <a:gd name="connsiteY3-46" fmla="*/ 2283501 h 6464151"/>
              <a:gd name="connsiteX4-47" fmla="*/ 6858000 w 6858000"/>
              <a:gd name="connsiteY4-48" fmla="*/ 3958780 h 6464151"/>
              <a:gd name="connsiteX5-49" fmla="*/ 6858000 w 6858000"/>
              <a:gd name="connsiteY5-50" fmla="*/ 4103202 h 6464151"/>
              <a:gd name="connsiteX6-51" fmla="*/ 6858000 w 6858000"/>
              <a:gd name="connsiteY6-52" fmla="*/ 4185384 h 6464151"/>
              <a:gd name="connsiteX7-53" fmla="*/ 6858000 w 6858000"/>
              <a:gd name="connsiteY7-54" fmla="*/ 6464151 h 6464151"/>
              <a:gd name="connsiteX8-55" fmla="*/ 0 w 6858000"/>
              <a:gd name="connsiteY8-56" fmla="*/ 6464151 h 6464151"/>
              <a:gd name="connsiteX9-57" fmla="*/ 0 w 6858000"/>
              <a:gd name="connsiteY9-58" fmla="*/ 4185384 h 6464151"/>
              <a:gd name="connsiteX10-59" fmla="*/ 0 w 6858000"/>
              <a:gd name="connsiteY10-60" fmla="*/ 4103202 h 6464151"/>
              <a:gd name="connsiteX11-61" fmla="*/ 0 w 6858000"/>
              <a:gd name="connsiteY11-62" fmla="*/ 3958780 h 6464151"/>
              <a:gd name="connsiteX12-63" fmla="*/ 0 w 6858000"/>
              <a:gd name="connsiteY12-64" fmla="*/ 3300658 h 6464151"/>
              <a:gd name="connsiteX13-65" fmla="*/ 0 w 6858000"/>
              <a:gd name="connsiteY13-66" fmla="*/ 1824435 h 6464151"/>
              <a:gd name="connsiteX14-67" fmla="*/ 0 w 6858000"/>
              <a:gd name="connsiteY14-68" fmla="*/ 1680013 h 6464151"/>
              <a:gd name="connsiteX15-69" fmla="*/ 0 w 6858000"/>
              <a:gd name="connsiteY15-70" fmla="*/ 1021891 h 6464151"/>
              <a:gd name="connsiteX16-71" fmla="*/ 227535 w 6858000"/>
              <a:gd name="connsiteY16-72" fmla="*/ 1170992 h 6464151"/>
              <a:gd name="connsiteX17-73" fmla="*/ 6858000 w 6858000"/>
              <a:gd name="connsiteY17-74" fmla="*/ 4734 h 6464151"/>
              <a:gd name="connsiteX0-75" fmla="*/ 6858000 w 6858000"/>
              <a:gd name="connsiteY0-76" fmla="*/ 0 h 6459417"/>
              <a:gd name="connsiteX1-77" fmla="*/ 6858000 w 6858000"/>
              <a:gd name="connsiteY1-78" fmla="*/ 1675279 h 6459417"/>
              <a:gd name="connsiteX2-79" fmla="*/ 6858000 w 6858000"/>
              <a:gd name="connsiteY2-80" fmla="*/ 1819701 h 6459417"/>
              <a:gd name="connsiteX3-81" fmla="*/ 6858000 w 6858000"/>
              <a:gd name="connsiteY3-82" fmla="*/ 2278767 h 6459417"/>
              <a:gd name="connsiteX4-83" fmla="*/ 6858000 w 6858000"/>
              <a:gd name="connsiteY4-84" fmla="*/ 3954046 h 6459417"/>
              <a:gd name="connsiteX5-85" fmla="*/ 6858000 w 6858000"/>
              <a:gd name="connsiteY5-86" fmla="*/ 4098468 h 6459417"/>
              <a:gd name="connsiteX6-87" fmla="*/ 6858000 w 6858000"/>
              <a:gd name="connsiteY6-88" fmla="*/ 4180650 h 6459417"/>
              <a:gd name="connsiteX7-89" fmla="*/ 6858000 w 6858000"/>
              <a:gd name="connsiteY7-90" fmla="*/ 6459417 h 6459417"/>
              <a:gd name="connsiteX8-91" fmla="*/ 0 w 6858000"/>
              <a:gd name="connsiteY8-92" fmla="*/ 6459417 h 6459417"/>
              <a:gd name="connsiteX9-93" fmla="*/ 0 w 6858000"/>
              <a:gd name="connsiteY9-94" fmla="*/ 4180650 h 6459417"/>
              <a:gd name="connsiteX10-95" fmla="*/ 0 w 6858000"/>
              <a:gd name="connsiteY10-96" fmla="*/ 4098468 h 6459417"/>
              <a:gd name="connsiteX11-97" fmla="*/ 0 w 6858000"/>
              <a:gd name="connsiteY11-98" fmla="*/ 3954046 h 6459417"/>
              <a:gd name="connsiteX12-99" fmla="*/ 0 w 6858000"/>
              <a:gd name="connsiteY12-100" fmla="*/ 3295924 h 6459417"/>
              <a:gd name="connsiteX13-101" fmla="*/ 0 w 6858000"/>
              <a:gd name="connsiteY13-102" fmla="*/ 1819701 h 6459417"/>
              <a:gd name="connsiteX14-103" fmla="*/ 0 w 6858000"/>
              <a:gd name="connsiteY14-104" fmla="*/ 1675279 h 6459417"/>
              <a:gd name="connsiteX15-105" fmla="*/ 0 w 6858000"/>
              <a:gd name="connsiteY15-106" fmla="*/ 1017157 h 6459417"/>
              <a:gd name="connsiteX16-107" fmla="*/ 227535 w 6858000"/>
              <a:gd name="connsiteY16-108" fmla="*/ 1166258 h 6459417"/>
              <a:gd name="connsiteX17-109" fmla="*/ 6858000 w 6858000"/>
              <a:gd name="connsiteY17-110" fmla="*/ 0 h 6459417"/>
              <a:gd name="connsiteX0-111" fmla="*/ 6858000 w 6858000"/>
              <a:gd name="connsiteY0-112" fmla="*/ 0 h 6459417"/>
              <a:gd name="connsiteX1-113" fmla="*/ 6858000 w 6858000"/>
              <a:gd name="connsiteY1-114" fmla="*/ 1675279 h 6459417"/>
              <a:gd name="connsiteX2-115" fmla="*/ 6858000 w 6858000"/>
              <a:gd name="connsiteY2-116" fmla="*/ 1819701 h 6459417"/>
              <a:gd name="connsiteX3-117" fmla="*/ 6858000 w 6858000"/>
              <a:gd name="connsiteY3-118" fmla="*/ 2278767 h 6459417"/>
              <a:gd name="connsiteX4-119" fmla="*/ 6858000 w 6858000"/>
              <a:gd name="connsiteY4-120" fmla="*/ 3954046 h 6459417"/>
              <a:gd name="connsiteX5-121" fmla="*/ 6858000 w 6858000"/>
              <a:gd name="connsiteY5-122" fmla="*/ 4098468 h 6459417"/>
              <a:gd name="connsiteX6-123" fmla="*/ 6858000 w 6858000"/>
              <a:gd name="connsiteY6-124" fmla="*/ 4180650 h 6459417"/>
              <a:gd name="connsiteX7-125" fmla="*/ 6858000 w 6858000"/>
              <a:gd name="connsiteY7-126" fmla="*/ 6459417 h 6459417"/>
              <a:gd name="connsiteX8-127" fmla="*/ 0 w 6858000"/>
              <a:gd name="connsiteY8-128" fmla="*/ 6459417 h 6459417"/>
              <a:gd name="connsiteX9-129" fmla="*/ 0 w 6858000"/>
              <a:gd name="connsiteY9-130" fmla="*/ 4180650 h 6459417"/>
              <a:gd name="connsiteX10-131" fmla="*/ 0 w 6858000"/>
              <a:gd name="connsiteY10-132" fmla="*/ 4098468 h 6459417"/>
              <a:gd name="connsiteX11-133" fmla="*/ 0 w 6858000"/>
              <a:gd name="connsiteY11-134" fmla="*/ 3954046 h 6459417"/>
              <a:gd name="connsiteX12-135" fmla="*/ 0 w 6858000"/>
              <a:gd name="connsiteY12-136" fmla="*/ 3295924 h 6459417"/>
              <a:gd name="connsiteX13-137" fmla="*/ 0 w 6858000"/>
              <a:gd name="connsiteY13-138" fmla="*/ 1819701 h 6459417"/>
              <a:gd name="connsiteX14-139" fmla="*/ 0 w 6858000"/>
              <a:gd name="connsiteY14-140" fmla="*/ 1675279 h 6459417"/>
              <a:gd name="connsiteX15-141" fmla="*/ 0 w 6858000"/>
              <a:gd name="connsiteY15-142" fmla="*/ 1017157 h 6459417"/>
              <a:gd name="connsiteX16-143" fmla="*/ 6858000 w 6858000"/>
              <a:gd name="connsiteY16-144" fmla="*/ 0 h 6459417"/>
              <a:gd name="connsiteX0-145" fmla="*/ 6858000 w 6858000"/>
              <a:gd name="connsiteY0-146" fmla="*/ 0 h 6459417"/>
              <a:gd name="connsiteX1-147" fmla="*/ 6858000 w 6858000"/>
              <a:gd name="connsiteY1-148" fmla="*/ 1675279 h 6459417"/>
              <a:gd name="connsiteX2-149" fmla="*/ 6858000 w 6858000"/>
              <a:gd name="connsiteY2-150" fmla="*/ 1819701 h 6459417"/>
              <a:gd name="connsiteX3-151" fmla="*/ 6858000 w 6858000"/>
              <a:gd name="connsiteY3-152" fmla="*/ 2278767 h 6459417"/>
              <a:gd name="connsiteX4-153" fmla="*/ 6858000 w 6858000"/>
              <a:gd name="connsiteY4-154" fmla="*/ 3954046 h 6459417"/>
              <a:gd name="connsiteX5-155" fmla="*/ 6858000 w 6858000"/>
              <a:gd name="connsiteY5-156" fmla="*/ 4098468 h 6459417"/>
              <a:gd name="connsiteX6-157" fmla="*/ 6858000 w 6858000"/>
              <a:gd name="connsiteY6-158" fmla="*/ 4180650 h 6459417"/>
              <a:gd name="connsiteX7-159" fmla="*/ 6858000 w 6858000"/>
              <a:gd name="connsiteY7-160" fmla="*/ 6459417 h 6459417"/>
              <a:gd name="connsiteX8-161" fmla="*/ 0 w 6858000"/>
              <a:gd name="connsiteY8-162" fmla="*/ 6459417 h 6459417"/>
              <a:gd name="connsiteX9-163" fmla="*/ 0 w 6858000"/>
              <a:gd name="connsiteY9-164" fmla="*/ 4180650 h 6459417"/>
              <a:gd name="connsiteX10-165" fmla="*/ 0 w 6858000"/>
              <a:gd name="connsiteY10-166" fmla="*/ 4098468 h 6459417"/>
              <a:gd name="connsiteX11-167" fmla="*/ 0 w 6858000"/>
              <a:gd name="connsiteY11-168" fmla="*/ 3954046 h 6459417"/>
              <a:gd name="connsiteX12-169" fmla="*/ 0 w 6858000"/>
              <a:gd name="connsiteY12-170" fmla="*/ 3295924 h 6459417"/>
              <a:gd name="connsiteX13-171" fmla="*/ 0 w 6858000"/>
              <a:gd name="connsiteY13-172" fmla="*/ 1819701 h 6459417"/>
              <a:gd name="connsiteX14-173" fmla="*/ 0 w 6858000"/>
              <a:gd name="connsiteY14-174" fmla="*/ 1675279 h 6459417"/>
              <a:gd name="connsiteX15-175" fmla="*/ 0 w 6858000"/>
              <a:gd name="connsiteY15-176" fmla="*/ 1017157 h 6459417"/>
              <a:gd name="connsiteX16-177" fmla="*/ 6858000 w 6858000"/>
              <a:gd name="connsiteY16-178" fmla="*/ 0 h 6459417"/>
              <a:gd name="connsiteX0-179" fmla="*/ 6858000 w 6858000"/>
              <a:gd name="connsiteY0-180" fmla="*/ 0 h 6459417"/>
              <a:gd name="connsiteX1-181" fmla="*/ 6858000 w 6858000"/>
              <a:gd name="connsiteY1-182" fmla="*/ 1675279 h 6459417"/>
              <a:gd name="connsiteX2-183" fmla="*/ 6858000 w 6858000"/>
              <a:gd name="connsiteY2-184" fmla="*/ 1819701 h 6459417"/>
              <a:gd name="connsiteX3-185" fmla="*/ 6858000 w 6858000"/>
              <a:gd name="connsiteY3-186" fmla="*/ 2278767 h 6459417"/>
              <a:gd name="connsiteX4-187" fmla="*/ 6858000 w 6858000"/>
              <a:gd name="connsiteY4-188" fmla="*/ 3954046 h 6459417"/>
              <a:gd name="connsiteX5-189" fmla="*/ 6858000 w 6858000"/>
              <a:gd name="connsiteY5-190" fmla="*/ 4098468 h 6459417"/>
              <a:gd name="connsiteX6-191" fmla="*/ 6858000 w 6858000"/>
              <a:gd name="connsiteY6-192" fmla="*/ 4180650 h 6459417"/>
              <a:gd name="connsiteX7-193" fmla="*/ 6858000 w 6858000"/>
              <a:gd name="connsiteY7-194" fmla="*/ 6459417 h 6459417"/>
              <a:gd name="connsiteX8-195" fmla="*/ 0 w 6858000"/>
              <a:gd name="connsiteY8-196" fmla="*/ 6459417 h 6459417"/>
              <a:gd name="connsiteX9-197" fmla="*/ 0 w 6858000"/>
              <a:gd name="connsiteY9-198" fmla="*/ 4180650 h 6459417"/>
              <a:gd name="connsiteX10-199" fmla="*/ 0 w 6858000"/>
              <a:gd name="connsiteY10-200" fmla="*/ 4098468 h 6459417"/>
              <a:gd name="connsiteX11-201" fmla="*/ 0 w 6858000"/>
              <a:gd name="connsiteY11-202" fmla="*/ 3954046 h 6459417"/>
              <a:gd name="connsiteX12-203" fmla="*/ 0 w 6858000"/>
              <a:gd name="connsiteY12-204" fmla="*/ 3295924 h 6459417"/>
              <a:gd name="connsiteX13-205" fmla="*/ 0 w 6858000"/>
              <a:gd name="connsiteY13-206" fmla="*/ 1819701 h 6459417"/>
              <a:gd name="connsiteX14-207" fmla="*/ 0 w 6858000"/>
              <a:gd name="connsiteY14-208" fmla="*/ 1675279 h 6459417"/>
              <a:gd name="connsiteX15-209" fmla="*/ 0 w 6858000"/>
              <a:gd name="connsiteY15-210" fmla="*/ 1017157 h 6459417"/>
              <a:gd name="connsiteX16-211" fmla="*/ 6858000 w 6858000"/>
              <a:gd name="connsiteY16-212" fmla="*/ 0 h 6459417"/>
              <a:gd name="connsiteX0-213" fmla="*/ 6858000 w 6858000"/>
              <a:gd name="connsiteY0-214" fmla="*/ 0 h 6459417"/>
              <a:gd name="connsiteX1-215" fmla="*/ 6858000 w 6858000"/>
              <a:gd name="connsiteY1-216" fmla="*/ 1675279 h 6459417"/>
              <a:gd name="connsiteX2-217" fmla="*/ 6858000 w 6858000"/>
              <a:gd name="connsiteY2-218" fmla="*/ 1819701 h 6459417"/>
              <a:gd name="connsiteX3-219" fmla="*/ 6858000 w 6858000"/>
              <a:gd name="connsiteY3-220" fmla="*/ 2278767 h 6459417"/>
              <a:gd name="connsiteX4-221" fmla="*/ 6858000 w 6858000"/>
              <a:gd name="connsiteY4-222" fmla="*/ 3954046 h 6459417"/>
              <a:gd name="connsiteX5-223" fmla="*/ 6858000 w 6858000"/>
              <a:gd name="connsiteY5-224" fmla="*/ 4098468 h 6459417"/>
              <a:gd name="connsiteX6-225" fmla="*/ 6858000 w 6858000"/>
              <a:gd name="connsiteY6-226" fmla="*/ 4180650 h 6459417"/>
              <a:gd name="connsiteX7-227" fmla="*/ 6858000 w 6858000"/>
              <a:gd name="connsiteY7-228" fmla="*/ 6459417 h 6459417"/>
              <a:gd name="connsiteX8-229" fmla="*/ 0 w 6858000"/>
              <a:gd name="connsiteY8-230" fmla="*/ 6459417 h 6459417"/>
              <a:gd name="connsiteX9-231" fmla="*/ 0 w 6858000"/>
              <a:gd name="connsiteY9-232" fmla="*/ 4180650 h 6459417"/>
              <a:gd name="connsiteX10-233" fmla="*/ 0 w 6858000"/>
              <a:gd name="connsiteY10-234" fmla="*/ 4098468 h 6459417"/>
              <a:gd name="connsiteX11-235" fmla="*/ 0 w 6858000"/>
              <a:gd name="connsiteY11-236" fmla="*/ 3954046 h 6459417"/>
              <a:gd name="connsiteX12-237" fmla="*/ 0 w 6858000"/>
              <a:gd name="connsiteY12-238" fmla="*/ 3295924 h 6459417"/>
              <a:gd name="connsiteX13-239" fmla="*/ 0 w 6858000"/>
              <a:gd name="connsiteY13-240" fmla="*/ 1819701 h 6459417"/>
              <a:gd name="connsiteX14-241" fmla="*/ 0 w 6858000"/>
              <a:gd name="connsiteY14-242" fmla="*/ 1675279 h 6459417"/>
              <a:gd name="connsiteX15-243" fmla="*/ 0 w 6858000"/>
              <a:gd name="connsiteY15-244" fmla="*/ 1017157 h 6459417"/>
              <a:gd name="connsiteX16-245" fmla="*/ 6858000 w 6858000"/>
              <a:gd name="connsiteY16-246" fmla="*/ 0 h 6459417"/>
              <a:gd name="connsiteX0-247" fmla="*/ 6858000 w 6858000"/>
              <a:gd name="connsiteY0-248" fmla="*/ 0 h 6459417"/>
              <a:gd name="connsiteX1-249" fmla="*/ 6858000 w 6858000"/>
              <a:gd name="connsiteY1-250" fmla="*/ 1675279 h 6459417"/>
              <a:gd name="connsiteX2-251" fmla="*/ 6858000 w 6858000"/>
              <a:gd name="connsiteY2-252" fmla="*/ 1819701 h 6459417"/>
              <a:gd name="connsiteX3-253" fmla="*/ 6858000 w 6858000"/>
              <a:gd name="connsiteY3-254" fmla="*/ 2278767 h 6459417"/>
              <a:gd name="connsiteX4-255" fmla="*/ 6858000 w 6858000"/>
              <a:gd name="connsiteY4-256" fmla="*/ 3954046 h 6459417"/>
              <a:gd name="connsiteX5-257" fmla="*/ 6858000 w 6858000"/>
              <a:gd name="connsiteY5-258" fmla="*/ 4098468 h 6459417"/>
              <a:gd name="connsiteX6-259" fmla="*/ 6858000 w 6858000"/>
              <a:gd name="connsiteY6-260" fmla="*/ 4180650 h 6459417"/>
              <a:gd name="connsiteX7-261" fmla="*/ 6858000 w 6858000"/>
              <a:gd name="connsiteY7-262" fmla="*/ 6459417 h 6459417"/>
              <a:gd name="connsiteX8-263" fmla="*/ 0 w 6858000"/>
              <a:gd name="connsiteY8-264" fmla="*/ 6459417 h 6459417"/>
              <a:gd name="connsiteX9-265" fmla="*/ 0 w 6858000"/>
              <a:gd name="connsiteY9-266" fmla="*/ 4180650 h 6459417"/>
              <a:gd name="connsiteX10-267" fmla="*/ 0 w 6858000"/>
              <a:gd name="connsiteY10-268" fmla="*/ 4098468 h 6459417"/>
              <a:gd name="connsiteX11-269" fmla="*/ 0 w 6858000"/>
              <a:gd name="connsiteY11-270" fmla="*/ 3954046 h 6459417"/>
              <a:gd name="connsiteX12-271" fmla="*/ 0 w 6858000"/>
              <a:gd name="connsiteY12-272" fmla="*/ 3295924 h 6459417"/>
              <a:gd name="connsiteX13-273" fmla="*/ 0 w 6858000"/>
              <a:gd name="connsiteY13-274" fmla="*/ 1819701 h 6459417"/>
              <a:gd name="connsiteX14-275" fmla="*/ 0 w 6858000"/>
              <a:gd name="connsiteY14-276" fmla="*/ 1675279 h 6459417"/>
              <a:gd name="connsiteX15-277" fmla="*/ 0 w 6858000"/>
              <a:gd name="connsiteY15-278" fmla="*/ 1017157 h 6459417"/>
              <a:gd name="connsiteX16-279" fmla="*/ 6858000 w 6858000"/>
              <a:gd name="connsiteY16-280" fmla="*/ 0 h 6459417"/>
              <a:gd name="connsiteX0-281" fmla="*/ 6858000 w 6858000"/>
              <a:gd name="connsiteY0-282" fmla="*/ 0 h 6459417"/>
              <a:gd name="connsiteX1-283" fmla="*/ 6858000 w 6858000"/>
              <a:gd name="connsiteY1-284" fmla="*/ 1675279 h 6459417"/>
              <a:gd name="connsiteX2-285" fmla="*/ 6858000 w 6858000"/>
              <a:gd name="connsiteY2-286" fmla="*/ 1819701 h 6459417"/>
              <a:gd name="connsiteX3-287" fmla="*/ 6858000 w 6858000"/>
              <a:gd name="connsiteY3-288" fmla="*/ 2278767 h 6459417"/>
              <a:gd name="connsiteX4-289" fmla="*/ 6858000 w 6858000"/>
              <a:gd name="connsiteY4-290" fmla="*/ 3954046 h 6459417"/>
              <a:gd name="connsiteX5-291" fmla="*/ 6858000 w 6858000"/>
              <a:gd name="connsiteY5-292" fmla="*/ 4098468 h 6459417"/>
              <a:gd name="connsiteX6-293" fmla="*/ 6858000 w 6858000"/>
              <a:gd name="connsiteY6-294" fmla="*/ 4180650 h 6459417"/>
              <a:gd name="connsiteX7-295" fmla="*/ 6858000 w 6858000"/>
              <a:gd name="connsiteY7-296" fmla="*/ 6459417 h 6459417"/>
              <a:gd name="connsiteX8-297" fmla="*/ 0 w 6858000"/>
              <a:gd name="connsiteY8-298" fmla="*/ 6459417 h 6459417"/>
              <a:gd name="connsiteX9-299" fmla="*/ 0 w 6858000"/>
              <a:gd name="connsiteY9-300" fmla="*/ 4180650 h 6459417"/>
              <a:gd name="connsiteX10-301" fmla="*/ 0 w 6858000"/>
              <a:gd name="connsiteY10-302" fmla="*/ 4098468 h 6459417"/>
              <a:gd name="connsiteX11-303" fmla="*/ 0 w 6858000"/>
              <a:gd name="connsiteY11-304" fmla="*/ 3954046 h 6459417"/>
              <a:gd name="connsiteX12-305" fmla="*/ 0 w 6858000"/>
              <a:gd name="connsiteY12-306" fmla="*/ 3295924 h 6459417"/>
              <a:gd name="connsiteX13-307" fmla="*/ 0 w 6858000"/>
              <a:gd name="connsiteY13-308" fmla="*/ 1819701 h 6459417"/>
              <a:gd name="connsiteX14-309" fmla="*/ 0 w 6858000"/>
              <a:gd name="connsiteY14-310" fmla="*/ 1675279 h 6459417"/>
              <a:gd name="connsiteX15-311" fmla="*/ 0 w 6858000"/>
              <a:gd name="connsiteY15-312" fmla="*/ 1017157 h 6459417"/>
              <a:gd name="connsiteX16-313" fmla="*/ 6858000 w 6858000"/>
              <a:gd name="connsiteY16-314" fmla="*/ 0 h 6459417"/>
              <a:gd name="connsiteX0-315" fmla="*/ 6858000 w 6858000"/>
              <a:gd name="connsiteY0-316" fmla="*/ 0 h 6459417"/>
              <a:gd name="connsiteX1-317" fmla="*/ 6858000 w 6858000"/>
              <a:gd name="connsiteY1-318" fmla="*/ 1675279 h 6459417"/>
              <a:gd name="connsiteX2-319" fmla="*/ 6858000 w 6858000"/>
              <a:gd name="connsiteY2-320" fmla="*/ 1819701 h 6459417"/>
              <a:gd name="connsiteX3-321" fmla="*/ 6858000 w 6858000"/>
              <a:gd name="connsiteY3-322" fmla="*/ 2278767 h 6459417"/>
              <a:gd name="connsiteX4-323" fmla="*/ 6858000 w 6858000"/>
              <a:gd name="connsiteY4-324" fmla="*/ 3954046 h 6459417"/>
              <a:gd name="connsiteX5-325" fmla="*/ 6858000 w 6858000"/>
              <a:gd name="connsiteY5-326" fmla="*/ 4098468 h 6459417"/>
              <a:gd name="connsiteX6-327" fmla="*/ 6858000 w 6858000"/>
              <a:gd name="connsiteY6-328" fmla="*/ 4180650 h 6459417"/>
              <a:gd name="connsiteX7-329" fmla="*/ 6858000 w 6858000"/>
              <a:gd name="connsiteY7-330" fmla="*/ 6459417 h 6459417"/>
              <a:gd name="connsiteX8-331" fmla="*/ 0 w 6858000"/>
              <a:gd name="connsiteY8-332" fmla="*/ 6459417 h 6459417"/>
              <a:gd name="connsiteX9-333" fmla="*/ 0 w 6858000"/>
              <a:gd name="connsiteY9-334" fmla="*/ 4180650 h 6459417"/>
              <a:gd name="connsiteX10-335" fmla="*/ 0 w 6858000"/>
              <a:gd name="connsiteY10-336" fmla="*/ 4098468 h 6459417"/>
              <a:gd name="connsiteX11-337" fmla="*/ 0 w 6858000"/>
              <a:gd name="connsiteY11-338" fmla="*/ 3954046 h 6459417"/>
              <a:gd name="connsiteX12-339" fmla="*/ 0 w 6858000"/>
              <a:gd name="connsiteY12-340" fmla="*/ 3295924 h 6459417"/>
              <a:gd name="connsiteX13-341" fmla="*/ 0 w 6858000"/>
              <a:gd name="connsiteY13-342" fmla="*/ 1819701 h 6459417"/>
              <a:gd name="connsiteX14-343" fmla="*/ 0 w 6858000"/>
              <a:gd name="connsiteY14-344" fmla="*/ 1675279 h 6459417"/>
              <a:gd name="connsiteX15-345" fmla="*/ 0 w 6858000"/>
              <a:gd name="connsiteY15-346" fmla="*/ 1017157 h 6459417"/>
              <a:gd name="connsiteX16-347" fmla="*/ 6858000 w 6858000"/>
              <a:gd name="connsiteY16-348" fmla="*/ 0 h 6459417"/>
              <a:gd name="connsiteX0-349" fmla="*/ 6858000 w 6858000"/>
              <a:gd name="connsiteY0-350" fmla="*/ 0 h 6459417"/>
              <a:gd name="connsiteX1-351" fmla="*/ 6858000 w 6858000"/>
              <a:gd name="connsiteY1-352" fmla="*/ 1675279 h 6459417"/>
              <a:gd name="connsiteX2-353" fmla="*/ 6858000 w 6858000"/>
              <a:gd name="connsiteY2-354" fmla="*/ 1819701 h 6459417"/>
              <a:gd name="connsiteX3-355" fmla="*/ 6858000 w 6858000"/>
              <a:gd name="connsiteY3-356" fmla="*/ 2278767 h 6459417"/>
              <a:gd name="connsiteX4-357" fmla="*/ 6858000 w 6858000"/>
              <a:gd name="connsiteY4-358" fmla="*/ 3954046 h 6459417"/>
              <a:gd name="connsiteX5-359" fmla="*/ 6858000 w 6858000"/>
              <a:gd name="connsiteY5-360" fmla="*/ 4098468 h 6459417"/>
              <a:gd name="connsiteX6-361" fmla="*/ 6858000 w 6858000"/>
              <a:gd name="connsiteY6-362" fmla="*/ 4180650 h 6459417"/>
              <a:gd name="connsiteX7-363" fmla="*/ 6858000 w 6858000"/>
              <a:gd name="connsiteY7-364" fmla="*/ 6459417 h 6459417"/>
              <a:gd name="connsiteX8-365" fmla="*/ 0 w 6858000"/>
              <a:gd name="connsiteY8-366" fmla="*/ 6459417 h 6459417"/>
              <a:gd name="connsiteX9-367" fmla="*/ 0 w 6858000"/>
              <a:gd name="connsiteY9-368" fmla="*/ 4180650 h 6459417"/>
              <a:gd name="connsiteX10-369" fmla="*/ 0 w 6858000"/>
              <a:gd name="connsiteY10-370" fmla="*/ 4098468 h 6459417"/>
              <a:gd name="connsiteX11-371" fmla="*/ 0 w 6858000"/>
              <a:gd name="connsiteY11-372" fmla="*/ 3954046 h 6459417"/>
              <a:gd name="connsiteX12-373" fmla="*/ 0 w 6858000"/>
              <a:gd name="connsiteY12-374" fmla="*/ 3295924 h 6459417"/>
              <a:gd name="connsiteX13-375" fmla="*/ 0 w 6858000"/>
              <a:gd name="connsiteY13-376" fmla="*/ 1819701 h 6459417"/>
              <a:gd name="connsiteX14-377" fmla="*/ 0 w 6858000"/>
              <a:gd name="connsiteY14-378" fmla="*/ 1675279 h 6459417"/>
              <a:gd name="connsiteX15-379" fmla="*/ 0 w 6858000"/>
              <a:gd name="connsiteY15-380" fmla="*/ 1017157 h 6459417"/>
              <a:gd name="connsiteX16-381" fmla="*/ 6858000 w 6858000"/>
              <a:gd name="connsiteY16-382" fmla="*/ 0 h 6459417"/>
              <a:gd name="connsiteX0-383" fmla="*/ 6858000 w 6858000"/>
              <a:gd name="connsiteY0-384" fmla="*/ 0 h 6459417"/>
              <a:gd name="connsiteX1-385" fmla="*/ 6858000 w 6858000"/>
              <a:gd name="connsiteY1-386" fmla="*/ 1675279 h 6459417"/>
              <a:gd name="connsiteX2-387" fmla="*/ 6858000 w 6858000"/>
              <a:gd name="connsiteY2-388" fmla="*/ 1819701 h 6459417"/>
              <a:gd name="connsiteX3-389" fmla="*/ 6858000 w 6858000"/>
              <a:gd name="connsiteY3-390" fmla="*/ 2278767 h 6459417"/>
              <a:gd name="connsiteX4-391" fmla="*/ 6858000 w 6858000"/>
              <a:gd name="connsiteY4-392" fmla="*/ 3954046 h 6459417"/>
              <a:gd name="connsiteX5-393" fmla="*/ 6858000 w 6858000"/>
              <a:gd name="connsiteY5-394" fmla="*/ 4098468 h 6459417"/>
              <a:gd name="connsiteX6-395" fmla="*/ 6858000 w 6858000"/>
              <a:gd name="connsiteY6-396" fmla="*/ 4180650 h 6459417"/>
              <a:gd name="connsiteX7-397" fmla="*/ 6858000 w 6858000"/>
              <a:gd name="connsiteY7-398" fmla="*/ 6459417 h 6459417"/>
              <a:gd name="connsiteX8-399" fmla="*/ 0 w 6858000"/>
              <a:gd name="connsiteY8-400" fmla="*/ 6459417 h 6459417"/>
              <a:gd name="connsiteX9-401" fmla="*/ 0 w 6858000"/>
              <a:gd name="connsiteY9-402" fmla="*/ 4180650 h 6459417"/>
              <a:gd name="connsiteX10-403" fmla="*/ 0 w 6858000"/>
              <a:gd name="connsiteY10-404" fmla="*/ 4098468 h 6459417"/>
              <a:gd name="connsiteX11-405" fmla="*/ 0 w 6858000"/>
              <a:gd name="connsiteY11-406" fmla="*/ 3954046 h 6459417"/>
              <a:gd name="connsiteX12-407" fmla="*/ 0 w 6858000"/>
              <a:gd name="connsiteY12-408" fmla="*/ 3295924 h 6459417"/>
              <a:gd name="connsiteX13-409" fmla="*/ 0 w 6858000"/>
              <a:gd name="connsiteY13-410" fmla="*/ 1819701 h 6459417"/>
              <a:gd name="connsiteX14-411" fmla="*/ 0 w 6858000"/>
              <a:gd name="connsiteY14-412" fmla="*/ 1675279 h 6459417"/>
              <a:gd name="connsiteX15-413" fmla="*/ 0 w 6858000"/>
              <a:gd name="connsiteY15-414" fmla="*/ 1017157 h 6459417"/>
              <a:gd name="connsiteX16-415" fmla="*/ 6858000 w 6858000"/>
              <a:gd name="connsiteY16-416" fmla="*/ 0 h 6459417"/>
              <a:gd name="connsiteX0-417" fmla="*/ 6858003 w 6858003"/>
              <a:gd name="connsiteY0-418" fmla="*/ 0 h 6735189"/>
              <a:gd name="connsiteX1-419" fmla="*/ 6858000 w 6858003"/>
              <a:gd name="connsiteY1-420" fmla="*/ 1951051 h 6735189"/>
              <a:gd name="connsiteX2-421" fmla="*/ 6858000 w 6858003"/>
              <a:gd name="connsiteY2-422" fmla="*/ 2095473 h 6735189"/>
              <a:gd name="connsiteX3-423" fmla="*/ 6858000 w 6858003"/>
              <a:gd name="connsiteY3-424" fmla="*/ 2554539 h 6735189"/>
              <a:gd name="connsiteX4-425" fmla="*/ 6858000 w 6858003"/>
              <a:gd name="connsiteY4-426" fmla="*/ 4229818 h 6735189"/>
              <a:gd name="connsiteX5-427" fmla="*/ 6858000 w 6858003"/>
              <a:gd name="connsiteY5-428" fmla="*/ 4374240 h 6735189"/>
              <a:gd name="connsiteX6-429" fmla="*/ 6858000 w 6858003"/>
              <a:gd name="connsiteY6-430" fmla="*/ 4456422 h 6735189"/>
              <a:gd name="connsiteX7-431" fmla="*/ 6858000 w 6858003"/>
              <a:gd name="connsiteY7-432" fmla="*/ 6735189 h 6735189"/>
              <a:gd name="connsiteX8-433" fmla="*/ 0 w 6858003"/>
              <a:gd name="connsiteY8-434" fmla="*/ 6735189 h 6735189"/>
              <a:gd name="connsiteX9-435" fmla="*/ 0 w 6858003"/>
              <a:gd name="connsiteY9-436" fmla="*/ 4456422 h 6735189"/>
              <a:gd name="connsiteX10-437" fmla="*/ 0 w 6858003"/>
              <a:gd name="connsiteY10-438" fmla="*/ 4374240 h 6735189"/>
              <a:gd name="connsiteX11-439" fmla="*/ 0 w 6858003"/>
              <a:gd name="connsiteY11-440" fmla="*/ 4229818 h 6735189"/>
              <a:gd name="connsiteX12-441" fmla="*/ 0 w 6858003"/>
              <a:gd name="connsiteY12-442" fmla="*/ 3571696 h 6735189"/>
              <a:gd name="connsiteX13-443" fmla="*/ 0 w 6858003"/>
              <a:gd name="connsiteY13-444" fmla="*/ 2095473 h 6735189"/>
              <a:gd name="connsiteX14-445" fmla="*/ 0 w 6858003"/>
              <a:gd name="connsiteY14-446" fmla="*/ 1951051 h 6735189"/>
              <a:gd name="connsiteX15-447" fmla="*/ 0 w 6858003"/>
              <a:gd name="connsiteY15-448" fmla="*/ 1292929 h 6735189"/>
              <a:gd name="connsiteX16-449" fmla="*/ 6858003 w 6858003"/>
              <a:gd name="connsiteY16-450" fmla="*/ 0 h 6735189"/>
              <a:gd name="connsiteX0-451" fmla="*/ 6858003 w 6858003"/>
              <a:gd name="connsiteY0-452" fmla="*/ 0 h 6735189"/>
              <a:gd name="connsiteX1-453" fmla="*/ 6858000 w 6858003"/>
              <a:gd name="connsiteY1-454" fmla="*/ 1951051 h 6735189"/>
              <a:gd name="connsiteX2-455" fmla="*/ 6858000 w 6858003"/>
              <a:gd name="connsiteY2-456" fmla="*/ 2095473 h 6735189"/>
              <a:gd name="connsiteX3-457" fmla="*/ 6858000 w 6858003"/>
              <a:gd name="connsiteY3-458" fmla="*/ 2554539 h 6735189"/>
              <a:gd name="connsiteX4-459" fmla="*/ 6858000 w 6858003"/>
              <a:gd name="connsiteY4-460" fmla="*/ 4229818 h 6735189"/>
              <a:gd name="connsiteX5-461" fmla="*/ 6858000 w 6858003"/>
              <a:gd name="connsiteY5-462" fmla="*/ 4374240 h 6735189"/>
              <a:gd name="connsiteX6-463" fmla="*/ 6858000 w 6858003"/>
              <a:gd name="connsiteY6-464" fmla="*/ 4456422 h 6735189"/>
              <a:gd name="connsiteX7-465" fmla="*/ 6858000 w 6858003"/>
              <a:gd name="connsiteY7-466" fmla="*/ 6735189 h 6735189"/>
              <a:gd name="connsiteX8-467" fmla="*/ 0 w 6858003"/>
              <a:gd name="connsiteY8-468" fmla="*/ 6735189 h 6735189"/>
              <a:gd name="connsiteX9-469" fmla="*/ 0 w 6858003"/>
              <a:gd name="connsiteY9-470" fmla="*/ 4456422 h 6735189"/>
              <a:gd name="connsiteX10-471" fmla="*/ 0 w 6858003"/>
              <a:gd name="connsiteY10-472" fmla="*/ 4374240 h 6735189"/>
              <a:gd name="connsiteX11-473" fmla="*/ 0 w 6858003"/>
              <a:gd name="connsiteY11-474" fmla="*/ 4229818 h 6735189"/>
              <a:gd name="connsiteX12-475" fmla="*/ 0 w 6858003"/>
              <a:gd name="connsiteY12-476" fmla="*/ 3571696 h 6735189"/>
              <a:gd name="connsiteX13-477" fmla="*/ 0 w 6858003"/>
              <a:gd name="connsiteY13-478" fmla="*/ 2095473 h 6735189"/>
              <a:gd name="connsiteX14-479" fmla="*/ 0 w 6858003"/>
              <a:gd name="connsiteY14-480" fmla="*/ 1951051 h 6735189"/>
              <a:gd name="connsiteX15-481" fmla="*/ 0 w 6858003"/>
              <a:gd name="connsiteY15-482" fmla="*/ 1292929 h 6735189"/>
              <a:gd name="connsiteX16-483" fmla="*/ 6858003 w 6858003"/>
              <a:gd name="connsiteY16-484" fmla="*/ 0 h 6735189"/>
              <a:gd name="connsiteX0-485" fmla="*/ 6858003 w 6858003"/>
              <a:gd name="connsiteY0-486" fmla="*/ 0 h 6735189"/>
              <a:gd name="connsiteX1-487" fmla="*/ 6858000 w 6858003"/>
              <a:gd name="connsiteY1-488" fmla="*/ 1951051 h 6735189"/>
              <a:gd name="connsiteX2-489" fmla="*/ 6858000 w 6858003"/>
              <a:gd name="connsiteY2-490" fmla="*/ 2095473 h 6735189"/>
              <a:gd name="connsiteX3-491" fmla="*/ 6858000 w 6858003"/>
              <a:gd name="connsiteY3-492" fmla="*/ 2554539 h 6735189"/>
              <a:gd name="connsiteX4-493" fmla="*/ 6858000 w 6858003"/>
              <a:gd name="connsiteY4-494" fmla="*/ 4229818 h 6735189"/>
              <a:gd name="connsiteX5-495" fmla="*/ 6858000 w 6858003"/>
              <a:gd name="connsiteY5-496" fmla="*/ 4374240 h 6735189"/>
              <a:gd name="connsiteX6-497" fmla="*/ 6858000 w 6858003"/>
              <a:gd name="connsiteY6-498" fmla="*/ 4456422 h 6735189"/>
              <a:gd name="connsiteX7-499" fmla="*/ 6858000 w 6858003"/>
              <a:gd name="connsiteY7-500" fmla="*/ 6735189 h 6735189"/>
              <a:gd name="connsiteX8-501" fmla="*/ 0 w 6858003"/>
              <a:gd name="connsiteY8-502" fmla="*/ 6735189 h 6735189"/>
              <a:gd name="connsiteX9-503" fmla="*/ 0 w 6858003"/>
              <a:gd name="connsiteY9-504" fmla="*/ 4456422 h 6735189"/>
              <a:gd name="connsiteX10-505" fmla="*/ 0 w 6858003"/>
              <a:gd name="connsiteY10-506" fmla="*/ 4374240 h 6735189"/>
              <a:gd name="connsiteX11-507" fmla="*/ 0 w 6858003"/>
              <a:gd name="connsiteY11-508" fmla="*/ 4229818 h 6735189"/>
              <a:gd name="connsiteX12-509" fmla="*/ 0 w 6858003"/>
              <a:gd name="connsiteY12-510" fmla="*/ 3571696 h 6735189"/>
              <a:gd name="connsiteX13-511" fmla="*/ 0 w 6858003"/>
              <a:gd name="connsiteY13-512" fmla="*/ 2095473 h 6735189"/>
              <a:gd name="connsiteX14-513" fmla="*/ 0 w 6858003"/>
              <a:gd name="connsiteY14-514" fmla="*/ 1951051 h 6735189"/>
              <a:gd name="connsiteX15-515" fmla="*/ 0 w 6858003"/>
              <a:gd name="connsiteY15-516" fmla="*/ 1292929 h 6735189"/>
              <a:gd name="connsiteX16-517" fmla="*/ 6858003 w 6858003"/>
              <a:gd name="connsiteY16-518" fmla="*/ 0 h 6735189"/>
              <a:gd name="connsiteX0-519" fmla="*/ 6858003 w 6858003"/>
              <a:gd name="connsiteY0-520" fmla="*/ 0 h 6735189"/>
              <a:gd name="connsiteX1-521" fmla="*/ 6858000 w 6858003"/>
              <a:gd name="connsiteY1-522" fmla="*/ 1951051 h 6735189"/>
              <a:gd name="connsiteX2-523" fmla="*/ 6858000 w 6858003"/>
              <a:gd name="connsiteY2-524" fmla="*/ 2095473 h 6735189"/>
              <a:gd name="connsiteX3-525" fmla="*/ 6858000 w 6858003"/>
              <a:gd name="connsiteY3-526" fmla="*/ 2554539 h 6735189"/>
              <a:gd name="connsiteX4-527" fmla="*/ 6858000 w 6858003"/>
              <a:gd name="connsiteY4-528" fmla="*/ 4229818 h 6735189"/>
              <a:gd name="connsiteX5-529" fmla="*/ 6858000 w 6858003"/>
              <a:gd name="connsiteY5-530" fmla="*/ 4374240 h 6735189"/>
              <a:gd name="connsiteX6-531" fmla="*/ 6858000 w 6858003"/>
              <a:gd name="connsiteY6-532" fmla="*/ 4456422 h 6735189"/>
              <a:gd name="connsiteX7-533" fmla="*/ 6858000 w 6858003"/>
              <a:gd name="connsiteY7-534" fmla="*/ 6735189 h 6735189"/>
              <a:gd name="connsiteX8-535" fmla="*/ 0 w 6858003"/>
              <a:gd name="connsiteY8-536" fmla="*/ 6735189 h 6735189"/>
              <a:gd name="connsiteX9-537" fmla="*/ 0 w 6858003"/>
              <a:gd name="connsiteY9-538" fmla="*/ 4456422 h 6735189"/>
              <a:gd name="connsiteX10-539" fmla="*/ 0 w 6858003"/>
              <a:gd name="connsiteY10-540" fmla="*/ 4374240 h 6735189"/>
              <a:gd name="connsiteX11-541" fmla="*/ 0 w 6858003"/>
              <a:gd name="connsiteY11-542" fmla="*/ 4229818 h 6735189"/>
              <a:gd name="connsiteX12-543" fmla="*/ 0 w 6858003"/>
              <a:gd name="connsiteY12-544" fmla="*/ 3571696 h 6735189"/>
              <a:gd name="connsiteX13-545" fmla="*/ 0 w 6858003"/>
              <a:gd name="connsiteY13-546" fmla="*/ 2095473 h 6735189"/>
              <a:gd name="connsiteX14-547" fmla="*/ 0 w 6858003"/>
              <a:gd name="connsiteY14-548" fmla="*/ 1951051 h 6735189"/>
              <a:gd name="connsiteX15-549" fmla="*/ 0 w 6858003"/>
              <a:gd name="connsiteY15-550" fmla="*/ 1292929 h 6735189"/>
              <a:gd name="connsiteX16-551" fmla="*/ 6858003 w 6858003"/>
              <a:gd name="connsiteY16-552" fmla="*/ 0 h 6735189"/>
              <a:gd name="connsiteX0-553" fmla="*/ 6858003 w 6858003"/>
              <a:gd name="connsiteY0-554" fmla="*/ 0 h 6735189"/>
              <a:gd name="connsiteX1-555" fmla="*/ 6858000 w 6858003"/>
              <a:gd name="connsiteY1-556" fmla="*/ 1951051 h 6735189"/>
              <a:gd name="connsiteX2-557" fmla="*/ 6858000 w 6858003"/>
              <a:gd name="connsiteY2-558" fmla="*/ 2095473 h 6735189"/>
              <a:gd name="connsiteX3-559" fmla="*/ 6858000 w 6858003"/>
              <a:gd name="connsiteY3-560" fmla="*/ 2554539 h 6735189"/>
              <a:gd name="connsiteX4-561" fmla="*/ 6858000 w 6858003"/>
              <a:gd name="connsiteY4-562" fmla="*/ 4229818 h 6735189"/>
              <a:gd name="connsiteX5-563" fmla="*/ 6858000 w 6858003"/>
              <a:gd name="connsiteY5-564" fmla="*/ 4374240 h 6735189"/>
              <a:gd name="connsiteX6-565" fmla="*/ 6858000 w 6858003"/>
              <a:gd name="connsiteY6-566" fmla="*/ 4456422 h 6735189"/>
              <a:gd name="connsiteX7-567" fmla="*/ 6858000 w 6858003"/>
              <a:gd name="connsiteY7-568" fmla="*/ 6735189 h 6735189"/>
              <a:gd name="connsiteX8-569" fmla="*/ 0 w 6858003"/>
              <a:gd name="connsiteY8-570" fmla="*/ 6735189 h 6735189"/>
              <a:gd name="connsiteX9-571" fmla="*/ 0 w 6858003"/>
              <a:gd name="connsiteY9-572" fmla="*/ 4456422 h 6735189"/>
              <a:gd name="connsiteX10-573" fmla="*/ 0 w 6858003"/>
              <a:gd name="connsiteY10-574" fmla="*/ 4374240 h 6735189"/>
              <a:gd name="connsiteX11-575" fmla="*/ 0 w 6858003"/>
              <a:gd name="connsiteY11-576" fmla="*/ 4229818 h 6735189"/>
              <a:gd name="connsiteX12-577" fmla="*/ 0 w 6858003"/>
              <a:gd name="connsiteY12-578" fmla="*/ 3571696 h 6735189"/>
              <a:gd name="connsiteX13-579" fmla="*/ 0 w 6858003"/>
              <a:gd name="connsiteY13-580" fmla="*/ 2095473 h 6735189"/>
              <a:gd name="connsiteX14-581" fmla="*/ 0 w 6858003"/>
              <a:gd name="connsiteY14-582" fmla="*/ 1951051 h 6735189"/>
              <a:gd name="connsiteX15-583" fmla="*/ 0 w 6858003"/>
              <a:gd name="connsiteY15-584" fmla="*/ 1292929 h 6735189"/>
              <a:gd name="connsiteX16-585" fmla="*/ 6858003 w 6858003"/>
              <a:gd name="connsiteY16-586" fmla="*/ 0 h 6735189"/>
              <a:gd name="connsiteX0-587" fmla="*/ 6858003 w 6858003"/>
              <a:gd name="connsiteY0-588" fmla="*/ 0 h 7431875"/>
              <a:gd name="connsiteX1-589" fmla="*/ 6858000 w 6858003"/>
              <a:gd name="connsiteY1-590" fmla="*/ 2647737 h 7431875"/>
              <a:gd name="connsiteX2-591" fmla="*/ 6858000 w 6858003"/>
              <a:gd name="connsiteY2-592" fmla="*/ 2792159 h 7431875"/>
              <a:gd name="connsiteX3-593" fmla="*/ 6858000 w 6858003"/>
              <a:gd name="connsiteY3-594" fmla="*/ 3251225 h 7431875"/>
              <a:gd name="connsiteX4-595" fmla="*/ 6858000 w 6858003"/>
              <a:gd name="connsiteY4-596" fmla="*/ 4926504 h 7431875"/>
              <a:gd name="connsiteX5-597" fmla="*/ 6858000 w 6858003"/>
              <a:gd name="connsiteY5-598" fmla="*/ 5070926 h 7431875"/>
              <a:gd name="connsiteX6-599" fmla="*/ 6858000 w 6858003"/>
              <a:gd name="connsiteY6-600" fmla="*/ 5153108 h 7431875"/>
              <a:gd name="connsiteX7-601" fmla="*/ 6858000 w 6858003"/>
              <a:gd name="connsiteY7-602" fmla="*/ 7431875 h 7431875"/>
              <a:gd name="connsiteX8-603" fmla="*/ 0 w 6858003"/>
              <a:gd name="connsiteY8-604" fmla="*/ 7431875 h 7431875"/>
              <a:gd name="connsiteX9-605" fmla="*/ 0 w 6858003"/>
              <a:gd name="connsiteY9-606" fmla="*/ 5153108 h 7431875"/>
              <a:gd name="connsiteX10-607" fmla="*/ 0 w 6858003"/>
              <a:gd name="connsiteY10-608" fmla="*/ 5070926 h 7431875"/>
              <a:gd name="connsiteX11-609" fmla="*/ 0 w 6858003"/>
              <a:gd name="connsiteY11-610" fmla="*/ 4926504 h 7431875"/>
              <a:gd name="connsiteX12-611" fmla="*/ 0 w 6858003"/>
              <a:gd name="connsiteY12-612" fmla="*/ 4268382 h 7431875"/>
              <a:gd name="connsiteX13-613" fmla="*/ 0 w 6858003"/>
              <a:gd name="connsiteY13-614" fmla="*/ 2792159 h 7431875"/>
              <a:gd name="connsiteX14-615" fmla="*/ 0 w 6858003"/>
              <a:gd name="connsiteY14-616" fmla="*/ 2647737 h 7431875"/>
              <a:gd name="connsiteX15-617" fmla="*/ 0 w 6858003"/>
              <a:gd name="connsiteY15-618" fmla="*/ 1989615 h 7431875"/>
              <a:gd name="connsiteX16-619" fmla="*/ 6858003 w 6858003"/>
              <a:gd name="connsiteY16-620" fmla="*/ 0 h 7431875"/>
              <a:gd name="connsiteX0-621" fmla="*/ 6872517 w 6872517"/>
              <a:gd name="connsiteY0-622" fmla="*/ 0 h 7431875"/>
              <a:gd name="connsiteX1-623" fmla="*/ 6872514 w 6872517"/>
              <a:gd name="connsiteY1-624" fmla="*/ 2647737 h 7431875"/>
              <a:gd name="connsiteX2-625" fmla="*/ 6872514 w 6872517"/>
              <a:gd name="connsiteY2-626" fmla="*/ 2792159 h 7431875"/>
              <a:gd name="connsiteX3-627" fmla="*/ 6872514 w 6872517"/>
              <a:gd name="connsiteY3-628" fmla="*/ 3251225 h 7431875"/>
              <a:gd name="connsiteX4-629" fmla="*/ 6872514 w 6872517"/>
              <a:gd name="connsiteY4-630" fmla="*/ 4926504 h 7431875"/>
              <a:gd name="connsiteX5-631" fmla="*/ 6872514 w 6872517"/>
              <a:gd name="connsiteY5-632" fmla="*/ 5070926 h 7431875"/>
              <a:gd name="connsiteX6-633" fmla="*/ 6872514 w 6872517"/>
              <a:gd name="connsiteY6-634" fmla="*/ 5153108 h 7431875"/>
              <a:gd name="connsiteX7-635" fmla="*/ 6872514 w 6872517"/>
              <a:gd name="connsiteY7-636" fmla="*/ 7431875 h 7431875"/>
              <a:gd name="connsiteX8-637" fmla="*/ 14514 w 6872517"/>
              <a:gd name="connsiteY8-638" fmla="*/ 7431875 h 7431875"/>
              <a:gd name="connsiteX9-639" fmla="*/ 14514 w 6872517"/>
              <a:gd name="connsiteY9-640" fmla="*/ 5153108 h 7431875"/>
              <a:gd name="connsiteX10-641" fmla="*/ 14514 w 6872517"/>
              <a:gd name="connsiteY10-642" fmla="*/ 5070926 h 7431875"/>
              <a:gd name="connsiteX11-643" fmla="*/ 14514 w 6872517"/>
              <a:gd name="connsiteY11-644" fmla="*/ 4926504 h 7431875"/>
              <a:gd name="connsiteX12-645" fmla="*/ 14514 w 6872517"/>
              <a:gd name="connsiteY12-646" fmla="*/ 4268382 h 7431875"/>
              <a:gd name="connsiteX13-647" fmla="*/ 14514 w 6872517"/>
              <a:gd name="connsiteY13-648" fmla="*/ 2792159 h 7431875"/>
              <a:gd name="connsiteX14-649" fmla="*/ 14514 w 6872517"/>
              <a:gd name="connsiteY14-650" fmla="*/ 2647737 h 7431875"/>
              <a:gd name="connsiteX15-651" fmla="*/ 0 w 6872517"/>
              <a:gd name="connsiteY15-652" fmla="*/ 480129 h 7431875"/>
              <a:gd name="connsiteX16-653" fmla="*/ 6872517 w 6872517"/>
              <a:gd name="connsiteY16-654" fmla="*/ 0 h 7431875"/>
              <a:gd name="connsiteX0-655" fmla="*/ 6858003 w 6858003"/>
              <a:gd name="connsiteY0-656" fmla="*/ 0 h 7431875"/>
              <a:gd name="connsiteX1-657" fmla="*/ 6858000 w 6858003"/>
              <a:gd name="connsiteY1-658" fmla="*/ 2647737 h 7431875"/>
              <a:gd name="connsiteX2-659" fmla="*/ 6858000 w 6858003"/>
              <a:gd name="connsiteY2-660" fmla="*/ 2792159 h 7431875"/>
              <a:gd name="connsiteX3-661" fmla="*/ 6858000 w 6858003"/>
              <a:gd name="connsiteY3-662" fmla="*/ 3251225 h 7431875"/>
              <a:gd name="connsiteX4-663" fmla="*/ 6858000 w 6858003"/>
              <a:gd name="connsiteY4-664" fmla="*/ 4926504 h 7431875"/>
              <a:gd name="connsiteX5-665" fmla="*/ 6858000 w 6858003"/>
              <a:gd name="connsiteY5-666" fmla="*/ 5070926 h 7431875"/>
              <a:gd name="connsiteX6-667" fmla="*/ 6858000 w 6858003"/>
              <a:gd name="connsiteY6-668" fmla="*/ 5153108 h 7431875"/>
              <a:gd name="connsiteX7-669" fmla="*/ 6858000 w 6858003"/>
              <a:gd name="connsiteY7-670" fmla="*/ 7431875 h 7431875"/>
              <a:gd name="connsiteX8-671" fmla="*/ 0 w 6858003"/>
              <a:gd name="connsiteY8-672" fmla="*/ 7431875 h 7431875"/>
              <a:gd name="connsiteX9-673" fmla="*/ 0 w 6858003"/>
              <a:gd name="connsiteY9-674" fmla="*/ 5153108 h 7431875"/>
              <a:gd name="connsiteX10-675" fmla="*/ 0 w 6858003"/>
              <a:gd name="connsiteY10-676" fmla="*/ 5070926 h 7431875"/>
              <a:gd name="connsiteX11-677" fmla="*/ 0 w 6858003"/>
              <a:gd name="connsiteY11-678" fmla="*/ 4926504 h 7431875"/>
              <a:gd name="connsiteX12-679" fmla="*/ 0 w 6858003"/>
              <a:gd name="connsiteY12-680" fmla="*/ 4268382 h 7431875"/>
              <a:gd name="connsiteX13-681" fmla="*/ 0 w 6858003"/>
              <a:gd name="connsiteY13-682" fmla="*/ 2792159 h 7431875"/>
              <a:gd name="connsiteX14-683" fmla="*/ 0 w 6858003"/>
              <a:gd name="connsiteY14-684" fmla="*/ 2647737 h 7431875"/>
              <a:gd name="connsiteX15-685" fmla="*/ 0 w 6858003"/>
              <a:gd name="connsiteY15-686" fmla="*/ 552701 h 7431875"/>
              <a:gd name="connsiteX16-687" fmla="*/ 6858003 w 6858003"/>
              <a:gd name="connsiteY16-688" fmla="*/ 0 h 7431875"/>
              <a:gd name="connsiteX0-689" fmla="*/ 6858003 w 6858003"/>
              <a:gd name="connsiteY0-690" fmla="*/ 0 h 7431875"/>
              <a:gd name="connsiteX1-691" fmla="*/ 6858000 w 6858003"/>
              <a:gd name="connsiteY1-692" fmla="*/ 2647737 h 7431875"/>
              <a:gd name="connsiteX2-693" fmla="*/ 6858000 w 6858003"/>
              <a:gd name="connsiteY2-694" fmla="*/ 2792159 h 7431875"/>
              <a:gd name="connsiteX3-695" fmla="*/ 6858000 w 6858003"/>
              <a:gd name="connsiteY3-696" fmla="*/ 3251225 h 7431875"/>
              <a:gd name="connsiteX4-697" fmla="*/ 6858000 w 6858003"/>
              <a:gd name="connsiteY4-698" fmla="*/ 4926504 h 7431875"/>
              <a:gd name="connsiteX5-699" fmla="*/ 6858000 w 6858003"/>
              <a:gd name="connsiteY5-700" fmla="*/ 5070926 h 7431875"/>
              <a:gd name="connsiteX6-701" fmla="*/ 6858000 w 6858003"/>
              <a:gd name="connsiteY6-702" fmla="*/ 5153108 h 7431875"/>
              <a:gd name="connsiteX7-703" fmla="*/ 6858000 w 6858003"/>
              <a:gd name="connsiteY7-704" fmla="*/ 7431875 h 7431875"/>
              <a:gd name="connsiteX8-705" fmla="*/ 0 w 6858003"/>
              <a:gd name="connsiteY8-706" fmla="*/ 7431875 h 7431875"/>
              <a:gd name="connsiteX9-707" fmla="*/ 0 w 6858003"/>
              <a:gd name="connsiteY9-708" fmla="*/ 5153108 h 7431875"/>
              <a:gd name="connsiteX10-709" fmla="*/ 0 w 6858003"/>
              <a:gd name="connsiteY10-710" fmla="*/ 5070926 h 7431875"/>
              <a:gd name="connsiteX11-711" fmla="*/ 0 w 6858003"/>
              <a:gd name="connsiteY11-712" fmla="*/ 4926504 h 7431875"/>
              <a:gd name="connsiteX12-713" fmla="*/ 0 w 6858003"/>
              <a:gd name="connsiteY12-714" fmla="*/ 4268382 h 7431875"/>
              <a:gd name="connsiteX13-715" fmla="*/ 0 w 6858003"/>
              <a:gd name="connsiteY13-716" fmla="*/ 2792159 h 7431875"/>
              <a:gd name="connsiteX14-717" fmla="*/ 0 w 6858003"/>
              <a:gd name="connsiteY14-718" fmla="*/ 552701 h 7431875"/>
              <a:gd name="connsiteX15-719" fmla="*/ 6858003 w 6858003"/>
              <a:gd name="connsiteY15-720" fmla="*/ 0 h 7431875"/>
              <a:gd name="connsiteX0-721" fmla="*/ 6858003 w 6858003"/>
              <a:gd name="connsiteY0-722" fmla="*/ 0 h 7431875"/>
              <a:gd name="connsiteX1-723" fmla="*/ 6858000 w 6858003"/>
              <a:gd name="connsiteY1-724" fmla="*/ 2647737 h 7431875"/>
              <a:gd name="connsiteX2-725" fmla="*/ 6858000 w 6858003"/>
              <a:gd name="connsiteY2-726" fmla="*/ 2792159 h 7431875"/>
              <a:gd name="connsiteX3-727" fmla="*/ 6858000 w 6858003"/>
              <a:gd name="connsiteY3-728" fmla="*/ 3251225 h 7431875"/>
              <a:gd name="connsiteX4-729" fmla="*/ 6858000 w 6858003"/>
              <a:gd name="connsiteY4-730" fmla="*/ 4926504 h 7431875"/>
              <a:gd name="connsiteX5-731" fmla="*/ 6858000 w 6858003"/>
              <a:gd name="connsiteY5-732" fmla="*/ 5070926 h 7431875"/>
              <a:gd name="connsiteX6-733" fmla="*/ 6858000 w 6858003"/>
              <a:gd name="connsiteY6-734" fmla="*/ 5153108 h 7431875"/>
              <a:gd name="connsiteX7-735" fmla="*/ 6858000 w 6858003"/>
              <a:gd name="connsiteY7-736" fmla="*/ 7431875 h 7431875"/>
              <a:gd name="connsiteX8-737" fmla="*/ 0 w 6858003"/>
              <a:gd name="connsiteY8-738" fmla="*/ 7431875 h 7431875"/>
              <a:gd name="connsiteX9-739" fmla="*/ 0 w 6858003"/>
              <a:gd name="connsiteY9-740" fmla="*/ 5153108 h 7431875"/>
              <a:gd name="connsiteX10-741" fmla="*/ 0 w 6858003"/>
              <a:gd name="connsiteY10-742" fmla="*/ 5070926 h 7431875"/>
              <a:gd name="connsiteX11-743" fmla="*/ 0 w 6858003"/>
              <a:gd name="connsiteY11-744" fmla="*/ 4926504 h 7431875"/>
              <a:gd name="connsiteX12-745" fmla="*/ 0 w 6858003"/>
              <a:gd name="connsiteY12-746" fmla="*/ 4268382 h 7431875"/>
              <a:gd name="connsiteX13-747" fmla="*/ 0 w 6858003"/>
              <a:gd name="connsiteY13-748" fmla="*/ 552701 h 7431875"/>
              <a:gd name="connsiteX14-749" fmla="*/ 6858003 w 6858003"/>
              <a:gd name="connsiteY14-750" fmla="*/ 0 h 7431875"/>
              <a:gd name="connsiteX0-751" fmla="*/ 6858003 w 6858003"/>
              <a:gd name="connsiteY0-752" fmla="*/ 0 h 7431875"/>
              <a:gd name="connsiteX1-753" fmla="*/ 6858000 w 6858003"/>
              <a:gd name="connsiteY1-754" fmla="*/ 2647737 h 7431875"/>
              <a:gd name="connsiteX2-755" fmla="*/ 6858000 w 6858003"/>
              <a:gd name="connsiteY2-756" fmla="*/ 2792159 h 7431875"/>
              <a:gd name="connsiteX3-757" fmla="*/ 6858000 w 6858003"/>
              <a:gd name="connsiteY3-758" fmla="*/ 3251225 h 7431875"/>
              <a:gd name="connsiteX4-759" fmla="*/ 6858000 w 6858003"/>
              <a:gd name="connsiteY4-760" fmla="*/ 4926504 h 7431875"/>
              <a:gd name="connsiteX5-761" fmla="*/ 6858000 w 6858003"/>
              <a:gd name="connsiteY5-762" fmla="*/ 5070926 h 7431875"/>
              <a:gd name="connsiteX6-763" fmla="*/ 6858000 w 6858003"/>
              <a:gd name="connsiteY6-764" fmla="*/ 5153108 h 7431875"/>
              <a:gd name="connsiteX7-765" fmla="*/ 6858000 w 6858003"/>
              <a:gd name="connsiteY7-766" fmla="*/ 7431875 h 7431875"/>
              <a:gd name="connsiteX8-767" fmla="*/ 0 w 6858003"/>
              <a:gd name="connsiteY8-768" fmla="*/ 7431875 h 7431875"/>
              <a:gd name="connsiteX9-769" fmla="*/ 0 w 6858003"/>
              <a:gd name="connsiteY9-770" fmla="*/ 5153108 h 7431875"/>
              <a:gd name="connsiteX10-771" fmla="*/ 0 w 6858003"/>
              <a:gd name="connsiteY10-772" fmla="*/ 5070926 h 7431875"/>
              <a:gd name="connsiteX11-773" fmla="*/ 0 w 6858003"/>
              <a:gd name="connsiteY11-774" fmla="*/ 4926504 h 7431875"/>
              <a:gd name="connsiteX12-775" fmla="*/ 0 w 6858003"/>
              <a:gd name="connsiteY12-776" fmla="*/ 552701 h 7431875"/>
              <a:gd name="connsiteX13-777" fmla="*/ 6858003 w 6858003"/>
              <a:gd name="connsiteY13-778" fmla="*/ 0 h 7431875"/>
              <a:gd name="connsiteX0-779" fmla="*/ 6858003 w 6858003"/>
              <a:gd name="connsiteY0-780" fmla="*/ 0 h 7431875"/>
              <a:gd name="connsiteX1-781" fmla="*/ 6858000 w 6858003"/>
              <a:gd name="connsiteY1-782" fmla="*/ 2647737 h 7431875"/>
              <a:gd name="connsiteX2-783" fmla="*/ 6858000 w 6858003"/>
              <a:gd name="connsiteY2-784" fmla="*/ 2792159 h 7431875"/>
              <a:gd name="connsiteX3-785" fmla="*/ 6858000 w 6858003"/>
              <a:gd name="connsiteY3-786" fmla="*/ 3251225 h 7431875"/>
              <a:gd name="connsiteX4-787" fmla="*/ 6858000 w 6858003"/>
              <a:gd name="connsiteY4-788" fmla="*/ 4926504 h 7431875"/>
              <a:gd name="connsiteX5-789" fmla="*/ 6858000 w 6858003"/>
              <a:gd name="connsiteY5-790" fmla="*/ 5070926 h 7431875"/>
              <a:gd name="connsiteX6-791" fmla="*/ 6858000 w 6858003"/>
              <a:gd name="connsiteY6-792" fmla="*/ 5153108 h 7431875"/>
              <a:gd name="connsiteX7-793" fmla="*/ 6858000 w 6858003"/>
              <a:gd name="connsiteY7-794" fmla="*/ 7431875 h 7431875"/>
              <a:gd name="connsiteX8-795" fmla="*/ 0 w 6858003"/>
              <a:gd name="connsiteY8-796" fmla="*/ 7431875 h 7431875"/>
              <a:gd name="connsiteX9-797" fmla="*/ 0 w 6858003"/>
              <a:gd name="connsiteY9-798" fmla="*/ 5153108 h 7431875"/>
              <a:gd name="connsiteX10-799" fmla="*/ 0 w 6858003"/>
              <a:gd name="connsiteY10-800" fmla="*/ 5070926 h 7431875"/>
              <a:gd name="connsiteX11-801" fmla="*/ 0 w 6858003"/>
              <a:gd name="connsiteY11-802" fmla="*/ 552701 h 7431875"/>
              <a:gd name="connsiteX12-803" fmla="*/ 6858003 w 6858003"/>
              <a:gd name="connsiteY12-804" fmla="*/ 0 h 7431875"/>
              <a:gd name="connsiteX0-805" fmla="*/ 6858003 w 6858003"/>
              <a:gd name="connsiteY0-806" fmla="*/ 0 h 7431875"/>
              <a:gd name="connsiteX1-807" fmla="*/ 6858000 w 6858003"/>
              <a:gd name="connsiteY1-808" fmla="*/ 2647737 h 7431875"/>
              <a:gd name="connsiteX2-809" fmla="*/ 6858000 w 6858003"/>
              <a:gd name="connsiteY2-810" fmla="*/ 2792159 h 7431875"/>
              <a:gd name="connsiteX3-811" fmla="*/ 6858000 w 6858003"/>
              <a:gd name="connsiteY3-812" fmla="*/ 3251225 h 7431875"/>
              <a:gd name="connsiteX4-813" fmla="*/ 6858000 w 6858003"/>
              <a:gd name="connsiteY4-814" fmla="*/ 4926504 h 7431875"/>
              <a:gd name="connsiteX5-815" fmla="*/ 6858000 w 6858003"/>
              <a:gd name="connsiteY5-816" fmla="*/ 5070926 h 7431875"/>
              <a:gd name="connsiteX6-817" fmla="*/ 6858000 w 6858003"/>
              <a:gd name="connsiteY6-818" fmla="*/ 5153108 h 7431875"/>
              <a:gd name="connsiteX7-819" fmla="*/ 6858000 w 6858003"/>
              <a:gd name="connsiteY7-820" fmla="*/ 7431875 h 7431875"/>
              <a:gd name="connsiteX8-821" fmla="*/ 0 w 6858003"/>
              <a:gd name="connsiteY8-822" fmla="*/ 7431875 h 7431875"/>
              <a:gd name="connsiteX9-823" fmla="*/ 0 w 6858003"/>
              <a:gd name="connsiteY9-824" fmla="*/ 5153108 h 7431875"/>
              <a:gd name="connsiteX10-825" fmla="*/ 0 w 6858003"/>
              <a:gd name="connsiteY10-826" fmla="*/ 552701 h 7431875"/>
              <a:gd name="connsiteX11-827" fmla="*/ 6858003 w 6858003"/>
              <a:gd name="connsiteY11-828" fmla="*/ 0 h 7431875"/>
              <a:gd name="connsiteX0-829" fmla="*/ 6858003 w 6858003"/>
              <a:gd name="connsiteY0-830" fmla="*/ 0 h 7431875"/>
              <a:gd name="connsiteX1-831" fmla="*/ 6858000 w 6858003"/>
              <a:gd name="connsiteY1-832" fmla="*/ 2647737 h 7431875"/>
              <a:gd name="connsiteX2-833" fmla="*/ 6858000 w 6858003"/>
              <a:gd name="connsiteY2-834" fmla="*/ 2792159 h 7431875"/>
              <a:gd name="connsiteX3-835" fmla="*/ 6858000 w 6858003"/>
              <a:gd name="connsiteY3-836" fmla="*/ 3251225 h 7431875"/>
              <a:gd name="connsiteX4-837" fmla="*/ 6858000 w 6858003"/>
              <a:gd name="connsiteY4-838" fmla="*/ 4926504 h 7431875"/>
              <a:gd name="connsiteX5-839" fmla="*/ 6858000 w 6858003"/>
              <a:gd name="connsiteY5-840" fmla="*/ 5070926 h 7431875"/>
              <a:gd name="connsiteX6-841" fmla="*/ 6858000 w 6858003"/>
              <a:gd name="connsiteY6-842" fmla="*/ 5153108 h 7431875"/>
              <a:gd name="connsiteX7-843" fmla="*/ 6858000 w 6858003"/>
              <a:gd name="connsiteY7-844" fmla="*/ 7431875 h 7431875"/>
              <a:gd name="connsiteX8-845" fmla="*/ 0 w 6858003"/>
              <a:gd name="connsiteY8-846" fmla="*/ 7431875 h 7431875"/>
              <a:gd name="connsiteX9-847" fmla="*/ 0 w 6858003"/>
              <a:gd name="connsiteY9-848" fmla="*/ 552701 h 7431875"/>
              <a:gd name="connsiteX10-849" fmla="*/ 6858003 w 6858003"/>
              <a:gd name="connsiteY10-850" fmla="*/ 0 h 7431875"/>
              <a:gd name="connsiteX0-851" fmla="*/ 6858003 w 6858003"/>
              <a:gd name="connsiteY0-852" fmla="*/ 0 h 7431875"/>
              <a:gd name="connsiteX1-853" fmla="*/ 6858000 w 6858003"/>
              <a:gd name="connsiteY1-854" fmla="*/ 2647737 h 7431875"/>
              <a:gd name="connsiteX2-855" fmla="*/ 6858000 w 6858003"/>
              <a:gd name="connsiteY2-856" fmla="*/ 2792159 h 7431875"/>
              <a:gd name="connsiteX3-857" fmla="*/ 6858000 w 6858003"/>
              <a:gd name="connsiteY3-858" fmla="*/ 3251225 h 7431875"/>
              <a:gd name="connsiteX4-859" fmla="*/ 6858000 w 6858003"/>
              <a:gd name="connsiteY4-860" fmla="*/ 4926504 h 7431875"/>
              <a:gd name="connsiteX5-861" fmla="*/ 6858000 w 6858003"/>
              <a:gd name="connsiteY5-862" fmla="*/ 5070926 h 7431875"/>
              <a:gd name="connsiteX6-863" fmla="*/ 6858000 w 6858003"/>
              <a:gd name="connsiteY6-864" fmla="*/ 7431875 h 7431875"/>
              <a:gd name="connsiteX7-865" fmla="*/ 0 w 6858003"/>
              <a:gd name="connsiteY7-866" fmla="*/ 7431875 h 7431875"/>
              <a:gd name="connsiteX8-867" fmla="*/ 0 w 6858003"/>
              <a:gd name="connsiteY8-868" fmla="*/ 552701 h 7431875"/>
              <a:gd name="connsiteX9-869" fmla="*/ 6858003 w 6858003"/>
              <a:gd name="connsiteY9-870" fmla="*/ 0 h 7431875"/>
              <a:gd name="connsiteX0-871" fmla="*/ 6858003 w 6858003"/>
              <a:gd name="connsiteY0-872" fmla="*/ 0 h 7431875"/>
              <a:gd name="connsiteX1-873" fmla="*/ 6858000 w 6858003"/>
              <a:gd name="connsiteY1-874" fmla="*/ 2647737 h 7431875"/>
              <a:gd name="connsiteX2-875" fmla="*/ 6858000 w 6858003"/>
              <a:gd name="connsiteY2-876" fmla="*/ 2792159 h 7431875"/>
              <a:gd name="connsiteX3-877" fmla="*/ 6858000 w 6858003"/>
              <a:gd name="connsiteY3-878" fmla="*/ 3251225 h 7431875"/>
              <a:gd name="connsiteX4-879" fmla="*/ 6858000 w 6858003"/>
              <a:gd name="connsiteY4-880" fmla="*/ 4926504 h 7431875"/>
              <a:gd name="connsiteX5-881" fmla="*/ 6858000 w 6858003"/>
              <a:gd name="connsiteY5-882" fmla="*/ 7431875 h 7431875"/>
              <a:gd name="connsiteX6-883" fmla="*/ 0 w 6858003"/>
              <a:gd name="connsiteY6-884" fmla="*/ 7431875 h 7431875"/>
              <a:gd name="connsiteX7-885" fmla="*/ 0 w 6858003"/>
              <a:gd name="connsiteY7-886" fmla="*/ 552701 h 7431875"/>
              <a:gd name="connsiteX8-887" fmla="*/ 6858003 w 6858003"/>
              <a:gd name="connsiteY8-888" fmla="*/ 0 h 7431875"/>
              <a:gd name="connsiteX0-889" fmla="*/ 6858003 w 6858003"/>
              <a:gd name="connsiteY0-890" fmla="*/ 0 h 7431875"/>
              <a:gd name="connsiteX1-891" fmla="*/ 6858000 w 6858003"/>
              <a:gd name="connsiteY1-892" fmla="*/ 2647737 h 7431875"/>
              <a:gd name="connsiteX2-893" fmla="*/ 6858000 w 6858003"/>
              <a:gd name="connsiteY2-894" fmla="*/ 2792159 h 7431875"/>
              <a:gd name="connsiteX3-895" fmla="*/ 6858000 w 6858003"/>
              <a:gd name="connsiteY3-896" fmla="*/ 3251225 h 7431875"/>
              <a:gd name="connsiteX4-897" fmla="*/ 6858000 w 6858003"/>
              <a:gd name="connsiteY4-898" fmla="*/ 7431875 h 7431875"/>
              <a:gd name="connsiteX5-899" fmla="*/ 0 w 6858003"/>
              <a:gd name="connsiteY5-900" fmla="*/ 7431875 h 7431875"/>
              <a:gd name="connsiteX6-901" fmla="*/ 0 w 6858003"/>
              <a:gd name="connsiteY6-902" fmla="*/ 552701 h 7431875"/>
              <a:gd name="connsiteX7-903" fmla="*/ 6858003 w 6858003"/>
              <a:gd name="connsiteY7-904" fmla="*/ 0 h 7431875"/>
              <a:gd name="connsiteX0-905" fmla="*/ 6858003 w 6858003"/>
              <a:gd name="connsiteY0-906" fmla="*/ 0 h 7431875"/>
              <a:gd name="connsiteX1-907" fmla="*/ 6858000 w 6858003"/>
              <a:gd name="connsiteY1-908" fmla="*/ 2647737 h 7431875"/>
              <a:gd name="connsiteX2-909" fmla="*/ 6858000 w 6858003"/>
              <a:gd name="connsiteY2-910" fmla="*/ 2792159 h 7431875"/>
              <a:gd name="connsiteX3-911" fmla="*/ 6858000 w 6858003"/>
              <a:gd name="connsiteY3-912" fmla="*/ 7431875 h 7431875"/>
              <a:gd name="connsiteX4-913" fmla="*/ 0 w 6858003"/>
              <a:gd name="connsiteY4-914" fmla="*/ 7431875 h 7431875"/>
              <a:gd name="connsiteX5-915" fmla="*/ 0 w 6858003"/>
              <a:gd name="connsiteY5-916" fmla="*/ 552701 h 7431875"/>
              <a:gd name="connsiteX6-917" fmla="*/ 6858003 w 6858003"/>
              <a:gd name="connsiteY6-918" fmla="*/ 0 h 7431875"/>
              <a:gd name="connsiteX0-919" fmla="*/ 6858003 w 6858003"/>
              <a:gd name="connsiteY0-920" fmla="*/ 0 h 7431875"/>
              <a:gd name="connsiteX1-921" fmla="*/ 6858000 w 6858003"/>
              <a:gd name="connsiteY1-922" fmla="*/ 2647737 h 7431875"/>
              <a:gd name="connsiteX2-923" fmla="*/ 6858000 w 6858003"/>
              <a:gd name="connsiteY2-924" fmla="*/ 7431875 h 7431875"/>
              <a:gd name="connsiteX3-925" fmla="*/ 0 w 6858003"/>
              <a:gd name="connsiteY3-926" fmla="*/ 7431875 h 7431875"/>
              <a:gd name="connsiteX4-927" fmla="*/ 0 w 6858003"/>
              <a:gd name="connsiteY4-928" fmla="*/ 552701 h 7431875"/>
              <a:gd name="connsiteX5-929" fmla="*/ 6858003 w 6858003"/>
              <a:gd name="connsiteY5-930" fmla="*/ 0 h 7431875"/>
              <a:gd name="connsiteX0-931" fmla="*/ 6872517 w 6872517"/>
              <a:gd name="connsiteY0-932" fmla="*/ 42385 h 6879174"/>
              <a:gd name="connsiteX1-933" fmla="*/ 6858000 w 6872517"/>
              <a:gd name="connsiteY1-934" fmla="*/ 2095036 h 6879174"/>
              <a:gd name="connsiteX2-935" fmla="*/ 6858000 w 6872517"/>
              <a:gd name="connsiteY2-936" fmla="*/ 6879174 h 6879174"/>
              <a:gd name="connsiteX3-937" fmla="*/ 0 w 6872517"/>
              <a:gd name="connsiteY3-938" fmla="*/ 6879174 h 6879174"/>
              <a:gd name="connsiteX4-939" fmla="*/ 0 w 6872517"/>
              <a:gd name="connsiteY4-940" fmla="*/ 0 h 6879174"/>
              <a:gd name="connsiteX5-941" fmla="*/ 6872517 w 6872517"/>
              <a:gd name="connsiteY5-942" fmla="*/ 42385 h 6879174"/>
              <a:gd name="connsiteX0-943" fmla="*/ 6872520 w 6872520"/>
              <a:gd name="connsiteY0-944" fmla="*/ 0 h 6880332"/>
              <a:gd name="connsiteX1-945" fmla="*/ 6858000 w 6872520"/>
              <a:gd name="connsiteY1-946" fmla="*/ 2096194 h 6880332"/>
              <a:gd name="connsiteX2-947" fmla="*/ 6858000 w 6872520"/>
              <a:gd name="connsiteY2-948" fmla="*/ 6880332 h 6880332"/>
              <a:gd name="connsiteX3-949" fmla="*/ 0 w 6872520"/>
              <a:gd name="connsiteY3-950" fmla="*/ 6880332 h 6880332"/>
              <a:gd name="connsiteX4-951" fmla="*/ 0 w 6872520"/>
              <a:gd name="connsiteY4-952" fmla="*/ 1158 h 6880332"/>
              <a:gd name="connsiteX5-953" fmla="*/ 6872520 w 6872520"/>
              <a:gd name="connsiteY5-954" fmla="*/ 0 h 6880332"/>
              <a:gd name="connsiteX0-955" fmla="*/ 6872520 w 6872520"/>
              <a:gd name="connsiteY0-956" fmla="*/ 0 h 6880332"/>
              <a:gd name="connsiteX1-957" fmla="*/ 6858000 w 6872520"/>
              <a:gd name="connsiteY1-958" fmla="*/ 2096194 h 6880332"/>
              <a:gd name="connsiteX2-959" fmla="*/ 6858000 w 6872520"/>
              <a:gd name="connsiteY2-960" fmla="*/ 6880332 h 6880332"/>
              <a:gd name="connsiteX3-961" fmla="*/ 0 w 6872520"/>
              <a:gd name="connsiteY3-962" fmla="*/ 6880332 h 6880332"/>
              <a:gd name="connsiteX4-963" fmla="*/ 0 w 6872520"/>
              <a:gd name="connsiteY4-964" fmla="*/ 1158 h 6880332"/>
              <a:gd name="connsiteX5-965" fmla="*/ 6872520 w 6872520"/>
              <a:gd name="connsiteY5-966" fmla="*/ 0 h 6880332"/>
              <a:gd name="connsiteX0-967" fmla="*/ 6843491 w 6858000"/>
              <a:gd name="connsiteY0-968" fmla="*/ 202042 h 6879174"/>
              <a:gd name="connsiteX1-969" fmla="*/ 6858000 w 6858000"/>
              <a:gd name="connsiteY1-970" fmla="*/ 2095036 h 6879174"/>
              <a:gd name="connsiteX2-971" fmla="*/ 6858000 w 6858000"/>
              <a:gd name="connsiteY2-972" fmla="*/ 6879174 h 6879174"/>
              <a:gd name="connsiteX3-973" fmla="*/ 0 w 6858000"/>
              <a:gd name="connsiteY3-974" fmla="*/ 6879174 h 6879174"/>
              <a:gd name="connsiteX4-975" fmla="*/ 0 w 6858000"/>
              <a:gd name="connsiteY4-976" fmla="*/ 0 h 6879174"/>
              <a:gd name="connsiteX5-977" fmla="*/ 6843491 w 6858000"/>
              <a:gd name="connsiteY5-978" fmla="*/ 202042 h 6879174"/>
              <a:gd name="connsiteX0-979" fmla="*/ 6843491 w 6858000"/>
              <a:gd name="connsiteY0-980" fmla="*/ 202042 h 6879174"/>
              <a:gd name="connsiteX1-981" fmla="*/ 6858000 w 6858000"/>
              <a:gd name="connsiteY1-982" fmla="*/ 2095036 h 6879174"/>
              <a:gd name="connsiteX2-983" fmla="*/ 6858000 w 6858000"/>
              <a:gd name="connsiteY2-984" fmla="*/ 6879174 h 6879174"/>
              <a:gd name="connsiteX3-985" fmla="*/ 0 w 6858000"/>
              <a:gd name="connsiteY3-986" fmla="*/ 6879174 h 6879174"/>
              <a:gd name="connsiteX4-987" fmla="*/ 0 w 6858000"/>
              <a:gd name="connsiteY4-988" fmla="*/ 0 h 6879174"/>
              <a:gd name="connsiteX5-989" fmla="*/ 6843491 w 6858000"/>
              <a:gd name="connsiteY5-990" fmla="*/ 202042 h 6879174"/>
              <a:gd name="connsiteX0-991" fmla="*/ 6843491 w 6858000"/>
              <a:gd name="connsiteY0-992" fmla="*/ 202042 h 6879174"/>
              <a:gd name="connsiteX1-993" fmla="*/ 6858000 w 6858000"/>
              <a:gd name="connsiteY1-994" fmla="*/ 2095036 h 6879174"/>
              <a:gd name="connsiteX2-995" fmla="*/ 6858000 w 6858000"/>
              <a:gd name="connsiteY2-996" fmla="*/ 6879174 h 6879174"/>
              <a:gd name="connsiteX3-997" fmla="*/ 0 w 6858000"/>
              <a:gd name="connsiteY3-998" fmla="*/ 6879174 h 6879174"/>
              <a:gd name="connsiteX4-999" fmla="*/ 0 w 6858000"/>
              <a:gd name="connsiteY4-1000" fmla="*/ 0 h 6879174"/>
              <a:gd name="connsiteX5-1001" fmla="*/ 6843491 w 6858000"/>
              <a:gd name="connsiteY5-1002" fmla="*/ 202042 h 6879174"/>
              <a:gd name="connsiteX0-1003" fmla="*/ 6856191 w 6858000"/>
              <a:gd name="connsiteY0-1004" fmla="*/ 214742 h 6879174"/>
              <a:gd name="connsiteX1-1005" fmla="*/ 6858000 w 6858000"/>
              <a:gd name="connsiteY1-1006" fmla="*/ 2095036 h 6879174"/>
              <a:gd name="connsiteX2-1007" fmla="*/ 6858000 w 6858000"/>
              <a:gd name="connsiteY2-1008" fmla="*/ 6879174 h 6879174"/>
              <a:gd name="connsiteX3-1009" fmla="*/ 0 w 6858000"/>
              <a:gd name="connsiteY3-1010" fmla="*/ 6879174 h 6879174"/>
              <a:gd name="connsiteX4-1011" fmla="*/ 0 w 6858000"/>
              <a:gd name="connsiteY4-1012" fmla="*/ 0 h 6879174"/>
              <a:gd name="connsiteX5-1013" fmla="*/ 6856191 w 6858000"/>
              <a:gd name="connsiteY5-1014" fmla="*/ 214742 h 6879174"/>
              <a:gd name="connsiteX0-1015" fmla="*/ 6856191 w 6858000"/>
              <a:gd name="connsiteY0-1016" fmla="*/ 209979 h 6879174"/>
              <a:gd name="connsiteX1-1017" fmla="*/ 6858000 w 6858000"/>
              <a:gd name="connsiteY1-1018" fmla="*/ 2095036 h 6879174"/>
              <a:gd name="connsiteX2-1019" fmla="*/ 6858000 w 6858000"/>
              <a:gd name="connsiteY2-1020" fmla="*/ 6879174 h 6879174"/>
              <a:gd name="connsiteX3-1021" fmla="*/ 0 w 6858000"/>
              <a:gd name="connsiteY3-1022" fmla="*/ 6879174 h 6879174"/>
              <a:gd name="connsiteX4-1023" fmla="*/ 0 w 6858000"/>
              <a:gd name="connsiteY4-1024" fmla="*/ 0 h 6879174"/>
              <a:gd name="connsiteX5-1025" fmla="*/ 6856191 w 6858000"/>
              <a:gd name="connsiteY5-1026" fmla="*/ 209979 h 6879174"/>
              <a:gd name="connsiteX0-1027" fmla="*/ 6868891 w 6868891"/>
              <a:gd name="connsiteY0-1028" fmla="*/ 197279 h 6879174"/>
              <a:gd name="connsiteX1-1029" fmla="*/ 6858000 w 6868891"/>
              <a:gd name="connsiteY1-1030" fmla="*/ 2095036 h 6879174"/>
              <a:gd name="connsiteX2-1031" fmla="*/ 6858000 w 6868891"/>
              <a:gd name="connsiteY2-1032" fmla="*/ 6879174 h 6879174"/>
              <a:gd name="connsiteX3-1033" fmla="*/ 0 w 6868891"/>
              <a:gd name="connsiteY3-1034" fmla="*/ 6879174 h 6879174"/>
              <a:gd name="connsiteX4-1035" fmla="*/ 0 w 6868891"/>
              <a:gd name="connsiteY4-1036" fmla="*/ 0 h 6879174"/>
              <a:gd name="connsiteX5-1037" fmla="*/ 6868891 w 6868891"/>
              <a:gd name="connsiteY5-1038" fmla="*/ 197279 h 6879174"/>
              <a:gd name="connsiteX0-1039" fmla="*/ 6868891 w 7721392"/>
              <a:gd name="connsiteY0-1040" fmla="*/ 197279 h 6879174"/>
              <a:gd name="connsiteX1-1041" fmla="*/ 6858000 w 7721392"/>
              <a:gd name="connsiteY1-1042" fmla="*/ 6879174 h 6879174"/>
              <a:gd name="connsiteX2-1043" fmla="*/ 0 w 7721392"/>
              <a:gd name="connsiteY2-1044" fmla="*/ 6879174 h 6879174"/>
              <a:gd name="connsiteX3-1045" fmla="*/ 0 w 7721392"/>
              <a:gd name="connsiteY3-1046" fmla="*/ 0 h 6879174"/>
              <a:gd name="connsiteX4-1047" fmla="*/ 6868891 w 7721392"/>
              <a:gd name="connsiteY4-1048" fmla="*/ 197279 h 6879174"/>
              <a:gd name="connsiteX0-1049" fmla="*/ 6868891 w 7373946"/>
              <a:gd name="connsiteY0-1050" fmla="*/ 197279 h 6879174"/>
              <a:gd name="connsiteX1-1051" fmla="*/ 6858000 w 7373946"/>
              <a:gd name="connsiteY1-1052" fmla="*/ 6879174 h 6879174"/>
              <a:gd name="connsiteX2-1053" fmla="*/ 0 w 7373946"/>
              <a:gd name="connsiteY2-1054" fmla="*/ 6879174 h 6879174"/>
              <a:gd name="connsiteX3-1055" fmla="*/ 0 w 7373946"/>
              <a:gd name="connsiteY3-1056" fmla="*/ 0 h 6879174"/>
              <a:gd name="connsiteX4-1057" fmla="*/ 6868891 w 7373946"/>
              <a:gd name="connsiteY4-1058" fmla="*/ 197279 h 6879174"/>
              <a:gd name="connsiteX0-1059" fmla="*/ 6868891 w 8182025"/>
              <a:gd name="connsiteY0-1060" fmla="*/ 197279 h 6879174"/>
              <a:gd name="connsiteX1-1061" fmla="*/ 6858000 w 8182025"/>
              <a:gd name="connsiteY1-1062" fmla="*/ 6879174 h 6879174"/>
              <a:gd name="connsiteX2-1063" fmla="*/ 0 w 8182025"/>
              <a:gd name="connsiteY2-1064" fmla="*/ 6879174 h 6879174"/>
              <a:gd name="connsiteX3-1065" fmla="*/ 0 w 8182025"/>
              <a:gd name="connsiteY3-1066" fmla="*/ 0 h 6879174"/>
              <a:gd name="connsiteX4-1067" fmla="*/ 6868891 w 8182025"/>
              <a:gd name="connsiteY4-1068" fmla="*/ 197279 h 6879174"/>
              <a:gd name="connsiteX0-1069" fmla="*/ 6868891 w 8182025"/>
              <a:gd name="connsiteY0-1070" fmla="*/ 197279 h 6879174"/>
              <a:gd name="connsiteX1-1071" fmla="*/ 6858000 w 8182025"/>
              <a:gd name="connsiteY1-1072" fmla="*/ 6879174 h 6879174"/>
              <a:gd name="connsiteX2-1073" fmla="*/ 0 w 8182025"/>
              <a:gd name="connsiteY2-1074" fmla="*/ 6879174 h 6879174"/>
              <a:gd name="connsiteX3-1075" fmla="*/ 0 w 8182025"/>
              <a:gd name="connsiteY3-1076" fmla="*/ 0 h 6879174"/>
              <a:gd name="connsiteX4-1077" fmla="*/ 6868891 w 8182025"/>
              <a:gd name="connsiteY4-1078" fmla="*/ 197279 h 6879174"/>
              <a:gd name="connsiteX0-1079" fmla="*/ 6868891 w 8182025"/>
              <a:gd name="connsiteY0-1080" fmla="*/ 197279 h 6879174"/>
              <a:gd name="connsiteX1-1081" fmla="*/ 6858000 w 8182025"/>
              <a:gd name="connsiteY1-1082" fmla="*/ 6879174 h 6879174"/>
              <a:gd name="connsiteX2-1083" fmla="*/ 0 w 8182025"/>
              <a:gd name="connsiteY2-1084" fmla="*/ 6879174 h 6879174"/>
              <a:gd name="connsiteX3-1085" fmla="*/ 0 w 8182025"/>
              <a:gd name="connsiteY3-1086" fmla="*/ 0 h 6879174"/>
              <a:gd name="connsiteX4-1087" fmla="*/ 6868891 w 8182025"/>
              <a:gd name="connsiteY4-1088" fmla="*/ 197279 h 6879174"/>
              <a:gd name="connsiteX0-1089" fmla="*/ 6868891 w 8182025"/>
              <a:gd name="connsiteY0-1090" fmla="*/ 197279 h 6879174"/>
              <a:gd name="connsiteX1-1091" fmla="*/ 6858000 w 8182025"/>
              <a:gd name="connsiteY1-1092" fmla="*/ 6879174 h 6879174"/>
              <a:gd name="connsiteX2-1093" fmla="*/ 0 w 8182025"/>
              <a:gd name="connsiteY2-1094" fmla="*/ 6879174 h 6879174"/>
              <a:gd name="connsiteX3-1095" fmla="*/ 0 w 8182025"/>
              <a:gd name="connsiteY3-1096" fmla="*/ 0 h 6879174"/>
              <a:gd name="connsiteX4-1097" fmla="*/ 6868891 w 8182025"/>
              <a:gd name="connsiteY4-1098" fmla="*/ 197279 h 6879174"/>
              <a:gd name="connsiteX0-1099" fmla="*/ 6868891 w 7374082"/>
              <a:gd name="connsiteY0-1100" fmla="*/ 197279 h 7217839"/>
              <a:gd name="connsiteX1-1101" fmla="*/ 6858000 w 7374082"/>
              <a:gd name="connsiteY1-1102" fmla="*/ 6879174 h 7217839"/>
              <a:gd name="connsiteX2-1103" fmla="*/ 0 w 7374082"/>
              <a:gd name="connsiteY2-1104" fmla="*/ 6879174 h 7217839"/>
              <a:gd name="connsiteX3-1105" fmla="*/ 0 w 7374082"/>
              <a:gd name="connsiteY3-1106" fmla="*/ 0 h 7217839"/>
              <a:gd name="connsiteX4-1107" fmla="*/ 6868891 w 7374082"/>
              <a:gd name="connsiteY4-1108" fmla="*/ 197279 h 7217839"/>
              <a:gd name="connsiteX0-1109" fmla="*/ 6868891 w 7513044"/>
              <a:gd name="connsiteY0-1110" fmla="*/ 197279 h 6879174"/>
              <a:gd name="connsiteX1-1111" fmla="*/ 6858000 w 7513044"/>
              <a:gd name="connsiteY1-1112" fmla="*/ 6879174 h 6879174"/>
              <a:gd name="connsiteX2-1113" fmla="*/ 0 w 7513044"/>
              <a:gd name="connsiteY2-1114" fmla="*/ 6879174 h 6879174"/>
              <a:gd name="connsiteX3-1115" fmla="*/ 0 w 7513044"/>
              <a:gd name="connsiteY3-1116" fmla="*/ 0 h 6879174"/>
              <a:gd name="connsiteX4-1117" fmla="*/ 6868891 w 7513044"/>
              <a:gd name="connsiteY4-1118" fmla="*/ 197279 h 6879174"/>
              <a:gd name="connsiteX0-1119" fmla="*/ 6868891 w 7374082"/>
              <a:gd name="connsiteY0-1120" fmla="*/ 197279 h 6879174"/>
              <a:gd name="connsiteX1-1121" fmla="*/ 6858000 w 7374082"/>
              <a:gd name="connsiteY1-1122" fmla="*/ 6879174 h 6879174"/>
              <a:gd name="connsiteX2-1123" fmla="*/ 0 w 7374082"/>
              <a:gd name="connsiteY2-1124" fmla="*/ 6879174 h 6879174"/>
              <a:gd name="connsiteX3-1125" fmla="*/ 0 w 7374082"/>
              <a:gd name="connsiteY3-1126" fmla="*/ 0 h 6879174"/>
              <a:gd name="connsiteX4-1127" fmla="*/ 6868891 w 7374082"/>
              <a:gd name="connsiteY4-1128" fmla="*/ 197279 h 6879174"/>
              <a:gd name="connsiteX0-1129" fmla="*/ 6868891 w 6868891"/>
              <a:gd name="connsiteY0-1130" fmla="*/ 197279 h 6879174"/>
              <a:gd name="connsiteX1-1131" fmla="*/ 6858000 w 6868891"/>
              <a:gd name="connsiteY1-1132" fmla="*/ 6879174 h 6879174"/>
              <a:gd name="connsiteX2-1133" fmla="*/ 0 w 6868891"/>
              <a:gd name="connsiteY2-1134" fmla="*/ 6879174 h 6879174"/>
              <a:gd name="connsiteX3-1135" fmla="*/ 0 w 6868891"/>
              <a:gd name="connsiteY3-1136" fmla="*/ 0 h 6879174"/>
              <a:gd name="connsiteX4-1137" fmla="*/ 6868891 w 6868891"/>
              <a:gd name="connsiteY4-1138" fmla="*/ 197279 h 68791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868891" h="6879174">
                <a:moveTo>
                  <a:pt x="6868891" y="197279"/>
                </a:moveTo>
                <a:cubicBezTo>
                  <a:pt x="6865263" y="1808265"/>
                  <a:pt x="6858000" y="6879174"/>
                  <a:pt x="6858000" y="6879174"/>
                </a:cubicBezTo>
                <a:lnTo>
                  <a:pt x="0" y="6879174"/>
                </a:lnTo>
                <a:lnTo>
                  <a:pt x="0" y="0"/>
                </a:lnTo>
                <a:cubicBezTo>
                  <a:pt x="2329546" y="1257529"/>
                  <a:pt x="4524837" y="1741029"/>
                  <a:pt x="6868891" y="197279"/>
                </a:cubicBezTo>
                <a:close/>
              </a:path>
            </a:pathLst>
          </a:custGeom>
          <a:gradFill flip="none" rotWithShape="1">
            <a:gsLst>
              <a:gs pos="25000">
                <a:schemeClr val="bg1"/>
              </a:gs>
              <a:gs pos="100000">
                <a:srgbClr val="DFDFDF">
                  <a:lumMod val="52000"/>
                  <a:lumOff val="48000"/>
                </a:srgbClr>
              </a:gs>
            </a:gsLst>
            <a:lin ang="2700000" scaled="1"/>
            <a:tileRect/>
          </a:gradFill>
          <a:ln>
            <a:noFill/>
          </a:ln>
          <a:effectLst>
            <a:outerShdw blurRad="25400" dist="25400" dir="10800000" algn="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800">
                <a:ea typeface="微软雅黑" panose="020B0503020204020204" pitchFamily="34" charset="-122"/>
              </a:rPr>
              <a:t>跟随以下步骤来添加IP核</a:t>
            </a:r>
          </a:p>
        </p:txBody>
      </p:sp>
      <p:sp>
        <p:nvSpPr>
          <p:cNvPr id="5" name="矩形 4"/>
          <p:cNvSpPr/>
          <p:nvPr/>
        </p:nvSpPr>
        <p:spPr>
          <a:xfrm>
            <a:off x="5629404" y="4258152"/>
            <a:ext cx="316801" cy="316801"/>
          </a:xfrm>
          <a:prstGeom prst="rect">
            <a:avLst/>
          </a:prstGeom>
          <a:solidFill>
            <a:srgbClr val="0461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1</a:t>
            </a:r>
            <a:endParaRPr lang="zh-CN" altLang="en-US" sz="1400" b="1" dirty="0">
              <a:latin typeface="微软雅黑" panose="020B0503020204020204" pitchFamily="34" charset="-122"/>
              <a:ea typeface="微软雅黑" panose="020B0503020204020204" pitchFamily="34" charset="-122"/>
            </a:endParaRPr>
          </a:p>
        </p:txBody>
      </p:sp>
      <p:sp>
        <p:nvSpPr>
          <p:cNvPr id="6" name="矩形 5"/>
          <p:cNvSpPr/>
          <p:nvPr/>
        </p:nvSpPr>
        <p:spPr>
          <a:xfrm>
            <a:off x="6092209" y="4263200"/>
            <a:ext cx="193040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zh-CN" altLang="en-US" sz="1400" b="1" dirty="0">
                <a:solidFill>
                  <a:srgbClr val="04619D"/>
                </a:solidFill>
                <a:latin typeface="微软雅黑" panose="020B0503020204020204" pitchFamily="34" charset="-122"/>
                <a:ea typeface="微软雅黑" panose="020B0503020204020204" pitchFamily="34" charset="-122"/>
              </a:rPr>
              <a:t>7.5.</a:t>
            </a:r>
            <a:r>
              <a:rPr lang="en-US" altLang="zh-CN" sz="1400" b="1" dirty="0">
                <a:solidFill>
                  <a:srgbClr val="04619D"/>
                </a:solidFill>
                <a:latin typeface="微软雅黑" panose="020B0503020204020204" pitchFamily="34" charset="-122"/>
                <a:ea typeface="微软雅黑" panose="020B0503020204020204" pitchFamily="34" charset="-122"/>
              </a:rPr>
              <a:t>1</a:t>
            </a:r>
            <a:r>
              <a:rPr lang="zh-CN" altLang="en-US" sz="1400" b="1" dirty="0">
                <a:solidFill>
                  <a:srgbClr val="04619D"/>
                </a:solidFill>
                <a:latin typeface="微软雅黑" panose="020B0503020204020204" pitchFamily="34" charset="-122"/>
                <a:ea typeface="微软雅黑" panose="020B0503020204020204" pitchFamily="34" charset="-122"/>
              </a:rPr>
              <a:t> 单周期CPU设计</a:t>
            </a:r>
          </a:p>
        </p:txBody>
      </p:sp>
      <p:sp>
        <p:nvSpPr>
          <p:cNvPr id="9" name="矩形 8"/>
          <p:cNvSpPr/>
          <p:nvPr/>
        </p:nvSpPr>
        <p:spPr>
          <a:xfrm>
            <a:off x="5629404" y="4691705"/>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2</a:t>
            </a:r>
            <a:endParaRPr lang="zh-CN" altLang="en-US" sz="1400" b="1" dirty="0">
              <a:latin typeface="微软雅黑" panose="020B0503020204020204" pitchFamily="34" charset="-122"/>
              <a:ea typeface="微软雅黑" panose="020B0503020204020204" pitchFamily="34" charset="-122"/>
            </a:endParaRPr>
          </a:p>
        </p:txBody>
      </p:sp>
      <p:sp>
        <p:nvSpPr>
          <p:cNvPr id="10" name="矩形 9"/>
          <p:cNvSpPr/>
          <p:nvPr/>
        </p:nvSpPr>
        <p:spPr>
          <a:xfrm>
            <a:off x="6092209" y="4696753"/>
            <a:ext cx="193040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7.5.2 多周期CPU设计</a:t>
            </a:r>
          </a:p>
        </p:txBody>
      </p:sp>
      <p:sp>
        <p:nvSpPr>
          <p:cNvPr id="18" name="Text Box 6"/>
          <p:cNvSpPr txBox="1">
            <a:spLocks noChangeArrowheads="1"/>
          </p:cNvSpPr>
          <p:nvPr/>
        </p:nvSpPr>
        <p:spPr bwMode="auto">
          <a:xfrm>
            <a:off x="5600376" y="3230751"/>
            <a:ext cx="2550698" cy="461665"/>
          </a:xfrm>
          <a:prstGeom prst="rect">
            <a:avLst/>
          </a:prstGeom>
          <a:noFill/>
          <a:ln w="9525">
            <a:noFill/>
            <a:miter lim="800000"/>
          </a:ln>
          <a:effectLst/>
        </p:spPr>
        <p:txBody>
          <a:bodyPr wrap="none" lIns="0">
            <a:spAutoFit/>
            <a:scene3d>
              <a:camera prst="orthographicFront"/>
              <a:lightRig rig="soft" dir="tl">
                <a:rot lat="0" lon="0" rev="0"/>
              </a:lightRig>
            </a:scene3d>
            <a:sp3d contourW="25400" prstMaterial="matte">
              <a:contourClr>
                <a:schemeClr val="accent2">
                  <a:tint val="20000"/>
                </a:schemeClr>
              </a:contourClr>
            </a:sp3d>
          </a:bodyPr>
          <a:lstStyle/>
          <a:p>
            <a:r>
              <a:rPr lang="zh-CN" altLang="en-US" spc="67" dirty="0">
                <a:ln w="11430">
                  <a:noFill/>
                </a:ln>
                <a:solidFill>
                  <a:sysClr val="windowText" lastClr="000000"/>
                </a:solidFill>
                <a:latin typeface="微软雅黑" panose="020B0503020204020204" pitchFamily="34" charset="-122"/>
                <a:ea typeface="微软雅黑" panose="020B0503020204020204" pitchFamily="34" charset="-122"/>
              </a:rPr>
              <a:t>目录 </a:t>
            </a:r>
            <a:r>
              <a:rPr lang="en-US" altLang="zh-CN" spc="67" dirty="0">
                <a:ln w="11430">
                  <a:noFill/>
                </a:ln>
                <a:solidFill>
                  <a:schemeClr val="bg1">
                    <a:lumMod val="75000"/>
                  </a:schemeClr>
                </a:solidFill>
                <a:latin typeface="微软雅黑" panose="020B0503020204020204" pitchFamily="34" charset="-122"/>
                <a:ea typeface="微软雅黑" panose="020B0503020204020204" pitchFamily="34" charset="-122"/>
              </a:rPr>
              <a:t>| CONTENT</a:t>
            </a: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03813" y="679899"/>
            <a:ext cx="2833688" cy="854418"/>
          </a:xfrm>
          <a:prstGeom prst="rect">
            <a:avLst/>
          </a:prstGeom>
        </p:spPr>
      </p:pic>
      <p:sp>
        <p:nvSpPr>
          <p:cNvPr id="3" name="矩形 2"/>
          <p:cNvSpPr/>
          <p:nvPr/>
        </p:nvSpPr>
        <p:spPr>
          <a:xfrm>
            <a:off x="5629404" y="5101915"/>
            <a:ext cx="316801" cy="316801"/>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latin typeface="微软雅黑" panose="020B0503020204020204" pitchFamily="34" charset="-122"/>
                <a:ea typeface="微软雅黑" panose="020B0503020204020204" pitchFamily="34" charset="-122"/>
              </a:rPr>
              <a:t>3</a:t>
            </a:r>
          </a:p>
        </p:txBody>
      </p:sp>
      <p:sp>
        <p:nvSpPr>
          <p:cNvPr id="4" name="矩形 3"/>
          <p:cNvSpPr/>
          <p:nvPr/>
        </p:nvSpPr>
        <p:spPr>
          <a:xfrm>
            <a:off x="6092209" y="5102518"/>
            <a:ext cx="1394460" cy="306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algn="l"/>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7.</a:t>
            </a:r>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6   </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 </a:t>
            </a:r>
            <a:r>
              <a:rPr lang="en-US" altLang="zh-CN" sz="1400" b="1" dirty="0">
                <a:solidFill>
                  <a:schemeClr val="tx1">
                    <a:lumMod val="50000"/>
                    <a:lumOff val="50000"/>
                  </a:schemeClr>
                </a:solidFill>
                <a:latin typeface="微软雅黑" panose="020B0503020204020204" pitchFamily="34" charset="-122"/>
                <a:ea typeface="微软雅黑" panose="020B0503020204020204" pitchFamily="34" charset="-122"/>
              </a:rPr>
              <a:t>CPU</a:t>
            </a:r>
            <a:r>
              <a:rPr lang="zh-CN" altLang="en-US" sz="1400" b="1" dirty="0">
                <a:solidFill>
                  <a:schemeClr val="tx1">
                    <a:lumMod val="50000"/>
                    <a:lumOff val="50000"/>
                  </a:schemeClr>
                </a:solidFill>
                <a:latin typeface="微软雅黑" panose="020B0503020204020204" pitchFamily="34" charset="-122"/>
                <a:ea typeface="微软雅黑" panose="020B0503020204020204" pitchFamily="34" charset="-122"/>
              </a:rPr>
              <a:t>测试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t>7.5.1单周期CPU设计</a:t>
            </a:r>
          </a:p>
        </p:txBody>
      </p:sp>
      <p:sp>
        <p:nvSpPr>
          <p:cNvPr id="8" name="Rectangle 33"/>
          <p:cNvSpPr/>
          <p:nvPr/>
        </p:nvSpPr>
        <p:spPr>
          <a:xfrm>
            <a:off x="882650" y="1676400"/>
            <a:ext cx="7708265" cy="1938020"/>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b="1">
                <a:solidFill>
                  <a:schemeClr val="tx1"/>
                </a:solidFill>
                <a:latin typeface="微软雅黑" panose="020B0503020204020204" pitchFamily="34" charset="-122"/>
                <a:ea typeface="微软雅黑" panose="020B0503020204020204" pitchFamily="34" charset="-122"/>
              </a:rPr>
              <a:t>完成一个CPU的设计，主要完成两件事：</a:t>
            </a:r>
          </a:p>
          <a:p>
            <a:pPr marL="285750" indent="-285750" algn="l" fontAlgn="auto">
              <a:lnSpc>
                <a:spcPct val="150000"/>
              </a:lnSpc>
              <a:spcBef>
                <a:spcPts val="0"/>
              </a:spcBef>
              <a:spcAft>
                <a:spcPts val="0"/>
              </a:spcAft>
              <a:buFont typeface="Wingdings" panose="05000000000000000000" charset="0"/>
              <a:buChar char=""/>
              <a:defRPr/>
            </a:pPr>
            <a:r>
              <a:rPr lang="zh-CN" altLang="en-US" sz="2000">
                <a:solidFill>
                  <a:srgbClr val="04619D"/>
                </a:solidFill>
                <a:latin typeface="微软雅黑" panose="020B0503020204020204" pitchFamily="34" charset="-122"/>
                <a:ea typeface="微软雅黑" panose="020B0503020204020204" pitchFamily="34" charset="-122"/>
              </a:rPr>
              <a:t>首先，根据所设计的所有汇编指令的功能及指令格式，完成CPU的</a:t>
            </a:r>
            <a:r>
              <a:rPr lang="zh-CN" altLang="en-US" sz="2000" b="1">
                <a:solidFill>
                  <a:srgbClr val="04619D"/>
                </a:solidFill>
                <a:latin typeface="微软雅黑" panose="020B0503020204020204" pitchFamily="34" charset="-122"/>
                <a:ea typeface="微软雅黑" panose="020B0503020204020204" pitchFamily="34" charset="-122"/>
              </a:rPr>
              <a:t>数据通路设计</a:t>
            </a:r>
            <a:r>
              <a:rPr lang="zh-CN" altLang="en-US" sz="2000">
                <a:solidFill>
                  <a:srgbClr val="04619D"/>
                </a:solidFill>
                <a:latin typeface="微软雅黑" panose="020B0503020204020204" pitchFamily="34" charset="-122"/>
                <a:ea typeface="微软雅黑" panose="020B0503020204020204" pitchFamily="34" charset="-122"/>
              </a:rPr>
              <a:t>。</a:t>
            </a:r>
          </a:p>
          <a:p>
            <a:pPr marL="285750" indent="-285750" algn="l" fontAlgn="auto">
              <a:lnSpc>
                <a:spcPct val="150000"/>
              </a:lnSpc>
              <a:spcBef>
                <a:spcPts val="0"/>
              </a:spcBef>
              <a:spcAft>
                <a:spcPts val="0"/>
              </a:spcAft>
              <a:buFont typeface="Wingdings" panose="05000000000000000000" charset="0"/>
              <a:buChar char=""/>
              <a:defRPr/>
            </a:pPr>
            <a:r>
              <a:rPr lang="zh-CN" altLang="en-US" sz="2000">
                <a:solidFill>
                  <a:srgbClr val="04619D"/>
                </a:solidFill>
                <a:latin typeface="微软雅黑" panose="020B0503020204020204" pitchFamily="34" charset="-122"/>
                <a:ea typeface="微软雅黑" panose="020B0503020204020204" pitchFamily="34" charset="-122"/>
              </a:rPr>
              <a:t>其次，根据指令功能和数据通路</a:t>
            </a:r>
            <a:r>
              <a:rPr lang="zh-CN" altLang="en-US" sz="2000" b="1">
                <a:solidFill>
                  <a:srgbClr val="04619D"/>
                </a:solidFill>
                <a:latin typeface="微软雅黑" panose="020B0503020204020204" pitchFamily="34" charset="-122"/>
                <a:ea typeface="微软雅黑" panose="020B0503020204020204" pitchFamily="34" charset="-122"/>
              </a:rPr>
              <a:t>设计控制部件</a:t>
            </a:r>
            <a:r>
              <a:rPr lang="zh-CN" altLang="en-US" sz="2000">
                <a:solidFill>
                  <a:srgbClr val="04619D"/>
                </a:solidFill>
                <a:latin typeface="微软雅黑" panose="020B0503020204020204" pitchFamily="34" charset="-122"/>
                <a:ea typeface="微软雅黑" panose="020B0503020204020204" pitchFamily="34" charset="-122"/>
              </a:rPr>
              <a:t>。</a:t>
            </a:r>
          </a:p>
        </p:txBody>
      </p:sp>
      <p:sp>
        <p:nvSpPr>
          <p:cNvPr id="22" name="Rectangle 33"/>
          <p:cNvSpPr/>
          <p:nvPr/>
        </p:nvSpPr>
        <p:spPr>
          <a:xfrm>
            <a:off x="883285" y="4450715"/>
            <a:ext cx="7708265" cy="1014730"/>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下面以8条指令ADDU、SUBU、ORI、SLL、LW、SW、BEQ、J为例来说明单周期CPU的设计方法。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1090295" y="1699260"/>
            <a:ext cx="7125335" cy="378460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b="1" dirty="0">
                <a:solidFill>
                  <a:schemeClr val="tx1"/>
                </a:solidFill>
                <a:latin typeface="微软雅黑" panose="020B0503020204020204" pitchFamily="34" charset="-122"/>
                <a:ea typeface="微软雅黑" panose="020B0503020204020204" pitchFamily="34" charset="-122"/>
              </a:rPr>
              <a:t>数据通路设计的一般性方法：</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根据指令的功能，确定每条指令在执行过程中所用到的部件（包括取指）；</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根据该指令所用的部件，用表格列出，并在表格中填入每个部件的数据输入来源；</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根据表格所涉及部件和部件的数据输入来源，画出每条指令的数据通路；</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最后将所有指令数据通路合成一个总的数据通路。</a:t>
            </a: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数据通路设计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176655"/>
            <a:ext cx="8378190" cy="461581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rd ← rs + rt；将通用寄存器中的32位数据rs与rt相加产生一个32位数据存入目标寄存器rd。</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 ADDU指令功能所需的操作：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IMEM←PC（取指令）、Rd←Rs+Rt（执行指令） 、PC←NPC（NPC的功能完成PC+4 增值）</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lang="zh-CN" altLang="en-US" sz="2000" dirty="0">
                <a:solidFill>
                  <a:srgbClr val="04619D"/>
                </a:solidFill>
                <a:latin typeface="微软雅黑" panose="020B0503020204020204" pitchFamily="34" charset="-122"/>
                <a:ea typeface="微软雅黑" panose="020B0503020204020204" pitchFamily="34" charset="-122"/>
              </a:rPr>
              <a:t>PC寄存器、NPC（完成PC+4 增值）、指令存储器IMEM（存放程序代码）、寄存器堆Rs、Rt、Rd（RegFile）、ALU（完成Rs+Rt），将这些部件列成下表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表7.5.1 执行ADDU指令所需部件</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1</a:t>
            </a:r>
            <a:r>
              <a:rPr lang="en-US" altLang="zh-CN">
                <a:sym typeface="Wingdings" panose="05000000000000000000" pitchFamily="2" charset="2"/>
              </a:rPr>
              <a:t>) </a:t>
            </a:r>
            <a:r>
              <a:rPr lang="zh-CN" altLang="en-US">
                <a:sym typeface="Wingdings" panose="05000000000000000000" pitchFamily="2" charset="2"/>
              </a:rPr>
              <a:t>ADDU Rd,Rs,Rt</a:t>
            </a:r>
          </a:p>
        </p:txBody>
      </p:sp>
      <p:pic>
        <p:nvPicPr>
          <p:cNvPr id="50180"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31365" y="2379345"/>
            <a:ext cx="6192520" cy="721360"/>
          </a:xfrm>
          <a:prstGeom prst="rect">
            <a:avLst/>
          </a:prstGeom>
          <a:noFill/>
          <a:ln>
            <a:noFill/>
          </a:ln>
        </p:spPr>
      </p:pic>
      <p:graphicFrame>
        <p:nvGraphicFramePr>
          <p:cNvPr id="2" name="表格 -1"/>
          <p:cNvGraphicFramePr/>
          <p:nvPr/>
        </p:nvGraphicFramePr>
        <p:xfrm>
          <a:off x="1560830" y="5868035"/>
          <a:ext cx="5685790" cy="716280"/>
        </p:xfrm>
        <a:graphic>
          <a:graphicData uri="http://schemas.openxmlformats.org/drawingml/2006/table">
            <a:tbl>
              <a:tblPr firstRow="1" bandRow="1">
                <a:tableStyleId>{5940675A-B579-460E-94D1-54222C63F5DA}</a:tableStyleId>
              </a:tblPr>
              <a:tblGrid>
                <a:gridCol w="711835">
                  <a:extLst>
                    <a:ext uri="{9D8B030D-6E8A-4147-A177-3AD203B41FA5}">
                      <a16:colId xmlns:a16="http://schemas.microsoft.com/office/drawing/2014/main" val="20000"/>
                    </a:ext>
                  </a:extLst>
                </a:gridCol>
                <a:gridCol w="715010">
                  <a:extLst>
                    <a:ext uri="{9D8B030D-6E8A-4147-A177-3AD203B41FA5}">
                      <a16:colId xmlns:a16="http://schemas.microsoft.com/office/drawing/2014/main" val="20001"/>
                    </a:ext>
                  </a:extLst>
                </a:gridCol>
                <a:gridCol w="689610">
                  <a:extLst>
                    <a:ext uri="{9D8B030D-6E8A-4147-A177-3AD203B41FA5}">
                      <a16:colId xmlns:a16="http://schemas.microsoft.com/office/drawing/2014/main" val="20002"/>
                    </a:ext>
                  </a:extLst>
                </a:gridCol>
                <a:gridCol w="715645">
                  <a:extLst>
                    <a:ext uri="{9D8B030D-6E8A-4147-A177-3AD203B41FA5}">
                      <a16:colId xmlns:a16="http://schemas.microsoft.com/office/drawing/2014/main" val="20003"/>
                    </a:ext>
                  </a:extLst>
                </a:gridCol>
                <a:gridCol w="1425575">
                  <a:extLst>
                    <a:ext uri="{9D8B030D-6E8A-4147-A177-3AD203B41FA5}">
                      <a16:colId xmlns:a16="http://schemas.microsoft.com/office/drawing/2014/main" val="20004"/>
                    </a:ext>
                  </a:extLst>
                </a:gridCol>
                <a:gridCol w="702310">
                  <a:extLst>
                    <a:ext uri="{9D8B030D-6E8A-4147-A177-3AD203B41FA5}">
                      <a16:colId xmlns:a16="http://schemas.microsoft.com/office/drawing/2014/main" val="20005"/>
                    </a:ext>
                  </a:extLst>
                </a:gridCol>
                <a:gridCol w="725805">
                  <a:extLst>
                    <a:ext uri="{9D8B030D-6E8A-4147-A177-3AD203B41FA5}">
                      <a16:colId xmlns:a16="http://schemas.microsoft.com/office/drawing/2014/main" val="20006"/>
                    </a:ext>
                  </a:extLst>
                </a:gridCol>
              </a:tblGrid>
              <a:tr h="358140">
                <a:tc rowSpan="2">
                  <a:txBody>
                    <a:bodyPr/>
                    <a:lstStyle/>
                    <a:p>
                      <a:pPr indent="0" algn="ctr">
                        <a:buNone/>
                      </a:pPr>
                      <a:r>
                        <a:rPr lang="zh-CN" altLang="en-US" sz="20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a:t>
                      </a:r>
                      <a:r>
                        <a:rPr lang="en-US" altLang="zh-CN" sz="2000" b="0">
                          <a:latin typeface="Courier New" panose="02070309020205020404" charset="0"/>
                          <a:cs typeface="Courier New" panose="02070309020205020404" charset="0"/>
                        </a:rPr>
                        <a:t>eg</a:t>
                      </a:r>
                      <a:r>
                        <a:rPr lang="en-US" altLang="zh-CN" sz="2000" b="0">
                          <a:latin typeface="宋体" panose="02010600030101010101" pitchFamily="2" charset="-122"/>
                          <a:ea typeface="宋体" panose="02010600030101010101" pitchFamily="2" charset="-122"/>
                          <a:cs typeface="宋体" panose="02010600030101010101" pitchFamily="2" charset="-122"/>
                        </a:rPr>
                        <a:t>F</a:t>
                      </a:r>
                      <a:r>
                        <a:rPr lang="en-US" altLang="zh-CN" sz="2000" b="0">
                          <a:latin typeface="Courier New" panose="02070309020205020404" charset="0"/>
                          <a:cs typeface="Courier New" panose="02070309020205020404" charset="0"/>
                        </a:rPr>
                        <a:t>ile</a:t>
                      </a:r>
                      <a:endParaRPr lang="en-US" altLang="zh-CN" sz="2000" b="0">
                        <a:latin typeface="Courier New" panose="02070309020205020404" charset="0"/>
                        <a:ea typeface="宋体" panose="02010600030101010101" pitchFamily="2" charset="-122"/>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5814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970280"/>
            <a:ext cx="8378190" cy="410781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按完成ADDU指令所需的操作，确定每个部件数据的输入输出关系：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表7.5.2 执行ADDU指令各部件输入输出关系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上表的第一行是ADDU指令要用到部件，第二行是该部件输入端的数据来源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根据表7.5.2画出执行ADDU指令所需的数据通路（包括取指，以下每条指令相同），如下图所示：</a:t>
            </a:r>
          </a:p>
          <a:p>
            <a:pPr marL="0" indent="0" algn="ctr"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图7.5.1 ADDU指令数据通路</a:t>
            </a: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1</a:t>
            </a:r>
            <a:r>
              <a:rPr lang="en-US" altLang="zh-CN">
                <a:sym typeface="Wingdings" panose="05000000000000000000" pitchFamily="2" charset="2"/>
              </a:rPr>
              <a:t>) </a:t>
            </a:r>
            <a:r>
              <a:rPr lang="zh-CN" altLang="en-US">
                <a:sym typeface="Wingdings" panose="05000000000000000000" pitchFamily="2" charset="2"/>
              </a:rPr>
              <a:t>ADDU Rd,Rs,Rt</a:t>
            </a:r>
          </a:p>
        </p:txBody>
      </p:sp>
      <p:graphicFrame>
        <p:nvGraphicFramePr>
          <p:cNvPr id="4" name="表格 3"/>
          <p:cNvGraphicFramePr/>
          <p:nvPr/>
        </p:nvGraphicFramePr>
        <p:xfrm>
          <a:off x="1537335" y="2021205"/>
          <a:ext cx="5612130" cy="1203960"/>
        </p:xfrm>
        <a:graphic>
          <a:graphicData uri="http://schemas.openxmlformats.org/drawingml/2006/table">
            <a:tbl>
              <a:tblPr firstRow="1" bandRow="1">
                <a:tableStyleId>{5940675A-B579-460E-94D1-54222C63F5DA}</a:tableStyleId>
              </a:tblPr>
              <a:tblGrid>
                <a:gridCol w="72009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697865">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1442085">
                  <a:extLst>
                    <a:ext uri="{9D8B030D-6E8A-4147-A177-3AD203B41FA5}">
                      <a16:colId xmlns:a16="http://schemas.microsoft.com/office/drawing/2014/main" val="20004"/>
                    </a:ext>
                  </a:extLst>
                </a:gridCol>
                <a:gridCol w="710565">
                  <a:extLst>
                    <a:ext uri="{9D8B030D-6E8A-4147-A177-3AD203B41FA5}">
                      <a16:colId xmlns:a16="http://schemas.microsoft.com/office/drawing/2014/main" val="20005"/>
                    </a:ext>
                  </a:extLst>
                </a:gridCol>
                <a:gridCol w="593725">
                  <a:extLst>
                    <a:ext uri="{9D8B030D-6E8A-4147-A177-3AD203B41FA5}">
                      <a16:colId xmlns:a16="http://schemas.microsoft.com/office/drawing/2014/main" val="20006"/>
                    </a:ext>
                  </a:extLst>
                </a:gridCol>
              </a:tblGrid>
              <a:tr h="401320">
                <a:tc rowSpan="2">
                  <a:txBody>
                    <a:bodyPr/>
                    <a:lstStyle/>
                    <a:p>
                      <a:pPr indent="0" algn="ctr">
                        <a:buNone/>
                      </a:pPr>
                      <a:r>
                        <a:rPr lang="zh-CN" altLang="en-US" sz="20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a:t>
                      </a:r>
                      <a:r>
                        <a:rPr lang="en-US" altLang="zh-CN" sz="2000" b="0">
                          <a:latin typeface="Courier New" panose="02070309020205020404" charset="0"/>
                          <a:cs typeface="Courier New" panose="02070309020205020404" charset="0"/>
                        </a:rPr>
                        <a:t>eg</a:t>
                      </a:r>
                      <a:r>
                        <a:rPr lang="en-US" altLang="zh-CN" sz="2000" b="0">
                          <a:latin typeface="宋体" panose="02010600030101010101" pitchFamily="2" charset="-122"/>
                          <a:ea typeface="宋体" panose="02010600030101010101" pitchFamily="2" charset="-122"/>
                          <a:cs typeface="宋体" panose="02010600030101010101" pitchFamily="2" charset="-122"/>
                        </a:rPr>
                        <a:t>F</a:t>
                      </a:r>
                      <a:r>
                        <a:rPr lang="en-US" altLang="zh-CN" sz="2000" b="0">
                          <a:latin typeface="Courier New" panose="02070309020205020404" charset="0"/>
                          <a:cs typeface="Courier New" panose="02070309020205020404" charset="0"/>
                        </a:rPr>
                        <a:t>ile</a:t>
                      </a:r>
                      <a:endParaRPr lang="en-US" altLang="zh-CN" sz="2000" b="0">
                        <a:latin typeface="Courier New" panose="02070309020205020404" charset="0"/>
                        <a:ea typeface="宋体" panose="02010600030101010101" pitchFamily="2" charset="-122"/>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40132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320">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5"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792" y="5069840"/>
            <a:ext cx="5994400" cy="1788160"/>
          </a:xfrm>
          <a:prstGeom prst="rect">
            <a:avLst/>
          </a:prstGeom>
          <a:ln w="31750">
            <a:solidFill>
              <a:schemeClr val="accent1"/>
            </a:solidFill>
          </a:ln>
        </p:spPr>
      </p:pic>
      <p:pic>
        <p:nvPicPr>
          <p:cNvPr id="7" name="图片 89">
            <a:extLst>
              <a:ext uri="{FF2B5EF4-FFF2-40B4-BE49-F238E27FC236}">
                <a16:creationId xmlns:a16="http://schemas.microsoft.com/office/drawing/2014/main" id="{24A303CA-3243-49E1-81A1-3F72B6CBAC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2638" y="5166246"/>
            <a:ext cx="1319617" cy="1595348"/>
          </a:xfrm>
          <a:prstGeom prst="rect">
            <a:avLst/>
          </a:prstGeom>
          <a:ln w="25400">
            <a:solidFill>
              <a:schemeClr val="accent1"/>
            </a:solid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176655"/>
            <a:ext cx="8378190" cy="461581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rd ←rs – rt；将寄存器中存的32位数据rs与rt相减产生一个32位数据存入目标寄存器rd。</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SUBU</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IMEM←PC（取指令）、Rd←Rs-Rt（执行指令） 、PC←NPC。</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lang="zh-CN" altLang="en-US" sz="2000" dirty="0">
                <a:solidFill>
                  <a:srgbClr val="04619D"/>
                </a:solidFill>
                <a:latin typeface="微软雅黑" panose="020B0503020204020204" pitchFamily="34" charset="-122"/>
                <a:ea typeface="微软雅黑" panose="020B0503020204020204" pitchFamily="34" charset="-122"/>
              </a:rPr>
              <a:t>PC寄存器、NPC、指令存储器IMEM（存放程序代码）、寄存器堆Rs、Rt、Rd（RegFile）、ALU，将这些部件列成下表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表7.5.3执行SUBU指令所需部件</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2) </a:t>
            </a:r>
            <a:r>
              <a:rPr lang="zh-CN" altLang="en-US">
                <a:sym typeface="Wingdings" panose="05000000000000000000" pitchFamily="2" charset="2"/>
              </a:rPr>
              <a:t>SUBU Rd,Rs,Rt</a:t>
            </a:r>
          </a:p>
        </p:txBody>
      </p:sp>
      <p:graphicFrame>
        <p:nvGraphicFramePr>
          <p:cNvPr id="2" name="表格 1"/>
          <p:cNvGraphicFramePr/>
          <p:nvPr/>
        </p:nvGraphicFramePr>
        <p:xfrm>
          <a:off x="1560830" y="5868035"/>
          <a:ext cx="5685790" cy="716280"/>
        </p:xfrm>
        <a:graphic>
          <a:graphicData uri="http://schemas.openxmlformats.org/drawingml/2006/table">
            <a:tbl>
              <a:tblPr firstRow="1" bandRow="1">
                <a:tableStyleId>{5940675A-B579-460E-94D1-54222C63F5DA}</a:tableStyleId>
              </a:tblPr>
              <a:tblGrid>
                <a:gridCol w="711835">
                  <a:extLst>
                    <a:ext uri="{9D8B030D-6E8A-4147-A177-3AD203B41FA5}">
                      <a16:colId xmlns:a16="http://schemas.microsoft.com/office/drawing/2014/main" val="20000"/>
                    </a:ext>
                  </a:extLst>
                </a:gridCol>
                <a:gridCol w="715010">
                  <a:extLst>
                    <a:ext uri="{9D8B030D-6E8A-4147-A177-3AD203B41FA5}">
                      <a16:colId xmlns:a16="http://schemas.microsoft.com/office/drawing/2014/main" val="20001"/>
                    </a:ext>
                  </a:extLst>
                </a:gridCol>
                <a:gridCol w="689610">
                  <a:extLst>
                    <a:ext uri="{9D8B030D-6E8A-4147-A177-3AD203B41FA5}">
                      <a16:colId xmlns:a16="http://schemas.microsoft.com/office/drawing/2014/main" val="20002"/>
                    </a:ext>
                  </a:extLst>
                </a:gridCol>
                <a:gridCol w="715645">
                  <a:extLst>
                    <a:ext uri="{9D8B030D-6E8A-4147-A177-3AD203B41FA5}">
                      <a16:colId xmlns:a16="http://schemas.microsoft.com/office/drawing/2014/main" val="20003"/>
                    </a:ext>
                  </a:extLst>
                </a:gridCol>
                <a:gridCol w="1425575">
                  <a:extLst>
                    <a:ext uri="{9D8B030D-6E8A-4147-A177-3AD203B41FA5}">
                      <a16:colId xmlns:a16="http://schemas.microsoft.com/office/drawing/2014/main" val="20004"/>
                    </a:ext>
                  </a:extLst>
                </a:gridCol>
                <a:gridCol w="702310">
                  <a:extLst>
                    <a:ext uri="{9D8B030D-6E8A-4147-A177-3AD203B41FA5}">
                      <a16:colId xmlns:a16="http://schemas.microsoft.com/office/drawing/2014/main" val="20005"/>
                    </a:ext>
                  </a:extLst>
                </a:gridCol>
                <a:gridCol w="725805">
                  <a:extLst>
                    <a:ext uri="{9D8B030D-6E8A-4147-A177-3AD203B41FA5}">
                      <a16:colId xmlns:a16="http://schemas.microsoft.com/office/drawing/2014/main" val="20006"/>
                    </a:ext>
                  </a:extLst>
                </a:gridCol>
              </a:tblGrid>
              <a:tr h="358140">
                <a:tc rowSpan="2">
                  <a:txBody>
                    <a:bodyPr/>
                    <a:lstStyle/>
                    <a:p>
                      <a:pPr indent="0" algn="ctr">
                        <a:buNone/>
                      </a:pPr>
                      <a:r>
                        <a:rPr lang="zh-CN" altLang="en-US" sz="20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a:t>
                      </a:r>
                      <a:r>
                        <a:rPr lang="en-US" altLang="zh-CN" sz="2000" b="0">
                          <a:latin typeface="Courier New" panose="02070309020205020404" charset="0"/>
                          <a:cs typeface="Courier New" panose="02070309020205020404" charset="0"/>
                        </a:rPr>
                        <a:t>eg</a:t>
                      </a:r>
                      <a:r>
                        <a:rPr lang="en-US" altLang="zh-CN" sz="2000" b="0">
                          <a:latin typeface="宋体" panose="02010600030101010101" pitchFamily="2" charset="-122"/>
                          <a:ea typeface="宋体" panose="02010600030101010101" pitchFamily="2" charset="-122"/>
                          <a:cs typeface="宋体" panose="02010600030101010101" pitchFamily="2" charset="-122"/>
                        </a:rPr>
                        <a:t>F</a:t>
                      </a:r>
                      <a:r>
                        <a:rPr lang="en-US" altLang="zh-CN" sz="2000" b="0">
                          <a:latin typeface="Courier New" panose="02070309020205020404" charset="0"/>
                          <a:cs typeface="Courier New" panose="02070309020205020404" charset="0"/>
                        </a:rPr>
                        <a:t>ile</a:t>
                      </a:r>
                      <a:endParaRPr lang="en-US" altLang="zh-CN" sz="2000" b="0">
                        <a:latin typeface="Courier New" panose="02070309020205020404" charset="0"/>
                        <a:ea typeface="宋体" panose="02010600030101010101" pitchFamily="2" charset="-122"/>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5814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pic>
        <p:nvPicPr>
          <p:cNvPr id="50208"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108200" y="2343150"/>
            <a:ext cx="6337300" cy="74168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078865"/>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SUBU</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4</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SUB</a:t>
            </a:r>
            <a:r>
              <a:rPr lang="zh-CN" altLang="en-US" sz="1600" dirty="0">
                <a:solidFill>
                  <a:schemeClr val="tx1"/>
                </a:solidFill>
                <a:latin typeface="微软雅黑" panose="020B0503020204020204" pitchFamily="34" charset="-122"/>
                <a:ea typeface="微软雅黑" panose="020B0503020204020204" pitchFamily="34" charset="-122"/>
              </a:rPr>
              <a:t>U指令各部件输入输出关系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SUB</a:t>
            </a:r>
            <a:r>
              <a:rPr lang="zh-CN" altLang="en-US" sz="1800" dirty="0">
                <a:solidFill>
                  <a:srgbClr val="04619D"/>
                </a:solidFill>
                <a:latin typeface="微软雅黑" panose="020B0503020204020204" pitchFamily="34" charset="-122"/>
                <a:ea typeface="微软雅黑" panose="020B0503020204020204" pitchFamily="34" charset="-122"/>
              </a:rPr>
              <a:t>U指令要用到部件，第二行是该部件输入端的数据来源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根据表7.5.4画出执行SUBU指令所需的数据通路，如下图所示：</a:t>
            </a:r>
          </a:p>
          <a:p>
            <a:pPr marL="0" indent="0" algn="ctr"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图7.5.2 SUBU指令数据通路</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2) </a:t>
            </a:r>
            <a:r>
              <a:rPr lang="zh-CN" altLang="en-US">
                <a:sym typeface="Wingdings" panose="05000000000000000000" pitchFamily="2" charset="2"/>
              </a:rPr>
              <a:t>SUBU Rd,Rs,Rt</a:t>
            </a:r>
          </a:p>
        </p:txBody>
      </p:sp>
      <p:graphicFrame>
        <p:nvGraphicFramePr>
          <p:cNvPr id="4" name="表格 3"/>
          <p:cNvGraphicFramePr/>
          <p:nvPr/>
        </p:nvGraphicFramePr>
        <p:xfrm>
          <a:off x="1536700" y="2107565"/>
          <a:ext cx="5612130" cy="1203960"/>
        </p:xfrm>
        <a:graphic>
          <a:graphicData uri="http://schemas.openxmlformats.org/drawingml/2006/table">
            <a:tbl>
              <a:tblPr firstRow="1" bandRow="1">
                <a:tableStyleId>{5940675A-B579-460E-94D1-54222C63F5DA}</a:tableStyleId>
              </a:tblPr>
              <a:tblGrid>
                <a:gridCol w="72009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697865">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1442085">
                  <a:extLst>
                    <a:ext uri="{9D8B030D-6E8A-4147-A177-3AD203B41FA5}">
                      <a16:colId xmlns:a16="http://schemas.microsoft.com/office/drawing/2014/main" val="20004"/>
                    </a:ext>
                  </a:extLst>
                </a:gridCol>
                <a:gridCol w="710565">
                  <a:extLst>
                    <a:ext uri="{9D8B030D-6E8A-4147-A177-3AD203B41FA5}">
                      <a16:colId xmlns:a16="http://schemas.microsoft.com/office/drawing/2014/main" val="20005"/>
                    </a:ext>
                  </a:extLst>
                </a:gridCol>
                <a:gridCol w="593725">
                  <a:extLst>
                    <a:ext uri="{9D8B030D-6E8A-4147-A177-3AD203B41FA5}">
                      <a16:colId xmlns:a16="http://schemas.microsoft.com/office/drawing/2014/main" val="20006"/>
                    </a:ext>
                  </a:extLst>
                </a:gridCol>
              </a:tblGrid>
              <a:tr h="401320">
                <a:tc rowSpan="2">
                  <a:txBody>
                    <a:bodyPr/>
                    <a:lstStyle/>
                    <a:p>
                      <a:pPr indent="0" algn="ctr">
                        <a:buNone/>
                      </a:pPr>
                      <a:r>
                        <a:rPr lang="zh-CN" altLang="en-US" sz="20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a:t>
                      </a:r>
                      <a:r>
                        <a:rPr lang="en-US" altLang="zh-CN" sz="2000" b="0">
                          <a:latin typeface="Courier New" panose="02070309020205020404" charset="0"/>
                          <a:cs typeface="Courier New" panose="02070309020205020404" charset="0"/>
                        </a:rPr>
                        <a:t>eg</a:t>
                      </a:r>
                      <a:r>
                        <a:rPr lang="en-US" altLang="zh-CN" sz="2000" b="0">
                          <a:latin typeface="宋体" panose="02010600030101010101" pitchFamily="2" charset="-122"/>
                          <a:ea typeface="宋体" panose="02010600030101010101" pitchFamily="2" charset="-122"/>
                          <a:cs typeface="宋体" panose="02010600030101010101" pitchFamily="2" charset="-122"/>
                        </a:rPr>
                        <a:t>F</a:t>
                      </a:r>
                      <a:r>
                        <a:rPr lang="en-US" altLang="zh-CN" sz="2000" b="0">
                          <a:latin typeface="Courier New" panose="02070309020205020404" charset="0"/>
                          <a:cs typeface="Courier New" panose="02070309020205020404" charset="0"/>
                        </a:rPr>
                        <a:t>ile</a:t>
                      </a:r>
                      <a:endParaRPr lang="en-US" altLang="zh-CN" sz="2000" b="0">
                        <a:latin typeface="Courier New" panose="02070309020205020404" charset="0"/>
                        <a:ea typeface="宋体" panose="02010600030101010101" pitchFamily="2" charset="-122"/>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40132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1320">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SUBU</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pic>
        <p:nvPicPr>
          <p:cNvPr id="9"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9500" y="4725035"/>
            <a:ext cx="6647815" cy="19831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82905" y="970915"/>
            <a:ext cx="8378190" cy="507746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rd ← rt &lt;&lt; sa；将通用寄存器rt的内容左移sa位，空余出来的位置用0来填充，把结果存入rd寄存器。</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SLL</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IMEM←PC（取指令）、Rd←Rt左移Sa位（执行指令） 、PC←NPC。</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lang="zh-CN" altLang="en-US" sz="2000" dirty="0">
                <a:solidFill>
                  <a:srgbClr val="04619D"/>
                </a:solidFill>
                <a:latin typeface="微软雅黑" panose="020B0503020204020204" pitchFamily="34" charset="-122"/>
                <a:ea typeface="微软雅黑" panose="020B0503020204020204" pitchFamily="34" charset="-122"/>
              </a:rPr>
              <a:t>PC寄存器、NPC、指令存储器</a:t>
            </a:r>
            <a:r>
              <a:rPr lang="en-US" altLang="zh-CN" sz="2000" dirty="0">
                <a:solidFill>
                  <a:srgbClr val="04619D"/>
                </a:solidFill>
                <a:latin typeface="微软雅黑" panose="020B0503020204020204" pitchFamily="34" charset="-122"/>
                <a:ea typeface="微软雅黑" panose="020B0503020204020204" pitchFamily="34" charset="-122"/>
              </a:rPr>
              <a:t>IMEM</a:t>
            </a:r>
            <a:r>
              <a:rPr lang="zh-CN" altLang="en-US" sz="2000" dirty="0">
                <a:solidFill>
                  <a:srgbClr val="04619D"/>
                </a:solidFill>
                <a:latin typeface="微软雅黑" panose="020B0503020204020204" pitchFamily="34" charset="-122"/>
                <a:ea typeface="微软雅黑" panose="020B0503020204020204" pitchFamily="34" charset="-122"/>
              </a:rPr>
              <a:t>、寄存器堆rt、rd（Regfile）、ALU（用于完成移位）、为了将5位的Sa扩展成32位，所以要符号扩展模块Ext5，将扩展后的32位数据送ALU，提供移位的位数。将这些部件列成下表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表7.5.5 执行SLL指令所需部件</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3) </a:t>
            </a:r>
            <a:r>
              <a:rPr lang="zh-CN" altLang="en-US">
                <a:sym typeface="Wingdings" panose="05000000000000000000" pitchFamily="2" charset="2"/>
              </a:rPr>
              <a:t>SLL Rd,Rt,Sa</a:t>
            </a:r>
          </a:p>
        </p:txBody>
      </p:sp>
      <p:pic>
        <p:nvPicPr>
          <p:cNvPr id="50215"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68830" y="2159635"/>
            <a:ext cx="5906770" cy="690880"/>
          </a:xfrm>
          <a:prstGeom prst="rect">
            <a:avLst/>
          </a:prstGeom>
          <a:noFill/>
          <a:ln>
            <a:noFill/>
          </a:ln>
        </p:spPr>
      </p:pic>
      <p:graphicFrame>
        <p:nvGraphicFramePr>
          <p:cNvPr id="4" name="表格 3"/>
          <p:cNvGraphicFramePr/>
          <p:nvPr/>
        </p:nvGraphicFramePr>
        <p:xfrm>
          <a:off x="1588135" y="6048375"/>
          <a:ext cx="5363210" cy="717550"/>
        </p:xfrm>
        <a:graphic>
          <a:graphicData uri="http://schemas.openxmlformats.org/drawingml/2006/table">
            <a:tbl>
              <a:tblPr firstRow="1" bandRow="1">
                <a:tableStyleId>{5940675A-B579-460E-94D1-54222C63F5DA}</a:tableStyleId>
              </a:tblPr>
              <a:tblGrid>
                <a:gridCol w="593090">
                  <a:extLst>
                    <a:ext uri="{9D8B030D-6E8A-4147-A177-3AD203B41FA5}">
                      <a16:colId xmlns:a16="http://schemas.microsoft.com/office/drawing/2014/main" val="20000"/>
                    </a:ext>
                  </a:extLst>
                </a:gridCol>
                <a:gridCol w="603250">
                  <a:extLst>
                    <a:ext uri="{9D8B030D-6E8A-4147-A177-3AD203B41FA5}">
                      <a16:colId xmlns:a16="http://schemas.microsoft.com/office/drawing/2014/main" val="20001"/>
                    </a:ext>
                  </a:extLst>
                </a:gridCol>
                <a:gridCol w="600710">
                  <a:extLst>
                    <a:ext uri="{9D8B030D-6E8A-4147-A177-3AD203B41FA5}">
                      <a16:colId xmlns:a16="http://schemas.microsoft.com/office/drawing/2014/main" val="20002"/>
                    </a:ext>
                  </a:extLst>
                </a:gridCol>
                <a:gridCol w="640715">
                  <a:extLst>
                    <a:ext uri="{9D8B030D-6E8A-4147-A177-3AD203B41FA5}">
                      <a16:colId xmlns:a16="http://schemas.microsoft.com/office/drawing/2014/main" val="20003"/>
                    </a:ext>
                  </a:extLst>
                </a:gridCol>
                <a:gridCol w="1223645">
                  <a:extLst>
                    <a:ext uri="{9D8B030D-6E8A-4147-A177-3AD203B41FA5}">
                      <a16:colId xmlns:a16="http://schemas.microsoft.com/office/drawing/2014/main" val="20004"/>
                    </a:ext>
                  </a:extLst>
                </a:gridCol>
                <a:gridCol w="572770">
                  <a:extLst>
                    <a:ext uri="{9D8B030D-6E8A-4147-A177-3AD203B41FA5}">
                      <a16:colId xmlns:a16="http://schemas.microsoft.com/office/drawing/2014/main" val="20005"/>
                    </a:ext>
                  </a:extLst>
                </a:gridCol>
                <a:gridCol w="572135">
                  <a:extLst>
                    <a:ext uri="{9D8B030D-6E8A-4147-A177-3AD203B41FA5}">
                      <a16:colId xmlns:a16="http://schemas.microsoft.com/office/drawing/2014/main" val="20006"/>
                    </a:ext>
                  </a:extLst>
                </a:gridCol>
                <a:gridCol w="556895">
                  <a:extLst>
                    <a:ext uri="{9D8B030D-6E8A-4147-A177-3AD203B41FA5}">
                      <a16:colId xmlns:a16="http://schemas.microsoft.com/office/drawing/2014/main" val="20007"/>
                    </a:ext>
                  </a:extLst>
                </a:gridCol>
              </a:tblGrid>
              <a:tr h="358775">
                <a:tc rowSpan="2">
                  <a:txBody>
                    <a:bodyPr/>
                    <a:lstStyle/>
                    <a:p>
                      <a:pPr indent="0" algn="ctr">
                        <a:buNone/>
                      </a:pPr>
                      <a:r>
                        <a:rPr lang="zh-CN" altLang="en-US" sz="20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a:t>
                      </a:r>
                      <a:r>
                        <a:rPr lang="en-US" altLang="zh-CN" sz="2000" b="0">
                          <a:latin typeface="Courier New" panose="02070309020205020404" charset="0"/>
                          <a:cs typeface="Courier New" panose="02070309020205020404" charset="0"/>
                        </a:rPr>
                        <a:t>eg</a:t>
                      </a:r>
                      <a:r>
                        <a:rPr lang="en-US" altLang="zh-CN" sz="2000" b="0">
                          <a:latin typeface="宋体" panose="02010600030101010101" pitchFamily="2" charset="-122"/>
                          <a:ea typeface="宋体" panose="02010600030101010101" pitchFamily="2" charset="-122"/>
                          <a:cs typeface="宋体" panose="02010600030101010101" pitchFamily="2" charset="-122"/>
                        </a:rPr>
                        <a:t>F</a:t>
                      </a:r>
                      <a:r>
                        <a:rPr lang="en-US" altLang="zh-CN" sz="2000" b="0">
                          <a:latin typeface="Courier New" panose="02070309020205020404" charset="0"/>
                          <a:cs typeface="Courier New" panose="02070309020205020404" charset="0"/>
                        </a:rPr>
                        <a:t>ile</a:t>
                      </a:r>
                      <a:endParaRPr lang="en-US" altLang="zh-CN" sz="2000" b="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Ext5</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8775">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078865"/>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SLL</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6</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S</a:t>
            </a:r>
            <a:r>
              <a:rPr lang="en-US" sz="1600" dirty="0">
                <a:solidFill>
                  <a:schemeClr val="tx1"/>
                </a:solidFill>
                <a:latin typeface="微软雅黑" panose="020B0503020204020204" pitchFamily="34" charset="-122"/>
                <a:ea typeface="微软雅黑" panose="020B0503020204020204" pitchFamily="34" charset="-122"/>
              </a:rPr>
              <a:t>LL</a:t>
            </a:r>
            <a:r>
              <a:rPr lang="zh-CN" altLang="en-US" sz="1600" dirty="0">
                <a:solidFill>
                  <a:schemeClr val="tx1"/>
                </a:solidFill>
                <a:latin typeface="微软雅黑" panose="020B0503020204020204" pitchFamily="34" charset="-122"/>
                <a:ea typeface="微软雅黑" panose="020B0503020204020204" pitchFamily="34" charset="-122"/>
              </a:rPr>
              <a:t>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S</a:t>
            </a:r>
            <a:r>
              <a:rPr lang="en-US" sz="1800" dirty="0">
                <a:solidFill>
                  <a:srgbClr val="04619D"/>
                </a:solidFill>
                <a:latin typeface="微软雅黑" panose="020B0503020204020204" pitchFamily="34" charset="-122"/>
                <a:ea typeface="微软雅黑" panose="020B0503020204020204" pitchFamily="34" charset="-122"/>
              </a:rPr>
              <a:t>LL</a:t>
            </a:r>
            <a:r>
              <a:rPr lang="zh-CN" altLang="en-US" sz="1800" dirty="0">
                <a:solidFill>
                  <a:srgbClr val="04619D"/>
                </a:solidFill>
                <a:latin typeface="微软雅黑" panose="020B0503020204020204" pitchFamily="34" charset="-122"/>
                <a:ea typeface="微软雅黑" panose="020B0503020204020204" pitchFamily="34" charset="-122"/>
              </a:rPr>
              <a:t>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a:t>
            </a:r>
            <a:r>
              <a:rPr lang="en-US" altLang="zh-CN" sz="2000" dirty="0">
                <a:solidFill>
                  <a:schemeClr val="tx1"/>
                </a:solidFill>
                <a:latin typeface="微软雅黑" panose="020B0503020204020204" pitchFamily="34" charset="-122"/>
                <a:ea typeface="微软雅黑" panose="020B0503020204020204" pitchFamily="34" charset="-122"/>
              </a:rPr>
              <a:t>6</a:t>
            </a:r>
            <a:r>
              <a:rPr lang="zh-CN" altLang="en-US" sz="2000" dirty="0">
                <a:solidFill>
                  <a:schemeClr val="tx1"/>
                </a:solidFill>
                <a:latin typeface="微软雅黑" panose="020B0503020204020204" pitchFamily="34" charset="-122"/>
                <a:ea typeface="微软雅黑" panose="020B0503020204020204" pitchFamily="34" charset="-122"/>
              </a:rPr>
              <a:t>画出执行S</a:t>
            </a:r>
            <a:r>
              <a:rPr lang="en-US" altLang="zh-CN" sz="2000" dirty="0">
                <a:solidFill>
                  <a:schemeClr val="tx1"/>
                </a:solidFill>
                <a:latin typeface="微软雅黑" panose="020B0503020204020204" pitchFamily="34" charset="-122"/>
                <a:ea typeface="微软雅黑" panose="020B0503020204020204" pitchFamily="34" charset="-122"/>
              </a:rPr>
              <a:t>LL</a:t>
            </a:r>
            <a:r>
              <a:rPr lang="zh-CN" altLang="en-US" sz="2000" dirty="0">
                <a:solidFill>
                  <a:schemeClr val="tx1"/>
                </a:solidFill>
                <a:latin typeface="微软雅黑" panose="020B0503020204020204" pitchFamily="34" charset="-122"/>
                <a:ea typeface="微软雅黑" panose="020B0503020204020204" pitchFamily="34" charset="-122"/>
              </a:rPr>
              <a:t>指令所需的数据通路，如下图所示：</a:t>
            </a:r>
          </a:p>
          <a:p>
            <a:pPr marL="0" indent="0" algn="ctr"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图7.5.3 SLL指令数据通路</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3) </a:t>
            </a:r>
            <a:r>
              <a:rPr lang="zh-CN" altLang="en-US">
                <a:sym typeface="Wingdings" panose="05000000000000000000" pitchFamily="2" charset="2"/>
              </a:rPr>
              <a:t>SLL Rd,Rt,Sa</a:t>
            </a:r>
          </a:p>
        </p:txBody>
      </p:sp>
      <p:pic>
        <p:nvPicPr>
          <p:cNvPr id="11" name="图片 10" descr="2)V{Y~S4U~R8LRRKV(Z@@2J"/>
          <p:cNvPicPr>
            <a:picLocks noChangeAspect="1"/>
          </p:cNvPicPr>
          <p:nvPr/>
        </p:nvPicPr>
        <p:blipFill>
          <a:blip r:embed="rId3"/>
          <a:stretch>
            <a:fillRect/>
          </a:stretch>
        </p:blipFill>
        <p:spPr>
          <a:xfrm>
            <a:off x="744855" y="2133600"/>
            <a:ext cx="7611745" cy="1184910"/>
          </a:xfrm>
          <a:prstGeom prst="rect">
            <a:avLst/>
          </a:prstGeom>
        </p:spPr>
      </p:pic>
      <p:pic>
        <p:nvPicPr>
          <p:cNvPr id="12"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3345" y="4725035"/>
            <a:ext cx="6080125" cy="19881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51155" y="8045281"/>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2110" y="960120"/>
            <a:ext cx="8378190" cy="461581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rt ← rs or immediate；将通用寄存器rs和经过0扩展的立即数imm16（扩展为32位），按位做“或”操作，将结果存入目标寄存器rd中。</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ORI</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IMEM←PC（取指令）、Rt←Rs or ext_imm16（执行指令）、PC←NPC。</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sz="2000" dirty="0">
                <a:solidFill>
                  <a:srgbClr val="04619D"/>
                </a:solidFill>
                <a:latin typeface="微软雅黑" panose="020B0503020204020204" pitchFamily="34" charset="-122"/>
                <a:ea typeface="微软雅黑" panose="020B0503020204020204" pitchFamily="34" charset="-122"/>
              </a:rPr>
              <a:t>PC寄存器、NPC、指令存储器</a:t>
            </a:r>
            <a:r>
              <a:rPr lang="en-US" sz="2000" dirty="0">
                <a:solidFill>
                  <a:srgbClr val="04619D"/>
                </a:solidFill>
                <a:latin typeface="微软雅黑" panose="020B0503020204020204" pitchFamily="34" charset="-122"/>
                <a:ea typeface="微软雅黑" panose="020B0503020204020204" pitchFamily="34" charset="-122"/>
              </a:rPr>
              <a:t>IMEM</a:t>
            </a:r>
            <a:r>
              <a:rPr sz="2000" dirty="0">
                <a:solidFill>
                  <a:srgbClr val="04619D"/>
                </a:solidFill>
                <a:latin typeface="微软雅黑" panose="020B0503020204020204" pitchFamily="34" charset="-122"/>
                <a:ea typeface="微软雅黑" panose="020B0503020204020204" pitchFamily="34" charset="-122"/>
              </a:rPr>
              <a:t>、寄存器堆（Regfile）、ALU、扩展模块Ext16，</a:t>
            </a:r>
            <a:r>
              <a:rPr lang="zh-CN" altLang="en-US" sz="2000" dirty="0">
                <a:solidFill>
                  <a:srgbClr val="04619D"/>
                </a:solidFill>
                <a:latin typeface="微软雅黑" panose="020B0503020204020204" pitchFamily="34" charset="-122"/>
                <a:ea typeface="微软雅黑" panose="020B0503020204020204" pitchFamily="34" charset="-122"/>
              </a:rPr>
              <a:t>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表7.5.7 执行ORI指令所需部件</a:t>
            </a:r>
          </a:p>
        </p:txBody>
      </p:sp>
      <p:sp>
        <p:nvSpPr>
          <p:cNvPr id="7266" name="标题 7265"/>
          <p:cNvSpPr>
            <a:spLocks noGrp="1"/>
          </p:cNvSpPr>
          <p:nvPr>
            <p:ph type="title"/>
          </p:nvPr>
        </p:nvSpPr>
        <p:spPr>
          <a:xfrm>
            <a:off x="351155" y="360613"/>
            <a:ext cx="8229600" cy="533400"/>
          </a:xfrm>
        </p:spPr>
        <p:txBody>
          <a:bodyPr/>
          <a:lstStyle/>
          <a:p>
            <a:pPr algn="l"/>
            <a:r>
              <a:rPr lang="en-US" altLang="zh-CN">
                <a:sym typeface="Wingdings" panose="05000000000000000000" pitchFamily="2" charset="2"/>
              </a:rPr>
              <a:t>4) </a:t>
            </a:r>
            <a:r>
              <a:rPr lang="zh-CN" altLang="en-US">
                <a:sym typeface="Wingdings" panose="05000000000000000000" pitchFamily="2" charset="2"/>
              </a:rPr>
              <a:t>ORI Rt,Rs,imm16</a:t>
            </a:r>
          </a:p>
        </p:txBody>
      </p:sp>
      <p:pic>
        <p:nvPicPr>
          <p:cNvPr id="50220"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8680" y="2129790"/>
            <a:ext cx="6296025" cy="737235"/>
          </a:xfrm>
          <a:prstGeom prst="rect">
            <a:avLst/>
          </a:prstGeom>
        </p:spPr>
      </p:pic>
      <p:graphicFrame>
        <p:nvGraphicFramePr>
          <p:cNvPr id="2" name="表格 -1"/>
          <p:cNvGraphicFramePr/>
          <p:nvPr/>
        </p:nvGraphicFramePr>
        <p:xfrm>
          <a:off x="1572895" y="5655945"/>
          <a:ext cx="5998845" cy="609602"/>
        </p:xfrm>
        <a:graphic>
          <a:graphicData uri="http://schemas.openxmlformats.org/drawingml/2006/table">
            <a:tbl>
              <a:tblPr firstRow="1" bandRow="1">
                <a:tableStyleId>{5940675A-B579-460E-94D1-54222C63F5DA}</a:tableStyleId>
              </a:tblPr>
              <a:tblGrid>
                <a:gridCol w="570230">
                  <a:extLst>
                    <a:ext uri="{9D8B030D-6E8A-4147-A177-3AD203B41FA5}">
                      <a16:colId xmlns:a16="http://schemas.microsoft.com/office/drawing/2014/main" val="20000"/>
                    </a:ext>
                  </a:extLst>
                </a:gridCol>
                <a:gridCol w="585470">
                  <a:extLst>
                    <a:ext uri="{9D8B030D-6E8A-4147-A177-3AD203B41FA5}">
                      <a16:colId xmlns:a16="http://schemas.microsoft.com/office/drawing/2014/main" val="20001"/>
                    </a:ext>
                  </a:extLst>
                </a:gridCol>
                <a:gridCol w="614045">
                  <a:extLst>
                    <a:ext uri="{9D8B030D-6E8A-4147-A177-3AD203B41FA5}">
                      <a16:colId xmlns:a16="http://schemas.microsoft.com/office/drawing/2014/main" val="20002"/>
                    </a:ext>
                  </a:extLst>
                </a:gridCol>
                <a:gridCol w="671195">
                  <a:extLst>
                    <a:ext uri="{9D8B030D-6E8A-4147-A177-3AD203B41FA5}">
                      <a16:colId xmlns:a16="http://schemas.microsoft.com/office/drawing/2014/main" val="20003"/>
                    </a:ext>
                  </a:extLst>
                </a:gridCol>
                <a:gridCol w="1223645">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534670">
                  <a:extLst>
                    <a:ext uri="{9D8B030D-6E8A-4147-A177-3AD203B41FA5}">
                      <a16:colId xmlns:a16="http://schemas.microsoft.com/office/drawing/2014/main" val="20006"/>
                    </a:ext>
                  </a:extLst>
                </a:gridCol>
                <a:gridCol w="603885">
                  <a:extLst>
                    <a:ext uri="{9D8B030D-6E8A-4147-A177-3AD203B41FA5}">
                      <a16:colId xmlns:a16="http://schemas.microsoft.com/office/drawing/2014/main" val="20007"/>
                    </a:ext>
                  </a:extLst>
                </a:gridCol>
                <a:gridCol w="662305">
                  <a:extLst>
                    <a:ext uri="{9D8B030D-6E8A-4147-A177-3AD203B41FA5}">
                      <a16:colId xmlns:a16="http://schemas.microsoft.com/office/drawing/2014/main" val="20008"/>
                    </a:ext>
                  </a:extLst>
                </a:gridCol>
              </a:tblGrid>
              <a:tr h="304800">
                <a:tc rowSpan="2">
                  <a:txBody>
                    <a:bodyPr/>
                    <a:lstStyle/>
                    <a:p>
                      <a:pPr indent="0" algn="ctr">
                        <a:buNone/>
                      </a:pPr>
                      <a:r>
                        <a:rPr lang="zh-CN" altLang="en-US" sz="20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a:t>
                      </a:r>
                      <a:r>
                        <a:rPr lang="en-US" altLang="zh-CN" sz="2000" b="0">
                          <a:latin typeface="Courier New" panose="02070309020205020404" charset="0"/>
                          <a:cs typeface="Courier New" panose="02070309020205020404" charset="0"/>
                        </a:rPr>
                        <a:t>eg</a:t>
                      </a:r>
                      <a:r>
                        <a:rPr lang="en-US" altLang="zh-CN" sz="2000" b="0">
                          <a:latin typeface="宋体" panose="02010600030101010101" pitchFamily="2" charset="-122"/>
                          <a:ea typeface="宋体" panose="02010600030101010101" pitchFamily="2" charset="-122"/>
                          <a:cs typeface="宋体" panose="02010600030101010101" pitchFamily="2" charset="-122"/>
                        </a:rPr>
                        <a:t>F</a:t>
                      </a:r>
                      <a:r>
                        <a:rPr lang="en-US" altLang="zh-CN" sz="2000" b="0">
                          <a:latin typeface="Courier New" panose="02070309020205020404" charset="0"/>
                          <a:cs typeface="Courier New" panose="02070309020205020404" charset="0"/>
                        </a:rPr>
                        <a:t>ile</a:t>
                      </a:r>
                      <a:endParaRPr lang="en-US" altLang="zh-CN" sz="2000" b="0">
                        <a:latin typeface="宋体" panose="02010600030101010101" pitchFamily="2" charset="-122"/>
                        <a:ea typeface="宋体" panose="02010600030101010101" pitchFamily="2" charset="-122"/>
                        <a:cs typeface="宋体" panose="02010600030101010101" pitchFamily="2" charset="-122"/>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Ext5</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Ext16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0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20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078865"/>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ORI</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8</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ORI</a:t>
            </a:r>
            <a:r>
              <a:rPr lang="zh-CN" altLang="en-US" sz="1600" dirty="0">
                <a:solidFill>
                  <a:schemeClr val="tx1"/>
                </a:solidFill>
                <a:latin typeface="微软雅黑" panose="020B0503020204020204" pitchFamily="34" charset="-122"/>
                <a:ea typeface="微软雅黑" panose="020B0503020204020204" pitchFamily="34" charset="-122"/>
              </a:rPr>
              <a:t>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ORI</a:t>
            </a:r>
            <a:r>
              <a:rPr lang="zh-CN" altLang="en-US" sz="1800" dirty="0">
                <a:solidFill>
                  <a:srgbClr val="04619D"/>
                </a:solidFill>
                <a:latin typeface="微软雅黑" panose="020B0503020204020204" pitchFamily="34" charset="-122"/>
                <a:ea typeface="微软雅黑" panose="020B0503020204020204" pitchFamily="34" charset="-122"/>
              </a:rPr>
              <a:t>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a:t>
            </a:r>
            <a:r>
              <a:rPr lang="en-US" altLang="zh-CN" sz="2000" dirty="0">
                <a:solidFill>
                  <a:schemeClr val="tx1"/>
                </a:solidFill>
                <a:latin typeface="微软雅黑" panose="020B0503020204020204" pitchFamily="34" charset="-122"/>
                <a:ea typeface="微软雅黑" panose="020B0503020204020204" pitchFamily="34" charset="-122"/>
              </a:rPr>
              <a:t>8</a:t>
            </a:r>
            <a:r>
              <a:rPr lang="zh-CN" altLang="en-US" sz="2000" dirty="0">
                <a:solidFill>
                  <a:schemeClr val="tx1"/>
                </a:solidFill>
                <a:latin typeface="微软雅黑" panose="020B0503020204020204" pitchFamily="34" charset="-122"/>
                <a:ea typeface="微软雅黑" panose="020B0503020204020204" pitchFamily="34" charset="-122"/>
              </a:rPr>
              <a:t>画出执行</a:t>
            </a:r>
            <a:r>
              <a:rPr lang="en-US" sz="2000" dirty="0">
                <a:solidFill>
                  <a:schemeClr val="tx1"/>
                </a:solidFill>
                <a:latin typeface="微软雅黑" panose="020B0503020204020204" pitchFamily="34" charset="-122"/>
                <a:ea typeface="微软雅黑" panose="020B0503020204020204" pitchFamily="34" charset="-122"/>
              </a:rPr>
              <a:t>ORI</a:t>
            </a:r>
            <a:r>
              <a:rPr lang="zh-CN" altLang="en-US" sz="2000" dirty="0">
                <a:solidFill>
                  <a:schemeClr val="tx1"/>
                </a:solidFill>
                <a:latin typeface="微软雅黑" panose="020B0503020204020204" pitchFamily="34" charset="-122"/>
                <a:ea typeface="微软雅黑" panose="020B0503020204020204" pitchFamily="34" charset="-122"/>
              </a:rPr>
              <a:t>指令所需的数据通路，如下图所示：</a:t>
            </a:r>
          </a:p>
          <a:p>
            <a:pPr marL="0" indent="0" algn="ctr"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图7.5.4 ORI指令数据通路</a:t>
            </a:r>
          </a:p>
        </p:txBody>
      </p:sp>
      <p:sp>
        <p:nvSpPr>
          <p:cNvPr id="7266" name="标题 7265"/>
          <p:cNvSpPr>
            <a:spLocks noGrp="1"/>
          </p:cNvSpPr>
          <p:nvPr>
            <p:ph type="title"/>
          </p:nvPr>
        </p:nvSpPr>
        <p:spPr/>
        <p:txBody>
          <a:bodyPr/>
          <a:lstStyle/>
          <a:p>
            <a:pPr algn="l"/>
            <a:r>
              <a:rPr lang="en-US" altLang="zh-CN" dirty="0">
                <a:sym typeface="Wingdings" panose="05000000000000000000" pitchFamily="2" charset="2"/>
              </a:rPr>
              <a:t>4) </a:t>
            </a:r>
            <a:r>
              <a:rPr dirty="0">
                <a:sym typeface="Wingdings" panose="05000000000000000000" pitchFamily="2" charset="2"/>
              </a:rPr>
              <a:t>ORI Rt,Rs,imm16</a:t>
            </a:r>
            <a:endParaRPr lang="zh-CN" altLang="en-US" dirty="0">
              <a:sym typeface="Wingdings" panose="05000000000000000000" pitchFamily="2" charset="2"/>
            </a:endParaRP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2075" y="4725035"/>
            <a:ext cx="6022340" cy="1968500"/>
          </a:xfrm>
          <a:prstGeom prst="rect">
            <a:avLst/>
          </a:prstGeom>
        </p:spPr>
      </p:pic>
      <p:pic>
        <p:nvPicPr>
          <p:cNvPr id="5" name="图片 4" descr="4OO9L64%WM8LHR$AB%JM0MR"/>
          <p:cNvPicPr>
            <a:picLocks noChangeAspect="1"/>
          </p:cNvPicPr>
          <p:nvPr/>
        </p:nvPicPr>
        <p:blipFill>
          <a:blip r:embed="rId4"/>
          <a:stretch>
            <a:fillRect/>
          </a:stretch>
        </p:blipFill>
        <p:spPr>
          <a:xfrm>
            <a:off x="621030" y="2153920"/>
            <a:ext cx="7902575" cy="12084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51155" y="8045281"/>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2110" y="960120"/>
            <a:ext cx="8378190" cy="507746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rt ← memory[base+offset]；将基地址（base）加偏移量（offset）所得到的有效数据存储器地址中的内容加载到通用寄存器rt中。</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LW</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IMEM←PC（取指令）、Rt←[base+Sign_ ext_offset] （执行指令）、PC←NPC。</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sz="2000" dirty="0">
                <a:solidFill>
                  <a:srgbClr val="04619D"/>
                </a:solidFill>
                <a:latin typeface="微软雅黑" panose="020B0503020204020204" pitchFamily="34" charset="-122"/>
                <a:ea typeface="微软雅黑" panose="020B0503020204020204" pitchFamily="34" charset="-122"/>
              </a:rPr>
              <a:t>PC寄存器、NPC、指令存储器</a:t>
            </a:r>
            <a:r>
              <a:rPr lang="en-US" sz="2000" dirty="0">
                <a:solidFill>
                  <a:srgbClr val="04619D"/>
                </a:solidFill>
                <a:latin typeface="微软雅黑" panose="020B0503020204020204" pitchFamily="34" charset="-122"/>
                <a:ea typeface="微软雅黑" panose="020B0503020204020204" pitchFamily="34" charset="-122"/>
              </a:rPr>
              <a:t>IMEM</a:t>
            </a:r>
            <a:r>
              <a:rPr sz="2000" dirty="0">
                <a:solidFill>
                  <a:srgbClr val="04619D"/>
                </a:solidFill>
                <a:latin typeface="微软雅黑" panose="020B0503020204020204" pitchFamily="34" charset="-122"/>
                <a:ea typeface="微软雅黑" panose="020B0503020204020204" pitchFamily="34" charset="-122"/>
              </a:rPr>
              <a:t>、寄存器堆rt、base（Regfile）、ALU（完成操作数地址计算）、符号扩展模块S_Ext16（将offset按符号位进行扩展到32位，送ALU计算操作数地址）、DMEM（从中取操作数），</a:t>
            </a:r>
            <a:r>
              <a:rPr lang="zh-CN" altLang="en-US" sz="2000" dirty="0">
                <a:solidFill>
                  <a:srgbClr val="04619D"/>
                </a:solidFill>
                <a:latin typeface="微软雅黑" panose="020B0503020204020204" pitchFamily="34" charset="-122"/>
                <a:ea typeface="微软雅黑" panose="020B0503020204020204" pitchFamily="34" charset="-122"/>
              </a:rPr>
              <a:t>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9</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LW</a:t>
            </a:r>
            <a:r>
              <a:rPr lang="zh-CN" altLang="en-US" sz="1600" dirty="0">
                <a:solidFill>
                  <a:schemeClr val="tx1"/>
                </a:solidFill>
                <a:latin typeface="微软雅黑" panose="020B0503020204020204" pitchFamily="34" charset="-122"/>
                <a:ea typeface="微软雅黑" panose="020B0503020204020204" pitchFamily="34" charset="-122"/>
              </a:rPr>
              <a:t>指令所需部件</a:t>
            </a:r>
          </a:p>
        </p:txBody>
      </p:sp>
      <p:sp>
        <p:nvSpPr>
          <p:cNvPr id="7266" name="标题 7265"/>
          <p:cNvSpPr>
            <a:spLocks noGrp="1"/>
          </p:cNvSpPr>
          <p:nvPr>
            <p:ph type="title"/>
          </p:nvPr>
        </p:nvSpPr>
        <p:spPr>
          <a:xfrm>
            <a:off x="351155" y="360613"/>
            <a:ext cx="8229600" cy="533400"/>
          </a:xfrm>
        </p:spPr>
        <p:txBody>
          <a:bodyPr/>
          <a:lstStyle/>
          <a:p>
            <a:pPr algn="l"/>
            <a:r>
              <a:rPr lang="en-US" altLang="zh-CN">
                <a:sym typeface="Wingdings" panose="05000000000000000000" pitchFamily="2" charset="2"/>
              </a:rPr>
              <a:t>5) </a:t>
            </a:r>
            <a:r>
              <a:rPr lang="zh-CN" altLang="en-US">
                <a:sym typeface="Wingdings" panose="05000000000000000000" pitchFamily="2" charset="2"/>
              </a:rPr>
              <a:t>LW Rt,offset（base）</a:t>
            </a:r>
          </a:p>
        </p:txBody>
      </p:sp>
      <p:pic>
        <p:nvPicPr>
          <p:cNvPr id="12"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131060" y="2131695"/>
            <a:ext cx="6182360" cy="722630"/>
          </a:xfrm>
          <a:prstGeom prst="rect">
            <a:avLst/>
          </a:prstGeom>
          <a:noFill/>
          <a:ln>
            <a:noFill/>
          </a:ln>
        </p:spPr>
      </p:pic>
      <p:pic>
        <p:nvPicPr>
          <p:cNvPr id="5" name="图片 4" descr="V6L{)R(34{{9B`Y]P@X38M1"/>
          <p:cNvPicPr>
            <a:picLocks noChangeAspect="1"/>
          </p:cNvPicPr>
          <p:nvPr/>
        </p:nvPicPr>
        <p:blipFill>
          <a:blip r:embed="rId4"/>
          <a:stretch>
            <a:fillRect/>
          </a:stretch>
        </p:blipFill>
        <p:spPr>
          <a:xfrm>
            <a:off x="889635" y="6037580"/>
            <a:ext cx="7152640" cy="7334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078865"/>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LW</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10</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LW</a:t>
            </a:r>
            <a:r>
              <a:rPr lang="zh-CN" altLang="en-US" sz="1600" dirty="0">
                <a:solidFill>
                  <a:schemeClr val="tx1"/>
                </a:solidFill>
                <a:latin typeface="微软雅黑" panose="020B0503020204020204" pitchFamily="34" charset="-122"/>
                <a:ea typeface="微软雅黑" panose="020B0503020204020204" pitchFamily="34" charset="-122"/>
              </a:rPr>
              <a:t>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LW</a:t>
            </a:r>
            <a:r>
              <a:rPr lang="zh-CN" altLang="en-US" sz="1800" dirty="0">
                <a:solidFill>
                  <a:srgbClr val="04619D"/>
                </a:solidFill>
                <a:latin typeface="微软雅黑" panose="020B0503020204020204" pitchFamily="34" charset="-122"/>
                <a:ea typeface="微软雅黑" panose="020B0503020204020204" pitchFamily="34" charset="-122"/>
              </a:rPr>
              <a:t>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a:t>
            </a:r>
            <a:r>
              <a:rPr lang="en-US" altLang="zh-CN" sz="2000" dirty="0">
                <a:solidFill>
                  <a:schemeClr val="tx1"/>
                </a:solidFill>
                <a:latin typeface="微软雅黑" panose="020B0503020204020204" pitchFamily="34" charset="-122"/>
                <a:ea typeface="微软雅黑" panose="020B0503020204020204" pitchFamily="34" charset="-122"/>
              </a:rPr>
              <a:t>10</a:t>
            </a:r>
            <a:r>
              <a:rPr lang="zh-CN" altLang="en-US" sz="2000" dirty="0">
                <a:solidFill>
                  <a:schemeClr val="tx1"/>
                </a:solidFill>
                <a:latin typeface="微软雅黑" panose="020B0503020204020204" pitchFamily="34" charset="-122"/>
                <a:ea typeface="微软雅黑" panose="020B0503020204020204" pitchFamily="34" charset="-122"/>
              </a:rPr>
              <a:t>画出执行</a:t>
            </a:r>
            <a:r>
              <a:rPr lang="en-US" sz="2000" dirty="0">
                <a:solidFill>
                  <a:schemeClr val="tx1"/>
                </a:solidFill>
                <a:latin typeface="微软雅黑" panose="020B0503020204020204" pitchFamily="34" charset="-122"/>
                <a:ea typeface="微软雅黑" panose="020B0503020204020204" pitchFamily="34" charset="-122"/>
              </a:rPr>
              <a:t>LW</a:t>
            </a:r>
            <a:r>
              <a:rPr lang="zh-CN" altLang="en-US" sz="2000" dirty="0">
                <a:solidFill>
                  <a:schemeClr val="tx1"/>
                </a:solidFill>
                <a:latin typeface="微软雅黑" panose="020B0503020204020204" pitchFamily="34" charset="-122"/>
                <a:ea typeface="微软雅黑" panose="020B0503020204020204" pitchFamily="34" charset="-122"/>
              </a:rPr>
              <a:t>指令所需的数据通路，如下图所示：</a:t>
            </a:r>
          </a:p>
          <a:p>
            <a:pPr marL="0" indent="0" algn="ctr"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图7.5.5 LW指令数据通路</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5)  </a:t>
            </a:r>
            <a:r>
              <a:rPr>
                <a:sym typeface="Wingdings" panose="05000000000000000000" pitchFamily="2" charset="2"/>
              </a:rPr>
              <a:t>LW Rt,offset（base）</a:t>
            </a:r>
            <a:endParaRPr lang="zh-CN" altLang="en-US">
              <a:sym typeface="Wingdings" panose="05000000000000000000" pitchFamily="2" charset="2"/>
            </a:endParaRPr>
          </a:p>
        </p:txBody>
      </p:sp>
      <p:pic>
        <p:nvPicPr>
          <p:cNvPr id="50226" name="图片 502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3925" y="4725035"/>
            <a:ext cx="7558405" cy="2001520"/>
          </a:xfrm>
          <a:prstGeom prst="rect">
            <a:avLst/>
          </a:prstGeom>
        </p:spPr>
      </p:pic>
      <p:pic>
        <p:nvPicPr>
          <p:cNvPr id="7" name="图片 6" descr="ISG{DK%S_HH0FMH6IZHR7AI"/>
          <p:cNvPicPr>
            <a:picLocks noChangeAspect="1"/>
          </p:cNvPicPr>
          <p:nvPr/>
        </p:nvPicPr>
        <p:blipFill>
          <a:blip r:embed="rId4"/>
          <a:stretch>
            <a:fillRect/>
          </a:stretch>
        </p:blipFill>
        <p:spPr>
          <a:xfrm>
            <a:off x="543560" y="2143125"/>
            <a:ext cx="8319135" cy="12363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51155" y="8045281"/>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2110" y="960120"/>
            <a:ext cx="8378190" cy="461581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memory[base+offset] ←rt；将通用寄存器rt中的32位数据存入数据存储器中的有效地址，有效地址由基地址（base）和16位偏移量（offset）相加所得。</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SW</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 [base+Sign_ ext_offset] ←Rt（执行指令）、PC←NPC。</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sz="2000" dirty="0">
                <a:solidFill>
                  <a:srgbClr val="04619D"/>
                </a:solidFill>
                <a:latin typeface="微软雅黑" panose="020B0503020204020204" pitchFamily="34" charset="-122"/>
                <a:ea typeface="微软雅黑" panose="020B0503020204020204" pitchFamily="34" charset="-122"/>
              </a:rPr>
              <a:t>PC寄存器、NPC、指令存储器</a:t>
            </a:r>
            <a:r>
              <a:rPr lang="en-US" sz="2000" dirty="0">
                <a:solidFill>
                  <a:srgbClr val="04619D"/>
                </a:solidFill>
                <a:latin typeface="微软雅黑" panose="020B0503020204020204" pitchFamily="34" charset="-122"/>
                <a:ea typeface="微软雅黑" panose="020B0503020204020204" pitchFamily="34" charset="-122"/>
              </a:rPr>
              <a:t>IMEM</a:t>
            </a:r>
            <a:r>
              <a:rPr sz="2000" dirty="0">
                <a:solidFill>
                  <a:srgbClr val="04619D"/>
                </a:solidFill>
                <a:latin typeface="微软雅黑" panose="020B0503020204020204" pitchFamily="34" charset="-122"/>
                <a:ea typeface="微软雅黑" panose="020B0503020204020204" pitchFamily="34" charset="-122"/>
              </a:rPr>
              <a:t>、寄存器堆（Regfile）、ALU、符号扩展模块S_Ext16、DMEM，</a:t>
            </a:r>
            <a:r>
              <a:rPr lang="zh-CN" altLang="en-US" sz="2000" dirty="0">
                <a:solidFill>
                  <a:srgbClr val="04619D"/>
                </a:solidFill>
                <a:latin typeface="微软雅黑" panose="020B0503020204020204" pitchFamily="34" charset="-122"/>
                <a:ea typeface="微软雅黑" panose="020B0503020204020204" pitchFamily="34" charset="-122"/>
              </a:rPr>
              <a:t>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11</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SW</a:t>
            </a:r>
            <a:r>
              <a:rPr lang="zh-CN" altLang="en-US" sz="1600" dirty="0">
                <a:solidFill>
                  <a:schemeClr val="tx1"/>
                </a:solidFill>
                <a:latin typeface="微软雅黑" panose="020B0503020204020204" pitchFamily="34" charset="-122"/>
                <a:ea typeface="微软雅黑" panose="020B0503020204020204" pitchFamily="34" charset="-122"/>
              </a:rPr>
              <a:t>指令所需部件</a:t>
            </a:r>
          </a:p>
        </p:txBody>
      </p:sp>
      <p:sp>
        <p:nvSpPr>
          <p:cNvPr id="7266" name="标题 7265"/>
          <p:cNvSpPr>
            <a:spLocks noGrp="1"/>
          </p:cNvSpPr>
          <p:nvPr>
            <p:ph type="title"/>
          </p:nvPr>
        </p:nvSpPr>
        <p:spPr>
          <a:xfrm>
            <a:off x="351155" y="360613"/>
            <a:ext cx="8229600" cy="533400"/>
          </a:xfrm>
        </p:spPr>
        <p:txBody>
          <a:bodyPr/>
          <a:lstStyle/>
          <a:p>
            <a:pPr algn="l"/>
            <a:r>
              <a:rPr lang="en-US" altLang="zh-CN">
                <a:sym typeface="Wingdings" panose="05000000000000000000" pitchFamily="2" charset="2"/>
              </a:rPr>
              <a:t>6) </a:t>
            </a:r>
            <a:r>
              <a:rPr>
                <a:sym typeface="Wingdings" panose="05000000000000000000" pitchFamily="2" charset="2"/>
              </a:rPr>
              <a:t>SW Rt,offset（base）</a:t>
            </a:r>
          </a:p>
        </p:txBody>
      </p:sp>
      <p:pic>
        <p:nvPicPr>
          <p:cNvPr id="68"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51050" y="2352675"/>
            <a:ext cx="5193665" cy="607060"/>
          </a:xfrm>
          <a:prstGeom prst="rect">
            <a:avLst/>
          </a:prstGeom>
          <a:noFill/>
          <a:ln>
            <a:noFill/>
          </a:ln>
        </p:spPr>
      </p:pic>
      <p:pic>
        <p:nvPicPr>
          <p:cNvPr id="2" name="图片 1" descr=")9HIF@B5YKPHMRWK$TJ(QEQ"/>
          <p:cNvPicPr>
            <a:picLocks noChangeAspect="1"/>
          </p:cNvPicPr>
          <p:nvPr/>
        </p:nvPicPr>
        <p:blipFill>
          <a:blip r:embed="rId4"/>
          <a:stretch>
            <a:fillRect/>
          </a:stretch>
        </p:blipFill>
        <p:spPr>
          <a:xfrm>
            <a:off x="687070" y="5575935"/>
            <a:ext cx="7557770" cy="7861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1078865"/>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SW</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12</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SW</a:t>
            </a:r>
            <a:r>
              <a:rPr lang="zh-CN" altLang="en-US" sz="1600" dirty="0">
                <a:solidFill>
                  <a:schemeClr val="tx1"/>
                </a:solidFill>
                <a:latin typeface="微软雅黑" panose="020B0503020204020204" pitchFamily="34" charset="-122"/>
                <a:ea typeface="微软雅黑" panose="020B0503020204020204" pitchFamily="34" charset="-122"/>
              </a:rPr>
              <a:t>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SW</a:t>
            </a:r>
            <a:r>
              <a:rPr lang="zh-CN" altLang="en-US" sz="1800" dirty="0">
                <a:solidFill>
                  <a:srgbClr val="04619D"/>
                </a:solidFill>
                <a:latin typeface="微软雅黑" panose="020B0503020204020204" pitchFamily="34" charset="-122"/>
                <a:ea typeface="微软雅黑" panose="020B0503020204020204" pitchFamily="34" charset="-122"/>
              </a:rPr>
              <a:t>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a:t>
            </a:r>
            <a:r>
              <a:rPr lang="en-US" altLang="zh-CN" sz="2000" dirty="0">
                <a:solidFill>
                  <a:schemeClr val="tx1"/>
                </a:solidFill>
                <a:latin typeface="微软雅黑" panose="020B0503020204020204" pitchFamily="34" charset="-122"/>
                <a:ea typeface="微软雅黑" panose="020B0503020204020204" pitchFamily="34" charset="-122"/>
              </a:rPr>
              <a:t>12</a:t>
            </a:r>
            <a:r>
              <a:rPr lang="zh-CN" altLang="en-US" sz="2000" dirty="0">
                <a:solidFill>
                  <a:schemeClr val="tx1"/>
                </a:solidFill>
                <a:latin typeface="微软雅黑" panose="020B0503020204020204" pitchFamily="34" charset="-122"/>
                <a:ea typeface="微软雅黑" panose="020B0503020204020204" pitchFamily="34" charset="-122"/>
              </a:rPr>
              <a:t>画出执行</a:t>
            </a:r>
            <a:r>
              <a:rPr lang="en-US" altLang="zh-CN" sz="2000" dirty="0">
                <a:solidFill>
                  <a:schemeClr val="tx1"/>
                </a:solidFill>
                <a:latin typeface="微软雅黑" panose="020B0503020204020204" pitchFamily="34" charset="-122"/>
                <a:ea typeface="微软雅黑" panose="020B0503020204020204" pitchFamily="34" charset="-122"/>
              </a:rPr>
              <a:t>S</a:t>
            </a:r>
            <a:r>
              <a:rPr lang="en-US" sz="2000" dirty="0">
                <a:solidFill>
                  <a:schemeClr val="tx1"/>
                </a:solidFill>
                <a:latin typeface="微软雅黑" panose="020B0503020204020204" pitchFamily="34" charset="-122"/>
                <a:ea typeface="微软雅黑" panose="020B0503020204020204" pitchFamily="34" charset="-122"/>
              </a:rPr>
              <a:t>W</a:t>
            </a:r>
            <a:r>
              <a:rPr lang="zh-CN" altLang="en-US" sz="2000" dirty="0">
                <a:solidFill>
                  <a:schemeClr val="tx1"/>
                </a:solidFill>
                <a:latin typeface="微软雅黑" panose="020B0503020204020204" pitchFamily="34" charset="-122"/>
                <a:ea typeface="微软雅黑" panose="020B0503020204020204" pitchFamily="34" charset="-122"/>
              </a:rPr>
              <a:t>指令所需的数据通路，如下图所示：</a:t>
            </a:r>
          </a:p>
          <a:p>
            <a:pPr marL="0" indent="0" algn="ctr"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图7.5.6 SW指令数据通路</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6)  </a:t>
            </a:r>
            <a:r>
              <a:rPr>
                <a:sym typeface="Wingdings" panose="05000000000000000000" pitchFamily="2" charset="2"/>
              </a:rPr>
              <a:t>SW Rt,offset（base）</a:t>
            </a:r>
          </a:p>
        </p:txBody>
      </p:sp>
      <p:pic>
        <p:nvPicPr>
          <p:cNvPr id="2" name="图片 1" descr="5(FEDPWR7~9AR3TPU6~FNJI"/>
          <p:cNvPicPr>
            <a:picLocks noChangeAspect="1"/>
          </p:cNvPicPr>
          <p:nvPr/>
        </p:nvPicPr>
        <p:blipFill>
          <a:blip r:embed="rId3"/>
          <a:stretch>
            <a:fillRect/>
          </a:stretch>
        </p:blipFill>
        <p:spPr>
          <a:xfrm>
            <a:off x="657860" y="2127250"/>
            <a:ext cx="8082280" cy="1207135"/>
          </a:xfrm>
          <a:prstGeom prst="rect">
            <a:avLst/>
          </a:prstGeom>
        </p:spPr>
      </p:pic>
      <p:pic>
        <p:nvPicPr>
          <p:cNvPr id="69" name="图片 6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820" y="4725035"/>
            <a:ext cx="7298055" cy="19329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51155" y="8045281"/>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2110" y="960120"/>
            <a:ext cx="8378190" cy="507746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比较通用寄存器的值，然后做pc相关的分支跳转。如果 rs = rt ，那么将offset左移两位，再进行符号扩展到32位与当前pc相加，形成有效转移地址，转到该地址。如果rs != rt，则继续执行下条指令。</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BEQ</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IMEM←PC（取指令）、if Rs=Rt，PC← NPC+Sign_ ext（offset‖O2）（执行指令），then PC←NPC。（注：offset‖O2表示将offset左移2位）</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sz="2000" dirty="0">
                <a:solidFill>
                  <a:srgbClr val="04619D"/>
                </a:solidFill>
                <a:latin typeface="微软雅黑" panose="020B0503020204020204" pitchFamily="34" charset="-122"/>
                <a:ea typeface="微软雅黑" panose="020B0503020204020204" pitchFamily="34" charset="-122"/>
              </a:rPr>
              <a:t>PC寄存器、NPC、指令存储器</a:t>
            </a:r>
            <a:r>
              <a:rPr lang="en-US" sz="2000" dirty="0">
                <a:solidFill>
                  <a:srgbClr val="04619D"/>
                </a:solidFill>
                <a:latin typeface="微软雅黑" panose="020B0503020204020204" pitchFamily="34" charset="-122"/>
                <a:ea typeface="微软雅黑" panose="020B0503020204020204" pitchFamily="34" charset="-122"/>
              </a:rPr>
              <a:t>IMEM</a:t>
            </a:r>
            <a:r>
              <a:rPr sz="2000" dirty="0">
                <a:solidFill>
                  <a:srgbClr val="04619D"/>
                </a:solidFill>
                <a:latin typeface="微软雅黑" panose="020B0503020204020204" pitchFamily="34" charset="-122"/>
                <a:ea typeface="微软雅黑" panose="020B0503020204020204" pitchFamily="34" charset="-122"/>
              </a:rPr>
              <a:t>、寄存器堆（Regfile）、ALU、扩展模块Ext18、加法器ADD，完成转移地址的计算</a:t>
            </a:r>
            <a:r>
              <a:rPr lang="en-US" sz="2000" dirty="0">
                <a:solidFill>
                  <a:srgbClr val="04619D"/>
                </a:solidFill>
                <a:latin typeface="微软雅黑" panose="020B0503020204020204" pitchFamily="34" charset="-122"/>
                <a:ea typeface="微软雅黑" panose="020B0503020204020204" pitchFamily="34" charset="-122"/>
              </a:rPr>
              <a:t>, </a:t>
            </a:r>
            <a:r>
              <a:rPr lang="zh-CN" altLang="en-US" sz="2000" dirty="0">
                <a:solidFill>
                  <a:srgbClr val="04619D"/>
                </a:solidFill>
                <a:latin typeface="微软雅黑" panose="020B0503020204020204" pitchFamily="34" charset="-122"/>
                <a:ea typeface="微软雅黑" panose="020B0503020204020204" pitchFamily="34" charset="-122"/>
              </a:rPr>
              <a:t>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13</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BEQ</a:t>
            </a:r>
            <a:r>
              <a:rPr lang="zh-CN" altLang="en-US" sz="1600" dirty="0">
                <a:solidFill>
                  <a:schemeClr val="tx1"/>
                </a:solidFill>
                <a:latin typeface="微软雅黑" panose="020B0503020204020204" pitchFamily="34" charset="-122"/>
                <a:ea typeface="微软雅黑" panose="020B0503020204020204" pitchFamily="34" charset="-122"/>
              </a:rPr>
              <a:t>指令所需部件</a:t>
            </a:r>
          </a:p>
        </p:txBody>
      </p:sp>
      <p:sp>
        <p:nvSpPr>
          <p:cNvPr id="7266" name="标题 7265"/>
          <p:cNvSpPr>
            <a:spLocks noGrp="1"/>
          </p:cNvSpPr>
          <p:nvPr>
            <p:ph type="title"/>
          </p:nvPr>
        </p:nvSpPr>
        <p:spPr>
          <a:xfrm>
            <a:off x="351155" y="360613"/>
            <a:ext cx="8229600" cy="533400"/>
          </a:xfrm>
        </p:spPr>
        <p:txBody>
          <a:bodyPr/>
          <a:lstStyle/>
          <a:p>
            <a:pPr algn="l"/>
            <a:r>
              <a:rPr lang="en-US" altLang="zh-CN">
                <a:sym typeface="Wingdings" panose="05000000000000000000" pitchFamily="2" charset="2"/>
              </a:rPr>
              <a:t>7) </a:t>
            </a:r>
            <a:r>
              <a:rPr>
                <a:sym typeface="Wingdings" panose="05000000000000000000" pitchFamily="2" charset="2"/>
              </a:rPr>
              <a:t>BEQ Rs,Rt,offset</a:t>
            </a:r>
          </a:p>
        </p:txBody>
      </p:sp>
      <p:pic>
        <p:nvPicPr>
          <p:cNvPr id="75"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22475" y="2324735"/>
            <a:ext cx="5746115" cy="674370"/>
          </a:xfrm>
          <a:prstGeom prst="rect">
            <a:avLst/>
          </a:prstGeom>
          <a:noFill/>
          <a:ln>
            <a:noFill/>
          </a:ln>
        </p:spPr>
      </p:pic>
      <p:pic>
        <p:nvPicPr>
          <p:cNvPr id="4" name="图片 3" descr="DGX$3WI45RGA]$K9GP(XPVT"/>
          <p:cNvPicPr>
            <a:picLocks noChangeAspect="1"/>
          </p:cNvPicPr>
          <p:nvPr/>
        </p:nvPicPr>
        <p:blipFill>
          <a:blip r:embed="rId4"/>
          <a:stretch>
            <a:fillRect/>
          </a:stretch>
        </p:blipFill>
        <p:spPr>
          <a:xfrm>
            <a:off x="241300" y="5972810"/>
            <a:ext cx="8662035" cy="8483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956310"/>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BEQ</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14</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BEQ</a:t>
            </a:r>
            <a:r>
              <a:rPr lang="zh-CN" altLang="en-US" sz="1600" dirty="0">
                <a:solidFill>
                  <a:schemeClr val="tx1"/>
                </a:solidFill>
                <a:latin typeface="微软雅黑" panose="020B0503020204020204" pitchFamily="34" charset="-122"/>
                <a:ea typeface="微软雅黑" panose="020B0503020204020204" pitchFamily="34" charset="-122"/>
              </a:rPr>
              <a:t>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BEQ</a:t>
            </a:r>
            <a:r>
              <a:rPr lang="zh-CN" altLang="en-US" sz="1800" dirty="0">
                <a:solidFill>
                  <a:srgbClr val="04619D"/>
                </a:solidFill>
                <a:latin typeface="微软雅黑" panose="020B0503020204020204" pitchFamily="34" charset="-122"/>
                <a:ea typeface="微软雅黑" panose="020B0503020204020204" pitchFamily="34" charset="-122"/>
              </a:rPr>
              <a:t>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a:t>
            </a:r>
            <a:r>
              <a:rPr lang="en-US" altLang="zh-CN" sz="2000" dirty="0">
                <a:solidFill>
                  <a:schemeClr val="tx1"/>
                </a:solidFill>
                <a:latin typeface="微软雅黑" panose="020B0503020204020204" pitchFamily="34" charset="-122"/>
                <a:ea typeface="微软雅黑" panose="020B0503020204020204" pitchFamily="34" charset="-122"/>
              </a:rPr>
              <a:t>14</a:t>
            </a:r>
            <a:r>
              <a:rPr lang="zh-CN" altLang="en-US" sz="2000" dirty="0">
                <a:solidFill>
                  <a:schemeClr val="tx1"/>
                </a:solidFill>
                <a:latin typeface="微软雅黑" panose="020B0503020204020204" pitchFamily="34" charset="-122"/>
                <a:ea typeface="微软雅黑" panose="020B0503020204020204" pitchFamily="34" charset="-122"/>
              </a:rPr>
              <a:t>画出执行</a:t>
            </a:r>
            <a:r>
              <a:rPr lang="en-US" sz="2000" dirty="0">
                <a:solidFill>
                  <a:schemeClr val="tx1"/>
                </a:solidFill>
                <a:latin typeface="微软雅黑" panose="020B0503020204020204" pitchFamily="34" charset="-122"/>
                <a:ea typeface="微软雅黑" panose="020B0503020204020204" pitchFamily="34" charset="-122"/>
              </a:rPr>
              <a:t>SW</a:t>
            </a:r>
            <a:r>
              <a:rPr lang="zh-CN" altLang="en-US" sz="2000" dirty="0">
                <a:solidFill>
                  <a:schemeClr val="tx1"/>
                </a:solidFill>
                <a:latin typeface="微软雅黑" panose="020B0503020204020204" pitchFamily="34" charset="-122"/>
                <a:ea typeface="微软雅黑" panose="020B0503020204020204" pitchFamily="34" charset="-122"/>
              </a:rPr>
              <a:t>指令所需的数据通路，如下图所示：</a:t>
            </a:r>
          </a:p>
          <a:p>
            <a:pPr marL="0" indent="0"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      图7.5.7 BEQ指令数据通路</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7)  </a:t>
            </a:r>
            <a:r>
              <a:rPr>
                <a:sym typeface="Wingdings" panose="05000000000000000000" pitchFamily="2" charset="2"/>
              </a:rPr>
              <a:t>BEQ Rs,Rt,offset</a:t>
            </a:r>
          </a:p>
        </p:txBody>
      </p:sp>
      <p:pic>
        <p:nvPicPr>
          <p:cNvPr id="4" name="图片 3" descr="1[@ZQA517S7`C@]5QUVT2GV"/>
          <p:cNvPicPr>
            <a:picLocks noChangeAspect="1"/>
          </p:cNvPicPr>
          <p:nvPr/>
        </p:nvPicPr>
        <p:blipFill>
          <a:blip r:embed="rId3"/>
          <a:stretch>
            <a:fillRect/>
          </a:stretch>
        </p:blipFill>
        <p:spPr>
          <a:xfrm>
            <a:off x="221615" y="1960245"/>
            <a:ext cx="8894445" cy="1196975"/>
          </a:xfrm>
          <a:prstGeom prst="rect">
            <a:avLst/>
          </a:prstGeom>
        </p:spPr>
      </p:pic>
      <p:pic>
        <p:nvPicPr>
          <p:cNvPr id="14"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14370" y="4211955"/>
            <a:ext cx="5840095" cy="25514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51155" y="8045281"/>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72110" y="960120"/>
            <a:ext cx="8378190" cy="461581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指令功能：</a:t>
            </a:r>
            <a:r>
              <a:rPr lang="zh-CN" altLang="en-US" sz="2000" dirty="0">
                <a:solidFill>
                  <a:srgbClr val="04619D"/>
                </a:solidFill>
                <a:latin typeface="微软雅黑" panose="020B0503020204020204" pitchFamily="34" charset="-122"/>
                <a:ea typeface="微软雅黑" panose="020B0503020204020204" pitchFamily="34" charset="-122"/>
              </a:rPr>
              <a:t>该指令无条件跳转到一个绝对地址，instr_index长度26位，在左移2位后为28位，再与PC的最高4位（PC31-28）并接成32位转移地址。</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指令格式：</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完成</a:t>
            </a:r>
            <a:r>
              <a:rPr lang="en-US" altLang="zh-CN" sz="2000" dirty="0">
                <a:solidFill>
                  <a:schemeClr val="tx1"/>
                </a:solidFill>
                <a:latin typeface="微软雅黑" panose="020B0503020204020204" pitchFamily="34" charset="-122"/>
                <a:ea typeface="微软雅黑" panose="020B0503020204020204" pitchFamily="34" charset="-122"/>
              </a:rPr>
              <a:t>J</a:t>
            </a:r>
            <a:r>
              <a:rPr lang="zh-CN" altLang="en-US" sz="2000" dirty="0">
                <a:solidFill>
                  <a:schemeClr val="tx1"/>
                </a:solidFill>
                <a:latin typeface="微软雅黑" panose="020B0503020204020204" pitchFamily="34" charset="-122"/>
                <a:ea typeface="微软雅黑" panose="020B0503020204020204" pitchFamily="34" charset="-122"/>
              </a:rPr>
              <a:t>指令功能所需的操作：</a:t>
            </a:r>
            <a:r>
              <a:rPr lang="zh-CN" altLang="en-US" sz="2000" dirty="0">
                <a:solidFill>
                  <a:srgbClr val="04619D"/>
                </a:solidFill>
                <a:latin typeface="微软雅黑" panose="020B0503020204020204" pitchFamily="34" charset="-122"/>
                <a:ea typeface="微软雅黑" panose="020B0503020204020204" pitchFamily="34" charset="-122"/>
              </a:rPr>
              <a:t>IMEM←PC（取指令）、PC←PC31-28‖instr_index‖O2（执行指令</a:t>
            </a: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2000" dirty="0">
                <a:solidFill>
                  <a:srgbClr val="04619D"/>
                </a:solidFill>
                <a:latin typeface="微软雅黑" panose="020B0503020204020204" pitchFamily="34" charset="-122"/>
                <a:ea typeface="微软雅黑" panose="020B0503020204020204" pitchFamily="34" charset="-122"/>
                <a:sym typeface="+mn-ea"/>
              </a:rPr>
              <a:t>表示将instr_index左移两位后与PC31-28并接成32位</a:t>
            </a:r>
            <a:r>
              <a:rPr lang="zh-CN" altLang="en-US" sz="2000" dirty="0">
                <a:solidFill>
                  <a:srgbClr val="04619D"/>
                </a:solidFill>
                <a:latin typeface="微软雅黑" panose="020B0503020204020204" pitchFamily="34" charset="-122"/>
                <a:ea typeface="微软雅黑" panose="020B0503020204020204" pitchFamily="34" charset="-122"/>
              </a:rPr>
              <a:t>），PC←NPC。</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根据指令操作, 确定完成操作所需部件：</a:t>
            </a:r>
            <a:r>
              <a:rPr sz="2000" dirty="0">
                <a:solidFill>
                  <a:srgbClr val="04619D"/>
                </a:solidFill>
                <a:latin typeface="微软雅黑" panose="020B0503020204020204" pitchFamily="34" charset="-122"/>
                <a:ea typeface="微软雅黑" panose="020B0503020204020204" pitchFamily="34" charset="-122"/>
              </a:rPr>
              <a:t>PC寄存器、NPC、指令存储器（Instruction Memory）、并接模块‖，</a:t>
            </a:r>
            <a:r>
              <a:rPr lang="en-US" sz="2000" dirty="0">
                <a:solidFill>
                  <a:srgbClr val="04619D"/>
                </a:solidFill>
                <a:latin typeface="微软雅黑" panose="020B0503020204020204" pitchFamily="34" charset="-122"/>
                <a:ea typeface="微软雅黑" panose="020B0503020204020204" pitchFamily="34" charset="-122"/>
              </a:rPr>
              <a:t> </a:t>
            </a:r>
            <a:r>
              <a:rPr lang="zh-CN" altLang="en-US" sz="2000" dirty="0">
                <a:solidFill>
                  <a:srgbClr val="04619D"/>
                </a:solidFill>
                <a:latin typeface="微软雅黑" panose="020B0503020204020204" pitchFamily="34" charset="-122"/>
                <a:ea typeface="微软雅黑" panose="020B0503020204020204" pitchFamily="34" charset="-122"/>
              </a:rPr>
              <a:t>将这些部件列成下表</a:t>
            </a:r>
            <a:r>
              <a:rPr lang="zh-CN" altLang="en-US" sz="2000" dirty="0">
                <a:solidFill>
                  <a:schemeClr val="tx1"/>
                </a:solidFill>
                <a:latin typeface="微软雅黑" panose="020B0503020204020204" pitchFamily="34" charset="-122"/>
                <a:ea typeface="微软雅黑" panose="020B0503020204020204" pitchFamily="34" charset="-122"/>
              </a:rPr>
              <a:t>：</a:t>
            </a:r>
          </a:p>
          <a:p>
            <a:pPr marL="0" indent="0" algn="ctr" fontAlgn="auto">
              <a:lnSpc>
                <a:spcPct val="150000"/>
              </a:lnSpc>
              <a:spcBef>
                <a:spcPts val="0"/>
              </a:spcBef>
              <a:spcAft>
                <a:spcPts val="0"/>
              </a:spcAft>
              <a:buFont typeface="Wingdings" panose="05000000000000000000" charset="0"/>
              <a:buNone/>
              <a:defRPr/>
            </a:pP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15</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J</a:t>
            </a:r>
            <a:r>
              <a:rPr lang="zh-CN" altLang="en-US" sz="1600" dirty="0">
                <a:solidFill>
                  <a:schemeClr val="tx1"/>
                </a:solidFill>
                <a:latin typeface="微软雅黑" panose="020B0503020204020204" pitchFamily="34" charset="-122"/>
                <a:ea typeface="微软雅黑" panose="020B0503020204020204" pitchFamily="34" charset="-122"/>
              </a:rPr>
              <a:t>指令所需部件</a:t>
            </a:r>
          </a:p>
        </p:txBody>
      </p:sp>
      <p:sp>
        <p:nvSpPr>
          <p:cNvPr id="7266" name="标题 7265"/>
          <p:cNvSpPr>
            <a:spLocks noGrp="1"/>
          </p:cNvSpPr>
          <p:nvPr>
            <p:ph type="title"/>
          </p:nvPr>
        </p:nvSpPr>
        <p:spPr>
          <a:xfrm>
            <a:off x="351155" y="360613"/>
            <a:ext cx="8229600" cy="533400"/>
          </a:xfrm>
        </p:spPr>
        <p:txBody>
          <a:bodyPr/>
          <a:lstStyle/>
          <a:p>
            <a:pPr algn="l"/>
            <a:r>
              <a:rPr lang="en-US" altLang="zh-CN">
                <a:sym typeface="Wingdings" panose="05000000000000000000" pitchFamily="2" charset="2"/>
              </a:rPr>
              <a:t>8) </a:t>
            </a:r>
            <a:r>
              <a:rPr>
                <a:sym typeface="Wingdings" panose="05000000000000000000" pitchFamily="2" charset="2"/>
              </a:rPr>
              <a:t>J target</a:t>
            </a:r>
          </a:p>
        </p:txBody>
      </p:sp>
      <p:pic>
        <p:nvPicPr>
          <p:cNvPr id="8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89785" y="2105660"/>
            <a:ext cx="6165850" cy="720725"/>
          </a:xfrm>
          <a:prstGeom prst="rect">
            <a:avLst/>
          </a:prstGeom>
          <a:noFill/>
          <a:ln>
            <a:noFill/>
          </a:ln>
        </p:spPr>
      </p:pic>
      <p:pic>
        <p:nvPicPr>
          <p:cNvPr id="2" name="图片 1" descr="JITK[2CX0)KQII``C34ARAT"/>
          <p:cNvPicPr>
            <a:picLocks noChangeAspect="1"/>
          </p:cNvPicPr>
          <p:nvPr/>
        </p:nvPicPr>
        <p:blipFill>
          <a:blip r:embed="rId4"/>
          <a:stretch>
            <a:fillRect/>
          </a:stretch>
        </p:blipFill>
        <p:spPr>
          <a:xfrm>
            <a:off x="0" y="5575935"/>
            <a:ext cx="9209405" cy="9931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361950" y="956310"/>
            <a:ext cx="8378190" cy="364617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按完成</a:t>
            </a:r>
            <a:r>
              <a:rPr lang="en-US" altLang="zh-CN" sz="2000" dirty="0">
                <a:solidFill>
                  <a:schemeClr val="tx1"/>
                </a:solidFill>
                <a:latin typeface="微软雅黑" panose="020B0503020204020204" pitchFamily="34" charset="-122"/>
                <a:ea typeface="微软雅黑" panose="020B0503020204020204" pitchFamily="34" charset="-122"/>
              </a:rPr>
              <a:t>J</a:t>
            </a:r>
            <a:r>
              <a:rPr lang="zh-CN" altLang="en-US" sz="2000" dirty="0">
                <a:solidFill>
                  <a:schemeClr val="tx1"/>
                </a:solidFill>
                <a:latin typeface="微软雅黑" panose="020B0503020204020204" pitchFamily="34" charset="-122"/>
                <a:ea typeface="微软雅黑" panose="020B0503020204020204" pitchFamily="34" charset="-122"/>
              </a:rPr>
              <a:t>指令所需的操作，确定每个部件数据的输入输出关系：</a:t>
            </a:r>
          </a:p>
          <a:p>
            <a:pPr marL="0" indent="0" fontAlgn="auto">
              <a:lnSpc>
                <a:spcPct val="150000"/>
              </a:lnSpc>
              <a:spcBef>
                <a:spcPts val="0"/>
              </a:spcBef>
              <a:spcAft>
                <a:spcPts val="0"/>
              </a:spcAft>
              <a:buFont typeface="Wingdings" panose="05000000000000000000" charset="0"/>
              <a:buNone/>
              <a:defRPr/>
            </a:pPr>
            <a:r>
              <a:rPr lang="en-US" altLang="zh-CN" sz="2000" dirty="0">
                <a:solidFill>
                  <a:srgbClr val="04619D"/>
                </a:solidFill>
                <a:latin typeface="微软雅黑" panose="020B0503020204020204" pitchFamily="34" charset="-122"/>
                <a:ea typeface="微软雅黑" panose="020B0503020204020204" pitchFamily="34" charset="-122"/>
              </a:rPr>
              <a:t>		</a:t>
            </a:r>
            <a:r>
              <a:rPr lang="zh-CN" altLang="en-US" sz="1600" dirty="0">
                <a:solidFill>
                  <a:schemeClr val="tx1"/>
                </a:solidFill>
                <a:latin typeface="微软雅黑" panose="020B0503020204020204" pitchFamily="34" charset="-122"/>
                <a:ea typeface="微软雅黑" panose="020B0503020204020204" pitchFamily="34" charset="-122"/>
              </a:rPr>
              <a:t>表7.5.</a:t>
            </a:r>
            <a:r>
              <a:rPr lang="en-US" altLang="zh-CN" sz="1600" dirty="0">
                <a:solidFill>
                  <a:schemeClr val="tx1"/>
                </a:solidFill>
                <a:latin typeface="微软雅黑" panose="020B0503020204020204" pitchFamily="34" charset="-122"/>
                <a:ea typeface="微软雅黑" panose="020B0503020204020204" pitchFamily="34" charset="-122"/>
              </a:rPr>
              <a:t>16</a:t>
            </a:r>
            <a:r>
              <a:rPr lang="zh-CN" altLang="en-US" sz="1600" dirty="0">
                <a:solidFill>
                  <a:schemeClr val="tx1"/>
                </a:solidFill>
                <a:latin typeface="微软雅黑" panose="020B0503020204020204" pitchFamily="34" charset="-122"/>
                <a:ea typeface="微软雅黑" panose="020B0503020204020204" pitchFamily="34" charset="-122"/>
              </a:rPr>
              <a:t> 执行</a:t>
            </a:r>
            <a:r>
              <a:rPr lang="en-US" altLang="zh-CN" sz="1600" dirty="0">
                <a:solidFill>
                  <a:schemeClr val="tx1"/>
                </a:solidFill>
                <a:latin typeface="微软雅黑" panose="020B0503020204020204" pitchFamily="34" charset="-122"/>
                <a:ea typeface="微软雅黑" panose="020B0503020204020204" pitchFamily="34" charset="-122"/>
              </a:rPr>
              <a:t>J</a:t>
            </a:r>
            <a:r>
              <a:rPr lang="zh-CN" altLang="en-US" sz="1600" dirty="0">
                <a:solidFill>
                  <a:schemeClr val="tx1"/>
                </a:solidFill>
                <a:latin typeface="微软雅黑" panose="020B0503020204020204" pitchFamily="34" charset="-122"/>
                <a:ea typeface="微软雅黑" panose="020B0503020204020204" pitchFamily="34" charset="-122"/>
              </a:rPr>
              <a:t>指令各部件输入输出关系</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0" indent="0" fontAlgn="auto">
              <a:lnSpc>
                <a:spcPct val="150000"/>
              </a:lnSpc>
              <a:spcBef>
                <a:spcPts val="0"/>
              </a:spcBef>
              <a:spcAft>
                <a:spcPts val="0"/>
              </a:spcAft>
              <a:buFont typeface="Wingdings" panose="05000000000000000000" charset="0"/>
              <a:buNone/>
              <a:defRPr/>
            </a:pPr>
            <a:r>
              <a:rPr lang="zh-CN" altLang="en-US" sz="1800" dirty="0">
                <a:solidFill>
                  <a:schemeClr val="tx1"/>
                </a:solidFill>
                <a:latin typeface="微软雅黑" panose="020B0503020204020204" pitchFamily="34" charset="-122"/>
                <a:ea typeface="微软雅黑" panose="020B0503020204020204" pitchFamily="34" charset="-122"/>
              </a:rPr>
              <a:t>     </a:t>
            </a:r>
            <a:r>
              <a:rPr lang="zh-CN" altLang="en-US" sz="1800" dirty="0">
                <a:solidFill>
                  <a:srgbClr val="04619D"/>
                </a:solidFill>
                <a:latin typeface="微软雅黑" panose="020B0503020204020204" pitchFamily="34" charset="-122"/>
                <a:ea typeface="微软雅黑" panose="020B0503020204020204" pitchFamily="34" charset="-122"/>
              </a:rPr>
              <a:t>上表的第一行是</a:t>
            </a:r>
            <a:r>
              <a:rPr lang="en-US" altLang="zh-CN" sz="1800" dirty="0">
                <a:solidFill>
                  <a:srgbClr val="04619D"/>
                </a:solidFill>
                <a:latin typeface="微软雅黑" panose="020B0503020204020204" pitchFamily="34" charset="-122"/>
                <a:ea typeface="微软雅黑" panose="020B0503020204020204" pitchFamily="34" charset="-122"/>
              </a:rPr>
              <a:t>BEQ</a:t>
            </a:r>
            <a:r>
              <a:rPr lang="zh-CN" altLang="en-US" sz="1800" dirty="0">
                <a:solidFill>
                  <a:srgbClr val="04619D"/>
                </a:solidFill>
                <a:latin typeface="微软雅黑" panose="020B0503020204020204" pitchFamily="34" charset="-122"/>
                <a:ea typeface="微软雅黑" panose="020B0503020204020204" pitchFamily="34" charset="-122"/>
              </a:rPr>
              <a:t>指令要用到部件，第二行是该部件输入端的数据来源</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根据表7.5.</a:t>
            </a:r>
            <a:r>
              <a:rPr lang="en-US" altLang="zh-CN" sz="2000" dirty="0">
                <a:solidFill>
                  <a:schemeClr val="tx1"/>
                </a:solidFill>
                <a:latin typeface="微软雅黑" panose="020B0503020204020204" pitchFamily="34" charset="-122"/>
                <a:ea typeface="微软雅黑" panose="020B0503020204020204" pitchFamily="34" charset="-122"/>
              </a:rPr>
              <a:t>16</a:t>
            </a:r>
            <a:r>
              <a:rPr lang="zh-CN" altLang="en-US" sz="2000" dirty="0">
                <a:solidFill>
                  <a:schemeClr val="tx1"/>
                </a:solidFill>
                <a:latin typeface="微软雅黑" panose="020B0503020204020204" pitchFamily="34" charset="-122"/>
                <a:ea typeface="微软雅黑" panose="020B0503020204020204" pitchFamily="34" charset="-122"/>
              </a:rPr>
              <a:t>画出执行</a:t>
            </a:r>
            <a:r>
              <a:rPr lang="en-US" sz="2000" dirty="0">
                <a:solidFill>
                  <a:schemeClr val="tx1"/>
                </a:solidFill>
                <a:latin typeface="微软雅黑" panose="020B0503020204020204" pitchFamily="34" charset="-122"/>
                <a:ea typeface="微软雅黑" panose="020B0503020204020204" pitchFamily="34" charset="-122"/>
              </a:rPr>
              <a:t>J</a:t>
            </a:r>
            <a:r>
              <a:rPr lang="zh-CN" altLang="en-US" sz="2000" dirty="0">
                <a:solidFill>
                  <a:schemeClr val="tx1"/>
                </a:solidFill>
                <a:latin typeface="微软雅黑" panose="020B0503020204020204" pitchFamily="34" charset="-122"/>
                <a:ea typeface="微软雅黑" panose="020B0503020204020204" pitchFamily="34" charset="-122"/>
              </a:rPr>
              <a:t>指令所需的数据通路，如下图所示：</a:t>
            </a:r>
          </a:p>
          <a:p>
            <a:pPr marL="0" indent="0" fontAlgn="auto">
              <a:lnSpc>
                <a:spcPct val="150000"/>
              </a:lnSpc>
              <a:spcBef>
                <a:spcPts val="0"/>
              </a:spcBef>
              <a:spcAft>
                <a:spcPts val="0"/>
              </a:spcAft>
              <a:buFont typeface="Wingdings" panose="05000000000000000000" charset="0"/>
              <a:buNone/>
              <a:defRPr/>
            </a:pPr>
            <a:r>
              <a:rPr lang="en-US" altLang="zh-CN" sz="1600" dirty="0">
                <a:solidFill>
                  <a:schemeClr val="tx1"/>
                </a:solidFill>
                <a:latin typeface="微软雅黑" panose="020B0503020204020204" pitchFamily="34" charset="-122"/>
                <a:ea typeface="微软雅黑" panose="020B0503020204020204" pitchFamily="34" charset="-122"/>
              </a:rPr>
              <a:t>      图7.5.8 J指令数据通路</a:t>
            </a:r>
          </a:p>
        </p:txBody>
      </p:sp>
      <p:sp>
        <p:nvSpPr>
          <p:cNvPr id="7266" name="标题 7265"/>
          <p:cNvSpPr>
            <a:spLocks noGrp="1"/>
          </p:cNvSpPr>
          <p:nvPr>
            <p:ph type="title"/>
          </p:nvPr>
        </p:nvSpPr>
        <p:spPr/>
        <p:txBody>
          <a:bodyPr/>
          <a:lstStyle/>
          <a:p>
            <a:pPr algn="l"/>
            <a:r>
              <a:rPr lang="en-US" altLang="zh-CN">
                <a:sym typeface="Wingdings" panose="05000000000000000000" pitchFamily="2" charset="2"/>
              </a:rPr>
              <a:t>8)  </a:t>
            </a:r>
            <a:r>
              <a:rPr>
                <a:sym typeface="Wingdings" panose="05000000000000000000" pitchFamily="2" charset="2"/>
              </a:rPr>
              <a:t>J target</a:t>
            </a:r>
          </a:p>
        </p:txBody>
      </p:sp>
      <p:pic>
        <p:nvPicPr>
          <p:cNvPr id="2" name="图片 1" descr="(8W[L%YNT~4LKVJ8FMRIW%G"/>
          <p:cNvPicPr>
            <a:picLocks noChangeAspect="1"/>
          </p:cNvPicPr>
          <p:nvPr/>
        </p:nvPicPr>
        <p:blipFill>
          <a:blip r:embed="rId3"/>
          <a:stretch>
            <a:fillRect/>
          </a:stretch>
        </p:blipFill>
        <p:spPr>
          <a:xfrm>
            <a:off x="-59690" y="2030095"/>
            <a:ext cx="9263380" cy="1229995"/>
          </a:xfrm>
          <a:prstGeom prst="rect">
            <a:avLst/>
          </a:prstGeom>
        </p:spPr>
      </p:pic>
      <p:pic>
        <p:nvPicPr>
          <p:cNvPr id="5" name="图片 4" descr="QYB__YBPFXD}BSOZQR96O@C"/>
          <p:cNvPicPr>
            <a:picLocks noChangeAspect="1"/>
          </p:cNvPicPr>
          <p:nvPr/>
        </p:nvPicPr>
        <p:blipFill>
          <a:blip r:embed="rId4"/>
          <a:stretch>
            <a:fillRect/>
          </a:stretch>
        </p:blipFill>
        <p:spPr>
          <a:xfrm>
            <a:off x="3021965" y="4202430"/>
            <a:ext cx="4116070" cy="25584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  </a:t>
            </a:r>
            <a:r>
              <a:rPr dirty="0">
                <a:solidFill>
                  <a:schemeClr val="tx1"/>
                </a:solidFill>
                <a:sym typeface="+mn-ea"/>
              </a:rPr>
              <a:t>执行</a:t>
            </a:r>
            <a:r>
              <a:rPr lang="en-US" altLang="zh-CN" dirty="0">
                <a:solidFill>
                  <a:schemeClr val="tx1"/>
                </a:solidFill>
                <a:sym typeface="+mn-ea"/>
              </a:rPr>
              <a:t>8</a:t>
            </a:r>
            <a:r>
              <a:rPr dirty="0">
                <a:solidFill>
                  <a:schemeClr val="tx1"/>
                </a:solidFill>
                <a:sym typeface="+mn-ea"/>
              </a:rPr>
              <a:t>条指令各部件输入输出关系</a:t>
            </a:r>
            <a:endParaRPr>
              <a:sym typeface="Wingdings" panose="05000000000000000000" pitchFamily="2" charset="2"/>
            </a:endParaRPr>
          </a:p>
        </p:txBody>
      </p:sp>
      <p:graphicFrame>
        <p:nvGraphicFramePr>
          <p:cNvPr id="2" name="表格 -1"/>
          <p:cNvGraphicFramePr/>
          <p:nvPr/>
        </p:nvGraphicFramePr>
        <p:xfrm>
          <a:off x="260985" y="1027430"/>
          <a:ext cx="8622030" cy="5486410"/>
        </p:xfrm>
        <a:graphic>
          <a:graphicData uri="http://schemas.openxmlformats.org/drawingml/2006/table">
            <a:tbl>
              <a:tblPr firstRow="1" bandRow="1">
                <a:tableStyleId>{5940675A-B579-460E-94D1-54222C63F5DA}</a:tableStyleId>
              </a:tblPr>
              <a:tblGrid>
                <a:gridCol w="450850">
                  <a:extLst>
                    <a:ext uri="{9D8B030D-6E8A-4147-A177-3AD203B41FA5}">
                      <a16:colId xmlns:a16="http://schemas.microsoft.com/office/drawing/2014/main" val="20000"/>
                    </a:ext>
                  </a:extLst>
                </a:gridCol>
                <a:gridCol w="394970">
                  <a:extLst>
                    <a:ext uri="{9D8B030D-6E8A-4147-A177-3AD203B41FA5}">
                      <a16:colId xmlns:a16="http://schemas.microsoft.com/office/drawing/2014/main" val="20001"/>
                    </a:ext>
                  </a:extLst>
                </a:gridCol>
                <a:gridCol w="393065">
                  <a:extLst>
                    <a:ext uri="{9D8B030D-6E8A-4147-A177-3AD203B41FA5}">
                      <a16:colId xmlns:a16="http://schemas.microsoft.com/office/drawing/2014/main" val="20002"/>
                    </a:ext>
                  </a:extLst>
                </a:gridCol>
                <a:gridCol w="450215">
                  <a:extLst>
                    <a:ext uri="{9D8B030D-6E8A-4147-A177-3AD203B41FA5}">
                      <a16:colId xmlns:a16="http://schemas.microsoft.com/office/drawing/2014/main" val="20003"/>
                    </a:ext>
                  </a:extLst>
                </a:gridCol>
                <a:gridCol w="621030">
                  <a:extLst>
                    <a:ext uri="{9D8B030D-6E8A-4147-A177-3AD203B41FA5}">
                      <a16:colId xmlns:a16="http://schemas.microsoft.com/office/drawing/2014/main" val="20004"/>
                    </a:ext>
                  </a:extLst>
                </a:gridCol>
                <a:gridCol w="448945">
                  <a:extLst>
                    <a:ext uri="{9D8B030D-6E8A-4147-A177-3AD203B41FA5}">
                      <a16:colId xmlns:a16="http://schemas.microsoft.com/office/drawing/2014/main" val="20005"/>
                    </a:ext>
                  </a:extLst>
                </a:gridCol>
                <a:gridCol w="620395">
                  <a:extLst>
                    <a:ext uri="{9D8B030D-6E8A-4147-A177-3AD203B41FA5}">
                      <a16:colId xmlns:a16="http://schemas.microsoft.com/office/drawing/2014/main" val="20006"/>
                    </a:ext>
                  </a:extLst>
                </a:gridCol>
                <a:gridCol w="451485">
                  <a:extLst>
                    <a:ext uri="{9D8B030D-6E8A-4147-A177-3AD203B41FA5}">
                      <a16:colId xmlns:a16="http://schemas.microsoft.com/office/drawing/2014/main" val="20007"/>
                    </a:ext>
                  </a:extLst>
                </a:gridCol>
                <a:gridCol w="506730">
                  <a:extLst>
                    <a:ext uri="{9D8B030D-6E8A-4147-A177-3AD203B41FA5}">
                      <a16:colId xmlns:a16="http://schemas.microsoft.com/office/drawing/2014/main" val="20008"/>
                    </a:ext>
                  </a:extLst>
                </a:gridCol>
                <a:gridCol w="450850">
                  <a:extLst>
                    <a:ext uri="{9D8B030D-6E8A-4147-A177-3AD203B41FA5}">
                      <a16:colId xmlns:a16="http://schemas.microsoft.com/office/drawing/2014/main" val="20009"/>
                    </a:ext>
                  </a:extLst>
                </a:gridCol>
                <a:gridCol w="448945">
                  <a:extLst>
                    <a:ext uri="{9D8B030D-6E8A-4147-A177-3AD203B41FA5}">
                      <a16:colId xmlns:a16="http://schemas.microsoft.com/office/drawing/2014/main" val="20010"/>
                    </a:ext>
                  </a:extLst>
                </a:gridCol>
                <a:gridCol w="621030">
                  <a:extLst>
                    <a:ext uri="{9D8B030D-6E8A-4147-A177-3AD203B41FA5}">
                      <a16:colId xmlns:a16="http://schemas.microsoft.com/office/drawing/2014/main" val="20011"/>
                    </a:ext>
                  </a:extLst>
                </a:gridCol>
                <a:gridCol w="564515">
                  <a:extLst>
                    <a:ext uri="{9D8B030D-6E8A-4147-A177-3AD203B41FA5}">
                      <a16:colId xmlns:a16="http://schemas.microsoft.com/office/drawing/2014/main" val="20012"/>
                    </a:ext>
                  </a:extLst>
                </a:gridCol>
                <a:gridCol w="394335">
                  <a:extLst>
                    <a:ext uri="{9D8B030D-6E8A-4147-A177-3AD203B41FA5}">
                      <a16:colId xmlns:a16="http://schemas.microsoft.com/office/drawing/2014/main" val="20013"/>
                    </a:ext>
                  </a:extLst>
                </a:gridCol>
                <a:gridCol w="507365">
                  <a:extLst>
                    <a:ext uri="{9D8B030D-6E8A-4147-A177-3AD203B41FA5}">
                      <a16:colId xmlns:a16="http://schemas.microsoft.com/office/drawing/2014/main" val="20014"/>
                    </a:ext>
                  </a:extLst>
                </a:gridCol>
                <a:gridCol w="621030">
                  <a:extLst>
                    <a:ext uri="{9D8B030D-6E8A-4147-A177-3AD203B41FA5}">
                      <a16:colId xmlns:a16="http://schemas.microsoft.com/office/drawing/2014/main" val="20015"/>
                    </a:ext>
                  </a:extLst>
                </a:gridCol>
                <a:gridCol w="676275">
                  <a:extLst>
                    <a:ext uri="{9D8B030D-6E8A-4147-A177-3AD203B41FA5}">
                      <a16:colId xmlns:a16="http://schemas.microsoft.com/office/drawing/2014/main" val="20016"/>
                    </a:ext>
                  </a:extLst>
                </a:gridCol>
              </a:tblGrid>
              <a:tr h="548640">
                <a:tc rowSpan="2">
                  <a:txBody>
                    <a:bodyPr/>
                    <a:lstStyle/>
                    <a:p>
                      <a:pPr indent="0" algn="ctr">
                        <a:buNone/>
                      </a:pPr>
                      <a:r>
                        <a:rPr lang="zh-CN" altLang="en-US" sz="1800" b="0">
                          <a:latin typeface="宋体" panose="02010600030101010101" pitchFamily="2" charset="-122"/>
                          <a:ea typeface="宋体" panose="02010600030101010101" pitchFamily="2" charset="-122"/>
                          <a:cs typeface="宋体" panose="02010600030101010101" pitchFamily="2" charset="-122"/>
                        </a:rPr>
                        <a:t>指令</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IMEM</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a:t>
                      </a:r>
                      <a:r>
                        <a:rPr lang="en-US" altLang="zh-CN" sz="1800" b="0">
                          <a:latin typeface="Courier New" panose="02070309020205020404" charset="0"/>
                          <a:cs typeface="Courier New" panose="02070309020205020404" charset="0"/>
                        </a:rPr>
                        <a:t>eg</a:t>
                      </a:r>
                      <a:r>
                        <a:rPr lang="en-US" altLang="zh-CN" sz="1800" b="0">
                          <a:latin typeface="宋体" panose="02010600030101010101" pitchFamily="2" charset="-122"/>
                          <a:ea typeface="宋体" panose="02010600030101010101" pitchFamily="2" charset="-122"/>
                          <a:cs typeface="宋体" panose="02010600030101010101" pitchFamily="2" charset="-122"/>
                        </a:rPr>
                        <a:t>F</a:t>
                      </a:r>
                      <a:r>
                        <a:rPr lang="en-US" altLang="zh-CN" sz="1800" b="0">
                          <a:latin typeface="Courier New" panose="02070309020205020404" charset="0"/>
                          <a:cs typeface="Courier New" panose="02070309020205020404" charset="0"/>
                        </a:rPr>
                        <a:t>ile</a:t>
                      </a:r>
                      <a:endParaRPr lang="en-US" altLang="zh-CN" sz="1800" b="0">
                        <a:latin typeface="Courier New" panose="02070309020205020404" charset="0"/>
                        <a:ea typeface="宋体" panose="02010600030101010101" pitchFamily="2" charset="-122"/>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Ext5</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Ext16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DMEM</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cap="flat">
                      <a:noFill/>
                    </a:lnB>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S_Ext16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row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Ext18</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ADD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54864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Rd</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Addr</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Data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cap="flat">
                      <a:noFill/>
                    </a:lnT>
                    <a:lnB w="12700" cap="flat" cmpd="sng">
                      <a:solidFill>
                        <a:srgbClr val="080000"/>
                      </a:solidFill>
                      <a:prstDash val="solid"/>
                      <a:headEnd type="none" w="med" len="med"/>
                      <a:tailEnd type="none" w="med" len="med"/>
                    </a:lnB>
                    <a:lnTlToBr>
                      <a:noFill/>
                    </a:lnTlToBr>
                    <a:lnBlToTr>
                      <a:noFill/>
                    </a:lnBlToTr>
                    <a:noFill/>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vMerge="1">
                  <a:txBody>
                    <a:bodyPr/>
                    <a:lstStyle/>
                    <a:p>
                      <a:endParaRPr lang="zh-CN"/>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B</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latin typeface="Courier New" panose="02070309020205020404" charset="0"/>
                          <a:cs typeface="Courier New" panose="02070309020205020404" charset="0"/>
                        </a:rPr>
                        <a:t> </a:t>
                      </a:r>
                      <a:endParaRPr lang="en-US" altLang="zh-CN" sz="1800" b="0" dirty="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SUBU</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latin typeface="Courier New" panose="02070309020205020404" charset="0"/>
                          <a:cs typeface="Courier New" panose="02070309020205020404" charset="0"/>
                        </a:rPr>
                        <a:t> </a:t>
                      </a:r>
                      <a:endParaRPr lang="en-US" altLang="zh-CN" sz="1800" b="0" dirty="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SLL</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Ext5</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ORI</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Ext16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imm16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LW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Data</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S_Ext16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offset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S_Ext16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O</a:t>
                      </a:r>
                      <a:r>
                        <a:rPr lang="en-US" altLang="zh-CN" sz="1800" b="0">
                          <a:latin typeface="宋体" panose="02010600030101010101" pitchFamily="2" charset="-122"/>
                          <a:ea typeface="宋体" panose="02010600030101010101" pitchFamily="2" charset="-122"/>
                          <a:cs typeface="宋体" panose="02010600030101010101" pitchFamily="2" charset="-122"/>
                        </a:rPr>
                        <a:t>ffset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BEQ</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ADD</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Rs</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Rt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O</a:t>
                      </a:r>
                      <a:r>
                        <a:rPr lang="en-US" altLang="zh-CN" sz="1800" b="0">
                          <a:latin typeface="宋体" panose="02010600030101010101" pitchFamily="2" charset="-122"/>
                          <a:ea typeface="宋体" panose="02010600030101010101" pitchFamily="2" charset="-122"/>
                          <a:cs typeface="宋体" panose="02010600030101010101" pitchFamily="2" charset="-122"/>
                        </a:rPr>
                        <a:t>ffset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NPC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Ext18</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548640">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J</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Courier New" panose="02070309020205020404" charset="0"/>
                          <a:cs typeface="Courier New" panose="02070309020205020404" charset="0"/>
                        </a:rPr>
                        <a:t> </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PC31-28</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800" b="0" dirty="0">
                          <a:latin typeface="宋体" panose="02010600030101010101" pitchFamily="2" charset="-122"/>
                          <a:ea typeface="宋体" panose="02010600030101010101" pitchFamily="2" charset="-122"/>
                          <a:cs typeface="宋体" panose="02010600030101010101" pitchFamily="2" charset="-122"/>
                        </a:rPr>
                        <a:t>IMEM25-0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9)  </a:t>
            </a:r>
            <a:r>
              <a:rPr dirty="0">
                <a:solidFill>
                  <a:schemeClr val="tx1"/>
                </a:solidFill>
                <a:sym typeface="+mn-ea"/>
              </a:rPr>
              <a:t>绘制整个数据通路</a:t>
            </a:r>
          </a:p>
        </p:txBody>
      </p:sp>
      <p:pic>
        <p:nvPicPr>
          <p:cNvPr id="88" name="图片 8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5" y="904875"/>
            <a:ext cx="9142730" cy="5718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60120" y="1699260"/>
            <a:ext cx="7255510" cy="424624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b="1" dirty="0">
                <a:latin typeface="微软雅黑" panose="020B0503020204020204" pitchFamily="34" charset="-122"/>
                <a:ea typeface="微软雅黑" panose="020B0503020204020204" pitchFamily="34" charset="-122"/>
                <a:sym typeface="Wingdings" panose="05000000000000000000" pitchFamily="2" charset="2"/>
              </a:rPr>
              <a:t>控制部件设计流程</a:t>
            </a:r>
            <a:r>
              <a:rPr lang="zh-CN" altLang="en-US" sz="2000" b="1" dirty="0">
                <a:solidFill>
                  <a:schemeClr val="tx1"/>
                </a:solidFill>
                <a:latin typeface="微软雅黑" panose="020B0503020204020204" pitchFamily="34" charset="-122"/>
                <a:ea typeface="微软雅黑" panose="020B0503020204020204" pitchFamily="34" charset="-122"/>
              </a:rPr>
              <a:t>：</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根据每条指令功能，在已形成的数据通路下，画出每条指令从取指到执行过程的指令流程图。</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根据指令流程图，编排指令取指到执行的操作时间表。</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根据指令操作时间表，写出每个控制信号的逻辑表达式。</a:t>
            </a:r>
          </a:p>
          <a:p>
            <a:pPr marL="285750" indent="-285750" fontAlgn="auto">
              <a:lnSpc>
                <a:spcPct val="150000"/>
              </a:lnSpc>
              <a:spcBef>
                <a:spcPts val="0"/>
              </a:spcBef>
              <a:spcAft>
                <a:spcPts val="0"/>
              </a:spcAft>
              <a:buFont typeface="Wingdings" panose="05000000000000000000" charset="0"/>
              <a:buChar char=""/>
              <a:defRPr/>
            </a:pPr>
            <a:r>
              <a:rPr lang="zh-CN" altLang="en-US" sz="2000" dirty="0">
                <a:solidFill>
                  <a:srgbClr val="04619D"/>
                </a:solidFill>
                <a:latin typeface="微软雅黑" panose="020B0503020204020204" pitchFamily="34" charset="-122"/>
                <a:ea typeface="微软雅黑" panose="020B0503020204020204" pitchFamily="34" charset="-122"/>
              </a:rPr>
              <a:t>根据逻辑表达式，用门电路实现，完成控制部件设计。</a:t>
            </a:r>
          </a:p>
          <a:p>
            <a:pPr marL="285750" indent="-285750" fontAlgn="auto">
              <a:lnSpc>
                <a:spcPct val="150000"/>
              </a:lnSpc>
              <a:spcBef>
                <a:spcPts val="0"/>
              </a:spcBef>
              <a:spcAft>
                <a:spcPts val="0"/>
              </a:spcAft>
              <a:buFont typeface="Wingdings" panose="05000000000000000000" charset="0"/>
              <a:buChar char=""/>
              <a:defRPr/>
            </a:pPr>
            <a:endParaRPr lang="zh-CN" altLang="en-US" sz="2000" dirty="0">
              <a:solidFill>
                <a:srgbClr val="04619D"/>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后面将以8条指令ADDU、SUBU、ORI、SLL、LW、SW、BEQ、J为例来说明设计过程。</a:t>
            </a: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控制部件设计</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zh-CN" altLang="en-US">
                <a:sym typeface="Wingdings" panose="05000000000000000000" pitchFamily="2" charset="2"/>
              </a:rPr>
              <a:t>1）画指令流程图</a:t>
            </a:r>
          </a:p>
        </p:txBody>
      </p:sp>
      <p:pic>
        <p:nvPicPr>
          <p:cNvPr id="89" name="图片 8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1765" y="1848485"/>
            <a:ext cx="2625725" cy="3174365"/>
          </a:xfrm>
          <a:prstGeom prst="rect">
            <a:avLst/>
          </a:prstGeom>
        </p:spPr>
      </p:pic>
      <p:pic>
        <p:nvPicPr>
          <p:cNvPr id="90" name="图片 9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1910" y="1844040"/>
            <a:ext cx="2778125" cy="31788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zh-CN" altLang="en-US">
                <a:sym typeface="Wingdings" panose="05000000000000000000" pitchFamily="2" charset="2"/>
              </a:rPr>
              <a:t>1）画指令流程图</a:t>
            </a:r>
          </a:p>
        </p:txBody>
      </p:sp>
      <p:pic>
        <p:nvPicPr>
          <p:cNvPr id="93" name="图片 9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980" y="2032000"/>
            <a:ext cx="3587750" cy="3069590"/>
          </a:xfrm>
          <a:prstGeom prst="rect">
            <a:avLst/>
          </a:prstGeom>
        </p:spPr>
      </p:pic>
      <p:pic>
        <p:nvPicPr>
          <p:cNvPr id="2" name="图片 9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3140" y="1722755"/>
            <a:ext cx="3265805" cy="36874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zh-CN" altLang="en-US">
                <a:sym typeface="Wingdings" panose="05000000000000000000" pitchFamily="2" charset="2"/>
              </a:rPr>
              <a:t>1）画指令流程图</a:t>
            </a:r>
          </a:p>
        </p:txBody>
      </p:sp>
      <p:pic>
        <p:nvPicPr>
          <p:cNvPr id="94" name="图片 9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 y="2369820"/>
            <a:ext cx="4039235" cy="3098800"/>
          </a:xfrm>
          <a:prstGeom prst="rect">
            <a:avLst/>
          </a:prstGeom>
        </p:spPr>
      </p:pic>
      <p:pic>
        <p:nvPicPr>
          <p:cNvPr id="95" name="图片 9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3140" y="2480945"/>
            <a:ext cx="4015105" cy="29876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zh-CN" altLang="en-US">
                <a:sym typeface="Wingdings" panose="05000000000000000000" pitchFamily="2" charset="2"/>
              </a:rPr>
              <a:t>1）画指令流程图</a:t>
            </a:r>
          </a:p>
        </p:txBody>
      </p:sp>
      <p:pic>
        <p:nvPicPr>
          <p:cNvPr id="96" name="图片 9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950" y="2164715"/>
            <a:ext cx="4925695" cy="2644775"/>
          </a:xfrm>
          <a:prstGeom prst="rect">
            <a:avLst/>
          </a:prstGeom>
        </p:spPr>
      </p:pic>
      <p:pic>
        <p:nvPicPr>
          <p:cNvPr id="97" name="图片 97"/>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38616" y="2176145"/>
            <a:ext cx="3549650" cy="25057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60120" y="1699260"/>
            <a:ext cx="7255510" cy="1476375"/>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依据各条机器指令的操作流程图将每条指令执行所需的控制信号填入下表。</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假设：ALU控制如下表。</a:t>
            </a: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2）编排指令操作时间表</a:t>
            </a:r>
          </a:p>
        </p:txBody>
      </p:sp>
      <p:graphicFrame>
        <p:nvGraphicFramePr>
          <p:cNvPr id="2" name="表格 -1"/>
          <p:cNvGraphicFramePr/>
          <p:nvPr/>
        </p:nvGraphicFramePr>
        <p:xfrm>
          <a:off x="1066165" y="3358515"/>
          <a:ext cx="6821170" cy="2331085"/>
        </p:xfrm>
        <a:graphic>
          <a:graphicData uri="http://schemas.openxmlformats.org/drawingml/2006/table">
            <a:tbl>
              <a:tblPr firstRow="1" bandRow="1">
                <a:tableStyleId>{5940675A-B579-460E-94D1-54222C63F5DA}</a:tableStyleId>
              </a:tblPr>
              <a:tblGrid>
                <a:gridCol w="883920">
                  <a:extLst>
                    <a:ext uri="{9D8B030D-6E8A-4147-A177-3AD203B41FA5}">
                      <a16:colId xmlns:a16="http://schemas.microsoft.com/office/drawing/2014/main" val="20000"/>
                    </a:ext>
                  </a:extLst>
                </a:gridCol>
                <a:gridCol w="1223010">
                  <a:extLst>
                    <a:ext uri="{9D8B030D-6E8A-4147-A177-3AD203B41FA5}">
                      <a16:colId xmlns:a16="http://schemas.microsoft.com/office/drawing/2014/main" val="20001"/>
                    </a:ext>
                  </a:extLst>
                </a:gridCol>
                <a:gridCol w="1221105">
                  <a:extLst>
                    <a:ext uri="{9D8B030D-6E8A-4147-A177-3AD203B41FA5}">
                      <a16:colId xmlns:a16="http://schemas.microsoft.com/office/drawing/2014/main" val="20002"/>
                    </a:ext>
                  </a:extLst>
                </a:gridCol>
                <a:gridCol w="1222375">
                  <a:extLst>
                    <a:ext uri="{9D8B030D-6E8A-4147-A177-3AD203B41FA5}">
                      <a16:colId xmlns:a16="http://schemas.microsoft.com/office/drawing/2014/main" val="20003"/>
                    </a:ext>
                  </a:extLst>
                </a:gridCol>
                <a:gridCol w="2270760">
                  <a:extLst>
                    <a:ext uri="{9D8B030D-6E8A-4147-A177-3AD203B41FA5}">
                      <a16:colId xmlns:a16="http://schemas.microsoft.com/office/drawing/2014/main" val="20004"/>
                    </a:ext>
                  </a:extLst>
                </a:gridCol>
              </a:tblGrid>
              <a:tr h="433705">
                <a:tc>
                  <a:txBody>
                    <a:bodyPr/>
                    <a:lstStyle/>
                    <a:p>
                      <a:pPr indent="0" algn="ctr">
                        <a:buNone/>
                      </a:pPr>
                      <a:endParaRPr lang="zh-CN" altLang="en-US"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12700" cap="flat" cmpd="sng">
                      <a:solidFill>
                        <a:srgbClr val="969696"/>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ALUC2</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ALUC1</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ALUC0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zh-CN" altLang="en-US" sz="1800" b="0">
                          <a:latin typeface="宋体" panose="02010600030101010101" pitchFamily="2" charset="-122"/>
                          <a:ea typeface="宋体" panose="02010600030101010101" pitchFamily="2" charset="-122"/>
                          <a:cs typeface="宋体" panose="02010600030101010101" pitchFamily="2" charset="-122"/>
                        </a:rPr>
                        <a:t>备注</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0"/>
                  </a:ext>
                </a:extLst>
              </a:tr>
              <a:tr h="352425">
                <a:tc>
                  <a:txBody>
                    <a:bodyPr/>
                    <a:lstStyle/>
                    <a:p>
                      <a:pPr indent="0" algn="ctr">
                        <a:buNone/>
                      </a:pPr>
                      <a:r>
                        <a:rPr lang="en-US" altLang="zh-CN" sz="1800" b="0">
                          <a:latin typeface="Courier New" panose="02070309020205020404" charset="0"/>
                          <a:cs typeface="Courier New" panose="02070309020205020404" charset="0"/>
                        </a:rPr>
                        <a:t>Add</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12700" cap="flat" cmpd="sng">
                      <a:solidFill>
                        <a:srgbClr val="969696"/>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r>
                        <a:rPr lang="zh-CN" altLang="en-US" sz="1800" b="0">
                          <a:latin typeface="宋体" panose="02010600030101010101" pitchFamily="2" charset="-122"/>
                          <a:ea typeface="宋体" panose="02010600030101010101" pitchFamily="2" charset="-122"/>
                          <a:cs typeface="宋体" panose="02010600030101010101" pitchFamily="2" charset="-122"/>
                        </a:rPr>
                        <a:t>完成“加”</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1"/>
                  </a:ext>
                </a:extLst>
              </a:tr>
              <a:tr h="461010">
                <a:tc>
                  <a:txBody>
                    <a:bodyPr/>
                    <a:lstStyle/>
                    <a:p>
                      <a:pPr indent="0" algn="ctr">
                        <a:buNone/>
                      </a:pPr>
                      <a:r>
                        <a:rPr lang="en-US" altLang="zh-CN" sz="1800" b="0">
                          <a:latin typeface="Courier New" panose="02070309020205020404" charset="0"/>
                          <a:cs typeface="Courier New" panose="02070309020205020404" charset="0"/>
                        </a:rPr>
                        <a:t>Sub</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12700" cap="flat" cmpd="sng">
                      <a:solidFill>
                        <a:srgbClr val="969696"/>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1</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r>
                        <a:rPr lang="zh-CN" altLang="en-US" sz="1800" b="0">
                          <a:latin typeface="宋体" panose="02010600030101010101" pitchFamily="2" charset="-122"/>
                          <a:ea typeface="宋体" panose="02010600030101010101" pitchFamily="2" charset="-122"/>
                          <a:cs typeface="宋体" panose="02010600030101010101" pitchFamily="2" charset="-122"/>
                        </a:rPr>
                        <a:t>完成“减”</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2"/>
                  </a:ext>
                </a:extLst>
              </a:tr>
              <a:tr h="541655">
                <a:tc>
                  <a:txBody>
                    <a:bodyPr/>
                    <a:lstStyle/>
                    <a:p>
                      <a:pPr indent="0" algn="ctr">
                        <a:buNone/>
                      </a:pPr>
                      <a:r>
                        <a:rPr lang="en-US" altLang="zh-CN" sz="1800" b="0">
                          <a:latin typeface="Courier New" panose="02070309020205020404" charset="0"/>
                          <a:cs typeface="Courier New" panose="02070309020205020404" charset="0"/>
                        </a:rPr>
                        <a:t>Ori</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12700" cap="flat" cmpd="sng">
                      <a:solidFill>
                        <a:srgbClr val="969696"/>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Courier New" panose="02070309020205020404" charset="0"/>
                          <a:cs typeface="Courier New" panose="02070309020205020404" charset="0"/>
                        </a:rPr>
                        <a:t>1</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r>
                        <a:rPr lang="zh-CN" altLang="en-US" sz="1800" b="0">
                          <a:latin typeface="宋体" panose="02010600030101010101" pitchFamily="2" charset="-122"/>
                          <a:ea typeface="宋体" panose="02010600030101010101" pitchFamily="2" charset="-122"/>
                          <a:cs typeface="宋体" panose="02010600030101010101" pitchFamily="2" charset="-122"/>
                        </a:rPr>
                        <a:t>完成“或”</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DDDDDD"/>
                    </a:solidFill>
                  </a:tcPr>
                </a:tc>
                <a:extLst>
                  <a:ext uri="{0D108BD9-81ED-4DB2-BD59-A6C34878D82A}">
                    <a16:rowId xmlns:a16="http://schemas.microsoft.com/office/drawing/2014/main" val="10003"/>
                  </a:ext>
                </a:extLst>
              </a:tr>
              <a:tr h="542290">
                <a:tc>
                  <a:txBody>
                    <a:bodyPr/>
                    <a:lstStyle/>
                    <a:p>
                      <a:pPr indent="0" algn="ctr">
                        <a:buNone/>
                      </a:pPr>
                      <a:r>
                        <a:rPr lang="en-US" altLang="zh-CN" sz="1800" b="0">
                          <a:latin typeface="Courier New" panose="02070309020205020404" charset="0"/>
                          <a:cs typeface="Courier New" panose="02070309020205020404" charset="0"/>
                        </a:rPr>
                        <a:t>Sll</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12700" cap="flat" cmpd="sng">
                      <a:solidFill>
                        <a:srgbClr val="969696"/>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0</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12700" cap="flat" cmpd="sng">
                      <a:solidFill>
                        <a:srgbClr val="969696"/>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1</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Courier New" panose="02070309020205020404" charset="0"/>
                          <a:cs typeface="Courier New" panose="02070309020205020404" charset="0"/>
                        </a:rPr>
                        <a:t>1</a:t>
                      </a:r>
                      <a:endParaRPr lang="en-US" altLang="zh-CN" sz="18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tc>
                  <a:txBody>
                    <a:bodyPr/>
                    <a:lstStyle/>
                    <a:p>
                      <a:pPr indent="0" algn="ctr">
                        <a:buNone/>
                      </a:pPr>
                      <a:r>
                        <a:rPr lang="en-US" altLang="zh-CN" sz="1800" b="0">
                          <a:latin typeface="宋体" panose="02010600030101010101" pitchFamily="2" charset="-122"/>
                          <a:ea typeface="宋体" panose="02010600030101010101" pitchFamily="2" charset="-122"/>
                          <a:cs typeface="宋体" panose="02010600030101010101" pitchFamily="2" charset="-122"/>
                        </a:rPr>
                        <a:t>ALU</a:t>
                      </a:r>
                      <a:r>
                        <a:rPr lang="zh-CN" altLang="en-US" sz="1800" b="0">
                          <a:latin typeface="宋体" panose="02010600030101010101" pitchFamily="2" charset="-122"/>
                          <a:ea typeface="宋体" panose="02010600030101010101" pitchFamily="2" charset="-122"/>
                          <a:cs typeface="宋体" panose="02010600030101010101" pitchFamily="2" charset="-122"/>
                        </a:rPr>
                        <a:t>完成“左移”</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969696"/>
                      </a:solidFill>
                      <a:prstDash val="solid"/>
                      <a:headEnd type="none" w="med" len="med"/>
                      <a:tailEnd type="none" w="med" len="med"/>
                    </a:lnT>
                    <a:lnB w="12700" cap="flat" cmpd="sng">
                      <a:solidFill>
                        <a:srgbClr val="969696"/>
                      </a:solidFill>
                      <a:prstDash val="solid"/>
                      <a:headEnd type="none" w="med" len="med"/>
                      <a:tailEnd type="none" w="med" len="med"/>
                    </a:lnB>
                    <a:lnTlToBr>
                      <a:noFill/>
                    </a:lnTlToBr>
                    <a:lnBlToTr>
                      <a:noFill/>
                    </a:lnBlToTr>
                    <a:solidFill>
                      <a:srgbClr val="EFEFEF"/>
                    </a:solid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    </a:t>
            </a:r>
            <a:r>
              <a:rPr lang="zh-CN" altLang="en-US">
                <a:sym typeface="Wingdings" panose="05000000000000000000" pitchFamily="2" charset="2"/>
              </a:rPr>
              <a:t>8条指令控制信号表</a:t>
            </a:r>
          </a:p>
        </p:txBody>
      </p:sp>
      <p:graphicFrame>
        <p:nvGraphicFramePr>
          <p:cNvPr id="6" name="表格 5"/>
          <p:cNvGraphicFramePr/>
          <p:nvPr/>
        </p:nvGraphicFramePr>
        <p:xfrm>
          <a:off x="1297940" y="1003300"/>
          <a:ext cx="6356985" cy="5365750"/>
        </p:xfrm>
        <a:graphic>
          <a:graphicData uri="http://schemas.openxmlformats.org/drawingml/2006/table">
            <a:tbl>
              <a:tblPr firstRow="1" bandRow="1">
                <a:tableStyleId>{5940675A-B579-460E-94D1-54222C63F5DA}</a:tableStyleId>
              </a:tblPr>
              <a:tblGrid>
                <a:gridCol w="1726565">
                  <a:extLst>
                    <a:ext uri="{9D8B030D-6E8A-4147-A177-3AD203B41FA5}">
                      <a16:colId xmlns:a16="http://schemas.microsoft.com/office/drawing/2014/main" val="20000"/>
                    </a:ext>
                  </a:extLst>
                </a:gridCol>
                <a:gridCol w="4630420">
                  <a:extLst>
                    <a:ext uri="{9D8B030D-6E8A-4147-A177-3AD203B41FA5}">
                      <a16:colId xmlns:a16="http://schemas.microsoft.com/office/drawing/2014/main" val="20001"/>
                    </a:ext>
                  </a:extLst>
                </a:gridCol>
              </a:tblGrid>
              <a:tr h="386715">
                <a:tc>
                  <a:txBody>
                    <a:bodyPr/>
                    <a:lstStyle/>
                    <a:p>
                      <a:pPr indent="0" algn="l">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控制信号说明</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PC_CLK</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CPU</a:t>
                      </a:r>
                      <a:r>
                        <a:rPr lang="zh-CN" altLang="en-US" sz="1600" b="0">
                          <a:latin typeface="宋体" panose="02010600030101010101" pitchFamily="2" charset="-122"/>
                          <a:ea typeface="宋体" panose="02010600030101010101" pitchFamily="2" charset="-122"/>
                          <a:cs typeface="宋体" panose="02010600030101010101" pitchFamily="2" charset="-122"/>
                        </a:rPr>
                        <a:t>工作主频</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050">
                <a:tc>
                  <a:txBody>
                    <a:bodyPr/>
                    <a:lstStyle/>
                    <a:p>
                      <a:pPr indent="0">
                        <a:buNone/>
                      </a:pPr>
                      <a:r>
                        <a:rPr lang="en-US" altLang="zh-CN" sz="1600" b="0">
                          <a:latin typeface="Courier New" panose="02070309020205020404" charset="0"/>
                          <a:cs typeface="Courier New" panose="02070309020205020404" charset="0"/>
                        </a:rPr>
                        <a:t> IM_R</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t>
                      </a:r>
                      <a:r>
                        <a:rPr lang="zh-CN" altLang="en-US" sz="1600" b="0">
                          <a:latin typeface="宋体" panose="02010600030101010101" pitchFamily="2" charset="-122"/>
                          <a:ea typeface="宋体" panose="02010600030101010101" pitchFamily="2" charset="-122"/>
                          <a:cs typeface="宋体" panose="02010600030101010101" pitchFamily="2" charset="-122"/>
                        </a:rPr>
                        <a:t>代码存储器读信号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3050">
                <a:tc>
                  <a:txBody>
                    <a:bodyPr/>
                    <a:lstStyle/>
                    <a:p>
                      <a:pPr indent="0">
                        <a:buNone/>
                      </a:pPr>
                      <a:r>
                        <a:rPr lang="en-US" altLang="zh-CN" sz="1600" b="0">
                          <a:latin typeface="Courier New" panose="02070309020205020404" charset="0"/>
                          <a:cs typeface="Courier New" panose="02070309020205020404" charset="0"/>
                        </a:rPr>
                        <a:t> Rsc4-0</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a:t>
                      </a:r>
                      <a:r>
                        <a:rPr lang="zh-CN" altLang="en-US" sz="1600" b="0">
                          <a:latin typeface="宋体" panose="02010600030101010101" pitchFamily="2" charset="-122"/>
                          <a:ea typeface="宋体" panose="02010600030101010101" pitchFamily="2" charset="-122"/>
                          <a:cs typeface="宋体" panose="02010600030101010101" pitchFamily="2" charset="-122"/>
                        </a:rPr>
                        <a:t>寄存器选择输入控制端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050">
                <a:tc>
                  <a:txBody>
                    <a:bodyPr/>
                    <a:lstStyle/>
                    <a:p>
                      <a:pPr indent="0">
                        <a:buNone/>
                      </a:pPr>
                      <a:r>
                        <a:rPr lang="en-US" altLang="zh-CN" sz="1600" b="0">
                          <a:latin typeface="Courier New" panose="02070309020205020404" charset="0"/>
                          <a:cs typeface="Courier New" panose="02070309020205020404" charset="0"/>
                        </a:rPr>
                        <a:t> Rtc4-0</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a:t>
                      </a:r>
                      <a:r>
                        <a:rPr lang="zh-CN" altLang="en-US" sz="1600" b="0">
                          <a:latin typeface="宋体" panose="02010600030101010101" pitchFamily="2" charset="-122"/>
                          <a:ea typeface="宋体" panose="02010600030101010101" pitchFamily="2" charset="-122"/>
                          <a:cs typeface="宋体" panose="02010600030101010101" pitchFamily="2" charset="-122"/>
                        </a:rPr>
                        <a:t>寄存器选择输入控制端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3685">
                <a:tc>
                  <a:txBody>
                    <a:bodyPr/>
                    <a:lstStyle/>
                    <a:p>
                      <a:pPr indent="0">
                        <a:buNone/>
                      </a:pPr>
                      <a:r>
                        <a:rPr lang="en-US" altLang="zh-CN" sz="1600" b="0">
                          <a:latin typeface="Courier New" panose="02070309020205020404" charset="0"/>
                          <a:cs typeface="Courier New" panose="02070309020205020404" charset="0"/>
                        </a:rPr>
                        <a:t> M</a:t>
                      </a:r>
                      <a:r>
                        <a:rPr lang="en-US" altLang="zh-CN" sz="1600" b="0">
                          <a:latin typeface="宋体" panose="02010600030101010101" pitchFamily="2" charset="-122"/>
                          <a:ea typeface="宋体" panose="02010600030101010101" pitchFamily="2" charset="-122"/>
                          <a:cs typeface="宋体" panose="02010600030101010101" pitchFamily="2" charset="-122"/>
                        </a:rPr>
                        <a:t>3</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MUX3</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MUX4</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选择器控制端</a:t>
                      </a:r>
                      <a:r>
                        <a:rPr lang="en-US" altLang="zh-CN" sz="1600" b="0">
                          <a:latin typeface="宋体" panose="02010600030101010101" pitchFamily="2" charset="-122"/>
                          <a:ea typeface="宋体" panose="02010600030101010101" pitchFamily="2" charset="-122"/>
                          <a:cs typeface="宋体" panose="02010600030101010101" pitchFamily="2" charset="-122"/>
                        </a:rPr>
                        <a:t>1</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MUX4</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选择器控制端</a:t>
                      </a:r>
                      <a:r>
                        <a:rPr lang="en-US" altLang="zh-CN" sz="1600" b="0">
                          <a:latin typeface="宋体" panose="02010600030101010101" pitchFamily="2" charset="-122"/>
                          <a:ea typeface="宋体" panose="02010600030101010101" pitchFamily="2" charset="-122"/>
                          <a:cs typeface="宋体" panose="02010600030101010101" pitchFamily="2" charset="-122"/>
                        </a:rPr>
                        <a:t>0</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a:t>
                      </a:r>
                      <a:r>
                        <a:rPr lang="zh-CN" altLang="en-US" sz="1600" b="0">
                          <a:latin typeface="宋体" panose="02010600030101010101" pitchFamily="2" charset="-122"/>
                          <a:ea typeface="宋体" panose="02010600030101010101" pitchFamily="2" charset="-122"/>
                          <a:cs typeface="宋体" panose="02010600030101010101" pitchFamily="2" charset="-122"/>
                        </a:rPr>
                        <a:t>控制端</a:t>
                      </a:r>
                      <a:r>
                        <a:rPr lang="en-US" altLang="zh-CN" sz="1600" b="0">
                          <a:latin typeface="宋体" panose="02010600030101010101" pitchFamily="2" charset="-122"/>
                          <a:ea typeface="宋体" panose="02010600030101010101" pitchFamily="2" charset="-122"/>
                          <a:cs typeface="宋体" panose="02010600030101010101" pitchFamily="2" charset="-122"/>
                        </a:rPr>
                        <a:t>2</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52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a:t>
                      </a:r>
                      <a:r>
                        <a:rPr lang="zh-CN" altLang="en-US" sz="1600" b="0">
                          <a:latin typeface="宋体" panose="02010600030101010101" pitchFamily="2" charset="-122"/>
                          <a:ea typeface="宋体" panose="02010600030101010101" pitchFamily="2" charset="-122"/>
                          <a:cs typeface="宋体" panose="02010600030101010101" pitchFamily="2" charset="-122"/>
                        </a:rPr>
                        <a:t>控制端</a:t>
                      </a:r>
                      <a:r>
                        <a:rPr lang="en-US" altLang="zh-CN" sz="1600" b="0">
                          <a:latin typeface="宋体" panose="02010600030101010101" pitchFamily="2" charset="-122"/>
                          <a:ea typeface="宋体" panose="02010600030101010101" pitchFamily="2" charset="-122"/>
                          <a:cs typeface="宋体" panose="02010600030101010101" pitchFamily="2" charset="-122"/>
                        </a:rPr>
                        <a:t>1</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a:t>
                      </a:r>
                      <a:r>
                        <a:rPr lang="zh-CN" altLang="en-US" sz="1600" b="0">
                          <a:latin typeface="宋体" panose="02010600030101010101" pitchFamily="2" charset="-122"/>
                          <a:ea typeface="宋体" panose="02010600030101010101" pitchFamily="2" charset="-122"/>
                          <a:cs typeface="宋体" panose="02010600030101010101" pitchFamily="2" charset="-122"/>
                        </a:rPr>
                        <a:t>控制端</a:t>
                      </a:r>
                      <a:r>
                        <a:rPr lang="en-US" altLang="zh-CN" sz="1600" b="0">
                          <a:latin typeface="宋体" panose="02010600030101010101" pitchFamily="2" charset="-122"/>
                          <a:ea typeface="宋体" panose="02010600030101010101" pitchFamily="2" charset="-122"/>
                          <a:cs typeface="宋体" panose="02010600030101010101" pitchFamily="2" charset="-122"/>
                        </a:rPr>
                        <a:t>0</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MUX2</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368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a:t>
                      </a:r>
                      <a:r>
                        <a:rPr lang="zh-CN" altLang="en-US" sz="1600" b="0">
                          <a:latin typeface="宋体" panose="02010600030101010101" pitchFamily="2" charset="-122"/>
                          <a:ea typeface="宋体" panose="02010600030101010101" pitchFamily="2" charset="-122"/>
                          <a:cs typeface="宋体" panose="02010600030101010101" pitchFamily="2" charset="-122"/>
                        </a:rPr>
                        <a:t>寄存器选择输入控制端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RF_W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Regfile</a:t>
                      </a:r>
                      <a:r>
                        <a:rPr lang="zh-CN" altLang="en-US" sz="1600" b="0">
                          <a:latin typeface="宋体" panose="02010600030101010101" pitchFamily="2" charset="-122"/>
                          <a:ea typeface="宋体" panose="02010600030101010101" pitchFamily="2" charset="-122"/>
                          <a:cs typeface="宋体" panose="02010600030101010101" pitchFamily="2" charset="-122"/>
                        </a:rPr>
                        <a:t>写信号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RF_CLK</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Regfile</a:t>
                      </a:r>
                      <a:r>
                        <a:rPr lang="zh-CN" altLang="en-US" sz="1600" b="0">
                          <a:latin typeface="宋体" panose="02010600030101010101" pitchFamily="2" charset="-122"/>
                          <a:ea typeface="宋体" panose="02010600030101010101" pitchFamily="2" charset="-122"/>
                          <a:cs typeface="宋体" panose="02010600030101010101" pitchFamily="2" charset="-122"/>
                        </a:rPr>
                        <a:t>时钟</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MUX5</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7368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MUX1</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DM_R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t>
                      </a:r>
                      <a:r>
                        <a:rPr lang="zh-CN" altLang="en-US" sz="1600" b="0">
                          <a:latin typeface="宋体" panose="02010600030101010101" pitchFamily="2" charset="-122"/>
                          <a:ea typeface="宋体" panose="02010600030101010101" pitchFamily="2" charset="-122"/>
                          <a:cs typeface="宋体" panose="02010600030101010101" pitchFamily="2" charset="-122"/>
                        </a:rPr>
                        <a:t>数据存储器读信号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DM_W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t>
                      </a:r>
                      <a:r>
                        <a:rPr lang="zh-CN" altLang="en-US" sz="1600" b="0">
                          <a:latin typeface="宋体" panose="02010600030101010101" pitchFamily="2" charset="-122"/>
                          <a:ea typeface="宋体" panose="02010600030101010101" pitchFamily="2" charset="-122"/>
                          <a:cs typeface="宋体" panose="02010600030101010101" pitchFamily="2" charset="-122"/>
                        </a:rPr>
                        <a:t>数据存储器写信号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捕获"/>
          <p:cNvPicPr>
            <a:picLocks noChangeAspect="1"/>
          </p:cNvPicPr>
          <p:nvPr/>
        </p:nvPicPr>
        <p:blipFill>
          <a:blip r:embed="rId3"/>
          <a:stretch>
            <a:fillRect/>
          </a:stretch>
        </p:blipFill>
        <p:spPr>
          <a:xfrm>
            <a:off x="193040" y="451485"/>
            <a:ext cx="8783320" cy="6443345"/>
          </a:xfrm>
          <a:prstGeom prst="rect">
            <a:avLst/>
          </a:prstGeom>
        </p:spPr>
      </p:pic>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a:xfrm>
            <a:off x="361950" y="122555"/>
            <a:ext cx="8229600" cy="425450"/>
          </a:xfrm>
        </p:spPr>
        <p:txBody>
          <a:bodyPr/>
          <a:lstStyle/>
          <a:p>
            <a:pPr algn="l"/>
            <a:r>
              <a:rPr lang="zh-CN" altLang="en-US" sz="2000">
                <a:sym typeface="Wingdings" panose="05000000000000000000" pitchFamily="2" charset="2"/>
              </a:rPr>
              <a:t>Addu指令执行所需控制信号</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    </a:t>
            </a:r>
            <a:r>
              <a:rPr lang="zh-CN" altLang="en-US">
                <a:sym typeface="Wingdings" panose="05000000000000000000" pitchFamily="2" charset="2"/>
              </a:rPr>
              <a:t>8条指令的操作时间表</a:t>
            </a:r>
          </a:p>
        </p:txBody>
      </p:sp>
      <p:graphicFrame>
        <p:nvGraphicFramePr>
          <p:cNvPr id="4" name="表格 3"/>
          <p:cNvGraphicFramePr/>
          <p:nvPr/>
        </p:nvGraphicFramePr>
        <p:xfrm>
          <a:off x="361950" y="904875"/>
          <a:ext cx="8528685" cy="5478780"/>
        </p:xfrm>
        <a:graphic>
          <a:graphicData uri="http://schemas.openxmlformats.org/drawingml/2006/table">
            <a:tbl>
              <a:tblPr firstRow="1" bandRow="1">
                <a:tableStyleId>{5940675A-B579-460E-94D1-54222C63F5DA}</a:tableStyleId>
              </a:tblPr>
              <a:tblGrid>
                <a:gridCol w="1054735">
                  <a:extLst>
                    <a:ext uri="{9D8B030D-6E8A-4147-A177-3AD203B41FA5}">
                      <a16:colId xmlns:a16="http://schemas.microsoft.com/office/drawing/2014/main" val="20000"/>
                    </a:ext>
                  </a:extLst>
                </a:gridCol>
                <a:gridCol w="934720">
                  <a:extLst>
                    <a:ext uri="{9D8B030D-6E8A-4147-A177-3AD203B41FA5}">
                      <a16:colId xmlns:a16="http://schemas.microsoft.com/office/drawing/2014/main" val="20001"/>
                    </a:ext>
                  </a:extLst>
                </a:gridCol>
                <a:gridCol w="934085">
                  <a:extLst>
                    <a:ext uri="{9D8B030D-6E8A-4147-A177-3AD203B41FA5}">
                      <a16:colId xmlns:a16="http://schemas.microsoft.com/office/drawing/2014/main" val="20002"/>
                    </a:ext>
                  </a:extLst>
                </a:gridCol>
                <a:gridCol w="934720">
                  <a:extLst>
                    <a:ext uri="{9D8B030D-6E8A-4147-A177-3AD203B41FA5}">
                      <a16:colId xmlns:a16="http://schemas.microsoft.com/office/drawing/2014/main" val="20003"/>
                    </a:ext>
                  </a:extLst>
                </a:gridCol>
                <a:gridCol w="933450">
                  <a:extLst>
                    <a:ext uri="{9D8B030D-6E8A-4147-A177-3AD203B41FA5}">
                      <a16:colId xmlns:a16="http://schemas.microsoft.com/office/drawing/2014/main" val="20004"/>
                    </a:ext>
                  </a:extLst>
                </a:gridCol>
                <a:gridCol w="934720">
                  <a:extLst>
                    <a:ext uri="{9D8B030D-6E8A-4147-A177-3AD203B41FA5}">
                      <a16:colId xmlns:a16="http://schemas.microsoft.com/office/drawing/2014/main" val="20005"/>
                    </a:ext>
                  </a:extLst>
                </a:gridCol>
                <a:gridCol w="934085">
                  <a:extLst>
                    <a:ext uri="{9D8B030D-6E8A-4147-A177-3AD203B41FA5}">
                      <a16:colId xmlns:a16="http://schemas.microsoft.com/office/drawing/2014/main" val="20006"/>
                    </a:ext>
                  </a:extLst>
                </a:gridCol>
                <a:gridCol w="934085">
                  <a:extLst>
                    <a:ext uri="{9D8B030D-6E8A-4147-A177-3AD203B41FA5}">
                      <a16:colId xmlns:a16="http://schemas.microsoft.com/office/drawing/2014/main" val="20007"/>
                    </a:ext>
                  </a:extLst>
                </a:gridCol>
                <a:gridCol w="934085">
                  <a:extLst>
                    <a:ext uri="{9D8B030D-6E8A-4147-A177-3AD203B41FA5}">
                      <a16:colId xmlns:a16="http://schemas.microsoft.com/office/drawing/2014/main" val="20008"/>
                    </a:ext>
                  </a:extLst>
                </a:gridCol>
              </a:tblGrid>
              <a:tr h="487680">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Subu</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Ori</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Sll</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p>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Z=1</a:t>
                      </a:r>
                      <a:r>
                        <a:rPr lang="zh-CN" altLang="en-US" sz="1600" b="0">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Lw</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670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PC_CLK</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065">
                <a:tc>
                  <a:txBody>
                    <a:bodyPr/>
                    <a:lstStyle/>
                    <a:p>
                      <a:pPr indent="0" algn="ctr">
                        <a:buNone/>
                      </a:pPr>
                      <a:r>
                        <a:rPr lang="en-US" altLang="zh-CN" sz="1600" b="0">
                          <a:latin typeface="Courier New" panose="02070309020205020404" charset="0"/>
                          <a:cs typeface="Courier New" panose="02070309020205020404" charset="0"/>
                        </a:rPr>
                        <a:t>IM_R</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7335">
                <a:tc>
                  <a:txBody>
                    <a:bodyPr/>
                    <a:lstStyle/>
                    <a:p>
                      <a:pPr indent="0" algn="ctr">
                        <a:buNone/>
                      </a:pPr>
                      <a:r>
                        <a:rPr lang="en-US" altLang="zh-CN" sz="1600" b="0">
                          <a:latin typeface="Courier New" panose="02070309020205020404" charset="0"/>
                          <a:cs typeface="Courier New" panose="02070309020205020404" charset="0"/>
                        </a:rPr>
                        <a:t>Rsc4-0</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065">
                <a:tc>
                  <a:txBody>
                    <a:bodyPr/>
                    <a:lstStyle/>
                    <a:p>
                      <a:pPr indent="0" algn="ctr">
                        <a:buNone/>
                      </a:pPr>
                      <a:r>
                        <a:rPr lang="en-US" altLang="zh-CN" sz="1600" b="0">
                          <a:latin typeface="Courier New" panose="02070309020205020404" charset="0"/>
                          <a:cs typeface="Courier New" panose="02070309020205020404" charset="0"/>
                        </a:rPr>
                        <a:t>Rtc4-0</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6065">
                <a:tc>
                  <a:txBody>
                    <a:bodyPr/>
                    <a:lstStyle/>
                    <a:p>
                      <a:pPr indent="0" algn="ctr">
                        <a:buNone/>
                      </a:pPr>
                      <a:r>
                        <a:rPr lang="en-US" altLang="zh-CN" sz="1600" b="0">
                          <a:latin typeface="Courier New" panose="02070309020205020404" charset="0"/>
                          <a:cs typeface="Courier New" panose="02070309020205020404" charset="0"/>
                        </a:rPr>
                        <a:t>M</a:t>
                      </a:r>
                      <a:r>
                        <a:rPr lang="en-US" altLang="zh-CN" sz="1600" b="0">
                          <a:latin typeface="宋体" panose="02010600030101010101" pitchFamily="2" charset="-122"/>
                          <a:ea typeface="宋体" panose="02010600030101010101" pitchFamily="2" charset="-122"/>
                          <a:cs typeface="宋体" panose="02010600030101010101" pitchFamily="2" charset="-122"/>
                        </a:rPr>
                        <a:t>3</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733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606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6606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ALUC2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733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ALUC1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606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ALUC0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6670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6670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Rdc4-0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6670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RF_W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6606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RF_CLK</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6670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6670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6606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CS</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6733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DM_R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26606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DM_W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944245" y="1774825"/>
            <a:ext cx="7255510" cy="193802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a:latin typeface="微软雅黑" panose="020B0503020204020204" pitchFamily="34" charset="-122"/>
                <a:ea typeface="微软雅黑" panose="020B0503020204020204" pitchFamily="34" charset="-122"/>
                <a:sym typeface="Wingdings" panose="05000000000000000000" pitchFamily="2" charset="2"/>
              </a:rPr>
              <a:t>从上页表中可以看出Rdc的输入源有两个源IM20-16、IM15-11，所以，在Rdc输入端加一个多路选择器MUX6</a:t>
            </a:r>
          </a:p>
          <a:p>
            <a:pPr marL="342900" indent="-342900" fontAlgn="auto">
              <a:lnSpc>
                <a:spcPct val="150000"/>
              </a:lnSpc>
              <a:spcBef>
                <a:spcPts val="0"/>
              </a:spcBef>
              <a:spcAft>
                <a:spcPts val="0"/>
              </a:spcAft>
              <a:buFont typeface="Wingdings" panose="05000000000000000000" charset="0"/>
              <a:buChar char=""/>
              <a:defRPr/>
            </a:pPr>
            <a:endParaRPr lang="zh-CN" altLang="en-US" sz="2000" dirty="0">
              <a:solidFill>
                <a:schemeClr val="tx1"/>
              </a:solidFill>
              <a:latin typeface="微软雅黑" panose="020B0503020204020204" pitchFamily="34" charset="-122"/>
              <a:ea typeface="微软雅黑" panose="020B0503020204020204" pitchFamily="34" charset="-122"/>
            </a:endParaRP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加入MUX6的数据通路如下图（下页）：</a:t>
            </a:r>
          </a:p>
        </p:txBody>
      </p:sp>
      <p:sp>
        <p:nvSpPr>
          <p:cNvPr id="7266" name="标题 7265"/>
          <p:cNvSpPr>
            <a:spLocks noGrp="1"/>
          </p:cNvSpPr>
          <p:nvPr>
            <p:ph type="title"/>
          </p:nvPr>
        </p:nvSpPr>
        <p:spPr/>
        <p:txBody>
          <a:bodyPr/>
          <a:lstStyle/>
          <a:p>
            <a:pPr algn="l"/>
            <a:endParaRPr lang="zh-CN" altLang="en-US">
              <a:sym typeface="Wingdings" panose="05000000000000000000" pitchFamily="2" charset="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endParaRPr lang="zh-CN" altLang="en-US">
              <a:sym typeface="Wingdings" panose="05000000000000000000" pitchFamily="2" charset="2"/>
            </a:endParaRPr>
          </a:p>
        </p:txBody>
      </p:sp>
      <p:pic>
        <p:nvPicPr>
          <p:cNvPr id="100" name="图片 10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 y="473075"/>
            <a:ext cx="9113520" cy="56959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    </a:t>
            </a:r>
            <a:r>
              <a:rPr lang="zh-CN" altLang="en-US">
                <a:sym typeface="Wingdings" panose="05000000000000000000" pitchFamily="2" charset="2"/>
              </a:rPr>
              <a:t>加入MUX6的时间表</a:t>
            </a:r>
          </a:p>
        </p:txBody>
      </p:sp>
      <p:graphicFrame>
        <p:nvGraphicFramePr>
          <p:cNvPr id="2" name="表格 -1"/>
          <p:cNvGraphicFramePr/>
          <p:nvPr/>
        </p:nvGraphicFramePr>
        <p:xfrm>
          <a:off x="448310" y="904875"/>
          <a:ext cx="8248015" cy="5541010"/>
        </p:xfrm>
        <a:graphic>
          <a:graphicData uri="http://schemas.openxmlformats.org/drawingml/2006/table">
            <a:tbl>
              <a:tblPr firstRow="1" bandRow="1">
                <a:tableStyleId>{5940675A-B579-460E-94D1-54222C63F5DA}</a:tableStyleId>
              </a:tblPr>
              <a:tblGrid>
                <a:gridCol w="1020445">
                  <a:extLst>
                    <a:ext uri="{9D8B030D-6E8A-4147-A177-3AD203B41FA5}">
                      <a16:colId xmlns:a16="http://schemas.microsoft.com/office/drawing/2014/main" val="20000"/>
                    </a:ext>
                  </a:extLst>
                </a:gridCol>
                <a:gridCol w="903605">
                  <a:extLst>
                    <a:ext uri="{9D8B030D-6E8A-4147-A177-3AD203B41FA5}">
                      <a16:colId xmlns:a16="http://schemas.microsoft.com/office/drawing/2014/main" val="20001"/>
                    </a:ext>
                  </a:extLst>
                </a:gridCol>
                <a:gridCol w="903605">
                  <a:extLst>
                    <a:ext uri="{9D8B030D-6E8A-4147-A177-3AD203B41FA5}">
                      <a16:colId xmlns:a16="http://schemas.microsoft.com/office/drawing/2014/main" val="20002"/>
                    </a:ext>
                  </a:extLst>
                </a:gridCol>
                <a:gridCol w="902970">
                  <a:extLst>
                    <a:ext uri="{9D8B030D-6E8A-4147-A177-3AD203B41FA5}">
                      <a16:colId xmlns:a16="http://schemas.microsoft.com/office/drawing/2014/main" val="20003"/>
                    </a:ext>
                  </a:extLst>
                </a:gridCol>
                <a:gridCol w="903605">
                  <a:extLst>
                    <a:ext uri="{9D8B030D-6E8A-4147-A177-3AD203B41FA5}">
                      <a16:colId xmlns:a16="http://schemas.microsoft.com/office/drawing/2014/main" val="20004"/>
                    </a:ext>
                  </a:extLst>
                </a:gridCol>
                <a:gridCol w="903605">
                  <a:extLst>
                    <a:ext uri="{9D8B030D-6E8A-4147-A177-3AD203B41FA5}">
                      <a16:colId xmlns:a16="http://schemas.microsoft.com/office/drawing/2014/main" val="20005"/>
                    </a:ext>
                  </a:extLst>
                </a:gridCol>
                <a:gridCol w="902970">
                  <a:extLst>
                    <a:ext uri="{9D8B030D-6E8A-4147-A177-3AD203B41FA5}">
                      <a16:colId xmlns:a16="http://schemas.microsoft.com/office/drawing/2014/main" val="20006"/>
                    </a:ext>
                  </a:extLst>
                </a:gridCol>
                <a:gridCol w="904240">
                  <a:extLst>
                    <a:ext uri="{9D8B030D-6E8A-4147-A177-3AD203B41FA5}">
                      <a16:colId xmlns:a16="http://schemas.microsoft.com/office/drawing/2014/main" val="20007"/>
                    </a:ext>
                  </a:extLst>
                </a:gridCol>
                <a:gridCol w="902970">
                  <a:extLst>
                    <a:ext uri="{9D8B030D-6E8A-4147-A177-3AD203B41FA5}">
                      <a16:colId xmlns:a16="http://schemas.microsoft.com/office/drawing/2014/main" val="20008"/>
                    </a:ext>
                  </a:extLst>
                </a:gridCol>
              </a:tblGrid>
              <a:tr h="400050">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Subu</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Ori</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Sll</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Z=1</a:t>
                      </a:r>
                      <a:r>
                        <a:rPr lang="zh-CN" altLang="en-US" sz="1600" b="0">
                          <a:latin typeface="宋体" panose="02010600030101010101" pitchFamily="2" charset="-122"/>
                          <a:ea typeface="宋体" panose="02010600030101010101" pitchFamily="2" charset="-122"/>
                          <a:cs typeface="宋体" panose="02010600030101010101" pitchFamily="2" charset="-122"/>
                        </a:rPr>
                        <a:t>）</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Lw</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PC_CLK</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6540">
                <a:tc>
                  <a:txBody>
                    <a:bodyPr/>
                    <a:lstStyle/>
                    <a:p>
                      <a:pPr indent="0" algn="ctr">
                        <a:buNone/>
                      </a:pPr>
                      <a:r>
                        <a:rPr lang="en-US" altLang="zh-CN" sz="1600" b="0">
                          <a:latin typeface="Courier New" panose="02070309020205020404" charset="0"/>
                          <a:cs typeface="Courier New" panose="02070309020205020404" charset="0"/>
                        </a:rPr>
                        <a:t>IM_R</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7175">
                <a:tc>
                  <a:txBody>
                    <a:bodyPr/>
                    <a:lstStyle/>
                    <a:p>
                      <a:pPr indent="0" algn="ctr">
                        <a:buNone/>
                      </a:pPr>
                      <a:r>
                        <a:rPr lang="en-US" altLang="zh-CN" sz="1600" b="0">
                          <a:latin typeface="Courier New" panose="02070309020205020404" charset="0"/>
                          <a:cs typeface="Courier New" panose="02070309020205020404" charset="0"/>
                        </a:rPr>
                        <a:t>Rsc4-0</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IM25-21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7175">
                <a:tc>
                  <a:txBody>
                    <a:bodyPr/>
                    <a:lstStyle/>
                    <a:p>
                      <a:pPr indent="0" algn="ctr">
                        <a:buNone/>
                      </a:pPr>
                      <a:r>
                        <a:rPr lang="en-US" altLang="zh-CN" sz="1600" b="0">
                          <a:latin typeface="Courier New" panose="02070309020205020404" charset="0"/>
                          <a:cs typeface="Courier New" panose="02070309020205020404" charset="0"/>
                        </a:rPr>
                        <a:t>Rtc4-0</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7175">
                <a:tc>
                  <a:txBody>
                    <a:bodyPr/>
                    <a:lstStyle/>
                    <a:p>
                      <a:pPr indent="0" algn="ctr">
                        <a:buNone/>
                      </a:pPr>
                      <a:r>
                        <a:rPr lang="en-US" altLang="zh-CN" sz="1600" b="0">
                          <a:latin typeface="Courier New" panose="02070309020205020404" charset="0"/>
                          <a:cs typeface="Courier New" panose="02070309020205020404" charset="0"/>
                        </a:rPr>
                        <a:t>M</a:t>
                      </a:r>
                      <a:r>
                        <a:rPr lang="en-US" altLang="zh-CN" sz="1600" b="0">
                          <a:latin typeface="宋体" panose="02010600030101010101" pitchFamily="2" charset="-122"/>
                          <a:ea typeface="宋体" panose="02010600030101010101" pitchFamily="2" charset="-122"/>
                          <a:cs typeface="宋体" panose="02010600030101010101" pitchFamily="2" charset="-122"/>
                        </a:rPr>
                        <a:t>3</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654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5781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ALU2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654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ALU1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ALU0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654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Rdc4-0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IM15-11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IM20-16</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RF_W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RF_CLK</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25781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25590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25781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CS</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DM_R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25654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DM_W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257175">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M6</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48995" y="1234440"/>
            <a:ext cx="7255510" cy="563118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PC_CLK=CLK（上升沿）//CLK-CPU工作主频</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IM_R=1</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Rsc=IM25-21</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Rtc=IM20-16</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M3=Addu+Subu+Ori+Beq+J+Lw+Sw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M4_1=Lw+Sw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M4_0=Ori</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ALUC2=0</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ALUC1=Ori+Sll</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ALUC0=Subu+Sll+Beq</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M2=Addu+Subu+Ori+Sll+Beq+J+Sw</a:t>
            </a:r>
          </a:p>
          <a:p>
            <a:pPr marL="0" indent="0" fontAlgn="auto">
              <a:lnSpc>
                <a:spcPct val="150000"/>
              </a:lnSpc>
              <a:spcBef>
                <a:spcPts val="0"/>
              </a:spcBef>
              <a:spcAft>
                <a:spcPts val="0"/>
              </a:spcAft>
              <a:buFont typeface="Wingdings" panose="05000000000000000000" charset="0"/>
              <a:buNone/>
              <a:defRPr/>
            </a:pP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3）控制信号综合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848995" y="1233805"/>
            <a:ext cx="7255510" cy="4707890"/>
          </a:xfrm>
          <a:prstGeom prst="rect">
            <a:avLst/>
          </a:prstGeom>
          <a:noFill/>
        </p:spPr>
        <p:txBody>
          <a:bodyPr wrap="square" lIns="72000" rIns="72000">
            <a:spAutoFit/>
          </a:bodyPr>
          <a:lstStyle/>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Rdc4-0=IM15-11（Addu+Subu+Sll+Beq）+IM20-16（Ori+Lw）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RF_W=Addu+Subu+Ori+Sll+Lw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RF_CLK=（Addu+Subu+Ori+Sll+Lw）CLK（上升沿）</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M5=BeqZ</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M1=Addu+Subu+Ori+Sll+Beq+Lw+Sw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CS=Lw+Sw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DM_R=Lw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DM_W=Sw</a:t>
            </a:r>
          </a:p>
          <a:p>
            <a:pPr marL="342900" indent="-342900" fontAlgn="auto">
              <a:lnSpc>
                <a:spcPct val="150000"/>
              </a:lnSpc>
              <a:spcBef>
                <a:spcPts val="0"/>
              </a:spcBef>
              <a:spcAft>
                <a:spcPts val="0"/>
              </a:spcAft>
              <a:buFont typeface="Wingdings" panose="05000000000000000000" charset="0"/>
              <a:buChar char=""/>
              <a:defRPr/>
            </a:pPr>
            <a:r>
              <a:rPr lang="zh-CN" altLang="en-US" sz="2000" dirty="0">
                <a:solidFill>
                  <a:schemeClr val="tx1"/>
                </a:solidFill>
                <a:latin typeface="微软雅黑" panose="020B0503020204020204" pitchFamily="34" charset="-122"/>
                <a:ea typeface="微软雅黑" panose="020B0503020204020204" pitchFamily="34" charset="-122"/>
              </a:rPr>
              <a:t>M6=Ori+Lw</a:t>
            </a:r>
          </a:p>
        </p:txBody>
      </p:sp>
      <p:sp>
        <p:nvSpPr>
          <p:cNvPr id="7266" name="标题 7265"/>
          <p:cNvSpPr>
            <a:spLocks noGrp="1"/>
          </p:cNvSpPr>
          <p:nvPr>
            <p:ph type="title"/>
          </p:nvPr>
        </p:nvSpPr>
        <p:spPr/>
        <p:txBody>
          <a:bodyPr/>
          <a:lstStyle/>
          <a:p>
            <a:pPr algn="l"/>
            <a:r>
              <a:rPr lang="zh-CN" altLang="en-US">
                <a:sym typeface="Wingdings" panose="05000000000000000000" pitchFamily="2" charset="2"/>
              </a:rPr>
              <a:t>3）控制信号综合</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4</a:t>
            </a:r>
            <a:r>
              <a:rPr>
                <a:sym typeface="Wingdings" panose="05000000000000000000" pitchFamily="2" charset="2"/>
              </a:rPr>
              <a:t>）</a:t>
            </a:r>
            <a:r>
              <a:rPr lang="zh-CN" altLang="en-US">
                <a:sym typeface="Wingdings" panose="05000000000000000000" pitchFamily="2" charset="2"/>
              </a:rPr>
              <a:t>构成微操作序列形成部件的组合逻辑网络</a:t>
            </a:r>
          </a:p>
        </p:txBody>
      </p:sp>
      <p:pic>
        <p:nvPicPr>
          <p:cNvPr id="101" name="图片 10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925" y="2099945"/>
            <a:ext cx="8820785" cy="3586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接连接符 28"/>
          <p:cNvCxnSpPr/>
          <p:nvPr/>
        </p:nvCxnSpPr>
        <p:spPr>
          <a:xfrm flipH="1">
            <a:off x="361950" y="8056076"/>
            <a:ext cx="808355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266" name="标题 7265"/>
          <p:cNvSpPr>
            <a:spLocks noGrp="1"/>
          </p:cNvSpPr>
          <p:nvPr>
            <p:ph type="title"/>
          </p:nvPr>
        </p:nvSpPr>
        <p:spPr/>
        <p:txBody>
          <a:bodyPr/>
          <a:lstStyle/>
          <a:p>
            <a:pPr algn="l"/>
            <a:r>
              <a:rPr lang="en-US" altLang="zh-CN">
                <a:sym typeface="Wingdings" panose="05000000000000000000" pitchFamily="2" charset="2"/>
              </a:rPr>
              <a:t>5</a:t>
            </a:r>
            <a:r>
              <a:rPr>
                <a:sym typeface="Wingdings" panose="05000000000000000000" pitchFamily="2" charset="2"/>
              </a:rPr>
              <a:t>）</a:t>
            </a:r>
            <a:r>
              <a:rPr lang="zh-CN" altLang="en-US">
                <a:sym typeface="Wingdings" panose="05000000000000000000" pitchFamily="2" charset="2"/>
              </a:rPr>
              <a:t>8条指令CPU逻辑结构</a:t>
            </a:r>
          </a:p>
        </p:txBody>
      </p:sp>
      <p:pic>
        <p:nvPicPr>
          <p:cNvPr id="102"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430" y="805180"/>
            <a:ext cx="8467090" cy="60623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t>7.5.</a:t>
            </a:r>
            <a:r>
              <a:rPr lang="en-US" altLang="zh-CN"/>
              <a:t>2 </a:t>
            </a:r>
            <a:r>
              <a:rPr lang="zh-CN" altLang="en-US"/>
              <a:t>多周期CPU设计</a:t>
            </a:r>
          </a:p>
        </p:txBody>
      </p:sp>
      <p:sp>
        <p:nvSpPr>
          <p:cNvPr id="8" name="Rectangle 33"/>
          <p:cNvSpPr/>
          <p:nvPr/>
        </p:nvSpPr>
        <p:spPr>
          <a:xfrm>
            <a:off x="883285" y="1233170"/>
            <a:ext cx="7708265" cy="1938020"/>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b="1">
                <a:solidFill>
                  <a:schemeClr val="tx1"/>
                </a:solidFill>
                <a:latin typeface="微软雅黑" panose="020B0503020204020204" pitchFamily="34" charset="-122"/>
                <a:ea typeface="微软雅黑" panose="020B0503020204020204" pitchFamily="34" charset="-122"/>
              </a:rPr>
              <a:t>设计思想：</a:t>
            </a:r>
          </a:p>
          <a:p>
            <a:pPr marL="285750" indent="-285750" algn="l" fontAlgn="auto">
              <a:lnSpc>
                <a:spcPct val="150000"/>
              </a:lnSpc>
              <a:spcBef>
                <a:spcPts val="0"/>
              </a:spcBef>
              <a:spcAft>
                <a:spcPts val="0"/>
              </a:spcAft>
              <a:buFont typeface="Wingdings" panose="05000000000000000000" charset="0"/>
              <a:buChar char=""/>
              <a:defRPr/>
            </a:pPr>
            <a:r>
              <a:rPr lang="zh-CN" altLang="en-US" sz="2000">
                <a:solidFill>
                  <a:srgbClr val="04619D"/>
                </a:solidFill>
                <a:latin typeface="微软雅黑" panose="020B0503020204020204" pitchFamily="34" charset="-122"/>
                <a:ea typeface="微软雅黑" panose="020B0503020204020204" pitchFamily="34" charset="-122"/>
              </a:rPr>
              <a:t>把一条指令的执行分成若干个小周期，根据每条指令的复杂程度，使用不同数量的小周期去执行，许多个小周期加在一起相当于单周期CPU中的一个周期。</a:t>
            </a:r>
          </a:p>
        </p:txBody>
      </p:sp>
      <p:sp>
        <p:nvSpPr>
          <p:cNvPr id="22" name="Rectangle 33"/>
          <p:cNvSpPr/>
          <p:nvPr/>
        </p:nvSpPr>
        <p:spPr>
          <a:xfrm>
            <a:off x="883285" y="3171190"/>
            <a:ext cx="7708265" cy="3322955"/>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在我们实现的8条指令中，最复杂的指令之一是BEQ Rs,Rt,offset，它需要5个周期，其整个执行的过程为：</a:t>
            </a:r>
          </a:p>
          <a:p>
            <a:pPr marL="457200" indent="-457200" algn="l" fontAlgn="auto">
              <a:lnSpc>
                <a:spcPct val="150000"/>
              </a:lnSpc>
              <a:spcBef>
                <a:spcPts val="0"/>
              </a:spcBef>
              <a:spcAft>
                <a:spcPts val="0"/>
              </a:spcAft>
              <a:buFont typeface="+mj-lt"/>
              <a:buAutoNum type="alphaLcParenR"/>
              <a:defRPr/>
            </a:pPr>
            <a:r>
              <a:rPr lang="zh-CN" altLang="en-US" sz="2000">
                <a:solidFill>
                  <a:srgbClr val="04619D"/>
                </a:solidFill>
                <a:latin typeface="微软雅黑" panose="020B0503020204020204" pitchFamily="34" charset="-122"/>
                <a:ea typeface="微软雅黑" panose="020B0503020204020204" pitchFamily="34" charset="-122"/>
              </a:rPr>
              <a:t>根据PC取指令；</a:t>
            </a:r>
          </a:p>
          <a:p>
            <a:pPr marL="457200" indent="-457200" algn="l" fontAlgn="auto">
              <a:lnSpc>
                <a:spcPct val="150000"/>
              </a:lnSpc>
              <a:spcBef>
                <a:spcPts val="0"/>
              </a:spcBef>
              <a:spcAft>
                <a:spcPts val="0"/>
              </a:spcAft>
              <a:buFont typeface="+mj-lt"/>
              <a:buAutoNum type="alphaLcParenR"/>
              <a:defRPr/>
            </a:pPr>
            <a:r>
              <a:rPr lang="zh-CN" altLang="en-US" sz="2000">
                <a:solidFill>
                  <a:srgbClr val="04619D"/>
                </a:solidFill>
                <a:latin typeface="微软雅黑" panose="020B0503020204020204" pitchFamily="34" charset="-122"/>
                <a:ea typeface="微软雅黑" panose="020B0503020204020204" pitchFamily="34" charset="-122"/>
              </a:rPr>
              <a:t>完成PC加4；</a:t>
            </a:r>
          </a:p>
          <a:p>
            <a:pPr marL="457200" indent="-457200" algn="l" fontAlgn="auto">
              <a:lnSpc>
                <a:spcPct val="150000"/>
              </a:lnSpc>
              <a:spcBef>
                <a:spcPts val="0"/>
              </a:spcBef>
              <a:spcAft>
                <a:spcPts val="0"/>
              </a:spcAft>
              <a:buFont typeface="+mj-lt"/>
              <a:buAutoNum type="alphaLcParenR"/>
              <a:defRPr/>
            </a:pPr>
            <a:r>
              <a:rPr lang="zh-CN" altLang="en-US" sz="2000">
                <a:solidFill>
                  <a:srgbClr val="04619D"/>
                </a:solidFill>
                <a:latin typeface="微软雅黑" panose="020B0503020204020204" pitchFamily="34" charset="-122"/>
                <a:ea typeface="微软雅黑" panose="020B0503020204020204" pitchFamily="34" charset="-122"/>
              </a:rPr>
              <a:t>读出rs和rt两个寄存器的数据并锁存，比较是否相等；</a:t>
            </a:r>
          </a:p>
          <a:p>
            <a:pPr marL="457200" indent="-457200" algn="l" fontAlgn="auto">
              <a:lnSpc>
                <a:spcPct val="150000"/>
              </a:lnSpc>
              <a:spcBef>
                <a:spcPts val="0"/>
              </a:spcBef>
              <a:spcAft>
                <a:spcPts val="0"/>
              </a:spcAft>
              <a:buFont typeface="+mj-lt"/>
              <a:buAutoNum type="alphaLcParenR"/>
              <a:defRPr/>
            </a:pPr>
            <a:r>
              <a:rPr lang="zh-CN" altLang="en-US" sz="2000">
                <a:solidFill>
                  <a:srgbClr val="04619D"/>
                </a:solidFill>
                <a:latin typeface="微软雅黑" panose="020B0503020204020204" pitchFamily="34" charset="-122"/>
                <a:ea typeface="微软雅黑" panose="020B0503020204020204" pitchFamily="34" charset="-122"/>
              </a:rPr>
              <a:t>相等，ALU计算转移地址并锁存，否则指令结束；</a:t>
            </a:r>
          </a:p>
          <a:p>
            <a:pPr marL="457200" indent="-457200" algn="l" fontAlgn="auto">
              <a:lnSpc>
                <a:spcPct val="150000"/>
              </a:lnSpc>
              <a:spcBef>
                <a:spcPts val="0"/>
              </a:spcBef>
              <a:spcAft>
                <a:spcPts val="0"/>
              </a:spcAft>
              <a:buFont typeface="+mj-lt"/>
              <a:buAutoNum type="alphaLcParenR"/>
              <a:defRPr/>
            </a:pPr>
            <a:r>
              <a:rPr lang="zh-CN" altLang="en-US" sz="2000">
                <a:solidFill>
                  <a:srgbClr val="04619D"/>
                </a:solidFill>
                <a:latin typeface="微软雅黑" panose="020B0503020204020204" pitchFamily="34" charset="-122"/>
                <a:ea typeface="微软雅黑" panose="020B0503020204020204" pitchFamily="34" charset="-122"/>
              </a:rPr>
              <a:t>将转移地址写入PC，指令结束。</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t>7.5.</a:t>
            </a:r>
            <a:r>
              <a:rPr lang="en-US" altLang="zh-CN"/>
              <a:t>2 </a:t>
            </a:r>
            <a:r>
              <a:rPr lang="zh-CN" altLang="en-US"/>
              <a:t>多周期CPU设计</a:t>
            </a:r>
          </a:p>
        </p:txBody>
      </p:sp>
      <p:sp>
        <p:nvSpPr>
          <p:cNvPr id="22" name="Rectangle 33"/>
          <p:cNvSpPr/>
          <p:nvPr/>
        </p:nvSpPr>
        <p:spPr>
          <a:xfrm>
            <a:off x="622935" y="1767840"/>
            <a:ext cx="7708265" cy="3322955"/>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最简单的指令是j target，3个周期：</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a</a:t>
            </a:r>
            <a:r>
              <a:rPr lang="zh-CN" altLang="en-US" sz="2000">
                <a:solidFill>
                  <a:srgbClr val="04619D"/>
                </a:solidFill>
                <a:latin typeface="微软雅黑" panose="020B0503020204020204" pitchFamily="34" charset="-122"/>
                <a:ea typeface="微软雅黑" panose="020B0503020204020204" pitchFamily="34" charset="-122"/>
              </a:rPr>
              <a:t>）根据PC取指令；</a:t>
            </a:r>
            <a:r>
              <a:rPr lang="en-US" altLang="zh-CN" sz="2000">
                <a:solidFill>
                  <a:srgbClr val="04619D"/>
                </a:solidFill>
                <a:latin typeface="微软雅黑" panose="020B0503020204020204" pitchFamily="34" charset="-122"/>
                <a:ea typeface="微软雅黑" panose="020B0503020204020204" pitchFamily="34" charset="-122"/>
              </a:rPr>
              <a:t>		b</a:t>
            </a:r>
            <a:r>
              <a:rPr lang="zh-CN" altLang="en-US" sz="2000">
                <a:solidFill>
                  <a:srgbClr val="04619D"/>
                </a:solidFill>
                <a:latin typeface="微软雅黑" panose="020B0503020204020204" pitchFamily="34" charset="-122"/>
                <a:ea typeface="微软雅黑" panose="020B0503020204020204" pitchFamily="34" charset="-122"/>
              </a:rPr>
              <a:t>）完成PC加4；</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c</a:t>
            </a:r>
            <a:r>
              <a:rPr lang="zh-CN" altLang="en-US" sz="2000">
                <a:solidFill>
                  <a:srgbClr val="04619D"/>
                </a:solidFill>
                <a:latin typeface="微软雅黑" panose="020B0503020204020204" pitchFamily="34" charset="-122"/>
                <a:ea typeface="微软雅黑" panose="020B0503020204020204" pitchFamily="34" charset="-122"/>
              </a:rPr>
              <a:t>）指令中的target左移两位与PC的高4位拼接成32位地址写入PC。</a:t>
            </a:r>
          </a:p>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ALU计算类型的指令需要4个周期</a:t>
            </a:r>
            <a:r>
              <a:rPr lang="zh-CN" altLang="en-US" sz="2000">
                <a:solidFill>
                  <a:srgbClr val="04619D"/>
                </a:solidFill>
                <a:latin typeface="微软雅黑" panose="020B0503020204020204" pitchFamily="34" charset="-122"/>
                <a:ea typeface="微软雅黑" panose="020B0503020204020204" pitchFamily="34" charset="-122"/>
              </a:rPr>
              <a:t>：</a:t>
            </a:r>
          </a:p>
          <a:p>
            <a:pPr marL="0" indent="0" algn="l" fontAlgn="auto">
              <a:lnSpc>
                <a:spcPct val="150000"/>
              </a:lnSpc>
              <a:spcBef>
                <a:spcPts val="0"/>
              </a:spcBef>
              <a:spcAft>
                <a:spcPts val="0"/>
              </a:spcAft>
              <a:buFont typeface="+mj-lt"/>
              <a:buNone/>
              <a:defRPr/>
            </a:pPr>
            <a:r>
              <a:rPr lang="zh-CN" altLang="en-US" sz="2000">
                <a:solidFill>
                  <a:srgbClr val="04619D"/>
                </a:solidFill>
                <a:latin typeface="微软雅黑" panose="020B0503020204020204" pitchFamily="34" charset="-122"/>
                <a:ea typeface="微软雅黑" panose="020B0503020204020204" pitchFamily="34" charset="-122"/>
              </a:rPr>
              <a:t>a）根据PC取指令；</a:t>
            </a:r>
            <a:r>
              <a:rPr lang="en-US" altLang="zh-CN" sz="2000">
                <a:solidFill>
                  <a:srgbClr val="04619D"/>
                </a:solidFill>
                <a:latin typeface="微软雅黑" panose="020B0503020204020204" pitchFamily="34" charset="-122"/>
                <a:ea typeface="微软雅黑" panose="020B0503020204020204" pitchFamily="34" charset="-122"/>
              </a:rPr>
              <a:t>		b</a:t>
            </a:r>
            <a:r>
              <a:rPr lang="zh-CN" altLang="en-US" sz="2000">
                <a:solidFill>
                  <a:srgbClr val="04619D"/>
                </a:solidFill>
                <a:latin typeface="微软雅黑" panose="020B0503020204020204" pitchFamily="34" charset="-122"/>
                <a:ea typeface="微软雅黑" panose="020B0503020204020204" pitchFamily="34" charset="-122"/>
              </a:rPr>
              <a:t>）完成PC加4；</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c</a:t>
            </a:r>
            <a:r>
              <a:rPr lang="zh-CN" altLang="en-US" sz="2000">
                <a:solidFill>
                  <a:srgbClr val="04619D"/>
                </a:solidFill>
                <a:latin typeface="微软雅黑" panose="020B0503020204020204" pitchFamily="34" charset="-122"/>
                <a:ea typeface="微软雅黑" panose="020B0503020204020204" pitchFamily="34" charset="-122"/>
              </a:rPr>
              <a:t>）读出rs和rt两个寄存器的内容进行运算；</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d</a:t>
            </a:r>
            <a:r>
              <a:rPr lang="zh-CN" altLang="en-US" sz="2000">
                <a:solidFill>
                  <a:srgbClr val="04619D"/>
                </a:solidFill>
                <a:latin typeface="微软雅黑" panose="020B0503020204020204" pitchFamily="34" charset="-122"/>
                <a:ea typeface="微软雅黑" panose="020B0503020204020204" pitchFamily="34" charset="-122"/>
              </a:rPr>
              <a:t>）把运算结果写入寄存器堆中的rd（或rt）寄存器。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t>7.5.</a:t>
            </a:r>
            <a:r>
              <a:rPr lang="en-US" altLang="zh-CN"/>
              <a:t>2 </a:t>
            </a:r>
            <a:r>
              <a:rPr lang="zh-CN" altLang="en-US"/>
              <a:t>多周期CPU设计</a:t>
            </a:r>
          </a:p>
        </p:txBody>
      </p:sp>
      <p:sp>
        <p:nvSpPr>
          <p:cNvPr id="22" name="Rectangle 33"/>
          <p:cNvSpPr/>
          <p:nvPr/>
        </p:nvSpPr>
        <p:spPr>
          <a:xfrm>
            <a:off x="628015" y="1196975"/>
            <a:ext cx="7697470" cy="4707890"/>
          </a:xfrm>
          <a:prstGeom prst="rect">
            <a:avLst/>
          </a:prstGeom>
        </p:spPr>
        <p:txBody>
          <a:bodyPr wrap="square">
            <a:spAutoFit/>
          </a:bodyPr>
          <a:lstStyle/>
          <a:p>
            <a:pPr marL="0" indent="0" algn="l" fontAlgn="auto">
              <a:lnSpc>
                <a:spcPct val="150000"/>
              </a:lnSpc>
              <a:spcBef>
                <a:spcPts val="0"/>
              </a:spcBef>
              <a:spcAft>
                <a:spcPts val="0"/>
              </a:spcAft>
              <a:buFont typeface="Wingdings" panose="05000000000000000000" charset="0"/>
              <a:buNone/>
              <a:defRPr/>
            </a:pPr>
            <a:endParaRPr lang="zh-CN" altLang="en-US" sz="2000">
              <a:solidFill>
                <a:srgbClr val="04619D"/>
              </a:solidFill>
              <a:latin typeface="微软雅黑" panose="020B0503020204020204" pitchFamily="34" charset="-122"/>
              <a:ea typeface="微软雅黑" panose="020B0503020204020204" pitchFamily="34" charset="-122"/>
            </a:endParaRPr>
          </a:p>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访内存类型的指令，需要4个周期：</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a</a:t>
            </a:r>
            <a:r>
              <a:rPr lang="zh-CN" altLang="en-US" sz="2000">
                <a:solidFill>
                  <a:srgbClr val="04619D"/>
                </a:solidFill>
                <a:latin typeface="微软雅黑" panose="020B0503020204020204" pitchFamily="34" charset="-122"/>
                <a:ea typeface="微软雅黑" panose="020B0503020204020204" pitchFamily="34" charset="-122"/>
              </a:rPr>
              <a:t>）根据PC取指令；</a:t>
            </a:r>
            <a:r>
              <a:rPr lang="en-US" altLang="zh-CN" sz="2000">
                <a:solidFill>
                  <a:srgbClr val="04619D"/>
                </a:solidFill>
                <a:latin typeface="微软雅黑" panose="020B0503020204020204" pitchFamily="34" charset="-122"/>
                <a:ea typeface="微软雅黑" panose="020B0503020204020204" pitchFamily="34" charset="-122"/>
              </a:rPr>
              <a:t>		b</a:t>
            </a:r>
            <a:r>
              <a:rPr lang="zh-CN" altLang="en-US" sz="2000">
                <a:solidFill>
                  <a:srgbClr val="04619D"/>
                </a:solidFill>
                <a:latin typeface="微软雅黑" panose="020B0503020204020204" pitchFamily="34" charset="-122"/>
                <a:ea typeface="微软雅黑" panose="020B0503020204020204" pitchFamily="34" charset="-122"/>
              </a:rPr>
              <a:t>）完成PC加4；</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c</a:t>
            </a:r>
            <a:r>
              <a:rPr lang="zh-CN" altLang="en-US" sz="2000">
                <a:solidFill>
                  <a:srgbClr val="04619D"/>
                </a:solidFill>
                <a:latin typeface="微软雅黑" panose="020B0503020204020204" pitchFamily="34" charset="-122"/>
                <a:ea typeface="微软雅黑" panose="020B0503020204020204" pitchFamily="34" charset="-122"/>
              </a:rPr>
              <a:t>）rs寄存器的内容与指令中的偏移量offset相加，计算得到存储器地址；</a:t>
            </a:r>
          </a:p>
          <a:p>
            <a:pPr marL="0" indent="0" algn="l" fontAlgn="auto">
              <a:lnSpc>
                <a:spcPct val="150000"/>
              </a:lnSpc>
              <a:spcBef>
                <a:spcPts val="0"/>
              </a:spcBef>
              <a:spcAft>
                <a:spcPts val="0"/>
              </a:spcAft>
              <a:buFont typeface="+mj-lt"/>
              <a:buNone/>
              <a:defRPr/>
            </a:pPr>
            <a:r>
              <a:rPr lang="en-US" altLang="zh-CN" sz="2000">
                <a:solidFill>
                  <a:srgbClr val="04619D"/>
                </a:solidFill>
                <a:latin typeface="微软雅黑" panose="020B0503020204020204" pitchFamily="34" charset="-122"/>
                <a:ea typeface="微软雅黑" panose="020B0503020204020204" pitchFamily="34" charset="-122"/>
              </a:rPr>
              <a:t>d</a:t>
            </a:r>
            <a:r>
              <a:rPr lang="zh-CN" altLang="en-US" sz="2000">
                <a:solidFill>
                  <a:srgbClr val="04619D"/>
                </a:solidFill>
                <a:latin typeface="微软雅黑" panose="020B0503020204020204" pitchFamily="34" charset="-122"/>
                <a:ea typeface="微软雅黑" panose="020B0503020204020204" pitchFamily="34" charset="-122"/>
              </a:rPr>
              <a:t>）使用计算好的地址访问存储器，从中读写出一个32位的数据。</a:t>
            </a:r>
          </a:p>
          <a:p>
            <a:pPr marL="0" indent="0" algn="l" fontAlgn="auto">
              <a:lnSpc>
                <a:spcPct val="150000"/>
              </a:lnSpc>
              <a:spcBef>
                <a:spcPts val="0"/>
              </a:spcBef>
              <a:spcAft>
                <a:spcPts val="0"/>
              </a:spcAft>
              <a:buFont typeface="+mj-lt"/>
              <a:buNone/>
              <a:defRPr/>
            </a:pPr>
            <a:endParaRPr lang="zh-CN" altLang="en-US" sz="2000">
              <a:solidFill>
                <a:srgbClr val="04619D"/>
              </a:solidFill>
              <a:latin typeface="微软雅黑" panose="020B0503020204020204" pitchFamily="34" charset="-122"/>
              <a:ea typeface="微软雅黑" panose="020B0503020204020204" pitchFamily="34" charset="-122"/>
            </a:endParaRPr>
          </a:p>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下面以8条指令多周期CPU的设计过程为例具体说明，ADDU、SUBU、ORI、SLL、LW、SW、BEQ、J为例来说明多周期CPU的设计过程。</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t>1）数据通路设计</a:t>
            </a:r>
          </a:p>
        </p:txBody>
      </p:sp>
      <p:sp>
        <p:nvSpPr>
          <p:cNvPr id="22" name="Rectangle 33"/>
          <p:cNvSpPr/>
          <p:nvPr/>
        </p:nvSpPr>
        <p:spPr>
          <a:xfrm>
            <a:off x="628015" y="828675"/>
            <a:ext cx="7697470" cy="5631180"/>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数据通路的设计过程与单周期的数据通路设计过程一样，要注意的是，多周期CPU设计中基本原则是：</a:t>
            </a:r>
          </a:p>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首先，在多周期CPU中的某些资源可以复用。</a:t>
            </a:r>
            <a:r>
              <a:rPr lang="zh-CN" altLang="en-US" sz="2000">
                <a:solidFill>
                  <a:srgbClr val="04619D"/>
                </a:solidFill>
                <a:latin typeface="微软雅黑" panose="020B0503020204020204" pitchFamily="34" charset="-122"/>
                <a:ea typeface="微软雅黑" panose="020B0503020204020204" pitchFamily="34" charset="-122"/>
              </a:rPr>
              <a:t>比如ALU，既可以完成算术和逻辑运算，还可以用于PC的增值运算，因为它们的操作是在不同的周期中，所以，这两种操作都可以用ALU完成。我们可以使用一个指令和数据公用的存储器，而不需分为两个独立的指令和数据存储器，因为读取指令和读取操作数的操作是在不同的周期中。</a:t>
            </a:r>
          </a:p>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其次，每个周期结束时要把本周期的结果保存到某个寄存器中，以便下个周期可使用。</a:t>
            </a:r>
            <a:r>
              <a:rPr lang="zh-CN" altLang="en-US" sz="2000">
                <a:solidFill>
                  <a:srgbClr val="04619D"/>
                </a:solidFill>
                <a:latin typeface="微软雅黑" panose="020B0503020204020204" pitchFamily="34" charset="-122"/>
                <a:ea typeface="微软雅黑" panose="020B0503020204020204" pitchFamily="34" charset="-122"/>
              </a:rPr>
              <a:t>所以，我们增加了一个指令寄存器IR和一个暂存器Y。IR作用是存放读出的指令，供以后的周期使用。Y作用是存放ALU运算的结果，供以后的周期使用。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8条指令的多周期CPU数据通路</a:t>
            </a:r>
          </a:p>
        </p:txBody>
      </p:sp>
      <p:pic>
        <p:nvPicPr>
          <p:cNvPr id="103" name="图片 10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1290" y="1144270"/>
            <a:ext cx="8820785" cy="456946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t>2）控制器设计</a:t>
            </a:r>
          </a:p>
        </p:txBody>
      </p:sp>
      <p:sp>
        <p:nvSpPr>
          <p:cNvPr id="22" name="Rectangle 33"/>
          <p:cNvSpPr/>
          <p:nvPr/>
        </p:nvSpPr>
        <p:spPr>
          <a:xfrm>
            <a:off x="563245" y="1315720"/>
            <a:ext cx="7697470" cy="1938020"/>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用有限状态机实现多周期CPU的控制部件，我们可以用时序电路来实现多周期CPU的控制部件，主要工作是确定状态转移图及输出逻辑。（状态转移图不是唯一的）</a:t>
            </a:r>
          </a:p>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结构逻辑图如下图</a:t>
            </a:r>
          </a:p>
        </p:txBody>
      </p:sp>
      <p:pic>
        <p:nvPicPr>
          <p:cNvPr id="25" name="图片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6315" y="3253740"/>
            <a:ext cx="5571490" cy="29851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指令流程图</a:t>
            </a:r>
          </a:p>
        </p:txBody>
      </p:sp>
      <p:sp>
        <p:nvSpPr>
          <p:cNvPr id="22" name="Rectangle 33"/>
          <p:cNvSpPr/>
          <p:nvPr/>
        </p:nvSpPr>
        <p:spPr>
          <a:xfrm>
            <a:off x="563245" y="1315720"/>
            <a:ext cx="7697470" cy="553085"/>
          </a:xfrm>
          <a:prstGeom prst="rect">
            <a:avLst/>
          </a:prstGeom>
        </p:spPr>
        <p:txBody>
          <a:bodyPr wrap="square">
            <a:spAutoFit/>
          </a:bodyPr>
          <a:lstStyle/>
          <a:p>
            <a:pPr marL="342900" indent="-342900" algn="l" fontAlgn="auto">
              <a:lnSpc>
                <a:spcPct val="150000"/>
              </a:lnSpc>
              <a:spcBef>
                <a:spcPts val="0"/>
              </a:spcBef>
              <a:spcAft>
                <a:spcPts val="0"/>
              </a:spcAft>
              <a:buFont typeface="Wingdings" panose="05000000000000000000" charset="0"/>
              <a:buChar char=""/>
              <a:defRPr/>
            </a:pPr>
            <a:r>
              <a:rPr lang="zh-CN" altLang="en-US" sz="2000">
                <a:solidFill>
                  <a:schemeClr val="tx1"/>
                </a:solidFill>
                <a:latin typeface="微软雅黑" panose="020B0503020204020204" pitchFamily="34" charset="-122"/>
                <a:ea typeface="微软雅黑" panose="020B0503020204020204" pitchFamily="34" charset="-122"/>
              </a:rPr>
              <a:t>ADDU Rd,Rs,Rt</a:t>
            </a:r>
          </a:p>
        </p:txBody>
      </p:sp>
      <p:pic>
        <p:nvPicPr>
          <p:cNvPr id="38" name="图片 3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6785" y="1934845"/>
            <a:ext cx="1655445" cy="4629785"/>
          </a:xfrm>
          <a:prstGeom prst="rect">
            <a:avLst/>
          </a:prstGeom>
        </p:spPr>
      </p:pic>
      <p:sp>
        <p:nvSpPr>
          <p:cNvPr id="100" name="文本框 99"/>
          <p:cNvSpPr txBox="1"/>
          <p:nvPr/>
        </p:nvSpPr>
        <p:spPr>
          <a:xfrm>
            <a:off x="3027045" y="2731770"/>
            <a:ext cx="5080000" cy="3476625"/>
          </a:xfrm>
          <a:prstGeom prst="rect">
            <a:avLst/>
          </a:prstGeom>
          <a:noFill/>
          <a:ln w="9525">
            <a:noFill/>
          </a:ln>
        </p:spPr>
        <p:txBody>
          <a:bodyPr>
            <a:spAutoFit/>
          </a:bodyPr>
          <a:lstStyle/>
          <a:p>
            <a:pPr marL="0" indent="0"/>
            <a:r>
              <a:rPr lang="zh-CN" altLang="en-US" sz="2000" b="0">
                <a:latin typeface="宋体" panose="02010600030101010101" pitchFamily="2" charset="-122"/>
                <a:ea typeface="宋体" panose="02010600030101010101" pitchFamily="2" charset="-122"/>
                <a:cs typeface="宋体" panose="02010600030101010101" pitchFamily="2" charset="-122"/>
              </a:rPr>
              <a:t>取指令：</a:t>
            </a:r>
          </a:p>
          <a:p>
            <a:pPr marL="0" indent="0"/>
            <a:r>
              <a:rPr lang="en-US" altLang="zh-CN" sz="2000" b="0">
                <a:latin typeface="宋体" panose="02010600030101010101" pitchFamily="2" charset="-122"/>
                <a:ea typeface="宋体" panose="02010600030101010101" pitchFamily="2" charset="-122"/>
                <a:cs typeface="宋体" panose="02010600030101010101" pitchFamily="2" charset="-122"/>
              </a:rPr>
              <a:t>① </a:t>
            </a:r>
            <a:r>
              <a:rPr lang="zh-CN" altLang="en-US" sz="2000" b="0">
                <a:latin typeface="宋体" panose="02010600030101010101" pitchFamily="2" charset="-122"/>
                <a:ea typeface="宋体" panose="02010600030101010101" pitchFamily="2" charset="-122"/>
                <a:cs typeface="宋体" panose="02010600030101010101" pitchFamily="2" charset="-122"/>
              </a:rPr>
              <a:t>先要将</a:t>
            </a:r>
            <a:r>
              <a:rPr lang="en-US" altLang="zh-CN" sz="2000" b="0">
                <a:latin typeface="宋体" panose="02010600030101010101" pitchFamily="2" charset="-122"/>
                <a:ea typeface="宋体" panose="02010600030101010101" pitchFamily="2" charset="-122"/>
                <a:cs typeface="宋体" panose="02010600030101010101" pitchFamily="2" charset="-122"/>
              </a:rPr>
              <a:t>PC</a:t>
            </a:r>
            <a:r>
              <a:rPr lang="zh-CN" altLang="en-US" sz="2000" b="0">
                <a:latin typeface="宋体" panose="02010600030101010101" pitchFamily="2" charset="-122"/>
                <a:ea typeface="宋体" panose="02010600030101010101" pitchFamily="2" charset="-122"/>
                <a:cs typeface="宋体" panose="02010600030101010101" pitchFamily="2" charset="-122"/>
              </a:rPr>
              <a:t>的地址送到存储器</a:t>
            </a:r>
            <a:r>
              <a:rPr lang="en-US" altLang="zh-CN" sz="2000" b="0">
                <a:latin typeface="Calibri" panose="020F0502020204030204" charset="0"/>
                <a:cs typeface="Calibri" panose="020F0502020204030204" charset="0"/>
              </a:rPr>
              <a:t>MEM</a:t>
            </a:r>
            <a:r>
              <a:rPr lang="zh-CN" altLang="en-US" sz="2000" b="0">
                <a:latin typeface="宋体" panose="02010600030101010101" pitchFamily="2" charset="-122"/>
                <a:ea typeface="宋体" panose="02010600030101010101" pitchFamily="2" charset="-122"/>
                <a:cs typeface="宋体" panose="02010600030101010101" pitchFamily="2" charset="-122"/>
              </a:rPr>
              <a:t>的地址</a:t>
            </a:r>
            <a:r>
              <a:rPr lang="en-US" altLang="zh-CN" sz="2000" b="0">
                <a:latin typeface="Calibri" panose="020F0502020204030204" charset="0"/>
                <a:cs typeface="Calibri" panose="020F0502020204030204" charset="0"/>
              </a:rPr>
              <a:t>MA</a:t>
            </a:r>
            <a:r>
              <a:rPr lang="zh-CN" altLang="en-US" sz="2000" b="0">
                <a:latin typeface="宋体" panose="02010600030101010101" pitchFamily="2" charset="-122"/>
                <a:ea typeface="宋体" panose="02010600030101010101" pitchFamily="2" charset="-122"/>
                <a:cs typeface="宋体" panose="02010600030101010101" pitchFamily="2" charset="-122"/>
              </a:rPr>
              <a:t>上，然后对</a:t>
            </a:r>
            <a:r>
              <a:rPr lang="en-US" altLang="zh-CN" sz="2000" b="0">
                <a:latin typeface="Calibri" panose="020F0502020204030204" charset="0"/>
                <a:cs typeface="Calibri" panose="020F0502020204030204" charset="0"/>
              </a:rPr>
              <a:t>MEM</a:t>
            </a:r>
            <a:r>
              <a:rPr lang="zh-CN" altLang="en-US" sz="2000" b="0">
                <a:latin typeface="宋体" panose="02010600030101010101" pitchFamily="2" charset="-122"/>
                <a:ea typeface="宋体" panose="02010600030101010101" pitchFamily="2" charset="-122"/>
                <a:cs typeface="宋体" panose="02010600030101010101" pitchFamily="2" charset="-122"/>
              </a:rPr>
              <a:t>发一个读信号（</a:t>
            </a:r>
            <a:r>
              <a:rPr lang="en-US" altLang="zh-CN" sz="2000" b="0">
                <a:latin typeface="Calibri" panose="020F0502020204030204" charset="0"/>
                <a:cs typeface="Calibri" panose="020F0502020204030204" charset="0"/>
              </a:rPr>
              <a:t>M_R</a:t>
            </a:r>
            <a:r>
              <a:rPr lang="zh-CN" altLang="en-US" sz="2000" b="0">
                <a:latin typeface="宋体" panose="02010600030101010101" pitchFamily="2" charset="-122"/>
                <a:ea typeface="宋体" panose="02010600030101010101" pitchFamily="2" charset="-122"/>
                <a:cs typeface="宋体" panose="02010600030101010101" pitchFamily="2" charset="-122"/>
              </a:rPr>
              <a:t>），将指令从</a:t>
            </a:r>
            <a:r>
              <a:rPr lang="en-US" altLang="zh-CN" sz="2000" b="0">
                <a:latin typeface="Calibri" panose="020F0502020204030204" charset="0"/>
                <a:cs typeface="Calibri" panose="020F0502020204030204" charset="0"/>
              </a:rPr>
              <a:t>MEM</a:t>
            </a:r>
            <a:r>
              <a:rPr lang="zh-CN" altLang="en-US" sz="2000" b="0">
                <a:latin typeface="宋体" panose="02010600030101010101" pitchFamily="2" charset="-122"/>
                <a:ea typeface="宋体" panose="02010600030101010101" pitchFamily="2" charset="-122"/>
                <a:cs typeface="宋体" panose="02010600030101010101" pitchFamily="2" charset="-122"/>
              </a:rPr>
              <a:t>读出（</a:t>
            </a:r>
            <a:r>
              <a:rPr lang="en-US" altLang="zh-CN" sz="2000" b="0">
                <a:latin typeface="Calibri" panose="020F0502020204030204" charset="0"/>
                <a:cs typeface="Calibri" panose="020F0502020204030204" charset="0"/>
              </a:rPr>
              <a:t>MD</a:t>
            </a:r>
            <a:r>
              <a:rPr lang="zh-CN" altLang="en-US" sz="2000" b="0">
                <a:latin typeface="宋体" panose="02010600030101010101" pitchFamily="2" charset="-122"/>
                <a:ea typeface="宋体" panose="02010600030101010101" pitchFamily="2" charset="-122"/>
                <a:cs typeface="宋体" panose="02010600030101010101" pitchFamily="2" charset="-122"/>
              </a:rPr>
              <a:t>）送入</a:t>
            </a:r>
            <a:r>
              <a:rPr lang="en-US" altLang="zh-CN" sz="2000" b="0">
                <a:latin typeface="Calibri" panose="020F0502020204030204" charset="0"/>
                <a:cs typeface="Calibri" panose="020F0502020204030204" charset="0"/>
              </a:rPr>
              <a:t>IR</a:t>
            </a:r>
            <a:r>
              <a:rPr lang="zh-CN" altLang="en-US" sz="2000" b="0">
                <a:latin typeface="宋体" panose="02010600030101010101" pitchFamily="2" charset="-122"/>
                <a:ea typeface="宋体" panose="02010600030101010101" pitchFamily="2" charset="-122"/>
                <a:cs typeface="宋体" panose="02010600030101010101" pitchFamily="2" charset="-122"/>
              </a:rPr>
              <a:t>。同时， </a:t>
            </a:r>
            <a:r>
              <a:rPr lang="en-US" altLang="zh-CN" sz="2000" b="0">
                <a:latin typeface="Calibri" panose="020F0502020204030204" charset="0"/>
                <a:cs typeface="Calibri" panose="020F0502020204030204" charset="0"/>
              </a:rPr>
              <a:t>PC</a:t>
            </a:r>
            <a:r>
              <a:rPr lang="zh-CN" altLang="en-US" sz="2000" b="0">
                <a:latin typeface="宋体" panose="02010600030101010101" pitchFamily="2" charset="-122"/>
                <a:ea typeface="宋体" panose="02010600030101010101" pitchFamily="2" charset="-122"/>
                <a:cs typeface="宋体" panose="02010600030101010101" pitchFamily="2" charset="-122"/>
              </a:rPr>
              <a:t>送</a:t>
            </a:r>
            <a:r>
              <a:rPr lang="en-US" altLang="zh-CN" sz="2000" b="0">
                <a:latin typeface="Calibri" panose="020F0502020204030204" charset="0"/>
                <a:cs typeface="Calibri" panose="020F0502020204030204" charset="0"/>
              </a:rPr>
              <a:t>ALU</a:t>
            </a:r>
            <a:r>
              <a:rPr lang="zh-CN" altLang="en-US" sz="2000" b="0">
                <a:latin typeface="宋体" panose="02010600030101010101" pitchFamily="2" charset="-122"/>
                <a:ea typeface="宋体" panose="02010600030101010101" pitchFamily="2" charset="-122"/>
                <a:cs typeface="宋体" panose="02010600030101010101" pitchFamily="2" charset="-122"/>
              </a:rPr>
              <a:t>完成加</a:t>
            </a:r>
            <a:r>
              <a:rPr lang="en-US" altLang="zh-CN" sz="2000" b="0">
                <a:latin typeface="Calibri" panose="020F0502020204030204" charset="0"/>
                <a:cs typeface="Calibri" panose="020F0502020204030204" charset="0"/>
              </a:rPr>
              <a:t>4</a:t>
            </a:r>
            <a:r>
              <a:rPr lang="zh-CN" altLang="en-US" sz="2000" b="0">
                <a:latin typeface="宋体" panose="02010600030101010101" pitchFamily="2" charset="-122"/>
                <a:ea typeface="宋体" panose="02010600030101010101" pitchFamily="2" charset="-122"/>
                <a:cs typeface="宋体" panose="02010600030101010101" pitchFamily="2" charset="-122"/>
              </a:rPr>
              <a:t>增值后送入暂存器</a:t>
            </a:r>
            <a:r>
              <a:rPr lang="en-US" altLang="zh-CN" sz="2000" b="0">
                <a:latin typeface="Calibri" panose="020F0502020204030204" charset="0"/>
                <a:cs typeface="Calibri" panose="020F0502020204030204" charset="0"/>
              </a:rPr>
              <a:t>Y</a:t>
            </a:r>
            <a:r>
              <a:rPr lang="zh-CN" altLang="en-US" sz="2000" b="0">
                <a:latin typeface="宋体" panose="02010600030101010101" pitchFamily="2" charset="-122"/>
                <a:ea typeface="宋体" panose="02010600030101010101" pitchFamily="2" charset="-122"/>
                <a:cs typeface="宋体" panose="02010600030101010101" pitchFamily="2" charset="-122"/>
              </a:rPr>
              <a:t>。</a:t>
            </a:r>
          </a:p>
          <a:p>
            <a:pPr marL="0" indent="0"/>
            <a:r>
              <a:rPr lang="en-US" altLang="zh-CN" sz="2000" b="0">
                <a:latin typeface="宋体" panose="02010600030101010101" pitchFamily="2" charset="-122"/>
                <a:ea typeface="宋体" panose="02010600030101010101" pitchFamily="2" charset="-122"/>
                <a:cs typeface="宋体" panose="02010600030101010101" pitchFamily="2" charset="-122"/>
              </a:rPr>
              <a:t>② </a:t>
            </a:r>
            <a:r>
              <a:rPr lang="zh-CN" altLang="en-US" sz="2000" b="0">
                <a:latin typeface="宋体" panose="02010600030101010101" pitchFamily="2" charset="-122"/>
                <a:ea typeface="宋体" panose="02010600030101010101" pitchFamily="2" charset="-122"/>
                <a:cs typeface="宋体" panose="02010600030101010101" pitchFamily="2" charset="-122"/>
              </a:rPr>
              <a:t>暂存器</a:t>
            </a:r>
            <a:r>
              <a:rPr lang="en-US" altLang="zh-CN" sz="2000" b="0">
                <a:latin typeface="宋体" panose="02010600030101010101" pitchFamily="2" charset="-122"/>
                <a:ea typeface="宋体" panose="02010600030101010101" pitchFamily="2" charset="-122"/>
                <a:cs typeface="宋体" panose="02010600030101010101" pitchFamily="2" charset="-122"/>
              </a:rPr>
              <a:t>Y</a:t>
            </a:r>
            <a:r>
              <a:rPr lang="zh-CN" altLang="en-US" sz="2000" b="0">
                <a:latin typeface="宋体" panose="02010600030101010101" pitchFamily="2" charset="-122"/>
                <a:ea typeface="宋体" panose="02010600030101010101" pitchFamily="2" charset="-122"/>
                <a:cs typeface="宋体" panose="02010600030101010101" pitchFamily="2" charset="-122"/>
              </a:rPr>
              <a:t>的内容送回</a:t>
            </a:r>
            <a:r>
              <a:rPr lang="en-US" altLang="zh-CN" sz="2000" b="0">
                <a:latin typeface="Calibri" panose="020F0502020204030204" charset="0"/>
                <a:cs typeface="Calibri" panose="020F0502020204030204" charset="0"/>
              </a:rPr>
              <a:t>PC</a:t>
            </a:r>
            <a:r>
              <a:rPr lang="zh-CN" altLang="en-US" sz="2000" b="0">
                <a:latin typeface="宋体" panose="02010600030101010101" pitchFamily="2" charset="-122"/>
                <a:ea typeface="宋体" panose="02010600030101010101" pitchFamily="2" charset="-122"/>
                <a:cs typeface="宋体" panose="02010600030101010101" pitchFamily="2" charset="-122"/>
              </a:rPr>
              <a:t>，完成</a:t>
            </a:r>
            <a:r>
              <a:rPr lang="en-US" altLang="zh-CN" sz="2000" b="0">
                <a:latin typeface="Calibri" panose="020F0502020204030204" charset="0"/>
                <a:cs typeface="Calibri" panose="020F0502020204030204" charset="0"/>
              </a:rPr>
              <a:t>PC</a:t>
            </a:r>
            <a:r>
              <a:rPr lang="zh-CN" altLang="en-US" sz="2000" b="0">
                <a:latin typeface="宋体" panose="02010600030101010101" pitchFamily="2" charset="-122"/>
                <a:ea typeface="宋体" panose="02010600030101010101" pitchFamily="2" charset="-122"/>
                <a:cs typeface="宋体" panose="02010600030101010101" pitchFamily="2" charset="-122"/>
              </a:rPr>
              <a:t>增值。</a:t>
            </a:r>
          </a:p>
          <a:p>
            <a:pPr marL="0" indent="0"/>
            <a:r>
              <a:rPr lang="zh-CN" altLang="en-US" sz="2000" b="0">
                <a:latin typeface="宋体" panose="02010600030101010101" pitchFamily="2" charset="-122"/>
                <a:ea typeface="宋体" panose="02010600030101010101" pitchFamily="2" charset="-122"/>
                <a:cs typeface="宋体" panose="02010600030101010101" pitchFamily="2" charset="-122"/>
              </a:rPr>
              <a:t>执行指令：</a:t>
            </a:r>
          </a:p>
          <a:p>
            <a:pPr marL="0" indent="0"/>
            <a:r>
              <a:rPr lang="en-US" altLang="zh-CN" sz="2000" b="0">
                <a:latin typeface="宋体" panose="02010600030101010101" pitchFamily="2" charset="-122"/>
                <a:ea typeface="宋体" panose="02010600030101010101" pitchFamily="2" charset="-122"/>
                <a:cs typeface="宋体" panose="02010600030101010101" pitchFamily="2" charset="-122"/>
              </a:rPr>
              <a:t>③ </a:t>
            </a:r>
            <a:r>
              <a:rPr lang="zh-CN" altLang="en-US" sz="2000" b="0">
                <a:latin typeface="宋体" panose="02010600030101010101" pitchFamily="2" charset="-122"/>
                <a:ea typeface="宋体" panose="02010600030101010101" pitchFamily="2" charset="-122"/>
                <a:cs typeface="宋体" panose="02010600030101010101" pitchFamily="2" charset="-122"/>
              </a:rPr>
              <a:t>先将</a:t>
            </a:r>
            <a:r>
              <a:rPr lang="en-US" altLang="zh-CN" sz="2000" b="0">
                <a:latin typeface="宋体" panose="02010600030101010101" pitchFamily="2" charset="-122"/>
                <a:ea typeface="宋体" panose="02010600030101010101" pitchFamily="2" charset="-122"/>
                <a:cs typeface="宋体" panose="02010600030101010101" pitchFamily="2" charset="-122"/>
              </a:rPr>
              <a:t>rs</a:t>
            </a:r>
            <a:r>
              <a:rPr lang="zh-CN" altLang="en-US" sz="2000" b="0">
                <a:latin typeface="宋体" panose="02010600030101010101" pitchFamily="2" charset="-122"/>
                <a:ea typeface="宋体" panose="02010600030101010101" pitchFamily="2" charset="-122"/>
                <a:cs typeface="宋体" panose="02010600030101010101" pitchFamily="2" charset="-122"/>
              </a:rPr>
              <a:t>和</a:t>
            </a:r>
            <a:r>
              <a:rPr lang="en-US" altLang="zh-CN" sz="2000" b="0">
                <a:latin typeface="Calibri" panose="020F0502020204030204" charset="0"/>
                <a:cs typeface="Calibri" panose="020F0502020204030204" charset="0"/>
              </a:rPr>
              <a:t>rt</a:t>
            </a:r>
            <a:r>
              <a:rPr lang="zh-CN" altLang="en-US" sz="2000" b="0">
                <a:latin typeface="宋体" panose="02010600030101010101" pitchFamily="2" charset="-122"/>
                <a:ea typeface="宋体" panose="02010600030101010101" pitchFamily="2" charset="-122"/>
                <a:cs typeface="宋体" panose="02010600030101010101" pitchFamily="2" charset="-122"/>
              </a:rPr>
              <a:t>的内容送</a:t>
            </a:r>
            <a:r>
              <a:rPr lang="en-US" altLang="zh-CN" sz="2000" b="0">
                <a:latin typeface="Calibri" panose="020F0502020204030204" charset="0"/>
                <a:cs typeface="Calibri" panose="020F0502020204030204" charset="0"/>
              </a:rPr>
              <a:t>ALU</a:t>
            </a:r>
            <a:r>
              <a:rPr lang="zh-CN" altLang="en-US" sz="2000" b="0">
                <a:latin typeface="宋体" panose="02010600030101010101" pitchFamily="2" charset="-122"/>
                <a:ea typeface="宋体" panose="02010600030101010101" pitchFamily="2" charset="-122"/>
                <a:cs typeface="宋体" panose="02010600030101010101" pitchFamily="2" charset="-122"/>
              </a:rPr>
              <a:t>，完成“</a:t>
            </a:r>
            <a:r>
              <a:rPr lang="en-US" altLang="zh-CN" sz="2000" b="0">
                <a:latin typeface="Calibri" panose="020F0502020204030204" charset="0"/>
                <a:cs typeface="Calibri" panose="020F0502020204030204" charset="0"/>
              </a:rPr>
              <a:t>+</a:t>
            </a:r>
            <a:r>
              <a:rPr lang="en-US" altLang="zh-CN" sz="2000" b="0">
                <a:latin typeface="宋体" panose="02010600030101010101" pitchFamily="2" charset="-122"/>
                <a:ea typeface="宋体" panose="02010600030101010101" pitchFamily="2" charset="-122"/>
                <a:cs typeface="宋体" panose="02010600030101010101" pitchFamily="2" charset="-122"/>
              </a:rPr>
              <a:t>”</a:t>
            </a:r>
            <a:r>
              <a:rPr lang="zh-CN" altLang="en-US" sz="2000" b="0">
                <a:latin typeface="宋体" panose="02010600030101010101" pitchFamily="2" charset="-122"/>
                <a:ea typeface="宋体" panose="02010600030101010101" pitchFamily="2" charset="-122"/>
                <a:cs typeface="宋体" panose="02010600030101010101" pitchFamily="2" charset="-122"/>
              </a:rPr>
              <a:t>运算后，送入</a:t>
            </a:r>
            <a:r>
              <a:rPr lang="en-US" altLang="zh-CN" sz="2000" b="0">
                <a:latin typeface="Calibri" panose="020F0502020204030204" charset="0"/>
                <a:cs typeface="Calibri" panose="020F0502020204030204" charset="0"/>
              </a:rPr>
              <a:t>Y</a:t>
            </a:r>
            <a:r>
              <a:rPr lang="zh-CN" altLang="en-US" sz="2000" b="0">
                <a:latin typeface="宋体" panose="02010600030101010101" pitchFamily="2" charset="-122"/>
                <a:ea typeface="宋体" panose="02010600030101010101" pitchFamily="2" charset="-122"/>
                <a:cs typeface="宋体" panose="02010600030101010101" pitchFamily="2" charset="-122"/>
              </a:rPr>
              <a:t>。</a:t>
            </a:r>
          </a:p>
          <a:p>
            <a:pPr marL="0" indent="0"/>
            <a:r>
              <a:rPr lang="en-US" altLang="zh-CN" sz="2000" b="0">
                <a:latin typeface="宋体" panose="02010600030101010101" pitchFamily="2" charset="-122"/>
                <a:ea typeface="宋体" panose="02010600030101010101" pitchFamily="2" charset="-122"/>
                <a:cs typeface="宋体" panose="02010600030101010101" pitchFamily="2" charset="-122"/>
              </a:rPr>
              <a:t>④ </a:t>
            </a:r>
            <a:r>
              <a:rPr lang="zh-CN" altLang="en-US" sz="2000" b="0">
                <a:latin typeface="宋体" panose="02010600030101010101" pitchFamily="2" charset="-122"/>
                <a:ea typeface="宋体" panose="02010600030101010101" pitchFamily="2" charset="-122"/>
                <a:cs typeface="宋体" panose="02010600030101010101" pitchFamily="2" charset="-122"/>
              </a:rPr>
              <a:t>将</a:t>
            </a:r>
            <a:r>
              <a:rPr lang="en-US" altLang="zh-CN" sz="2000" b="0">
                <a:latin typeface="宋体" panose="02010600030101010101" pitchFamily="2" charset="-122"/>
                <a:ea typeface="宋体" panose="02010600030101010101" pitchFamily="2" charset="-122"/>
                <a:cs typeface="宋体" panose="02010600030101010101" pitchFamily="2" charset="-122"/>
              </a:rPr>
              <a:t>Y</a:t>
            </a:r>
            <a:r>
              <a:rPr lang="zh-CN" altLang="en-US" sz="2000" b="0">
                <a:latin typeface="宋体" panose="02010600030101010101" pitchFamily="2" charset="-122"/>
                <a:ea typeface="宋体" panose="02010600030101010101" pitchFamily="2" charset="-122"/>
                <a:cs typeface="宋体" panose="02010600030101010101" pitchFamily="2" charset="-122"/>
              </a:rPr>
              <a:t>中内容写回</a:t>
            </a:r>
            <a:r>
              <a:rPr lang="en-US" altLang="zh-CN" sz="2000" b="0">
                <a:latin typeface="Calibri" panose="020F0502020204030204" charset="0"/>
                <a:cs typeface="Calibri" panose="020F0502020204030204" charset="0"/>
              </a:rPr>
              <a:t>Rd</a:t>
            </a:r>
            <a:r>
              <a:rPr lang="zh-CN" altLang="en-US" sz="2000" b="0">
                <a:latin typeface="宋体" panose="02010600030101010101" pitchFamily="2" charset="-122"/>
                <a:ea typeface="宋体" panose="02010600030101010101" pitchFamily="2" charset="-122"/>
                <a:cs typeface="宋体" panose="02010600030101010101" pitchFamily="2" charset="-122"/>
              </a:rPr>
              <a:t>。</a:t>
            </a:r>
          </a:p>
          <a:p>
            <a:pPr marL="0" indent="0"/>
            <a:r>
              <a:rPr lang="en-US" altLang="zh-CN" sz="2000" b="0">
                <a:latin typeface="宋体" panose="02010600030101010101" pitchFamily="2" charset="-122"/>
                <a:ea typeface="宋体" panose="02010600030101010101" pitchFamily="2" charset="-122"/>
                <a:cs typeface="宋体" panose="02010600030101010101" pitchFamily="2" charset="-122"/>
              </a:rPr>
              <a:t>Addu</a:t>
            </a:r>
            <a:r>
              <a:rPr lang="zh-CN" altLang="en-US" sz="2000" b="0">
                <a:latin typeface="宋体" panose="02010600030101010101" pitchFamily="2" charset="-122"/>
                <a:ea typeface="宋体" panose="02010600030101010101" pitchFamily="2" charset="-122"/>
                <a:cs typeface="宋体" panose="02010600030101010101" pitchFamily="2" charset="-122"/>
              </a:rPr>
              <a:t>指令流程图结束。</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指令流程图</a:t>
            </a:r>
          </a:p>
        </p:txBody>
      </p:sp>
      <p:pic>
        <p:nvPicPr>
          <p:cNvPr id="46" name="图片 4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3445" y="1630045"/>
            <a:ext cx="1602105" cy="4418330"/>
          </a:xfrm>
          <a:prstGeom prst="rect">
            <a:avLst/>
          </a:prstGeom>
        </p:spPr>
      </p:pic>
      <p:pic>
        <p:nvPicPr>
          <p:cNvPr id="55" name="图片 5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8345" y="1630045"/>
            <a:ext cx="1588135" cy="4407535"/>
          </a:xfrm>
          <a:prstGeom prst="rect">
            <a:avLst/>
          </a:prstGeom>
        </p:spPr>
      </p:pic>
      <p:pic>
        <p:nvPicPr>
          <p:cNvPr id="50204" name="图片 5020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6555" y="1630045"/>
            <a:ext cx="2573655" cy="440753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指令流程图</a:t>
            </a:r>
          </a:p>
        </p:txBody>
      </p:sp>
      <p:pic>
        <p:nvPicPr>
          <p:cNvPr id="50209" name="图片 5020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6205" y="1564005"/>
            <a:ext cx="2619375" cy="4451985"/>
          </a:xfrm>
          <a:prstGeom prst="rect">
            <a:avLst/>
          </a:prstGeom>
        </p:spPr>
      </p:pic>
      <p:pic>
        <p:nvPicPr>
          <p:cNvPr id="50227" name="图片 5022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4250" y="1564640"/>
            <a:ext cx="2597150" cy="44513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指令流程图</a:t>
            </a:r>
          </a:p>
        </p:txBody>
      </p:sp>
      <p:pic>
        <p:nvPicPr>
          <p:cNvPr id="50229" name="图片 5022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0155" y="1466215"/>
            <a:ext cx="3041015" cy="4471670"/>
          </a:xfrm>
          <a:prstGeom prst="rect">
            <a:avLst/>
          </a:prstGeom>
        </p:spPr>
      </p:pic>
      <p:pic>
        <p:nvPicPr>
          <p:cNvPr id="50231" name="图片 5023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17110" y="1466215"/>
            <a:ext cx="3879850" cy="424370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编排指令操作时间表</a:t>
            </a:r>
          </a:p>
        </p:txBody>
      </p:sp>
      <p:sp>
        <p:nvSpPr>
          <p:cNvPr id="100" name="文本框 99"/>
          <p:cNvSpPr txBox="1"/>
          <p:nvPr/>
        </p:nvSpPr>
        <p:spPr>
          <a:xfrm>
            <a:off x="680085" y="1977390"/>
            <a:ext cx="2094230" cy="3169285"/>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b="0">
                <a:latin typeface="微软雅黑" panose="020B0503020204020204" pitchFamily="34" charset="-122"/>
                <a:ea typeface="微软雅黑" panose="020B0503020204020204" pitchFamily="34" charset="-122"/>
                <a:cs typeface="宋体" panose="02010600030101010101" pitchFamily="2" charset="-122"/>
              </a:rPr>
              <a:t>先将数据通路中的所有控制信号列出一张表，再依据每条指令的操作流程图，结合数据通路，将每条指令执行时所需的控制信号填入表中。</a:t>
            </a:r>
          </a:p>
        </p:txBody>
      </p:sp>
      <p:graphicFrame>
        <p:nvGraphicFramePr>
          <p:cNvPr id="4" name="表格 -1"/>
          <p:cNvGraphicFramePr/>
          <p:nvPr/>
        </p:nvGraphicFramePr>
        <p:xfrm>
          <a:off x="3768090" y="371475"/>
          <a:ext cx="4267835" cy="6339840"/>
        </p:xfrm>
        <a:graphic>
          <a:graphicData uri="http://schemas.openxmlformats.org/drawingml/2006/table">
            <a:tbl>
              <a:tblPr firstRow="1" bandRow="1">
                <a:tableStyleId>{5940675A-B579-460E-94D1-54222C63F5DA}</a:tableStyleId>
              </a:tblPr>
              <a:tblGrid>
                <a:gridCol w="1192530">
                  <a:extLst>
                    <a:ext uri="{9D8B030D-6E8A-4147-A177-3AD203B41FA5}">
                      <a16:colId xmlns:a16="http://schemas.microsoft.com/office/drawing/2014/main" val="20000"/>
                    </a:ext>
                  </a:extLst>
                </a:gridCol>
                <a:gridCol w="3075305">
                  <a:extLst>
                    <a:ext uri="{9D8B030D-6E8A-4147-A177-3AD203B41FA5}">
                      <a16:colId xmlns:a16="http://schemas.microsoft.com/office/drawing/2014/main" val="20001"/>
                    </a:ext>
                  </a:extLst>
                </a:gridCol>
              </a:tblGrid>
              <a:tr h="396875">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控制信号说明</a:t>
                      </a:r>
                    </a:p>
                  </a:txBody>
                  <a:tcPr marL="0" marR="0" marT="0" marB="1" anchor="ctr">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a:t>
                      </a:r>
                      <a:r>
                        <a:rPr lang="zh-CN" altLang="en-US" sz="1600" b="0">
                          <a:latin typeface="宋体" panose="02010600030101010101" pitchFamily="2" charset="-122"/>
                          <a:ea typeface="宋体" panose="02010600030101010101" pitchFamily="2" charset="-122"/>
                          <a:cs typeface="宋体" panose="02010600030101010101" pitchFamily="2" charset="-122"/>
                        </a:rPr>
                        <a:t>输出控制信号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91135">
                <a:tc>
                  <a:txBody>
                    <a:bodyPr/>
                    <a:lstStyle/>
                    <a:p>
                      <a:pPr indent="0">
                        <a:buNone/>
                      </a:pPr>
                      <a:r>
                        <a:rPr lang="en-US" altLang="zh-CN" sz="1600" b="0">
                          <a:latin typeface="Courier New" panose="02070309020205020404" charset="0"/>
                          <a:cs typeface="Courier New" panose="02070309020205020404" charset="0"/>
                        </a:rPr>
                        <a:t> M</a:t>
                      </a:r>
                      <a:r>
                        <a:rPr lang="en-US" altLang="zh-CN" sz="1600" b="0">
                          <a:latin typeface="宋体" panose="02010600030101010101" pitchFamily="2" charset="-122"/>
                          <a:ea typeface="宋体" panose="02010600030101010101" pitchFamily="2" charset="-122"/>
                          <a:cs typeface="宋体" panose="02010600030101010101" pitchFamily="2" charset="-122"/>
                        </a:rPr>
                        <a:t>2</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MUX2</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t>
                      </a:r>
                      <a:r>
                        <a:rPr lang="zh-CN" altLang="en-US" sz="1600" b="0">
                          <a:latin typeface="宋体" panose="02010600030101010101" pitchFamily="2" charset="-122"/>
                          <a:ea typeface="宋体" panose="02010600030101010101" pitchFamily="2" charset="-122"/>
                          <a:cs typeface="宋体" panose="02010600030101010101" pitchFamily="2" charset="-122"/>
                        </a:rPr>
                        <a:t>主存储器读信号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IRin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t>
                      </a:r>
                      <a:r>
                        <a:rPr lang="zh-CN" altLang="en-US" sz="1600" b="0">
                          <a:latin typeface="宋体" panose="02010600030101010101" pitchFamily="2" charset="-122"/>
                          <a:ea typeface="宋体" panose="02010600030101010101" pitchFamily="2" charset="-122"/>
                          <a:cs typeface="宋体" panose="02010600030101010101" pitchFamily="2" charset="-122"/>
                        </a:rPr>
                        <a:t>指令存储器打入信号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a:t>
                      </a:r>
                      <a:r>
                        <a:rPr lang="zh-CN" altLang="en-US" sz="1600" b="0">
                          <a:latin typeface="宋体" panose="02010600030101010101" pitchFamily="2" charset="-122"/>
                          <a:ea typeface="宋体" panose="02010600030101010101" pitchFamily="2" charset="-122"/>
                          <a:cs typeface="宋体" panose="02010600030101010101" pitchFamily="2" charset="-122"/>
                        </a:rPr>
                        <a:t>打入信号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a:t>
                      </a:r>
                      <a:r>
                        <a:rPr lang="zh-CN" altLang="en-US" sz="1600" b="0">
                          <a:latin typeface="宋体" panose="02010600030101010101" pitchFamily="2" charset="-122"/>
                          <a:ea typeface="宋体" panose="02010600030101010101" pitchFamily="2" charset="-122"/>
                          <a:cs typeface="宋体" panose="02010600030101010101" pitchFamily="2" charset="-122"/>
                        </a:rPr>
                        <a:t>寄存器选择输入控制端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a:t>
                      </a:r>
                      <a:r>
                        <a:rPr lang="zh-CN" altLang="en-US" sz="1600" b="0">
                          <a:latin typeface="宋体" panose="02010600030101010101" pitchFamily="2" charset="-122"/>
                          <a:ea typeface="宋体" panose="02010600030101010101" pitchFamily="2" charset="-122"/>
                          <a:cs typeface="宋体" panose="02010600030101010101" pitchFamily="2" charset="-122"/>
                        </a:rPr>
                        <a:t>寄存器选择输入控制端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876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a:t>
                      </a:r>
                      <a:r>
                        <a:rPr lang="zh-CN" altLang="en-US" sz="1600" b="0">
                          <a:latin typeface="宋体" panose="02010600030101010101" pitchFamily="2" charset="-122"/>
                          <a:ea typeface="宋体" panose="02010600030101010101" pitchFamily="2" charset="-122"/>
                          <a:cs typeface="宋体" panose="02010600030101010101" pitchFamily="2" charset="-122"/>
                        </a:rPr>
                        <a:t>读信号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a:t>
                      </a:r>
                      <a:r>
                        <a:rPr lang="zh-CN" altLang="en-US" sz="1600" b="0">
                          <a:latin typeface="宋体" panose="02010600030101010101" pitchFamily="2" charset="-122"/>
                          <a:ea typeface="宋体" panose="02010600030101010101" pitchFamily="2" charset="-122"/>
                          <a:cs typeface="宋体" panose="02010600030101010101" pitchFamily="2" charset="-122"/>
                        </a:rPr>
                        <a:t>读信号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M3_1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MUX3</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选择器控制信号</a:t>
                      </a:r>
                      <a:r>
                        <a:rPr lang="en-US" altLang="zh-CN" sz="1600" b="0">
                          <a:latin typeface="宋体" panose="02010600030101010101" pitchFamily="2" charset="-122"/>
                          <a:ea typeface="宋体" panose="02010600030101010101" pitchFamily="2" charset="-122"/>
                          <a:cs typeface="宋体" panose="02010600030101010101" pitchFamily="2" charset="-122"/>
                        </a:rPr>
                        <a:t>1</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M3_0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MUX3</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选择器控制信号</a:t>
                      </a:r>
                      <a:r>
                        <a:rPr lang="en-US" altLang="zh-CN" sz="1600" b="0">
                          <a:latin typeface="宋体" panose="02010600030101010101" pitchFamily="2" charset="-122"/>
                          <a:ea typeface="宋体" panose="02010600030101010101" pitchFamily="2" charset="-122"/>
                          <a:cs typeface="宋体" panose="02010600030101010101" pitchFamily="2" charset="-122"/>
                        </a:rPr>
                        <a:t>0</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MUX4</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选择器控制信号</a:t>
                      </a:r>
                      <a:r>
                        <a:rPr lang="en-US" altLang="zh-CN" sz="1600" b="0">
                          <a:latin typeface="宋体" panose="02010600030101010101" pitchFamily="2" charset="-122"/>
                          <a:ea typeface="宋体" panose="02010600030101010101" pitchFamily="2" charset="-122"/>
                          <a:cs typeface="宋体" panose="02010600030101010101" pitchFamily="2" charset="-122"/>
                        </a:rPr>
                        <a:t>1</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MUX4</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选择器控制信号</a:t>
                      </a:r>
                      <a:r>
                        <a:rPr lang="en-US" altLang="zh-CN" sz="1600" b="0">
                          <a:latin typeface="宋体" panose="02010600030101010101" pitchFamily="2" charset="-122"/>
                          <a:ea typeface="宋体" panose="02010600030101010101" pitchFamily="2" charset="-122"/>
                          <a:cs typeface="宋体" panose="02010600030101010101" pitchFamily="2" charset="-122"/>
                        </a:rPr>
                        <a:t>0</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a:t>
                      </a:r>
                      <a:r>
                        <a:rPr lang="zh-CN" altLang="en-US" sz="1600" b="0">
                          <a:latin typeface="宋体" panose="02010600030101010101" pitchFamily="2" charset="-122"/>
                          <a:ea typeface="宋体" panose="02010600030101010101" pitchFamily="2" charset="-122"/>
                          <a:cs typeface="宋体" panose="02010600030101010101" pitchFamily="2" charset="-122"/>
                        </a:rPr>
                        <a:t>控制端</a:t>
                      </a:r>
                      <a:r>
                        <a:rPr lang="en-US" altLang="zh-CN" sz="1600" b="0">
                          <a:latin typeface="宋体" panose="02010600030101010101" pitchFamily="2" charset="-122"/>
                          <a:ea typeface="宋体" panose="02010600030101010101" pitchFamily="2" charset="-122"/>
                          <a:cs typeface="宋体" panose="02010600030101010101" pitchFamily="2" charset="-122"/>
                        </a:rPr>
                        <a:t>2</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19113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a:t>
                      </a:r>
                      <a:r>
                        <a:rPr lang="zh-CN" altLang="en-US" sz="1600" b="0">
                          <a:latin typeface="宋体" panose="02010600030101010101" pitchFamily="2" charset="-122"/>
                          <a:ea typeface="宋体" panose="02010600030101010101" pitchFamily="2" charset="-122"/>
                          <a:cs typeface="宋体" panose="02010600030101010101" pitchFamily="2" charset="-122"/>
                        </a:rPr>
                        <a:t>控制端</a:t>
                      </a:r>
                      <a:r>
                        <a:rPr lang="en-US" altLang="zh-CN" sz="1600" b="0">
                          <a:latin typeface="宋体" panose="02010600030101010101" pitchFamily="2" charset="-122"/>
                          <a:ea typeface="宋体" panose="02010600030101010101" pitchFamily="2" charset="-122"/>
                          <a:cs typeface="宋体" panose="02010600030101010101" pitchFamily="2" charset="-122"/>
                        </a:rPr>
                        <a:t>1</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a:t>
                      </a:r>
                      <a:r>
                        <a:rPr lang="zh-CN" altLang="en-US" sz="1600" b="0">
                          <a:latin typeface="宋体" panose="02010600030101010101" pitchFamily="2" charset="-122"/>
                          <a:ea typeface="宋体" panose="02010600030101010101" pitchFamily="2" charset="-122"/>
                          <a:cs typeface="宋体" panose="02010600030101010101" pitchFamily="2" charset="-122"/>
                        </a:rPr>
                        <a:t>控制端</a:t>
                      </a:r>
                      <a:r>
                        <a:rPr lang="en-US" altLang="zh-CN" sz="1600" b="0">
                          <a:latin typeface="宋体" panose="02010600030101010101" pitchFamily="2" charset="-122"/>
                          <a:ea typeface="宋体" panose="02010600030101010101" pitchFamily="2" charset="-122"/>
                          <a:cs typeface="宋体" panose="02010600030101010101" pitchFamily="2" charset="-122"/>
                        </a:rPr>
                        <a:t>0</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Yin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Y</a:t>
                      </a:r>
                      <a:r>
                        <a:rPr lang="zh-CN" altLang="en-US" sz="1600" b="0">
                          <a:latin typeface="宋体" panose="02010600030101010101" pitchFamily="2" charset="-122"/>
                          <a:ea typeface="宋体" panose="02010600030101010101" pitchFamily="2" charset="-122"/>
                          <a:cs typeface="宋体" panose="02010600030101010101" pitchFamily="2" charset="-122"/>
                        </a:rPr>
                        <a:t>暂存器打入信号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Yout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Y</a:t>
                      </a:r>
                      <a:r>
                        <a:rPr lang="zh-CN" altLang="en-US" sz="1600" b="0">
                          <a:latin typeface="宋体" panose="02010600030101010101" pitchFamily="2" charset="-122"/>
                          <a:ea typeface="宋体" panose="02010600030101010101" pitchFamily="2" charset="-122"/>
                          <a:cs typeface="宋体" panose="02010600030101010101" pitchFamily="2" charset="-122"/>
                        </a:rPr>
                        <a:t>暂存器输出信号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Rdc4_0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a:t>
                      </a:r>
                      <a:r>
                        <a:rPr lang="zh-CN" altLang="en-US" sz="1600" b="0">
                          <a:latin typeface="宋体" panose="02010600030101010101" pitchFamily="2" charset="-122"/>
                          <a:ea typeface="宋体" panose="02010600030101010101" pitchFamily="2" charset="-122"/>
                          <a:cs typeface="宋体" panose="02010600030101010101" pitchFamily="2" charset="-122"/>
                        </a:rPr>
                        <a:t>寄存器选择输入控制端</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r h="19113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a:t>
                      </a:r>
                      <a:r>
                        <a:rPr lang="zh-CN" altLang="en-US" sz="1600" b="0">
                          <a:latin typeface="宋体" panose="02010600030101010101" pitchFamily="2" charset="-122"/>
                          <a:ea typeface="宋体" panose="02010600030101010101" pitchFamily="2" charset="-122"/>
                          <a:cs typeface="宋体" panose="02010600030101010101" pitchFamily="2" charset="-122"/>
                        </a:rPr>
                        <a:t>写信号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1"/>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t>
                      </a:r>
                      <a:r>
                        <a:rPr lang="zh-CN" altLang="en-US" sz="1600" b="0">
                          <a:latin typeface="宋体" panose="02010600030101010101" pitchFamily="2" charset="-122"/>
                          <a:ea typeface="宋体" panose="02010600030101010101" pitchFamily="2" charset="-122"/>
                          <a:cs typeface="宋体" panose="02010600030101010101" pitchFamily="2" charset="-122"/>
                        </a:rPr>
                        <a:t>主存储器写信号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2"/>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MUX1</a:t>
                      </a:r>
                      <a:r>
                        <a:rPr lang="zh-CN" altLang="en-US" sz="1600" b="0">
                          <a:latin typeface="宋体" panose="02010600030101010101" pitchFamily="2" charset="-122"/>
                          <a:ea typeface="宋体" panose="02010600030101010101" pitchFamily="2" charset="-122"/>
                          <a:cs typeface="宋体" panose="02010600030101010101" pitchFamily="2" charset="-122"/>
                        </a:rPr>
                        <a:t>选择器控制信号</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3"/>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S</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S=1</a:t>
                      </a:r>
                      <a:r>
                        <a:rPr lang="zh-CN" altLang="en-US" sz="1600" b="0">
                          <a:latin typeface="宋体" panose="02010600030101010101" pitchFamily="2" charset="-122"/>
                          <a:ea typeface="宋体" panose="02010600030101010101" pitchFamily="2" charset="-122"/>
                          <a:cs typeface="宋体" panose="02010600030101010101" pitchFamily="2" charset="-122"/>
                        </a:rPr>
                        <a:t>符号扩展，</a:t>
                      </a:r>
                      <a:r>
                        <a:rPr lang="en-US" altLang="zh-CN" sz="1600" b="0">
                          <a:latin typeface="宋体" panose="02010600030101010101" pitchFamily="2" charset="-122"/>
                          <a:ea typeface="宋体" panose="02010600030101010101" pitchFamily="2" charset="-122"/>
                          <a:cs typeface="宋体" panose="02010600030101010101" pitchFamily="2" charset="-122"/>
                        </a:rPr>
                        <a:t>S=0</a:t>
                      </a:r>
                      <a:r>
                        <a:rPr lang="zh-CN" altLang="en-US" sz="1600" b="0">
                          <a:latin typeface="宋体" panose="02010600030101010101" pitchFamily="2" charset="-122"/>
                          <a:ea typeface="宋体" panose="02010600030101010101" pitchFamily="2" charset="-122"/>
                          <a:cs typeface="宋体" panose="02010600030101010101" pitchFamily="2" charset="-122"/>
                        </a:rPr>
                        <a:t>高位扩展“</a:t>
                      </a:r>
                      <a:r>
                        <a:rPr lang="en-US" altLang="zh-CN" sz="1600" b="0">
                          <a:latin typeface="宋体" panose="02010600030101010101" pitchFamily="2" charset="-122"/>
                          <a:ea typeface="宋体" panose="02010600030101010101" pitchFamily="2" charset="-122"/>
                          <a:cs typeface="宋体" panose="02010600030101010101" pitchFamily="2" charset="-122"/>
                        </a:rPr>
                        <a:t>0”</a:t>
                      </a:r>
                      <a:endParaRPr lang="zh-CN" altLang="en-US" sz="1600" b="0">
                        <a:latin typeface="宋体" panose="02010600030101010101" pitchFamily="2" charset="-122"/>
                        <a:ea typeface="宋体" panose="02010600030101010101" pitchFamily="2" charset="-122"/>
                        <a:cs typeface="宋体" panose="02010600030101010101" pitchFamily="2" charset="-122"/>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4"/>
                  </a:ext>
                </a:extLst>
              </a:tr>
            </a:tbl>
          </a:graphicData>
        </a:graphic>
      </p:graphicFrame>
      <p:sp>
        <p:nvSpPr>
          <p:cNvPr id="3" name="文本框 2"/>
          <p:cNvSpPr txBox="1"/>
          <p:nvPr/>
        </p:nvSpPr>
        <p:spPr>
          <a:xfrm>
            <a:off x="3768090" y="46355"/>
            <a:ext cx="5080000" cy="337185"/>
          </a:xfrm>
          <a:prstGeom prst="rect">
            <a:avLst/>
          </a:prstGeom>
          <a:noFill/>
          <a:ln w="9525">
            <a:noFill/>
          </a:ln>
        </p:spPr>
        <p:txBody>
          <a:bodyPr>
            <a:spAutoFit/>
          </a:bodyPr>
          <a:lstStyle/>
          <a:p>
            <a:pPr marL="0" indent="0"/>
            <a:r>
              <a:rPr lang="en-US" altLang="zh-CN" sz="1600" b="1">
                <a:latin typeface="宋体" panose="02010600030101010101" pitchFamily="2" charset="-122"/>
                <a:ea typeface="宋体" panose="02010600030101010101" pitchFamily="2" charset="-122"/>
                <a:cs typeface="宋体" panose="02010600030101010101" pitchFamily="2" charset="-122"/>
              </a:rPr>
              <a:t>8</a:t>
            </a:r>
            <a:r>
              <a:rPr lang="zh-CN" altLang="en-US" sz="1600" b="1">
                <a:latin typeface="宋体" panose="02010600030101010101" pitchFamily="2" charset="-122"/>
                <a:ea typeface="宋体" panose="02010600030101010101" pitchFamily="2" charset="-122"/>
                <a:cs typeface="宋体" panose="02010600030101010101" pitchFamily="2" charset="-122"/>
              </a:rPr>
              <a:t>条指令控制信号表：</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a:t>    </a:t>
            </a:r>
            <a:r>
              <a:t>编排指令操作时间表</a:t>
            </a:r>
          </a:p>
        </p:txBody>
      </p:sp>
      <p:sp>
        <p:nvSpPr>
          <p:cNvPr id="100" name="文本框 99"/>
          <p:cNvSpPr txBox="1"/>
          <p:nvPr/>
        </p:nvSpPr>
        <p:spPr>
          <a:xfrm>
            <a:off x="549910" y="1652270"/>
            <a:ext cx="2797175" cy="1014730"/>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b="0">
                <a:latin typeface="微软雅黑" panose="020B0503020204020204" pitchFamily="34" charset="-122"/>
                <a:ea typeface="微软雅黑" panose="020B0503020204020204" pitchFamily="34" charset="-122"/>
                <a:cs typeface="宋体" panose="02010600030101010101" pitchFamily="2" charset="-122"/>
              </a:rPr>
              <a:t>ADDU指令执行所需控制信号</a:t>
            </a:r>
          </a:p>
          <a:p>
            <a:pPr marL="342900" indent="-342900">
              <a:buFont typeface="Wingdings" panose="05000000000000000000" charset="0"/>
              <a:buChar char=""/>
            </a:pPr>
            <a:r>
              <a:rPr lang="zh-CN" altLang="en-US" sz="2000" b="0">
                <a:latin typeface="微软雅黑" panose="020B0503020204020204" pitchFamily="34" charset="-122"/>
                <a:ea typeface="微软雅黑" panose="020B0503020204020204" pitchFamily="34" charset="-122"/>
                <a:cs typeface="宋体" panose="02010600030101010101" pitchFamily="2" charset="-122"/>
              </a:rPr>
              <a:t>ADDU Rd,Rs,Rt</a:t>
            </a:r>
          </a:p>
        </p:txBody>
      </p:sp>
      <p:pic>
        <p:nvPicPr>
          <p:cNvPr id="65" name="图片 6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2655" y="2786380"/>
            <a:ext cx="1879600" cy="3627755"/>
          </a:xfrm>
          <a:prstGeom prst="rect">
            <a:avLst/>
          </a:prstGeom>
        </p:spPr>
      </p:pic>
      <p:graphicFrame>
        <p:nvGraphicFramePr>
          <p:cNvPr id="5" name="表格 4"/>
          <p:cNvGraphicFramePr/>
          <p:nvPr/>
        </p:nvGraphicFramePr>
        <p:xfrm>
          <a:off x="4042410" y="191135"/>
          <a:ext cx="3256280" cy="6339840"/>
        </p:xfrm>
        <a:graphic>
          <a:graphicData uri="http://schemas.openxmlformats.org/drawingml/2006/table">
            <a:tbl>
              <a:tblPr firstRow="1" bandRow="1">
                <a:tableStyleId>{5940675A-B579-460E-94D1-54222C63F5DA}</a:tableStyleId>
              </a:tblPr>
              <a:tblGrid>
                <a:gridCol w="9398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27660">
                  <a:extLst>
                    <a:ext uri="{9D8B030D-6E8A-4147-A177-3AD203B41FA5}">
                      <a16:colId xmlns:a16="http://schemas.microsoft.com/office/drawing/2014/main" val="20002"/>
                    </a:ext>
                  </a:extLst>
                </a:gridCol>
                <a:gridCol w="814705">
                  <a:extLst>
                    <a:ext uri="{9D8B030D-6E8A-4147-A177-3AD203B41FA5}">
                      <a16:colId xmlns:a16="http://schemas.microsoft.com/office/drawing/2014/main" val="20003"/>
                    </a:ext>
                  </a:extLst>
                </a:gridCol>
                <a:gridCol w="793115">
                  <a:extLst>
                    <a:ext uri="{9D8B030D-6E8A-4147-A177-3AD203B41FA5}">
                      <a16:colId xmlns:a16="http://schemas.microsoft.com/office/drawing/2014/main" val="20004"/>
                    </a:ext>
                  </a:extLst>
                </a:gridCol>
              </a:tblGrid>
              <a:tr h="203200">
                <a:tc rowSpan="2">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21590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buNone/>
                      </a:pPr>
                      <a:r>
                        <a:rPr lang="en-US" altLang="zh-CN" sz="1600" b="0">
                          <a:latin typeface="Courier New" panose="02070309020205020404" charset="0"/>
                          <a:cs typeface="Courier New" panose="02070309020205020404" charset="0"/>
                        </a:rPr>
                        <a:t> M</a:t>
                      </a:r>
                      <a:r>
                        <a:rPr lang="en-US" altLang="zh-CN" sz="1600" b="0">
                          <a:latin typeface="宋体" panose="02010600030101010101" pitchFamily="2" charset="-122"/>
                          <a:ea typeface="宋体" panose="02010600030101010101" pitchFamily="2" charset="-122"/>
                          <a:cs typeface="宋体" panose="02010600030101010101" pitchFamily="2" charset="-122"/>
                        </a:rPr>
                        <a:t>2</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IRin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PCin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IR21_16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905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Rs_R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Rt_R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M3_1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M3_0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5"/>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6"/>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ALUC0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7"/>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Yin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8"/>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Yout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9"/>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0"/>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Rdc4_0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1"/>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Rd_W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2"/>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3"/>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4"/>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 S</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2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endParaRPr lang="zh-CN" altLang="en-US"/>
          </a:p>
        </p:txBody>
      </p:sp>
      <p:pic>
        <p:nvPicPr>
          <p:cNvPr id="66" name="图片 6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7135" y="1174750"/>
            <a:ext cx="6538595" cy="766445"/>
          </a:xfrm>
          <a:prstGeom prst="rect">
            <a:avLst/>
          </a:prstGeom>
        </p:spPr>
      </p:pic>
      <p:pic>
        <p:nvPicPr>
          <p:cNvPr id="104" name="图片 10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7390" y="2127885"/>
            <a:ext cx="7884160" cy="40843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a:r>
              <a:rPr lang="en-US" altLang="zh-CN"/>
              <a:t>    </a:t>
            </a:r>
            <a:r>
              <a:rPr lang="zh-CN" altLang="en-US"/>
              <a:t>8条指令控制信号表</a:t>
            </a:r>
          </a:p>
        </p:txBody>
      </p:sp>
      <p:graphicFrame>
        <p:nvGraphicFramePr>
          <p:cNvPr id="2" name="表格 1"/>
          <p:cNvGraphicFramePr/>
          <p:nvPr/>
        </p:nvGraphicFramePr>
        <p:xfrm>
          <a:off x="78740" y="1183640"/>
          <a:ext cx="8986520" cy="5031740"/>
        </p:xfrm>
        <a:graphic>
          <a:graphicData uri="http://schemas.openxmlformats.org/drawingml/2006/table">
            <a:tbl>
              <a:tblPr firstRow="1" bandRow="1">
                <a:tableStyleId>{5940675A-B579-460E-94D1-54222C63F5DA}</a:tableStyleId>
              </a:tblPr>
              <a:tblGrid>
                <a:gridCol w="610235">
                  <a:extLst>
                    <a:ext uri="{9D8B030D-6E8A-4147-A177-3AD203B41FA5}">
                      <a16:colId xmlns:a16="http://schemas.microsoft.com/office/drawing/2014/main" val="20000"/>
                    </a:ext>
                  </a:extLst>
                </a:gridCol>
                <a:gridCol w="269875">
                  <a:extLst>
                    <a:ext uri="{9D8B030D-6E8A-4147-A177-3AD203B41FA5}">
                      <a16:colId xmlns:a16="http://schemas.microsoft.com/office/drawing/2014/main" val="20001"/>
                    </a:ext>
                  </a:extLst>
                </a:gridCol>
                <a:gridCol w="270510">
                  <a:extLst>
                    <a:ext uri="{9D8B030D-6E8A-4147-A177-3AD203B41FA5}">
                      <a16:colId xmlns:a16="http://schemas.microsoft.com/office/drawing/2014/main" val="20002"/>
                    </a:ext>
                  </a:extLst>
                </a:gridCol>
                <a:gridCol w="540385">
                  <a:extLst>
                    <a:ext uri="{9D8B030D-6E8A-4147-A177-3AD203B41FA5}">
                      <a16:colId xmlns:a16="http://schemas.microsoft.com/office/drawing/2014/main" val="20003"/>
                    </a:ext>
                  </a:extLst>
                </a:gridCol>
                <a:gridCol w="540385">
                  <a:extLst>
                    <a:ext uri="{9D8B030D-6E8A-4147-A177-3AD203B41FA5}">
                      <a16:colId xmlns:a16="http://schemas.microsoft.com/office/drawing/2014/main" val="20004"/>
                    </a:ext>
                  </a:extLst>
                </a:gridCol>
                <a:gridCol w="540385">
                  <a:extLst>
                    <a:ext uri="{9D8B030D-6E8A-4147-A177-3AD203B41FA5}">
                      <a16:colId xmlns:a16="http://schemas.microsoft.com/office/drawing/2014/main" val="20005"/>
                    </a:ext>
                  </a:extLst>
                </a:gridCol>
                <a:gridCol w="539750">
                  <a:extLst>
                    <a:ext uri="{9D8B030D-6E8A-4147-A177-3AD203B41FA5}">
                      <a16:colId xmlns:a16="http://schemas.microsoft.com/office/drawing/2014/main" val="20006"/>
                    </a:ext>
                  </a:extLst>
                </a:gridCol>
                <a:gridCol w="540385">
                  <a:extLst>
                    <a:ext uri="{9D8B030D-6E8A-4147-A177-3AD203B41FA5}">
                      <a16:colId xmlns:a16="http://schemas.microsoft.com/office/drawing/2014/main" val="20007"/>
                    </a:ext>
                  </a:extLst>
                </a:gridCol>
                <a:gridCol w="539750">
                  <a:extLst>
                    <a:ext uri="{9D8B030D-6E8A-4147-A177-3AD203B41FA5}">
                      <a16:colId xmlns:a16="http://schemas.microsoft.com/office/drawing/2014/main" val="20008"/>
                    </a:ext>
                  </a:extLst>
                </a:gridCol>
                <a:gridCol w="540385">
                  <a:extLst>
                    <a:ext uri="{9D8B030D-6E8A-4147-A177-3AD203B41FA5}">
                      <a16:colId xmlns:a16="http://schemas.microsoft.com/office/drawing/2014/main" val="20009"/>
                    </a:ext>
                  </a:extLst>
                </a:gridCol>
                <a:gridCol w="542290">
                  <a:extLst>
                    <a:ext uri="{9D8B030D-6E8A-4147-A177-3AD203B41FA5}">
                      <a16:colId xmlns:a16="http://schemas.microsoft.com/office/drawing/2014/main" val="20010"/>
                    </a:ext>
                  </a:extLst>
                </a:gridCol>
                <a:gridCol w="537845">
                  <a:extLst>
                    <a:ext uri="{9D8B030D-6E8A-4147-A177-3AD203B41FA5}">
                      <a16:colId xmlns:a16="http://schemas.microsoft.com/office/drawing/2014/main" val="20011"/>
                    </a:ext>
                  </a:extLst>
                </a:gridCol>
                <a:gridCol w="272415">
                  <a:extLst>
                    <a:ext uri="{9D8B030D-6E8A-4147-A177-3AD203B41FA5}">
                      <a16:colId xmlns:a16="http://schemas.microsoft.com/office/drawing/2014/main" val="20012"/>
                    </a:ext>
                  </a:extLst>
                </a:gridCol>
                <a:gridCol w="271145">
                  <a:extLst>
                    <a:ext uri="{9D8B030D-6E8A-4147-A177-3AD203B41FA5}">
                      <a16:colId xmlns:a16="http://schemas.microsoft.com/office/drawing/2014/main" val="20013"/>
                    </a:ext>
                  </a:extLst>
                </a:gridCol>
                <a:gridCol w="269240">
                  <a:extLst>
                    <a:ext uri="{9D8B030D-6E8A-4147-A177-3AD203B41FA5}">
                      <a16:colId xmlns:a16="http://schemas.microsoft.com/office/drawing/2014/main" val="20014"/>
                    </a:ext>
                  </a:extLst>
                </a:gridCol>
                <a:gridCol w="540385">
                  <a:extLst>
                    <a:ext uri="{9D8B030D-6E8A-4147-A177-3AD203B41FA5}">
                      <a16:colId xmlns:a16="http://schemas.microsoft.com/office/drawing/2014/main" val="20015"/>
                    </a:ext>
                  </a:extLst>
                </a:gridCol>
                <a:gridCol w="540385">
                  <a:extLst>
                    <a:ext uri="{9D8B030D-6E8A-4147-A177-3AD203B41FA5}">
                      <a16:colId xmlns:a16="http://schemas.microsoft.com/office/drawing/2014/main" val="20016"/>
                    </a:ext>
                  </a:extLst>
                </a:gridCol>
                <a:gridCol w="540385">
                  <a:extLst>
                    <a:ext uri="{9D8B030D-6E8A-4147-A177-3AD203B41FA5}">
                      <a16:colId xmlns:a16="http://schemas.microsoft.com/office/drawing/2014/main" val="20017"/>
                    </a:ext>
                  </a:extLst>
                </a:gridCol>
                <a:gridCol w="540385">
                  <a:extLst>
                    <a:ext uri="{9D8B030D-6E8A-4147-A177-3AD203B41FA5}">
                      <a16:colId xmlns:a16="http://schemas.microsoft.com/office/drawing/2014/main" val="20018"/>
                    </a:ext>
                  </a:extLst>
                </a:gridCol>
              </a:tblGrid>
              <a:tr h="433705">
                <a:tc rowSpan="2">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SUBU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ORI</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SLL</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3">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Z=1</a:t>
                      </a:r>
                      <a:r>
                        <a:rPr lang="zh-CN" altLang="en-US" sz="1600" b="0">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LW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514985">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T5</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17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PCout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3050">
                <a:tc>
                  <a:txBody>
                    <a:bodyPr/>
                    <a:lstStyle/>
                    <a:p>
                      <a:pPr indent="0">
                        <a:buNone/>
                      </a:pPr>
                      <a:r>
                        <a:rPr lang="en-US" altLang="zh-CN" sz="1600" b="0">
                          <a:latin typeface="Courier New" panose="02070309020205020404" charset="0"/>
                          <a:cs typeface="Courier New" panose="02070309020205020404" charset="0"/>
                        </a:rPr>
                        <a:t>M</a:t>
                      </a:r>
                      <a:r>
                        <a:rPr lang="en-US" altLang="zh-CN" sz="1600" b="0">
                          <a:latin typeface="宋体" panose="02010600030101010101" pitchFamily="2" charset="-122"/>
                          <a:ea typeface="宋体" panose="02010600030101010101" pitchFamily="2" charset="-122"/>
                          <a:cs typeface="宋体" panose="02010600030101010101" pitchFamily="2" charset="-122"/>
                        </a:rPr>
                        <a:t>2</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17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17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IRin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241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PCin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4483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Rsc4-0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4356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Rtc4-0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Rs_R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17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Rt_R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7241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M3_1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717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M3_0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7305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7178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algn="l"/>
            <a:r>
              <a:rPr lang="en-US" altLang="zh-CN"/>
              <a:t>    </a:t>
            </a:r>
            <a:r>
              <a:rPr lang="zh-CN" altLang="en-US"/>
              <a:t>8条指令控制信号表</a:t>
            </a:r>
          </a:p>
        </p:txBody>
      </p:sp>
      <p:graphicFrame>
        <p:nvGraphicFramePr>
          <p:cNvPr id="5" name="表格 4"/>
          <p:cNvGraphicFramePr/>
          <p:nvPr/>
        </p:nvGraphicFramePr>
        <p:xfrm>
          <a:off x="83185" y="1708785"/>
          <a:ext cx="8977630" cy="3922395"/>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20000"/>
                    </a:ext>
                  </a:extLst>
                </a:gridCol>
                <a:gridCol w="269875">
                  <a:extLst>
                    <a:ext uri="{9D8B030D-6E8A-4147-A177-3AD203B41FA5}">
                      <a16:colId xmlns:a16="http://schemas.microsoft.com/office/drawing/2014/main" val="20001"/>
                    </a:ext>
                  </a:extLst>
                </a:gridCol>
                <a:gridCol w="269875">
                  <a:extLst>
                    <a:ext uri="{9D8B030D-6E8A-4147-A177-3AD203B41FA5}">
                      <a16:colId xmlns:a16="http://schemas.microsoft.com/office/drawing/2014/main" val="20002"/>
                    </a:ext>
                  </a:extLst>
                </a:gridCol>
                <a:gridCol w="539750">
                  <a:extLst>
                    <a:ext uri="{9D8B030D-6E8A-4147-A177-3AD203B41FA5}">
                      <a16:colId xmlns:a16="http://schemas.microsoft.com/office/drawing/2014/main" val="20003"/>
                    </a:ext>
                  </a:extLst>
                </a:gridCol>
                <a:gridCol w="539750">
                  <a:extLst>
                    <a:ext uri="{9D8B030D-6E8A-4147-A177-3AD203B41FA5}">
                      <a16:colId xmlns:a16="http://schemas.microsoft.com/office/drawing/2014/main" val="20004"/>
                    </a:ext>
                  </a:extLst>
                </a:gridCol>
                <a:gridCol w="539750">
                  <a:extLst>
                    <a:ext uri="{9D8B030D-6E8A-4147-A177-3AD203B41FA5}">
                      <a16:colId xmlns:a16="http://schemas.microsoft.com/office/drawing/2014/main" val="20005"/>
                    </a:ext>
                  </a:extLst>
                </a:gridCol>
                <a:gridCol w="539750">
                  <a:extLst>
                    <a:ext uri="{9D8B030D-6E8A-4147-A177-3AD203B41FA5}">
                      <a16:colId xmlns:a16="http://schemas.microsoft.com/office/drawing/2014/main" val="20006"/>
                    </a:ext>
                  </a:extLst>
                </a:gridCol>
                <a:gridCol w="539750">
                  <a:extLst>
                    <a:ext uri="{9D8B030D-6E8A-4147-A177-3AD203B41FA5}">
                      <a16:colId xmlns:a16="http://schemas.microsoft.com/office/drawing/2014/main" val="20007"/>
                    </a:ext>
                  </a:extLst>
                </a:gridCol>
                <a:gridCol w="539750">
                  <a:extLst>
                    <a:ext uri="{9D8B030D-6E8A-4147-A177-3AD203B41FA5}">
                      <a16:colId xmlns:a16="http://schemas.microsoft.com/office/drawing/2014/main" val="20008"/>
                    </a:ext>
                  </a:extLst>
                </a:gridCol>
                <a:gridCol w="539750">
                  <a:extLst>
                    <a:ext uri="{9D8B030D-6E8A-4147-A177-3AD203B41FA5}">
                      <a16:colId xmlns:a16="http://schemas.microsoft.com/office/drawing/2014/main" val="20009"/>
                    </a:ext>
                  </a:extLst>
                </a:gridCol>
                <a:gridCol w="541338">
                  <a:extLst>
                    <a:ext uri="{9D8B030D-6E8A-4147-A177-3AD203B41FA5}">
                      <a16:colId xmlns:a16="http://schemas.microsoft.com/office/drawing/2014/main" val="20010"/>
                    </a:ext>
                  </a:extLst>
                </a:gridCol>
                <a:gridCol w="536575">
                  <a:extLst>
                    <a:ext uri="{9D8B030D-6E8A-4147-A177-3AD203B41FA5}">
                      <a16:colId xmlns:a16="http://schemas.microsoft.com/office/drawing/2014/main" val="20011"/>
                    </a:ext>
                  </a:extLst>
                </a:gridCol>
                <a:gridCol w="273050">
                  <a:extLst>
                    <a:ext uri="{9D8B030D-6E8A-4147-A177-3AD203B41FA5}">
                      <a16:colId xmlns:a16="http://schemas.microsoft.com/office/drawing/2014/main" val="20012"/>
                    </a:ext>
                  </a:extLst>
                </a:gridCol>
                <a:gridCol w="269875">
                  <a:extLst>
                    <a:ext uri="{9D8B030D-6E8A-4147-A177-3AD203B41FA5}">
                      <a16:colId xmlns:a16="http://schemas.microsoft.com/office/drawing/2014/main" val="20013"/>
                    </a:ext>
                  </a:extLst>
                </a:gridCol>
                <a:gridCol w="269875">
                  <a:extLst>
                    <a:ext uri="{9D8B030D-6E8A-4147-A177-3AD203B41FA5}">
                      <a16:colId xmlns:a16="http://schemas.microsoft.com/office/drawing/2014/main" val="20014"/>
                    </a:ext>
                  </a:extLst>
                </a:gridCol>
                <a:gridCol w="539750">
                  <a:extLst>
                    <a:ext uri="{9D8B030D-6E8A-4147-A177-3AD203B41FA5}">
                      <a16:colId xmlns:a16="http://schemas.microsoft.com/office/drawing/2014/main" val="20015"/>
                    </a:ext>
                  </a:extLst>
                </a:gridCol>
                <a:gridCol w="539750">
                  <a:extLst>
                    <a:ext uri="{9D8B030D-6E8A-4147-A177-3AD203B41FA5}">
                      <a16:colId xmlns:a16="http://schemas.microsoft.com/office/drawing/2014/main" val="20016"/>
                    </a:ext>
                  </a:extLst>
                </a:gridCol>
                <a:gridCol w="539750">
                  <a:extLst>
                    <a:ext uri="{9D8B030D-6E8A-4147-A177-3AD203B41FA5}">
                      <a16:colId xmlns:a16="http://schemas.microsoft.com/office/drawing/2014/main" val="20017"/>
                    </a:ext>
                  </a:extLst>
                </a:gridCol>
                <a:gridCol w="539750">
                  <a:extLst>
                    <a:ext uri="{9D8B030D-6E8A-4147-A177-3AD203B41FA5}">
                      <a16:colId xmlns:a16="http://schemas.microsoft.com/office/drawing/2014/main" val="20018"/>
                    </a:ext>
                  </a:extLst>
                </a:gridCol>
              </a:tblGrid>
              <a:tr h="514985">
                <a:tc rowSpan="2">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p>
                      <a:pPr indent="0" algn="ctr">
                        <a:buNone/>
                      </a:pPr>
                      <a:r>
                        <a:rPr lang="en-US" altLang="zh-CN" sz="1600" b="0">
                          <a:latin typeface="Courier New" panose="02070309020205020404" charset="0"/>
                        </a:rPr>
                        <a:t> </a:t>
                      </a:r>
                      <a:endParaRPr lang="en-US" altLang="zh-CN" sz="1600" b="0">
                        <a:latin typeface="Courier New" panose="02070309020205020404" charset="0"/>
                        <a:cs typeface="Courier New" panose="02070309020205020404" charset="0"/>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SUBU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ORI</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SLL</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3">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Z=1</a:t>
                      </a:r>
                      <a:r>
                        <a:rPr lang="zh-CN" altLang="en-US" sz="1600" b="0">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LW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481330">
                <a:tc vMerge="1">
                  <a:txBody>
                    <a:bodyPr/>
                    <a:lstStyle/>
                    <a:p>
                      <a:endParaRPr lang="zh-CN"/>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T5</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ALUC2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ALUC1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ALUC0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Tin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Tout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Rdc4_0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Rd_W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S</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bl>
          </a:graphicData>
        </a:graphic>
      </p:graphicFrame>
      <p:sp>
        <p:nvSpPr>
          <p:cNvPr id="7" name="文本框 6"/>
          <p:cNvSpPr txBox="1"/>
          <p:nvPr/>
        </p:nvSpPr>
        <p:spPr>
          <a:xfrm>
            <a:off x="3782060" y="1232535"/>
            <a:ext cx="914400" cy="292100"/>
          </a:xfrm>
          <a:prstGeom prst="rect">
            <a:avLst/>
          </a:prstGeom>
          <a:noFill/>
        </p:spPr>
        <p:txBody>
          <a:bodyPr wrap="none" rtlCol="0">
            <a:noAutofit/>
          </a:bodyPr>
          <a:lstStyle/>
          <a:p>
            <a:pPr algn="l"/>
            <a:r>
              <a:rPr lang="zh-CN" altLang="zh-CN"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a:t>
            </a:r>
            <a:r>
              <a:rPr lang="zh-CN" altLang="zh-CN" sz="1800" dirty="0">
                <a:latin typeface="微软雅黑" panose="020B0503020204020204" pitchFamily="34" charset="-122"/>
                <a:ea typeface="微软雅黑" panose="020B0503020204020204" pitchFamily="34" charset="-122"/>
              </a:rPr>
              <a:t>接上页）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93065" y="726440"/>
            <a:ext cx="8229600" cy="900430"/>
          </a:xfrm>
        </p:spPr>
        <p:txBody>
          <a:bodyPr/>
          <a:lstStyle/>
          <a:p>
            <a:pPr marL="342900" indent="-342900" algn="l">
              <a:buFont typeface="Wingdings" panose="05000000000000000000" charset="0"/>
              <a:buChar char=""/>
            </a:pPr>
            <a:r>
              <a:rPr sz="2000"/>
              <a:t>Rdc的输入有两个来源，IR15-11和IR20-16，</a:t>
            </a:r>
            <a:br>
              <a:rPr sz="2000"/>
            </a:br>
            <a:r>
              <a:rPr sz="2000"/>
              <a:t>所以，在Rdc的输入端要加一个MUX6</a:t>
            </a:r>
          </a:p>
        </p:txBody>
      </p:sp>
      <p:pic>
        <p:nvPicPr>
          <p:cNvPr id="105" name="图片 10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 y="1627505"/>
            <a:ext cx="9082405" cy="473646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rPr lang="en-US" altLang="zh-CN" sz="2000"/>
              <a:t>    </a:t>
            </a:r>
            <a:r>
              <a:rPr sz="2000"/>
              <a:t>加入MUX6的8条指令控制信号表</a:t>
            </a:r>
          </a:p>
        </p:txBody>
      </p:sp>
      <p:graphicFrame>
        <p:nvGraphicFramePr>
          <p:cNvPr id="2" name="表格 1"/>
          <p:cNvGraphicFramePr/>
          <p:nvPr/>
        </p:nvGraphicFramePr>
        <p:xfrm>
          <a:off x="118110" y="1475740"/>
          <a:ext cx="8855075" cy="4645660"/>
        </p:xfrm>
        <a:graphic>
          <a:graphicData uri="http://schemas.openxmlformats.org/drawingml/2006/table">
            <a:tbl>
              <a:tblPr firstRow="1" bandRow="1">
                <a:tableStyleId>{5940675A-B579-460E-94D1-54222C63F5DA}</a:tableStyleId>
              </a:tblPr>
              <a:tblGrid>
                <a:gridCol w="650875">
                  <a:extLst>
                    <a:ext uri="{9D8B030D-6E8A-4147-A177-3AD203B41FA5}">
                      <a16:colId xmlns:a16="http://schemas.microsoft.com/office/drawing/2014/main" val="20000"/>
                    </a:ext>
                  </a:extLst>
                </a:gridCol>
                <a:gridCol w="264795">
                  <a:extLst>
                    <a:ext uri="{9D8B030D-6E8A-4147-A177-3AD203B41FA5}">
                      <a16:colId xmlns:a16="http://schemas.microsoft.com/office/drawing/2014/main" val="20001"/>
                    </a:ext>
                  </a:extLst>
                </a:gridCol>
                <a:gridCol w="264160">
                  <a:extLst>
                    <a:ext uri="{9D8B030D-6E8A-4147-A177-3AD203B41FA5}">
                      <a16:colId xmlns:a16="http://schemas.microsoft.com/office/drawing/2014/main" val="20002"/>
                    </a:ext>
                  </a:extLst>
                </a:gridCol>
                <a:gridCol w="528955">
                  <a:extLst>
                    <a:ext uri="{9D8B030D-6E8A-4147-A177-3AD203B41FA5}">
                      <a16:colId xmlns:a16="http://schemas.microsoft.com/office/drawing/2014/main" val="20003"/>
                    </a:ext>
                  </a:extLst>
                </a:gridCol>
                <a:gridCol w="530225">
                  <a:extLst>
                    <a:ext uri="{9D8B030D-6E8A-4147-A177-3AD203B41FA5}">
                      <a16:colId xmlns:a16="http://schemas.microsoft.com/office/drawing/2014/main" val="20004"/>
                    </a:ext>
                  </a:extLst>
                </a:gridCol>
                <a:gridCol w="528955">
                  <a:extLst>
                    <a:ext uri="{9D8B030D-6E8A-4147-A177-3AD203B41FA5}">
                      <a16:colId xmlns:a16="http://schemas.microsoft.com/office/drawing/2014/main" val="20005"/>
                    </a:ext>
                  </a:extLst>
                </a:gridCol>
                <a:gridCol w="528955">
                  <a:extLst>
                    <a:ext uri="{9D8B030D-6E8A-4147-A177-3AD203B41FA5}">
                      <a16:colId xmlns:a16="http://schemas.microsoft.com/office/drawing/2014/main" val="20006"/>
                    </a:ext>
                  </a:extLst>
                </a:gridCol>
                <a:gridCol w="528955">
                  <a:extLst>
                    <a:ext uri="{9D8B030D-6E8A-4147-A177-3AD203B41FA5}">
                      <a16:colId xmlns:a16="http://schemas.microsoft.com/office/drawing/2014/main" val="20007"/>
                    </a:ext>
                  </a:extLst>
                </a:gridCol>
                <a:gridCol w="528955">
                  <a:extLst>
                    <a:ext uri="{9D8B030D-6E8A-4147-A177-3AD203B41FA5}">
                      <a16:colId xmlns:a16="http://schemas.microsoft.com/office/drawing/2014/main" val="20008"/>
                    </a:ext>
                  </a:extLst>
                </a:gridCol>
                <a:gridCol w="529590">
                  <a:extLst>
                    <a:ext uri="{9D8B030D-6E8A-4147-A177-3AD203B41FA5}">
                      <a16:colId xmlns:a16="http://schemas.microsoft.com/office/drawing/2014/main" val="20009"/>
                    </a:ext>
                  </a:extLst>
                </a:gridCol>
                <a:gridCol w="530860">
                  <a:extLst>
                    <a:ext uri="{9D8B030D-6E8A-4147-A177-3AD203B41FA5}">
                      <a16:colId xmlns:a16="http://schemas.microsoft.com/office/drawing/2014/main" val="20010"/>
                    </a:ext>
                  </a:extLst>
                </a:gridCol>
                <a:gridCol w="526415">
                  <a:extLst>
                    <a:ext uri="{9D8B030D-6E8A-4147-A177-3AD203B41FA5}">
                      <a16:colId xmlns:a16="http://schemas.microsoft.com/office/drawing/2014/main" val="20011"/>
                    </a:ext>
                  </a:extLst>
                </a:gridCol>
                <a:gridCol w="267335">
                  <a:extLst>
                    <a:ext uri="{9D8B030D-6E8A-4147-A177-3AD203B41FA5}">
                      <a16:colId xmlns:a16="http://schemas.microsoft.com/office/drawing/2014/main" val="20012"/>
                    </a:ext>
                  </a:extLst>
                </a:gridCol>
                <a:gridCol w="264795">
                  <a:extLst>
                    <a:ext uri="{9D8B030D-6E8A-4147-A177-3AD203B41FA5}">
                      <a16:colId xmlns:a16="http://schemas.microsoft.com/office/drawing/2014/main" val="20013"/>
                    </a:ext>
                  </a:extLst>
                </a:gridCol>
                <a:gridCol w="264160">
                  <a:extLst>
                    <a:ext uri="{9D8B030D-6E8A-4147-A177-3AD203B41FA5}">
                      <a16:colId xmlns:a16="http://schemas.microsoft.com/office/drawing/2014/main" val="20014"/>
                    </a:ext>
                  </a:extLst>
                </a:gridCol>
                <a:gridCol w="528955">
                  <a:extLst>
                    <a:ext uri="{9D8B030D-6E8A-4147-A177-3AD203B41FA5}">
                      <a16:colId xmlns:a16="http://schemas.microsoft.com/office/drawing/2014/main" val="20015"/>
                    </a:ext>
                  </a:extLst>
                </a:gridCol>
                <a:gridCol w="530225">
                  <a:extLst>
                    <a:ext uri="{9D8B030D-6E8A-4147-A177-3AD203B41FA5}">
                      <a16:colId xmlns:a16="http://schemas.microsoft.com/office/drawing/2014/main" val="20016"/>
                    </a:ext>
                  </a:extLst>
                </a:gridCol>
                <a:gridCol w="528955">
                  <a:extLst>
                    <a:ext uri="{9D8B030D-6E8A-4147-A177-3AD203B41FA5}">
                      <a16:colId xmlns:a16="http://schemas.microsoft.com/office/drawing/2014/main" val="20017"/>
                    </a:ext>
                  </a:extLst>
                </a:gridCol>
                <a:gridCol w="528955">
                  <a:extLst>
                    <a:ext uri="{9D8B030D-6E8A-4147-A177-3AD203B41FA5}">
                      <a16:colId xmlns:a16="http://schemas.microsoft.com/office/drawing/2014/main" val="20018"/>
                    </a:ext>
                  </a:extLst>
                </a:gridCol>
              </a:tblGrid>
              <a:tr h="405130">
                <a:tc rowSpan="2">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endParaRPr lang="en-US" altLang="zh-CN" sz="1600" b="0">
                        <a:latin typeface="宋体" panose="02010600030101010101" pitchFamily="2" charset="-122"/>
                        <a:ea typeface="宋体" panose="02010600030101010101" pitchFamily="2" charset="-122"/>
                        <a:cs typeface="宋体" panose="02010600030101010101" pitchFamily="2" charset="-122"/>
                      </a:endParaRP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SUBU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ORI</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SLL</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3">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Z=1</a:t>
                      </a:r>
                      <a:r>
                        <a:rPr lang="zh-CN" altLang="en-US" sz="1600" b="0">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LW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429260">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T5</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463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PCout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4000">
                <a:tc>
                  <a:txBody>
                    <a:bodyPr/>
                    <a:lstStyle/>
                    <a:p>
                      <a:pPr indent="0">
                        <a:buNone/>
                      </a:pPr>
                      <a:r>
                        <a:rPr lang="en-US" altLang="zh-CN" sz="1600" b="0">
                          <a:latin typeface="Courier New" panose="02070309020205020404" charset="0"/>
                          <a:cs typeface="Courier New" panose="02070309020205020404" charset="0"/>
                        </a:rPr>
                        <a:t>M</a:t>
                      </a:r>
                      <a:r>
                        <a:rPr lang="en-US" altLang="zh-CN" sz="1600" b="0">
                          <a:latin typeface="宋体" panose="02010600030101010101" pitchFamily="2" charset="-122"/>
                          <a:ea typeface="宋体" panose="02010600030101010101" pitchFamily="2" charset="-122"/>
                          <a:cs typeface="宋体" panose="02010600030101010101" pitchFamily="2" charset="-122"/>
                        </a:rPr>
                        <a:t>2</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IRin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PCin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08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Rsc4-0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IR25_21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08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Rtc4-0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Rs_R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5463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Rt_R</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M3_1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M3_0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M4_1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5400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rPr lang="en-US" altLang="zh-CN" sz="2000"/>
              <a:t>    </a:t>
            </a:r>
            <a:r>
              <a:rPr sz="2000"/>
              <a:t>加入MUX6的8条指令控制信号表</a:t>
            </a:r>
          </a:p>
        </p:txBody>
      </p:sp>
      <p:graphicFrame>
        <p:nvGraphicFramePr>
          <p:cNvPr id="2" name="表格 -1"/>
          <p:cNvGraphicFramePr/>
          <p:nvPr/>
        </p:nvGraphicFramePr>
        <p:xfrm>
          <a:off x="181610" y="1735455"/>
          <a:ext cx="8780780" cy="4458970"/>
        </p:xfrm>
        <a:graphic>
          <a:graphicData uri="http://schemas.openxmlformats.org/drawingml/2006/table">
            <a:tbl>
              <a:tblPr firstRow="1" bandRow="1">
                <a:tableStyleId>{5940675A-B579-460E-94D1-54222C63F5DA}</a:tableStyleId>
              </a:tblPr>
              <a:tblGrid>
                <a:gridCol w="596265">
                  <a:extLst>
                    <a:ext uri="{9D8B030D-6E8A-4147-A177-3AD203B41FA5}">
                      <a16:colId xmlns:a16="http://schemas.microsoft.com/office/drawing/2014/main" val="20000"/>
                    </a:ext>
                  </a:extLst>
                </a:gridCol>
                <a:gridCol w="264160">
                  <a:extLst>
                    <a:ext uri="{9D8B030D-6E8A-4147-A177-3AD203B41FA5}">
                      <a16:colId xmlns:a16="http://schemas.microsoft.com/office/drawing/2014/main" val="20001"/>
                    </a:ext>
                  </a:extLst>
                </a:gridCol>
                <a:gridCol w="263525">
                  <a:extLst>
                    <a:ext uri="{9D8B030D-6E8A-4147-A177-3AD203B41FA5}">
                      <a16:colId xmlns:a16="http://schemas.microsoft.com/office/drawing/2014/main" val="20002"/>
                    </a:ext>
                  </a:extLst>
                </a:gridCol>
                <a:gridCol w="527685">
                  <a:extLst>
                    <a:ext uri="{9D8B030D-6E8A-4147-A177-3AD203B41FA5}">
                      <a16:colId xmlns:a16="http://schemas.microsoft.com/office/drawing/2014/main" val="20003"/>
                    </a:ext>
                  </a:extLst>
                </a:gridCol>
                <a:gridCol w="528955">
                  <a:extLst>
                    <a:ext uri="{9D8B030D-6E8A-4147-A177-3AD203B41FA5}">
                      <a16:colId xmlns:a16="http://schemas.microsoft.com/office/drawing/2014/main" val="20004"/>
                    </a:ext>
                  </a:extLst>
                </a:gridCol>
                <a:gridCol w="527685">
                  <a:extLst>
                    <a:ext uri="{9D8B030D-6E8A-4147-A177-3AD203B41FA5}">
                      <a16:colId xmlns:a16="http://schemas.microsoft.com/office/drawing/2014/main" val="20005"/>
                    </a:ext>
                  </a:extLst>
                </a:gridCol>
                <a:gridCol w="527685">
                  <a:extLst>
                    <a:ext uri="{9D8B030D-6E8A-4147-A177-3AD203B41FA5}">
                      <a16:colId xmlns:a16="http://schemas.microsoft.com/office/drawing/2014/main" val="20006"/>
                    </a:ext>
                  </a:extLst>
                </a:gridCol>
                <a:gridCol w="527685">
                  <a:extLst>
                    <a:ext uri="{9D8B030D-6E8A-4147-A177-3AD203B41FA5}">
                      <a16:colId xmlns:a16="http://schemas.microsoft.com/office/drawing/2014/main" val="20007"/>
                    </a:ext>
                  </a:extLst>
                </a:gridCol>
                <a:gridCol w="527685">
                  <a:extLst>
                    <a:ext uri="{9D8B030D-6E8A-4147-A177-3AD203B41FA5}">
                      <a16:colId xmlns:a16="http://schemas.microsoft.com/office/drawing/2014/main" val="20008"/>
                    </a:ext>
                  </a:extLst>
                </a:gridCol>
                <a:gridCol w="527685">
                  <a:extLst>
                    <a:ext uri="{9D8B030D-6E8A-4147-A177-3AD203B41FA5}">
                      <a16:colId xmlns:a16="http://schemas.microsoft.com/office/drawing/2014/main" val="20009"/>
                    </a:ext>
                  </a:extLst>
                </a:gridCol>
                <a:gridCol w="530225">
                  <a:extLst>
                    <a:ext uri="{9D8B030D-6E8A-4147-A177-3AD203B41FA5}">
                      <a16:colId xmlns:a16="http://schemas.microsoft.com/office/drawing/2014/main" val="20010"/>
                    </a:ext>
                  </a:extLst>
                </a:gridCol>
                <a:gridCol w="525145">
                  <a:extLst>
                    <a:ext uri="{9D8B030D-6E8A-4147-A177-3AD203B41FA5}">
                      <a16:colId xmlns:a16="http://schemas.microsoft.com/office/drawing/2014/main" val="20011"/>
                    </a:ext>
                  </a:extLst>
                </a:gridCol>
                <a:gridCol w="266700">
                  <a:extLst>
                    <a:ext uri="{9D8B030D-6E8A-4147-A177-3AD203B41FA5}">
                      <a16:colId xmlns:a16="http://schemas.microsoft.com/office/drawing/2014/main" val="20012"/>
                    </a:ext>
                  </a:extLst>
                </a:gridCol>
                <a:gridCol w="264160">
                  <a:extLst>
                    <a:ext uri="{9D8B030D-6E8A-4147-A177-3AD203B41FA5}">
                      <a16:colId xmlns:a16="http://schemas.microsoft.com/office/drawing/2014/main" val="20013"/>
                    </a:ext>
                  </a:extLst>
                </a:gridCol>
                <a:gridCol w="263525">
                  <a:extLst>
                    <a:ext uri="{9D8B030D-6E8A-4147-A177-3AD203B41FA5}">
                      <a16:colId xmlns:a16="http://schemas.microsoft.com/office/drawing/2014/main" val="20014"/>
                    </a:ext>
                  </a:extLst>
                </a:gridCol>
                <a:gridCol w="527685">
                  <a:extLst>
                    <a:ext uri="{9D8B030D-6E8A-4147-A177-3AD203B41FA5}">
                      <a16:colId xmlns:a16="http://schemas.microsoft.com/office/drawing/2014/main" val="20015"/>
                    </a:ext>
                  </a:extLst>
                </a:gridCol>
                <a:gridCol w="528955">
                  <a:extLst>
                    <a:ext uri="{9D8B030D-6E8A-4147-A177-3AD203B41FA5}">
                      <a16:colId xmlns:a16="http://schemas.microsoft.com/office/drawing/2014/main" val="20016"/>
                    </a:ext>
                  </a:extLst>
                </a:gridCol>
                <a:gridCol w="527685">
                  <a:extLst>
                    <a:ext uri="{9D8B030D-6E8A-4147-A177-3AD203B41FA5}">
                      <a16:colId xmlns:a16="http://schemas.microsoft.com/office/drawing/2014/main" val="20017"/>
                    </a:ext>
                  </a:extLst>
                </a:gridCol>
                <a:gridCol w="527685">
                  <a:extLst>
                    <a:ext uri="{9D8B030D-6E8A-4147-A177-3AD203B41FA5}">
                      <a16:colId xmlns:a16="http://schemas.microsoft.com/office/drawing/2014/main" val="20018"/>
                    </a:ext>
                  </a:extLst>
                </a:gridCol>
              </a:tblGrid>
              <a:tr h="262255">
                <a:tc rowSpan="2">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控制信号（微操作）</a:t>
                      </a:r>
                    </a:p>
                  </a:txBody>
                  <a:tcPr marL="0" marR="0" marT="0" marB="1"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SUBU</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ORI</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SLL</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3">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Z=1</a:t>
                      </a:r>
                      <a:r>
                        <a:rPr lang="zh-CN" altLang="en-US" sz="1600" b="0">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LW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gridSpan="2">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786765">
                <a:tc vMerge="1">
                  <a:txBody>
                    <a:bodyPr/>
                    <a:lstStyle/>
                    <a:p>
                      <a:endParaRPr lang="zh-CN"/>
                    </a:p>
                  </a:txBody>
                  <a:tcP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B w="12700" cap="flat" cmpd="sng">
                      <a:solidFill>
                        <a:srgbClr val="080000"/>
                      </a:solidFill>
                      <a:prstDash val="solid"/>
                      <a:headEnd type="none" w="med" len="med"/>
                      <a:tailEnd type="none" w="med" len="med"/>
                    </a:lnB>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T5</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ALUC2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ALUC1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ALUC0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Tin</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289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Tout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24510">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Rdc4_0</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IR15_11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IR20_16</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Courier New" panose="02070309020205020404" charset="0"/>
                          <a:cs typeface="Courier New" panose="02070309020205020404" charset="0"/>
                        </a:rPr>
                        <a:t> </a:t>
                      </a:r>
                      <a:endParaRPr lang="en-US" altLang="zh-CN" sz="1600" b="0">
                        <a:latin typeface="Courier New" panose="02070309020205020404" charset="0"/>
                        <a:ea typeface="Courier New" panose="02070309020205020404" charset="0"/>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Rd_W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M_W</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S</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62255">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M6</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4" name="文本框 3"/>
          <p:cNvSpPr txBox="1"/>
          <p:nvPr/>
        </p:nvSpPr>
        <p:spPr>
          <a:xfrm>
            <a:off x="3907155" y="1153795"/>
            <a:ext cx="914400" cy="427990"/>
          </a:xfrm>
          <a:prstGeom prst="rect">
            <a:avLst/>
          </a:prstGeom>
          <a:noFill/>
        </p:spPr>
        <p:txBody>
          <a:bodyPr wrap="none" rtlCol="0">
            <a:noAutofit/>
          </a:bodyPr>
          <a:lstStyle/>
          <a:p>
            <a:pPr algn="l"/>
            <a:r>
              <a:rPr lang="zh-CN" altLang="en-US" sz="1800" dirty="0">
                <a:latin typeface="微软雅黑" panose="020B0503020204020204" pitchFamily="34" charset="-122"/>
                <a:ea typeface="微软雅黑" panose="020B0503020204020204" pitchFamily="34" charset="-122"/>
              </a:rPr>
              <a:t>（</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接上页）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rPr lang="en-US" altLang="zh-CN"/>
              <a:t> </a:t>
            </a:r>
            <a:r>
              <a:t>3）进行微操作综合</a:t>
            </a:r>
          </a:p>
        </p:txBody>
      </p:sp>
      <p:sp>
        <p:nvSpPr>
          <p:cNvPr id="100" name="文本框 99"/>
          <p:cNvSpPr txBox="1"/>
          <p:nvPr/>
        </p:nvSpPr>
        <p:spPr>
          <a:xfrm>
            <a:off x="1209040" y="1421448"/>
            <a:ext cx="5080000" cy="5015865"/>
          </a:xfrm>
          <a:prstGeom prst="rect">
            <a:avLst/>
          </a:prstGeom>
          <a:noFill/>
          <a:ln w="9525">
            <a:noFill/>
          </a:ln>
        </p:spPr>
        <p:txBody>
          <a:bodyPr>
            <a:spAutoFit/>
          </a:bodyPr>
          <a:lstStyle/>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PCout=T1+T3J+T4Beq</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M2=T4(Lw+Sw)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M_R=T1+T4Lw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IRin=T1</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Rsc4-0=IR25-21</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Rtc4-0=IR20-16</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Rs_R=T3(Addu+Subu+Ori+Beq+J)</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Rt_R=T3(Addu+Subu+Sll+Beq)+T4Sw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M3_1=T3(Addu+Subu+Ori+Beq+Lw+Sw)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M3_0=T1+T4Beq</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M4_1=T1+T4Beq</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M4_0=T1+T3(Ori+Lw+Sw)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ALUC2=0</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ALUC1=T3(Ori+Sll)</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ALUC0=T3(Subu+Sll+Beq)</a:t>
            </a:r>
          </a:p>
          <a:p>
            <a:endParaRPr lang="zh-CN" altLang="en-US" sz="2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rPr lang="en-US" altLang="zh-CN"/>
              <a:t> </a:t>
            </a:r>
            <a:r>
              <a:t>3）进行微操作综合</a:t>
            </a:r>
          </a:p>
        </p:txBody>
      </p:sp>
      <p:sp>
        <p:nvSpPr>
          <p:cNvPr id="100" name="文本框 99"/>
          <p:cNvSpPr txBox="1"/>
          <p:nvPr/>
        </p:nvSpPr>
        <p:spPr>
          <a:xfrm>
            <a:off x="970915" y="1536383"/>
            <a:ext cx="5080000" cy="3784600"/>
          </a:xfrm>
          <a:prstGeom prst="rect">
            <a:avLst/>
          </a:prstGeom>
          <a:noFill/>
          <a:ln w="9525">
            <a:noFill/>
          </a:ln>
        </p:spPr>
        <p:txBody>
          <a:bodyPr>
            <a:spAutoFit/>
          </a:bodyPr>
          <a:lstStyle/>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Yin=T1+T3(Addu+Subu+Ori+Sll+Lw+Sw)+T4Beq</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Yout=T2+T4(Addu+Subu+Ori+Sll+Lw+Sw)+T5Beq</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M5=T4Lw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Rdc4-0=IR15-11(Addu+Subu+Sll)+IR20-16(Ori+Lw)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Rd_W=T4(Addu+Subu+Ori+Sll+Lw)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M_W=T4Sw</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M1=T2+T5BeqZ</a:t>
            </a:r>
          </a:p>
          <a:p>
            <a:pPr marL="171450" indent="-171450">
              <a:buFont typeface="Wingdings" panose="05000000000000000000" charset="0"/>
              <a:buChar char=""/>
            </a:pPr>
            <a:r>
              <a:rPr lang="en-US" altLang="zh-CN" sz="2000" b="0">
                <a:latin typeface="宋体" panose="02010600030101010101" pitchFamily="2" charset="-122"/>
                <a:ea typeface="宋体" panose="02010600030101010101" pitchFamily="2" charset="-122"/>
                <a:cs typeface="宋体" panose="02010600030101010101" pitchFamily="2" charset="-122"/>
              </a:rPr>
              <a:t>S=T3</a:t>
            </a:r>
            <a:r>
              <a:rPr lang="zh-CN" altLang="en-US" sz="2000" b="0">
                <a:latin typeface="宋体" panose="02010600030101010101" pitchFamily="2" charset="-122"/>
                <a:ea typeface="宋体" panose="02010600030101010101" pitchFamily="2" charset="-122"/>
                <a:cs typeface="宋体" panose="02010600030101010101" pitchFamily="2" charset="-122"/>
              </a:rPr>
              <a:t>（</a:t>
            </a:r>
            <a:r>
              <a:rPr lang="en-US" altLang="zh-CN" sz="2000" b="0">
                <a:latin typeface="Courier New" panose="02070309020205020404" charset="0"/>
                <a:cs typeface="Courier New" panose="02070309020205020404" charset="0"/>
              </a:rPr>
              <a:t>Lw+Sw</a:t>
            </a:r>
            <a:r>
              <a:rPr lang="zh-CN" altLang="en-US" sz="2000" b="0">
                <a:latin typeface="宋体" panose="02010600030101010101" pitchFamily="2" charset="-122"/>
                <a:ea typeface="宋体" panose="02010600030101010101" pitchFamily="2" charset="-122"/>
                <a:cs typeface="宋体" panose="02010600030101010101" pitchFamily="2" charset="-122"/>
              </a:rPr>
              <a:t>）</a:t>
            </a:r>
          </a:p>
          <a:p>
            <a:pPr marL="0" indent="0">
              <a:buFont typeface="Wingdings" panose="05000000000000000000" charset="0"/>
              <a:buNone/>
            </a:pPr>
            <a:r>
              <a:rPr lang="en-US" altLang="zh-CN" sz="2000" b="0">
                <a:latin typeface="宋体" panose="02010600030101010101" pitchFamily="2" charset="-122"/>
                <a:ea typeface="宋体" panose="02010600030101010101" pitchFamily="2" charset="-122"/>
                <a:cs typeface="宋体" panose="02010600030101010101" pitchFamily="2" charset="-122"/>
              </a:rPr>
              <a:t> M6=T4(Ori+Lw)</a:t>
            </a:r>
            <a:endParaRPr lang="zh-CN" altLang="en-US" sz="20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4）多周期CPU的控制部件的状态转移图</a:t>
            </a:r>
          </a:p>
        </p:txBody>
      </p:sp>
      <p:sp>
        <p:nvSpPr>
          <p:cNvPr id="100" name="文本框 99"/>
          <p:cNvSpPr txBox="1"/>
          <p:nvPr/>
        </p:nvSpPr>
        <p:spPr>
          <a:xfrm>
            <a:off x="970915" y="1536700"/>
            <a:ext cx="6475095" cy="1630045"/>
          </a:xfrm>
          <a:prstGeom prst="rect">
            <a:avLst/>
          </a:prstGeom>
          <a:noFill/>
          <a:ln w="9525">
            <a:noFill/>
          </a:ln>
        </p:spPr>
        <p:txBody>
          <a:bodyPr wrap="square">
            <a:spAutoFit/>
          </a:bodyPr>
          <a:lstStyle/>
          <a:p>
            <a:pPr marL="171450" indent="-171450">
              <a:buFont typeface="Wingdings" panose="05000000000000000000" charset="0"/>
              <a:buChar char=""/>
            </a:pPr>
            <a:r>
              <a:rPr sz="2000" b="0"/>
              <a:t>以8条基础指令为例，从操作时间表中可以看到，跳转指令j用三个周期，条件转移指令beq用五个周期，其余指令addu、subu、ori、sll、Lw、Sw均用四个周期。五个状态分别有用T1、T2、T3、T4、T5表示，有限状态转移图如</a:t>
            </a:r>
            <a:r>
              <a:rPr lang="zh-CN" sz="2000" b="0"/>
              <a:t>下</a:t>
            </a:r>
            <a:r>
              <a:rPr sz="2000" b="0"/>
              <a:t>图</a:t>
            </a:r>
            <a:r>
              <a:rPr lang="zh-CN" sz="2000" b="0"/>
              <a:t>：</a:t>
            </a:r>
          </a:p>
        </p:txBody>
      </p:sp>
      <p:pic>
        <p:nvPicPr>
          <p:cNvPr id="50238" name="图片 5023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460" y="3244215"/>
            <a:ext cx="5627370" cy="20770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    8条指令有限状态机状态转换表</a:t>
            </a:r>
          </a:p>
        </p:txBody>
      </p:sp>
      <p:graphicFrame>
        <p:nvGraphicFramePr>
          <p:cNvPr id="4" name="表格 -1"/>
          <p:cNvGraphicFramePr/>
          <p:nvPr/>
        </p:nvGraphicFramePr>
        <p:xfrm>
          <a:off x="1681163" y="1379855"/>
          <a:ext cx="4397375" cy="3169920"/>
        </p:xfrm>
        <a:graphic>
          <a:graphicData uri="http://schemas.openxmlformats.org/drawingml/2006/table">
            <a:tbl>
              <a:tblPr firstRow="1" bandRow="1">
                <a:tableStyleId>{5940675A-B579-460E-94D1-54222C63F5DA}</a:tableStyleId>
              </a:tblPr>
              <a:tblGrid>
                <a:gridCol w="669925">
                  <a:extLst>
                    <a:ext uri="{9D8B030D-6E8A-4147-A177-3AD203B41FA5}">
                      <a16:colId xmlns:a16="http://schemas.microsoft.com/office/drawing/2014/main" val="20000"/>
                    </a:ext>
                  </a:extLst>
                </a:gridCol>
                <a:gridCol w="2244725">
                  <a:extLst>
                    <a:ext uri="{9D8B030D-6E8A-4147-A177-3AD203B41FA5}">
                      <a16:colId xmlns:a16="http://schemas.microsoft.com/office/drawing/2014/main" val="20001"/>
                    </a:ext>
                  </a:extLst>
                </a:gridCol>
                <a:gridCol w="217488">
                  <a:extLst>
                    <a:ext uri="{9D8B030D-6E8A-4147-A177-3AD203B41FA5}">
                      <a16:colId xmlns:a16="http://schemas.microsoft.com/office/drawing/2014/main" val="20002"/>
                    </a:ext>
                  </a:extLst>
                </a:gridCol>
                <a:gridCol w="377825">
                  <a:extLst>
                    <a:ext uri="{9D8B030D-6E8A-4147-A177-3AD203B41FA5}">
                      <a16:colId xmlns:a16="http://schemas.microsoft.com/office/drawing/2014/main" val="20003"/>
                    </a:ext>
                  </a:extLst>
                </a:gridCol>
                <a:gridCol w="217487">
                  <a:extLst>
                    <a:ext uri="{9D8B030D-6E8A-4147-A177-3AD203B41FA5}">
                      <a16:colId xmlns:a16="http://schemas.microsoft.com/office/drawing/2014/main" val="20004"/>
                    </a:ext>
                  </a:extLst>
                </a:gridCol>
                <a:gridCol w="669925">
                  <a:extLst>
                    <a:ext uri="{9D8B030D-6E8A-4147-A177-3AD203B41FA5}">
                      <a16:colId xmlns:a16="http://schemas.microsoft.com/office/drawing/2014/main" val="20005"/>
                    </a:ext>
                  </a:extLst>
                </a:gridCol>
              </a:tblGrid>
              <a:tr h="487680">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当前状态</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gridSpan="4">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输入</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tcPr>
                </a:tc>
                <a:tc>
                  <a:txBody>
                    <a:bodyPr/>
                    <a:lstStyle/>
                    <a:p>
                      <a:pPr indent="0" algn="ctr">
                        <a:buNone/>
                      </a:pPr>
                      <a:r>
                        <a:rPr lang="zh-CN" altLang="en-US" sz="1600" b="0">
                          <a:latin typeface="宋体" panose="02010600030101010101" pitchFamily="2" charset="-122"/>
                          <a:ea typeface="宋体" panose="02010600030101010101" pitchFamily="2" charset="-122"/>
                          <a:cs typeface="宋体" panose="02010600030101010101" pitchFamily="2" charset="-122"/>
                        </a:rPr>
                        <a:t>下个状态</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Addu</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Subu</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Ori</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Sll</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Lw</a:t>
                      </a:r>
                      <a:r>
                        <a:rPr lang="zh-CN" altLang="en-US" sz="1600" b="0">
                          <a:latin typeface="宋体" panose="02010600030101010101" pitchFamily="2" charset="-122"/>
                          <a:ea typeface="宋体" panose="02010600030101010101" pitchFamily="2" charset="-122"/>
                          <a:cs typeface="宋体" panose="02010600030101010101" pitchFamily="2" charset="-122"/>
                        </a:rPr>
                        <a:t>、</a:t>
                      </a:r>
                      <a:r>
                        <a:rPr lang="en-US" altLang="zh-CN" sz="1600" b="0">
                          <a:latin typeface="宋体" panose="02010600030101010101" pitchFamily="2" charset="-122"/>
                          <a:ea typeface="宋体" panose="02010600030101010101" pitchFamily="2" charset="-122"/>
                          <a:cs typeface="宋体" panose="02010600030101010101" pitchFamily="2" charset="-122"/>
                        </a:rPr>
                        <a:t>Sw</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J</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Beq</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Z</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a:t>
                      </a:r>
                      <a:r>
                        <a:rPr lang="en-US" altLang="zh-CN" sz="1600" b="0">
                          <a:latin typeface="Courier New" panose="02070309020205020404" charset="0"/>
                          <a:cs typeface="Courier New" panose="02070309020205020404" charset="0"/>
                        </a:rPr>
                        <a:t>’</a:t>
                      </a:r>
                      <a:endParaRPr lang="en-US" altLang="zh-CN" sz="1600" b="0">
                        <a:latin typeface="Courier New" panose="02070309020205020404" charset="0"/>
                        <a:ea typeface="宋体" panose="02010600030101010101" pitchFamily="2" charset="-122"/>
                        <a:cs typeface="Courier New" panose="02070309020205020404" charset="0"/>
                      </a:endParaRP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T2</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T3</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T4</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0</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T5</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0">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T5</a:t>
                      </a:r>
                    </a:p>
                  </a:txBody>
                  <a:tcPr marL="0" marR="0" marT="0" marB="1">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X</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altLang="zh-CN" sz="1600" b="0">
                          <a:latin typeface="宋体" panose="02010600030101010101" pitchFamily="2" charset="-122"/>
                          <a:ea typeface="宋体" panose="02010600030101010101" pitchFamily="2" charset="-122"/>
                          <a:cs typeface="宋体" panose="02010600030101010101" pitchFamily="2" charset="-122"/>
                        </a:rPr>
                        <a:t>T1</a:t>
                      </a:r>
                    </a:p>
                  </a:txBody>
                  <a:tcPr marL="0" marR="0" marT="0" marB="1">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2" name="图片 5023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1770" y="4787265"/>
            <a:ext cx="4836795" cy="17856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    二进制编码8条指令有限状态机状态转换表</a:t>
            </a:r>
          </a:p>
        </p:txBody>
      </p:sp>
      <p:pic>
        <p:nvPicPr>
          <p:cNvPr id="5" name="图片 4" descr="TA%UB62}QG}7$3)I2R{_X(5"/>
          <p:cNvPicPr>
            <a:picLocks noChangeAspect="1"/>
          </p:cNvPicPr>
          <p:nvPr/>
        </p:nvPicPr>
        <p:blipFill>
          <a:blip r:embed="rId2"/>
          <a:stretch>
            <a:fillRect/>
          </a:stretch>
        </p:blipFill>
        <p:spPr>
          <a:xfrm>
            <a:off x="954405" y="998855"/>
            <a:ext cx="6473190" cy="3319780"/>
          </a:xfrm>
          <a:prstGeom prst="rect">
            <a:avLst/>
          </a:prstGeom>
        </p:spPr>
      </p:pic>
      <p:sp>
        <p:nvSpPr>
          <p:cNvPr id="106" name="文本框 105"/>
          <p:cNvSpPr txBox="1"/>
          <p:nvPr/>
        </p:nvSpPr>
        <p:spPr>
          <a:xfrm>
            <a:off x="1112520" y="4318635"/>
            <a:ext cx="5080000" cy="706755"/>
          </a:xfrm>
          <a:prstGeom prst="rect">
            <a:avLst/>
          </a:prstGeom>
          <a:noFill/>
          <a:ln w="9525">
            <a:noFill/>
          </a:ln>
        </p:spPr>
        <p:txBody>
          <a:bodyPr>
            <a:spAutoFit/>
          </a:bodyPr>
          <a:lstStyle/>
          <a:p>
            <a:pPr marL="0" indent="0"/>
            <a:r>
              <a:rPr lang="zh-CN" altLang="en-US" sz="2000" b="0">
                <a:latin typeface="宋体" panose="02010600030101010101" pitchFamily="2" charset="-122"/>
                <a:ea typeface="宋体" panose="02010600030101010101" pitchFamily="2" charset="-122"/>
                <a:cs typeface="宋体" panose="02010600030101010101" pitchFamily="2" charset="-122"/>
              </a:rPr>
              <a:t>状态转换的逻辑表达式</a:t>
            </a:r>
            <a:r>
              <a:rPr lang="en-US" altLang="zh-CN" sz="2000" b="0">
                <a:latin typeface="宋体" panose="02010600030101010101" pitchFamily="2" charset="-122"/>
                <a:ea typeface="宋体" panose="02010600030101010101" pitchFamily="2" charset="-122"/>
                <a:cs typeface="宋体" panose="02010600030101010101" pitchFamily="2" charset="-122"/>
              </a:rPr>
              <a:t>:</a:t>
            </a:r>
          </a:p>
          <a:p>
            <a:pPr marL="0" indent="0"/>
            <a:endParaRPr lang="en-US" altLang="zh-CN" sz="2000" b="0">
              <a:latin typeface="宋体" panose="02010600030101010101" pitchFamily="2" charset="-122"/>
              <a:ea typeface="宋体" panose="02010600030101010101" pitchFamily="2" charset="-122"/>
              <a:cs typeface="宋体" panose="02010600030101010101" pitchFamily="2" charset="-122"/>
            </a:endParaRPr>
          </a:p>
        </p:txBody>
      </p:sp>
      <p:pic>
        <p:nvPicPr>
          <p:cNvPr id="12" name="图片 11" descr="`Y[7ZP[270CU%Q%I[I]C4J5"/>
          <p:cNvPicPr>
            <a:picLocks noChangeAspect="1"/>
          </p:cNvPicPr>
          <p:nvPr/>
        </p:nvPicPr>
        <p:blipFill>
          <a:blip r:embed="rId3"/>
          <a:stretch>
            <a:fillRect/>
          </a:stretch>
        </p:blipFill>
        <p:spPr>
          <a:xfrm>
            <a:off x="1112520" y="4742815"/>
            <a:ext cx="6476365" cy="9429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    多周期CPU控制部件逻辑结构</a:t>
            </a:r>
          </a:p>
        </p:txBody>
      </p:sp>
      <p:pic>
        <p:nvPicPr>
          <p:cNvPr id="107" name="图片 10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4235" y="1610995"/>
            <a:ext cx="7261225" cy="34747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30555" y="4966970"/>
            <a:ext cx="8229600" cy="608330"/>
          </a:xfrm>
        </p:spPr>
        <p:txBody>
          <a:bodyPr/>
          <a:lstStyle/>
          <a:p>
            <a:pPr marL="342900" indent="-342900" algn="l">
              <a:buFont typeface="Wingdings" panose="05000000000000000000" charset="0"/>
              <a:buChar char=""/>
            </a:pPr>
            <a:r>
              <a:rPr sz="2000"/>
              <a:t>8条指令的多周期CPU数据通路</a:t>
            </a:r>
            <a:br>
              <a:rPr sz="2000"/>
            </a:br>
            <a:br>
              <a:rPr sz="2000"/>
            </a:br>
            <a:r>
              <a:rPr sz="2000">
                <a:solidFill>
                  <a:srgbClr val="04619D"/>
                </a:solidFill>
              </a:rPr>
              <a:t>与上页</a:t>
            </a:r>
            <a:r>
              <a:rPr sz="2000">
                <a:solidFill>
                  <a:srgbClr val="04619D"/>
                </a:solidFill>
                <a:sym typeface="+mn-ea"/>
              </a:rPr>
              <a:t>控制部件逻辑结构合并，形成完整的8条指令CPU逻辑图（见下页）</a:t>
            </a:r>
          </a:p>
        </p:txBody>
      </p:sp>
      <p:pic>
        <p:nvPicPr>
          <p:cNvPr id="105" name="图片 10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810" y="824230"/>
            <a:ext cx="7632700" cy="395668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    8条指令多周期CPU逻辑图</a:t>
            </a:r>
          </a:p>
        </p:txBody>
      </p:sp>
      <p:pic>
        <p:nvPicPr>
          <p:cNvPr id="106" name="图片 10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95" y="999490"/>
            <a:ext cx="9020810" cy="527812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7.6 CPU的测试</a:t>
            </a:r>
          </a:p>
        </p:txBody>
      </p:sp>
      <p:sp>
        <p:nvSpPr>
          <p:cNvPr id="100" name="文本框 99"/>
          <p:cNvSpPr txBox="1"/>
          <p:nvPr/>
        </p:nvSpPr>
        <p:spPr>
          <a:xfrm>
            <a:off x="614680" y="1363980"/>
            <a:ext cx="7447915" cy="1938020"/>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a:solidFill>
                  <a:srgbClr val="04619D"/>
                </a:solidFill>
                <a:latin typeface="宋体" panose="02010600030101010101" pitchFamily="2" charset="-122"/>
              </a:rPr>
              <a:t>CPU测试过程分为前仿真测试、后仿真测试、下板测试。</a:t>
            </a:r>
          </a:p>
          <a:p>
            <a:pPr marL="342900" indent="-342900">
              <a:buFont typeface="Wingdings" panose="05000000000000000000" charset="0"/>
              <a:buChar char=""/>
            </a:pPr>
            <a:r>
              <a:rPr lang="zh-CN" altLang="en-US" sz="2000">
                <a:solidFill>
                  <a:srgbClr val="04619D"/>
                </a:solidFill>
                <a:latin typeface="宋体" panose="02010600030101010101" pitchFamily="2" charset="-122"/>
              </a:rPr>
              <a:t>CPU仿真测试分为单条指令测试、单条指令边界数据测试、指令序列测试和程序测试。</a:t>
            </a:r>
          </a:p>
          <a:p>
            <a:pPr marL="342900" indent="-342900">
              <a:buFont typeface="Wingdings" panose="05000000000000000000" charset="0"/>
              <a:buChar char=""/>
            </a:pPr>
            <a:r>
              <a:rPr lang="zh-CN" altLang="en-US" sz="2000">
                <a:solidFill>
                  <a:srgbClr val="04619D"/>
                </a:solidFill>
                <a:latin typeface="宋体" panose="02010600030101010101" pitchFamily="2" charset="-122"/>
              </a:rPr>
              <a:t>对于每条指令测试，均按照边界值测试向量人工生成，人工比对；然后由自动验证工具自动比对；最后引入高强度随机指令序列测试的方法进行测试。</a:t>
            </a:r>
          </a:p>
        </p:txBody>
      </p:sp>
      <p:sp>
        <p:nvSpPr>
          <p:cNvPr id="106" name="文本框 105"/>
          <p:cNvSpPr txBox="1"/>
          <p:nvPr/>
        </p:nvSpPr>
        <p:spPr>
          <a:xfrm>
            <a:off x="614680" y="3388995"/>
            <a:ext cx="7610475" cy="3169285"/>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b="0">
                <a:latin typeface="宋体" panose="02010600030101010101" pitchFamily="2" charset="-122"/>
                <a:cs typeface="宋体" panose="02010600030101010101" pitchFamily="2" charset="-122"/>
              </a:rPr>
              <a:t>在单条指令测试的过程中，会用到别的未测定的指令，所以在进行单条指令的测试前，要定好指令测试的顺序，在测定时用的其他指令必须是已经测过的正确指令。可将指令分为几种不同类别的验证类别，对每一类指令按下面次序进行针对性验证。</a:t>
            </a:r>
          </a:p>
          <a:p>
            <a:pPr marL="0" indent="0"/>
            <a:r>
              <a:rPr lang="zh-CN" altLang="en-US" sz="2000" b="0">
                <a:latin typeface="宋体" panose="02010600030101010101" pitchFamily="2" charset="-122"/>
                <a:cs typeface="宋体" panose="02010600030101010101" pitchFamily="2" charset="-122"/>
              </a:rPr>
              <a:t>   指令验证类别：</a:t>
            </a:r>
          </a:p>
          <a:p>
            <a:pPr marL="914400" lvl="1" indent="-457200">
              <a:buFont typeface="+mj-ea"/>
              <a:buAutoNum type="circleNumDbPlain"/>
            </a:pPr>
            <a:r>
              <a:rPr lang="zh-CN" altLang="en-US" sz="2000" b="0">
                <a:solidFill>
                  <a:srgbClr val="04619D"/>
                </a:solidFill>
                <a:latin typeface="宋体" panose="02010600030101010101" pitchFamily="2" charset="-122"/>
                <a:cs typeface="宋体" panose="02010600030101010101" pitchFamily="2" charset="-122"/>
              </a:rPr>
              <a:t>数据传送指令的验证</a:t>
            </a:r>
          </a:p>
          <a:p>
            <a:pPr marL="914400" lvl="1" indent="-457200">
              <a:buFont typeface="+mj-ea"/>
              <a:buAutoNum type="circleNumDbPlain"/>
            </a:pPr>
            <a:r>
              <a:rPr lang="zh-CN" altLang="en-US" sz="2000" b="0">
                <a:solidFill>
                  <a:srgbClr val="04619D"/>
                </a:solidFill>
                <a:latin typeface="宋体" panose="02010600030101010101" pitchFamily="2" charset="-122"/>
                <a:cs typeface="宋体" panose="02010600030101010101" pitchFamily="2" charset="-122"/>
              </a:rPr>
              <a:t>算术运算指令的验证</a:t>
            </a:r>
          </a:p>
          <a:p>
            <a:pPr marL="914400" lvl="1" indent="-457200">
              <a:buFont typeface="+mj-ea"/>
              <a:buAutoNum type="circleNumDbPlain"/>
            </a:pPr>
            <a:r>
              <a:rPr lang="zh-CN" altLang="en-US" sz="2000" b="0">
                <a:solidFill>
                  <a:srgbClr val="04619D"/>
                </a:solidFill>
                <a:latin typeface="宋体" panose="02010600030101010101" pitchFamily="2" charset="-122"/>
                <a:cs typeface="宋体" panose="02010600030101010101" pitchFamily="2" charset="-122"/>
              </a:rPr>
              <a:t>逻辑运算指令的验证</a:t>
            </a:r>
          </a:p>
          <a:p>
            <a:pPr marL="914400" lvl="1" indent="-457200">
              <a:buFont typeface="+mj-ea"/>
              <a:buAutoNum type="circleNumDbPlain"/>
            </a:pPr>
            <a:r>
              <a:rPr lang="zh-CN" altLang="en-US" sz="2000" b="0">
                <a:solidFill>
                  <a:srgbClr val="04619D"/>
                </a:solidFill>
                <a:latin typeface="宋体" panose="02010600030101010101" pitchFamily="2" charset="-122"/>
                <a:cs typeface="宋体" panose="02010600030101010101" pitchFamily="2" charset="-122"/>
              </a:rPr>
              <a:t>跳转指令的验证</a:t>
            </a:r>
          </a:p>
          <a:p>
            <a:pPr marL="914400" lvl="1" indent="-457200">
              <a:buFont typeface="+mj-ea"/>
              <a:buAutoNum type="circleNumDbPlain"/>
            </a:pPr>
            <a:r>
              <a:rPr lang="zh-CN" altLang="en-US" sz="2000" b="0">
                <a:solidFill>
                  <a:srgbClr val="04619D"/>
                </a:solidFill>
                <a:latin typeface="宋体" panose="02010600030101010101" pitchFamily="2" charset="-122"/>
                <a:cs typeface="宋体" panose="02010600030101010101" pitchFamily="2" charset="-122"/>
              </a:rPr>
              <a:t>移位操作指令的验证</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7.6.1 前仿真测试</a:t>
            </a:r>
          </a:p>
        </p:txBody>
      </p:sp>
      <p:sp>
        <p:nvSpPr>
          <p:cNvPr id="100" name="文本框 99"/>
          <p:cNvSpPr txBox="1"/>
          <p:nvPr/>
        </p:nvSpPr>
        <p:spPr>
          <a:xfrm>
            <a:off x="614680" y="1363980"/>
            <a:ext cx="7447915" cy="2553335"/>
          </a:xfrm>
          <a:prstGeom prst="rect">
            <a:avLst/>
          </a:prstGeom>
          <a:noFill/>
          <a:ln w="9525">
            <a:noFill/>
          </a:ln>
        </p:spPr>
        <p:txBody>
          <a:bodyPr wrap="square">
            <a:spAutoFit/>
          </a:bodyPr>
          <a:lstStyle/>
          <a:p>
            <a:pPr marL="0" indent="0">
              <a:buFont typeface="Wingdings" panose="05000000000000000000" charset="0"/>
              <a:buNone/>
            </a:pPr>
            <a:r>
              <a:rPr lang="zh-CN" altLang="en-US" sz="2000">
                <a:solidFill>
                  <a:schemeClr val="tx1"/>
                </a:solidFill>
                <a:latin typeface="微软雅黑" panose="020B0503020204020204" pitchFamily="34" charset="-122"/>
                <a:ea typeface="微软雅黑" panose="020B0503020204020204" pitchFamily="34" charset="-122"/>
              </a:rPr>
              <a:t>1）单条指令的测试</a:t>
            </a:r>
          </a:p>
          <a:p>
            <a:pPr marL="800100" lvl="1" indent="-342900">
              <a:buFont typeface="Wingdings" panose="05000000000000000000" charset="0"/>
              <a:buChar char=""/>
            </a:pPr>
            <a:r>
              <a:rPr lang="zh-CN" altLang="en-US" sz="2000">
                <a:solidFill>
                  <a:schemeClr val="tx1"/>
                </a:solidFill>
                <a:latin typeface="微软雅黑" panose="020B0503020204020204" pitchFamily="34" charset="-122"/>
                <a:ea typeface="微软雅黑" panose="020B0503020204020204" pitchFamily="34" charset="-122"/>
              </a:rPr>
              <a:t>在modelsim下，可以使用如下代码初始化 iram：</a:t>
            </a:r>
          </a:p>
          <a:p>
            <a:pPr marL="457200" lvl="1" indent="0">
              <a:buFont typeface="Wingdings" panose="05000000000000000000" charset="0"/>
              <a:buNone/>
            </a:pPr>
            <a:r>
              <a:rPr lang="en-US" altLang="zh-CN" sz="2000">
                <a:solidFill>
                  <a:srgbClr val="04619D"/>
                </a:solidFill>
                <a:latin typeface="微软雅黑" panose="020B0503020204020204" pitchFamily="34" charset="-122"/>
                <a:ea typeface="微软雅黑" panose="020B0503020204020204" pitchFamily="34" charset="-122"/>
              </a:rPr>
              <a:t>	</a:t>
            </a:r>
            <a:r>
              <a:rPr lang="zh-CN" altLang="en-US" sz="2000">
                <a:solidFill>
                  <a:srgbClr val="04619D"/>
                </a:solidFill>
                <a:latin typeface="微软雅黑" panose="020B0503020204020204" pitchFamily="34" charset="-122"/>
                <a:ea typeface="微软雅黑" panose="020B0503020204020204" pitchFamily="34" charset="-122"/>
              </a:rPr>
              <a:t>initial begin</a:t>
            </a:r>
          </a:p>
          <a:p>
            <a:pPr marL="457200" lvl="1" indent="0">
              <a:buFont typeface="Wingdings" panose="05000000000000000000" charset="0"/>
              <a:buNone/>
            </a:pPr>
            <a:r>
              <a:rPr lang="en-US" altLang="zh-CN" sz="2000">
                <a:solidFill>
                  <a:srgbClr val="04619D"/>
                </a:solidFill>
                <a:latin typeface="微软雅黑" panose="020B0503020204020204" pitchFamily="34" charset="-122"/>
                <a:ea typeface="微软雅黑" panose="020B0503020204020204" pitchFamily="34" charset="-122"/>
              </a:rPr>
              <a:t>	</a:t>
            </a:r>
            <a:r>
              <a:rPr lang="zh-CN" altLang="en-US" sz="2000">
                <a:solidFill>
                  <a:srgbClr val="04619D"/>
                </a:solidFill>
                <a:latin typeface="微软雅黑" panose="020B0503020204020204" pitchFamily="34" charset="-122"/>
                <a:ea typeface="微软雅黑" panose="020B0503020204020204" pitchFamily="34" charset="-122"/>
              </a:rPr>
              <a:t>$readmemh("1out.txt", ram);</a:t>
            </a:r>
          </a:p>
          <a:p>
            <a:pPr marL="457200" lvl="1" indent="0">
              <a:buFont typeface="Wingdings" panose="05000000000000000000" charset="0"/>
              <a:buNone/>
            </a:pPr>
            <a:r>
              <a:rPr lang="en-US" altLang="zh-CN" sz="2000">
                <a:solidFill>
                  <a:srgbClr val="04619D"/>
                </a:solidFill>
                <a:latin typeface="微软雅黑" panose="020B0503020204020204" pitchFamily="34" charset="-122"/>
                <a:ea typeface="微软雅黑" panose="020B0503020204020204" pitchFamily="34" charset="-122"/>
              </a:rPr>
              <a:t>	</a:t>
            </a:r>
            <a:r>
              <a:rPr lang="zh-CN" altLang="en-US" sz="2000">
                <a:solidFill>
                  <a:srgbClr val="04619D"/>
                </a:solidFill>
                <a:latin typeface="微软雅黑" panose="020B0503020204020204" pitchFamily="34" charset="-122"/>
                <a:ea typeface="微软雅黑" panose="020B0503020204020204" pitchFamily="34" charset="-122"/>
              </a:rPr>
              <a:t>end</a:t>
            </a:r>
          </a:p>
          <a:p>
            <a:pPr marL="457200" lvl="1" indent="0">
              <a:buFont typeface="Wingdings" panose="05000000000000000000" charset="0"/>
              <a:buNone/>
            </a:pPr>
            <a:r>
              <a:rPr lang="en-US" altLang="zh-CN" sz="2000">
                <a:solidFill>
                  <a:schemeClr val="tx1"/>
                </a:solidFill>
                <a:latin typeface="微软雅黑" panose="020B0503020204020204" pitchFamily="34" charset="-122"/>
                <a:ea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rPr>
              <a:t>initial块不可综合，前仿真时使用）</a:t>
            </a:r>
            <a:endParaRPr lang="en-US" altLang="zh-CN" sz="2000">
              <a:solidFill>
                <a:schemeClr val="tx1"/>
              </a:solidFill>
              <a:latin typeface="微软雅黑" panose="020B0503020204020204" pitchFamily="34" charset="-122"/>
              <a:ea typeface="微软雅黑" panose="020B0503020204020204" pitchFamily="34" charset="-122"/>
            </a:endParaRPr>
          </a:p>
          <a:p>
            <a:pPr marL="800100" lvl="1" indent="-342900">
              <a:buFont typeface="Wingdings" panose="05000000000000000000" charset="0"/>
              <a:buChar char=""/>
            </a:pPr>
            <a:r>
              <a:rPr lang="zh-CN" altLang="en-US" sz="2000">
                <a:solidFill>
                  <a:schemeClr val="tx1"/>
                </a:solidFill>
                <a:latin typeface="微软雅黑" panose="020B0503020204020204" pitchFamily="34" charset="-122"/>
                <a:ea typeface="微软雅黑" panose="020B0503020204020204" pitchFamily="34" charset="-122"/>
              </a:rPr>
              <a:t>前仿真的单条指令测试有通过观察</a:t>
            </a:r>
            <a:r>
              <a:rPr lang="zh-CN" altLang="en-US" sz="2000">
                <a:solidFill>
                  <a:srgbClr val="04619D"/>
                </a:solidFill>
                <a:latin typeface="微软雅黑" panose="020B0503020204020204" pitchFamily="34" charset="-122"/>
                <a:ea typeface="微软雅黑" panose="020B0503020204020204" pitchFamily="34" charset="-122"/>
              </a:rPr>
              <a:t>波形</a:t>
            </a:r>
            <a:r>
              <a:rPr lang="zh-CN" altLang="en-US" sz="2000">
                <a:solidFill>
                  <a:schemeClr val="tx1"/>
                </a:solidFill>
                <a:latin typeface="微软雅黑" panose="020B0503020204020204" pitchFamily="34" charset="-122"/>
                <a:ea typeface="微软雅黑" panose="020B0503020204020204" pitchFamily="34" charset="-122"/>
              </a:rPr>
              <a:t>和通过观察</a:t>
            </a:r>
            <a:r>
              <a:rPr lang="zh-CN" altLang="en-US" sz="2000">
                <a:solidFill>
                  <a:srgbClr val="04619D"/>
                </a:solidFill>
                <a:latin typeface="微软雅黑" panose="020B0503020204020204" pitchFamily="34" charset="-122"/>
                <a:ea typeface="微软雅黑" panose="020B0503020204020204" pitchFamily="34" charset="-122"/>
              </a:rPr>
              <a:t>testbench仿真结果文件</a:t>
            </a:r>
            <a:r>
              <a:rPr lang="zh-CN" altLang="en-US" sz="2000">
                <a:solidFill>
                  <a:schemeClr val="tx1"/>
                </a:solidFill>
                <a:latin typeface="微软雅黑" panose="020B0503020204020204" pitchFamily="34" charset="-122"/>
                <a:ea typeface="微软雅黑" panose="020B0503020204020204" pitchFamily="34" charset="-122"/>
              </a:rPr>
              <a:t>两种方式。</a:t>
            </a:r>
          </a:p>
        </p:txBody>
      </p:sp>
      <p:sp>
        <p:nvSpPr>
          <p:cNvPr id="2" name="文本框 1"/>
          <p:cNvSpPr txBox="1"/>
          <p:nvPr/>
        </p:nvSpPr>
        <p:spPr>
          <a:xfrm>
            <a:off x="614680" y="4184650"/>
            <a:ext cx="7447915" cy="1630045"/>
          </a:xfrm>
          <a:prstGeom prst="rect">
            <a:avLst/>
          </a:prstGeom>
          <a:noFill/>
          <a:ln w="9525">
            <a:noFill/>
          </a:ln>
        </p:spPr>
        <p:txBody>
          <a:bodyPr wrap="square">
            <a:spAutoFit/>
          </a:bodyPr>
          <a:lstStyle/>
          <a:p>
            <a:pPr marL="0" indent="0">
              <a:buFont typeface="Wingdings" panose="05000000000000000000" charset="0"/>
              <a:buNone/>
            </a:pPr>
            <a:r>
              <a:rPr lang="zh-CN" altLang="en-US" sz="2000">
                <a:solidFill>
                  <a:schemeClr val="tx1"/>
                </a:solidFill>
                <a:latin typeface="微软雅黑" panose="020B0503020204020204" pitchFamily="34" charset="-122"/>
                <a:ea typeface="微软雅黑" panose="020B0503020204020204" pitchFamily="34" charset="-122"/>
              </a:rPr>
              <a:t>2）指令的边界数据测试</a:t>
            </a:r>
          </a:p>
          <a:p>
            <a:pPr marL="0" indent="0">
              <a:buFont typeface="Wingdings" panose="05000000000000000000" charset="0"/>
              <a:buNone/>
            </a:pPr>
            <a:endParaRPr lang="zh-CN" altLang="en-US" sz="2000">
              <a:solidFill>
                <a:schemeClr val="tx1"/>
              </a:solidFill>
              <a:latin typeface="微软雅黑" panose="020B0503020204020204" pitchFamily="34" charset="-122"/>
              <a:ea typeface="微软雅黑" panose="020B0503020204020204" pitchFamily="34" charset="-122"/>
            </a:endParaRPr>
          </a:p>
          <a:p>
            <a:pPr marL="0" indent="0">
              <a:buFont typeface="Wingdings" panose="05000000000000000000" charset="0"/>
              <a:buNone/>
            </a:pPr>
            <a:r>
              <a:rPr lang="zh-CN" altLang="en-US" sz="2000">
                <a:solidFill>
                  <a:schemeClr val="tx1"/>
                </a:solidFill>
                <a:latin typeface="微软雅黑" panose="020B0503020204020204" pitchFamily="34" charset="-122"/>
                <a:ea typeface="微软雅黑" panose="020B0503020204020204" pitchFamily="34" charset="-122"/>
              </a:rPr>
              <a:t>3）随机指令序列测试</a:t>
            </a:r>
          </a:p>
          <a:p>
            <a:pPr marL="0" indent="0">
              <a:buFont typeface="Wingdings" panose="05000000000000000000" charset="0"/>
              <a:buNone/>
            </a:pPr>
            <a:endParaRPr lang="zh-CN" altLang="en-US" sz="2000">
              <a:solidFill>
                <a:schemeClr val="tx1"/>
              </a:solidFill>
              <a:latin typeface="微软雅黑" panose="020B0503020204020204" pitchFamily="34" charset="-122"/>
              <a:ea typeface="微软雅黑" panose="020B0503020204020204" pitchFamily="34" charset="-122"/>
            </a:endParaRPr>
          </a:p>
          <a:p>
            <a:pPr marL="0" indent="0">
              <a:buFont typeface="Wingdings" panose="05000000000000000000" charset="0"/>
              <a:buNone/>
            </a:pPr>
            <a:r>
              <a:rPr lang="zh-CN" altLang="en-US" sz="2000">
                <a:solidFill>
                  <a:schemeClr val="tx1"/>
                </a:solidFill>
                <a:latin typeface="微软雅黑" panose="020B0503020204020204" pitchFamily="34" charset="-122"/>
                <a:ea typeface="微软雅黑" panose="020B0503020204020204" pitchFamily="34" charset="-122"/>
              </a:rPr>
              <a:t>4）程序测试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7.6.2 后仿真测试</a:t>
            </a:r>
          </a:p>
        </p:txBody>
      </p:sp>
      <p:sp>
        <p:nvSpPr>
          <p:cNvPr id="100" name="文本框 99"/>
          <p:cNvSpPr txBox="1"/>
          <p:nvPr/>
        </p:nvSpPr>
        <p:spPr>
          <a:xfrm>
            <a:off x="614680" y="999490"/>
            <a:ext cx="7447915" cy="2553335"/>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a:solidFill>
                  <a:schemeClr val="tx1"/>
                </a:solidFill>
                <a:latin typeface="微软雅黑" panose="020B0503020204020204" pitchFamily="34" charset="-122"/>
                <a:ea typeface="微软雅黑" panose="020B0503020204020204" pitchFamily="34" charset="-122"/>
              </a:rPr>
              <a:t>前仿真和后仿真两者的区别：</a:t>
            </a:r>
          </a:p>
          <a:p>
            <a:pPr marL="342900" indent="-342900">
              <a:buFont typeface="Wingdings" panose="05000000000000000000" charset="0"/>
              <a:buChar char=""/>
            </a:pPr>
            <a:r>
              <a:rPr lang="zh-CN" altLang="en-US" sz="2000">
                <a:solidFill>
                  <a:srgbClr val="04619D"/>
                </a:solidFill>
                <a:latin typeface="微软雅黑" panose="020B0503020204020204" pitchFamily="34" charset="-122"/>
                <a:ea typeface="微软雅黑" panose="020B0503020204020204" pitchFamily="34" charset="-122"/>
              </a:rPr>
              <a:t>前仿真也称为功能仿真，主旨在于验证电路的功能是否符合设计要求，不考虑电路门延迟与线延迟，主要是验证电路与理想情况是否一致。</a:t>
            </a:r>
          </a:p>
          <a:p>
            <a:pPr marL="342900" indent="-342900">
              <a:buFont typeface="Wingdings" panose="05000000000000000000" charset="0"/>
              <a:buChar char=""/>
            </a:pPr>
            <a:r>
              <a:rPr lang="zh-CN" altLang="en-US" sz="2000">
                <a:solidFill>
                  <a:srgbClr val="04619D"/>
                </a:solidFill>
                <a:latin typeface="微软雅黑" panose="020B0503020204020204" pitchFamily="34" charset="-122"/>
                <a:ea typeface="微软雅黑" panose="020B0503020204020204" pitchFamily="34" charset="-122"/>
              </a:rPr>
              <a:t>后仿真也称为时序仿真或者布局布线后仿真，是指电路已经映射到特定的工艺环境以后，综合考虑电路的路径延迟与门延迟的影响，验证电路能否在一定时序条件下满足设计构想的过程，是否存在时序违规。</a:t>
            </a:r>
          </a:p>
        </p:txBody>
      </p:sp>
      <p:sp>
        <p:nvSpPr>
          <p:cNvPr id="2" name="文本框 1"/>
          <p:cNvSpPr txBox="1"/>
          <p:nvPr/>
        </p:nvSpPr>
        <p:spPr>
          <a:xfrm>
            <a:off x="614680" y="3679825"/>
            <a:ext cx="7447915" cy="2861310"/>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a:solidFill>
                  <a:schemeClr val="tx1"/>
                </a:solidFill>
                <a:latin typeface="微软雅黑" panose="020B0503020204020204" pitchFamily="34" charset="-122"/>
                <a:ea typeface="微软雅黑" panose="020B0503020204020204" pitchFamily="34" charset="-122"/>
              </a:rPr>
              <a:t>后仿真步骤：</a:t>
            </a:r>
          </a:p>
          <a:p>
            <a:pPr marL="0" indent="0">
              <a:buFont typeface="Wingdings" panose="05000000000000000000" charset="0"/>
              <a:buNone/>
            </a:pPr>
            <a:r>
              <a:rPr lang="en-US" altLang="zh-CN" sz="2000">
                <a:solidFill>
                  <a:schemeClr val="tx1"/>
                </a:solidFill>
                <a:latin typeface="微软雅黑" panose="020B0503020204020204" pitchFamily="34" charset="-122"/>
                <a:ea typeface="微软雅黑" panose="020B0503020204020204" pitchFamily="34" charset="-122"/>
              </a:rPr>
              <a:t>	</a:t>
            </a:r>
            <a:r>
              <a:rPr lang="zh-CN" altLang="en-US" sz="2000">
                <a:solidFill>
                  <a:srgbClr val="04619D"/>
                </a:solidFill>
                <a:latin typeface="微软雅黑" panose="020B0503020204020204" pitchFamily="34" charset="-122"/>
                <a:ea typeface="微软雅黑" panose="020B0503020204020204" pitchFamily="34" charset="-122"/>
              </a:rPr>
              <a:t>先做指令序列测试，再做程序测试。</a:t>
            </a:r>
          </a:p>
          <a:p>
            <a:pPr marL="342900" indent="-342900">
              <a:buFont typeface="Wingdings" panose="05000000000000000000" charset="0"/>
              <a:buChar char=""/>
            </a:pPr>
            <a:endParaRPr lang="zh-CN" altLang="en-US" sz="2000">
              <a:solidFill>
                <a:schemeClr val="tx1"/>
              </a:solidFill>
              <a:latin typeface="微软雅黑" panose="020B0503020204020204" pitchFamily="34" charset="-122"/>
              <a:ea typeface="微软雅黑" panose="020B0503020204020204" pitchFamily="34" charset="-122"/>
            </a:endParaRPr>
          </a:p>
          <a:p>
            <a:pPr marL="342900" indent="-342900">
              <a:buFont typeface="Wingdings" panose="05000000000000000000" charset="0"/>
              <a:buChar char=""/>
            </a:pPr>
            <a:r>
              <a:rPr lang="zh-CN" altLang="en-US" sz="2000">
                <a:solidFill>
                  <a:schemeClr val="tx1"/>
                </a:solidFill>
                <a:latin typeface="微软雅黑" panose="020B0503020204020204" pitchFamily="34" charset="-122"/>
                <a:ea typeface="微软雅黑" panose="020B0503020204020204" pitchFamily="34" charset="-122"/>
              </a:rPr>
              <a:t>注意事项：</a:t>
            </a:r>
          </a:p>
          <a:p>
            <a:pPr marL="342900" indent="-342900">
              <a:buFont typeface="Wingdings" panose="05000000000000000000" charset="0"/>
              <a:buChar char=""/>
            </a:pPr>
            <a:r>
              <a:rPr lang="zh-CN" altLang="en-US" sz="2000">
                <a:solidFill>
                  <a:srgbClr val="04619D"/>
                </a:solidFill>
                <a:latin typeface="微软雅黑" panose="020B0503020204020204" pitchFamily="34" charset="-122"/>
                <a:ea typeface="微软雅黑" panose="020B0503020204020204" pitchFamily="34" charset="-122"/>
              </a:rPr>
              <a:t>出现时序问题时，先采取降低CPU主频的方法解决，如果不行，就须分析问题所在，修改或优化CPU数据通路或部件。</a:t>
            </a:r>
          </a:p>
          <a:p>
            <a:pPr marL="342900" indent="-342900">
              <a:buFont typeface="Wingdings" panose="05000000000000000000" charset="0"/>
              <a:buChar char=""/>
            </a:pPr>
            <a:r>
              <a:rPr lang="zh-CN" altLang="en-US" sz="2000">
                <a:solidFill>
                  <a:srgbClr val="04619D"/>
                </a:solidFill>
                <a:latin typeface="微软雅黑" panose="020B0503020204020204" pitchFamily="34" charset="-122"/>
                <a:ea typeface="微软雅黑" panose="020B0503020204020204" pitchFamily="34" charset="-122"/>
              </a:rPr>
              <a:t>后仿真时CPU中不可有不可综合语句，如time，defparam，$finish，fork，join，initial，delays，UDP，wait等。</a:t>
            </a:r>
          </a:p>
          <a:p>
            <a:pPr marL="342900" indent="-342900">
              <a:buFont typeface="Wingdings" panose="05000000000000000000" charset="0"/>
              <a:buChar char=""/>
            </a:pPr>
            <a:r>
              <a:rPr lang="zh-CN" altLang="en-US" sz="2000">
                <a:solidFill>
                  <a:srgbClr val="04619D"/>
                </a:solidFill>
                <a:latin typeface="微软雅黑" panose="020B0503020204020204" pitchFamily="34" charset="-122"/>
                <a:ea typeface="微软雅黑" panose="020B0503020204020204" pitchFamily="34" charset="-122"/>
              </a:rPr>
              <a:t>后仿真的测试指令通过以IP核方式实现的RAM来进行测试。</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69570" y="391160"/>
            <a:ext cx="8229600" cy="608330"/>
          </a:xfrm>
        </p:spPr>
        <p:txBody>
          <a:bodyPr/>
          <a:lstStyle/>
          <a:p>
            <a:pPr marL="0" indent="0" algn="l">
              <a:buFont typeface="Wingdings" panose="05000000000000000000" charset="0"/>
              <a:buNone/>
            </a:pPr>
            <a:r>
              <a:t>7.6.3 下板测试</a:t>
            </a:r>
          </a:p>
        </p:txBody>
      </p:sp>
      <p:sp>
        <p:nvSpPr>
          <p:cNvPr id="100" name="文本框 99"/>
          <p:cNvSpPr txBox="1"/>
          <p:nvPr/>
        </p:nvSpPr>
        <p:spPr>
          <a:xfrm>
            <a:off x="614680" y="1313180"/>
            <a:ext cx="7750175" cy="4707890"/>
          </a:xfrm>
          <a:prstGeom prst="rect">
            <a:avLst/>
          </a:prstGeom>
          <a:noFill/>
          <a:ln w="9525">
            <a:noFill/>
          </a:ln>
        </p:spPr>
        <p:txBody>
          <a:bodyPr wrap="square">
            <a:spAutoFit/>
          </a:bodyPr>
          <a:lstStyle/>
          <a:p>
            <a:pPr marL="342900" indent="-342900">
              <a:buFont typeface="Wingdings" panose="05000000000000000000" charset="0"/>
              <a:buChar char=""/>
            </a:pPr>
            <a:r>
              <a:rPr lang="zh-CN" altLang="en-US" sz="2000">
                <a:solidFill>
                  <a:schemeClr val="tx1"/>
                </a:solidFill>
                <a:latin typeface="微软雅黑" panose="020B0503020204020204" pitchFamily="34" charset="-122"/>
                <a:ea typeface="微软雅黑" panose="020B0503020204020204" pitchFamily="34" charset="-122"/>
              </a:rPr>
              <a:t>我们自行编写的指令RAM用来初始化内存的initial指令不可综合，无法在开发板上运行，我们可以使用Vivado提供的IP核来替换我们的ram，其可以使用一个coe文件来初始化内存。</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rPr>
              <a:t>Coe为初始化ROM的配置文件，以下为coe文件格式实例：</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rPr>
              <a:t>//16表示为16进制，可按需求更改</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memory_initialization_radix = 16;</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memory_initialization_vector = </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a:t>
            </a:r>
            <a:r>
              <a:rPr lang="en-US" altLang="zh-CN" sz="2000">
                <a:solidFill>
                  <a:schemeClr val="tx1"/>
                </a:solidFill>
                <a:latin typeface="微软雅黑" panose="020B0503020204020204" pitchFamily="34" charset="-122"/>
                <a:ea typeface="微软雅黑" panose="020B0503020204020204" pitchFamily="34" charset="-122"/>
              </a:rPr>
              <a:t>//</a:t>
            </a:r>
            <a:r>
              <a:rPr lang="zh-CN" altLang="en-US" sz="2000">
                <a:solidFill>
                  <a:schemeClr val="tx1"/>
                </a:solidFill>
                <a:latin typeface="微软雅黑" panose="020B0503020204020204" pitchFamily="34" charset="-122"/>
                <a:ea typeface="微软雅黑" panose="020B0503020204020204" pitchFamily="34" charset="-122"/>
              </a:rPr>
              <a:t>测试程序的机器码：</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00000000</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241d03fc</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0800002d</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27bdffe0</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afbf0018</a:t>
            </a:r>
          </a:p>
          <a:p>
            <a:pPr marL="0" indent="0">
              <a:buFont typeface="Wingdings" panose="05000000000000000000" charset="0"/>
              <a:buNone/>
            </a:pPr>
            <a:r>
              <a:rPr lang="zh-CN" altLang="en-US" sz="2000">
                <a:solidFill>
                  <a:srgbClr val="04619D"/>
                </a:solidFill>
                <a:latin typeface="微软雅黑" panose="020B0503020204020204" pitchFamily="34" charset="-122"/>
                <a:ea typeface="微软雅黑" panose="020B0503020204020204" pitchFamily="34" charset="-122"/>
              </a:rPr>
              <a:t>    afbe0014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523" t="15384" b="513"/>
          <a:stretch>
            <a:fillRect/>
          </a:stretch>
        </p:blipFill>
        <p:spPr bwMode="auto">
          <a:xfrm>
            <a:off x="0" y="1"/>
            <a:ext cx="9143999" cy="4760686"/>
          </a:xfrm>
          <a:prstGeom prst="rect">
            <a:avLst/>
          </a:prstGeom>
          <a:noFill/>
          <a:extLst>
            <a:ext uri="{909E8E84-426E-40DD-AFC4-6F175D3DCCD1}">
              <a14:hiddenFill xmlns:a14="http://schemas.microsoft.com/office/drawing/2010/main">
                <a:solidFill>
                  <a:srgbClr val="FFFFFF"/>
                </a:solidFill>
              </a14:hiddenFill>
            </a:ext>
          </a:extLst>
        </p:spPr>
      </p:pic>
      <p:sp>
        <p:nvSpPr>
          <p:cNvPr id="14" name="任意多边形 13"/>
          <p:cNvSpPr/>
          <p:nvPr/>
        </p:nvSpPr>
        <p:spPr>
          <a:xfrm>
            <a:off x="0" y="2842036"/>
            <a:ext cx="9143999" cy="2051818"/>
          </a:xfrm>
          <a:custGeom>
            <a:avLst/>
            <a:gdLst>
              <a:gd name="connsiteX0" fmla="*/ 9143999 w 9143999"/>
              <a:gd name="connsiteY0" fmla="*/ 0 h 2051818"/>
              <a:gd name="connsiteX1" fmla="*/ 9143999 w 9143999"/>
              <a:gd name="connsiteY1" fmla="*/ 2051818 h 2051818"/>
              <a:gd name="connsiteX2" fmla="*/ 0 w 9143999"/>
              <a:gd name="connsiteY2" fmla="*/ 2051818 h 2051818"/>
              <a:gd name="connsiteX3" fmla="*/ 0 w 9143999"/>
              <a:gd name="connsiteY3" fmla="*/ 1204077 h 2051818"/>
              <a:gd name="connsiteX4" fmla="*/ 6027 w 9143999"/>
              <a:gd name="connsiteY4" fmla="*/ 1207403 h 2051818"/>
              <a:gd name="connsiteX5" fmla="*/ 7674511 w 9143999"/>
              <a:gd name="connsiteY5" fmla="*/ 718908 h 2051818"/>
              <a:gd name="connsiteX6" fmla="*/ 9044856 w 9143999"/>
              <a:gd name="connsiteY6" fmla="*/ 57555 h 2051818"/>
              <a:gd name="connsiteX7" fmla="*/ 9143999 w 9143999"/>
              <a:gd name="connsiteY7" fmla="*/ 0 h 2051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3999" h="2051818">
                <a:moveTo>
                  <a:pt x="9143999" y="0"/>
                </a:moveTo>
                <a:lnTo>
                  <a:pt x="9143999" y="2051818"/>
                </a:lnTo>
                <a:lnTo>
                  <a:pt x="0" y="2051818"/>
                </a:lnTo>
                <a:lnTo>
                  <a:pt x="0" y="1204077"/>
                </a:lnTo>
                <a:lnTo>
                  <a:pt x="6027" y="1207403"/>
                </a:lnTo>
                <a:cubicBezTo>
                  <a:pt x="2066505" y="2238985"/>
                  <a:pt x="5621740" y="1499327"/>
                  <a:pt x="7674511" y="718908"/>
                </a:cubicBezTo>
                <a:cubicBezTo>
                  <a:pt x="8085065" y="562824"/>
                  <a:pt x="8552064" y="336225"/>
                  <a:pt x="9044856" y="57555"/>
                </a:cubicBezTo>
                <a:lnTo>
                  <a:pt x="9143999" y="0"/>
                </a:lnTo>
                <a:close/>
              </a:path>
            </a:pathLst>
          </a:custGeom>
          <a:gradFill>
            <a:gsLst>
              <a:gs pos="0">
                <a:srgbClr val="04619D"/>
              </a:gs>
              <a:gs pos="100000">
                <a:srgbClr val="342275">
                  <a:alpha val="8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15" name="任意多边形 14"/>
          <p:cNvSpPr/>
          <p:nvPr/>
        </p:nvSpPr>
        <p:spPr>
          <a:xfrm>
            <a:off x="0" y="3379990"/>
            <a:ext cx="9143999" cy="3478011"/>
          </a:xfrm>
          <a:custGeom>
            <a:avLst/>
            <a:gdLst>
              <a:gd name="connsiteX0" fmla="*/ 9143999 w 9143999"/>
              <a:gd name="connsiteY0" fmla="*/ 0 h 3478011"/>
              <a:gd name="connsiteX1" fmla="*/ 9143999 w 9143999"/>
              <a:gd name="connsiteY1" fmla="*/ 1393716 h 3478011"/>
              <a:gd name="connsiteX2" fmla="*/ 9143999 w 9143999"/>
              <a:gd name="connsiteY2" fmla="*/ 1513865 h 3478011"/>
              <a:gd name="connsiteX3" fmla="*/ 9143999 w 9143999"/>
              <a:gd name="connsiteY3" fmla="*/ 3478011 h 3478011"/>
              <a:gd name="connsiteX4" fmla="*/ 0 w 9143999"/>
              <a:gd name="connsiteY4" fmla="*/ 3478011 h 3478011"/>
              <a:gd name="connsiteX5" fmla="*/ 0 w 9143999"/>
              <a:gd name="connsiteY5" fmla="*/ 1513865 h 3478011"/>
              <a:gd name="connsiteX6" fmla="*/ 0 w 9143999"/>
              <a:gd name="connsiteY6" fmla="*/ 1393716 h 3478011"/>
              <a:gd name="connsiteX7" fmla="*/ 0 w 9143999"/>
              <a:gd name="connsiteY7" fmla="*/ 846204 h 3478011"/>
              <a:gd name="connsiteX8" fmla="*/ 303379 w 9143999"/>
              <a:gd name="connsiteY8" fmla="*/ 970246 h 3478011"/>
              <a:gd name="connsiteX9" fmla="*/ 8360497 w 9143999"/>
              <a:gd name="connsiteY9" fmla="*/ 342756 h 3478011"/>
              <a:gd name="connsiteX10" fmla="*/ 8941037 w 9143999"/>
              <a:gd name="connsiteY10" fmla="*/ 98098 h 347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43999" h="3478011">
                <a:moveTo>
                  <a:pt x="9143999" y="0"/>
                </a:moveTo>
                <a:lnTo>
                  <a:pt x="9143999" y="1393716"/>
                </a:lnTo>
                <a:lnTo>
                  <a:pt x="9143999" y="1513865"/>
                </a:lnTo>
                <a:lnTo>
                  <a:pt x="9143999" y="3478011"/>
                </a:lnTo>
                <a:lnTo>
                  <a:pt x="0" y="3478011"/>
                </a:lnTo>
                <a:lnTo>
                  <a:pt x="0" y="1513865"/>
                </a:lnTo>
                <a:lnTo>
                  <a:pt x="0" y="1393716"/>
                </a:lnTo>
                <a:lnTo>
                  <a:pt x="0" y="846204"/>
                </a:lnTo>
                <a:lnTo>
                  <a:pt x="303379" y="970246"/>
                </a:lnTo>
                <a:cubicBezTo>
                  <a:pt x="2685816" y="1852356"/>
                  <a:pt x="6241504" y="1135756"/>
                  <a:pt x="8360497" y="342756"/>
                </a:cubicBezTo>
                <a:cubicBezTo>
                  <a:pt x="8544757" y="273800"/>
                  <a:pt x="8739002" y="191802"/>
                  <a:pt x="8941037" y="98098"/>
                </a:cubicBezTo>
                <a:close/>
              </a:path>
            </a:pathLst>
          </a:custGeom>
          <a:gradFill flip="none" rotWithShape="1">
            <a:gsLst>
              <a:gs pos="17000">
                <a:schemeClr val="bg1"/>
              </a:gs>
              <a:gs pos="100000">
                <a:srgbClr val="DFDFDF">
                  <a:lumMod val="52000"/>
                  <a:lumOff val="48000"/>
                </a:srgbClr>
              </a:gs>
            </a:gsLst>
            <a:lin ang="270000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ea typeface="微软雅黑" panose="020B0503020204020204" pitchFamily="34" charset="-122"/>
            </a:endParaRPr>
          </a:p>
        </p:txBody>
      </p:sp>
      <p:sp>
        <p:nvSpPr>
          <p:cNvPr id="8" name="TextBox 8"/>
          <p:cNvSpPr txBox="1"/>
          <p:nvPr/>
        </p:nvSpPr>
        <p:spPr>
          <a:xfrm>
            <a:off x="3458292" y="5351655"/>
            <a:ext cx="2228139" cy="1200329"/>
          </a:xfrm>
          <a:prstGeom prst="rect">
            <a:avLst/>
          </a:prstGeom>
          <a:noFill/>
        </p:spPr>
        <p:txBody>
          <a:bodyPr wrap="square" rtlCol="0">
            <a:spAutoFit/>
          </a:bodyPr>
          <a:lstStyle/>
          <a:p>
            <a:pPr algn="ctr">
              <a:lnSpc>
                <a:spcPct val="120000"/>
              </a:lnSpc>
            </a:pPr>
            <a:r>
              <a:rPr lang="zh-CN" altLang="en-US" sz="3600" b="1">
                <a:solidFill>
                  <a:srgbClr val="04619D"/>
                </a:solidFill>
                <a:latin typeface="Arial" panose="020B0604020202020204" pitchFamily="34" charset="0"/>
                <a:ea typeface="微软雅黑" panose="020B0503020204020204" pitchFamily="34" charset="-122"/>
                <a:cs typeface="Arial" panose="020B0604020202020204" pitchFamily="34" charset="0"/>
              </a:rPr>
              <a:t>谢谢聆听</a:t>
            </a:r>
            <a:endParaRPr lang="en-US" altLang="zh-CN" sz="3600" b="1" dirty="0">
              <a:solidFill>
                <a:srgbClr val="04619D"/>
              </a:solidFill>
              <a:latin typeface="Arial" panose="020B0604020202020204" pitchFamily="34" charset="0"/>
              <a:ea typeface="微软雅黑" panose="020B0503020204020204" pitchFamily="34" charset="-122"/>
              <a:cs typeface="Arial" panose="020B0604020202020204" pitchFamily="34" charset="0"/>
            </a:endParaRPr>
          </a:p>
          <a:p>
            <a:pPr algn="ctr">
              <a:lnSpc>
                <a:spcPct val="120000"/>
              </a:lnSpc>
            </a:pPr>
            <a:r>
              <a:rPr lang="en-US" altLang="zh-CN">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rPr>
              <a:t>Thank You</a:t>
            </a:r>
            <a:endParaRPr lang="zh-CN" altLang="en-US" dirty="0">
              <a:solidFill>
                <a:schemeClr val="tx1">
                  <a:lumMod val="75000"/>
                  <a:lumOff val="25000"/>
                </a:schemeClr>
              </a:solidFill>
              <a:latin typeface="Arial" panose="020B0604020202020204" pitchFamily="34" charset="0"/>
              <a:ea typeface="微软雅黑" panose="020B0503020204020204" pitchFamily="34" charset="-122"/>
              <a:cs typeface="Arial" panose="020B0604020202020204" pitchFamily="34" charset="0"/>
            </a:endParaRPr>
          </a:p>
        </p:txBody>
      </p:sp>
      <p:pic>
        <p:nvPicPr>
          <p:cNvPr id="13" name="图片 12"/>
          <p:cNvPicPr>
            <a:picLocks noChangeAspect="1"/>
          </p:cNvPicPr>
          <p:nvPr/>
        </p:nvPicPr>
        <p:blipFill rotWithShape="1">
          <a:blip r:embed="rId3" cstate="print">
            <a:extLst>
              <a:ext uri="{28A0092B-C50C-407E-A947-70E740481C1C}">
                <a14:useLocalDpi xmlns:a14="http://schemas.microsoft.com/office/drawing/2010/main" val="0"/>
              </a:ext>
            </a:extLst>
          </a:blip>
          <a:srcRect r="69975"/>
          <a:stretch>
            <a:fillRect/>
          </a:stretch>
        </p:blipFill>
        <p:spPr>
          <a:xfrm>
            <a:off x="352949" y="5516842"/>
            <a:ext cx="865985" cy="86967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默认设计模板">
  <a:themeElements>
    <a:clrScheme name="自定义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noFill/>
          <a:prstDash val="solid"/>
          <a:round/>
          <a:headEnd type="none" w="med" len="med"/>
          <a:tailEnd type="none" w="med" len="med"/>
        </a:ln>
      </a:spPr>
      <a:bodyPr vert="horz" wrap="square" lIns="91440" tIns="45720" rIns="91440" bIns="45720" numCol="1" rtlCol="0"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sz="1800" b="0" i="0" u="none" strike="noStrike" cap="none" normalizeH="0" baseline="0" dirty="0" smtClean="0">
            <a:ln>
              <a:noFill/>
            </a:ln>
            <a:solidFill>
              <a:schemeClr val="tx2"/>
            </a:solidFill>
            <a:effectLst/>
            <a:latin typeface="微软雅黑" panose="020B0503020204020204" pitchFamily="34" charset="-122"/>
            <a:ea typeface="微软雅黑" panose="020B0503020204020204" pitchFamily="34"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ctr" anchorCtr="0" compatLnSpc="1"/>
      <a:lstStyle>
        <a:defPPr marL="0" marR="0" indent="0" algn="r" defTabSz="914400" rtl="0" eaLnBrk="1" fontAlgn="base" latinLnBrk="0" hangingPunct="1">
          <a:lnSpc>
            <a:spcPct val="100000"/>
          </a:lnSpc>
          <a:spcBef>
            <a:spcPct val="0"/>
          </a:spcBef>
          <a:spcAft>
            <a:spcPct val="0"/>
          </a:spcAft>
          <a:buClrTx/>
          <a:buSzTx/>
          <a:buFontTx/>
          <a:buNone/>
          <a:defRPr kumimoji="0" lang="zh-CN" altLang="en-US" sz="2400" b="0" i="0" u="none" strike="noStrike" cap="none" normalizeH="0" baseline="0" smtClean="0">
            <a:ln>
              <a:noFill/>
            </a:ln>
            <a:solidFill>
              <a:schemeClr val="tx2"/>
            </a:solidFill>
            <a:effectLst/>
            <a:latin typeface="Arial" panose="020B0604020202020204" pitchFamily="34" charset="0"/>
            <a:ea typeface="宋体" panose="02010600030101010101" pitchFamily="2" charset="-122"/>
          </a:defRPr>
        </a:defPPr>
      </a:lstStyle>
    </a:lnDef>
    <a:txDef>
      <a:spPr>
        <a:noFill/>
      </a:spPr>
      <a:bodyPr wrap="square" rtlCol="0">
        <a:noAutofit/>
      </a:bodyPr>
      <a:lstStyle>
        <a:defPPr algn="l">
          <a:defRPr sz="1800" dirty="0">
            <a:latin typeface="微软雅黑" panose="020B0503020204020204" pitchFamily="34" charset="-122"/>
            <a:ea typeface="微软雅黑" panose="020B0503020204020204" pitchFamily="34" charset="-122"/>
          </a:defRPr>
        </a:defPPr>
      </a:lstStyle>
    </a:tx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7230</Words>
  <Application>Microsoft Office PowerPoint</Application>
  <PresentationFormat>全屏显示(4:3)</PresentationFormat>
  <Paragraphs>2344</Paragraphs>
  <Slides>69</Slides>
  <Notes>36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69</vt:i4>
      </vt:variant>
    </vt:vector>
  </HeadingPairs>
  <TitlesOfParts>
    <vt:vector size="76" baseType="lpstr">
      <vt:lpstr>宋体</vt:lpstr>
      <vt:lpstr>微软雅黑</vt:lpstr>
      <vt:lpstr>Arial</vt:lpstr>
      <vt:lpstr>Calibri</vt:lpstr>
      <vt:lpstr>Courier New</vt:lpstr>
      <vt:lpstr>Wingdings</vt:lpstr>
      <vt:lpstr>默认设计模板</vt:lpstr>
      <vt:lpstr>7.5  MIPS CPU 基础与设计</vt:lpstr>
      <vt:lpstr>PowerPoint 演示文稿</vt:lpstr>
      <vt:lpstr>7.5.1单周期CPU设计</vt:lpstr>
      <vt:lpstr>数据通路设计</vt:lpstr>
      <vt:lpstr>1) ADDU Rd,Rs,Rt</vt:lpstr>
      <vt:lpstr>1) ADDU Rd,Rs,Rt</vt:lpstr>
      <vt:lpstr>2) SUBU Rd,Rs,Rt</vt:lpstr>
      <vt:lpstr>2) SUBU Rd,Rs,Rt</vt:lpstr>
      <vt:lpstr>3) SLL Rd,Rt,Sa</vt:lpstr>
      <vt:lpstr>3) SLL Rd,Rt,Sa</vt:lpstr>
      <vt:lpstr>4) ORI Rt,Rs,imm16</vt:lpstr>
      <vt:lpstr>4) ORI Rt,Rs,imm16</vt:lpstr>
      <vt:lpstr>5) LW Rt,offset（base）</vt:lpstr>
      <vt:lpstr>5)  LW Rt,offset（base）</vt:lpstr>
      <vt:lpstr>6) SW Rt,offset（base）</vt:lpstr>
      <vt:lpstr>6)  SW Rt,offset（base）</vt:lpstr>
      <vt:lpstr>7) BEQ Rs,Rt,offset</vt:lpstr>
      <vt:lpstr>7)  BEQ Rs,Rt,offset</vt:lpstr>
      <vt:lpstr>8) J target</vt:lpstr>
      <vt:lpstr>8)  J target</vt:lpstr>
      <vt:lpstr>  执行8条指令各部件输入输出关系</vt:lpstr>
      <vt:lpstr>9)  绘制整个数据通路</vt:lpstr>
      <vt:lpstr>控制部件设计</vt:lpstr>
      <vt:lpstr>1）画指令流程图</vt:lpstr>
      <vt:lpstr>1）画指令流程图</vt:lpstr>
      <vt:lpstr>1）画指令流程图</vt:lpstr>
      <vt:lpstr>1）画指令流程图</vt:lpstr>
      <vt:lpstr>2）编排指令操作时间表</vt:lpstr>
      <vt:lpstr>    8条指令控制信号表</vt:lpstr>
      <vt:lpstr>Addu指令执行所需控制信号</vt:lpstr>
      <vt:lpstr>    8条指令的操作时间表</vt:lpstr>
      <vt:lpstr>PowerPoint 演示文稿</vt:lpstr>
      <vt:lpstr>PowerPoint 演示文稿</vt:lpstr>
      <vt:lpstr>    加入MUX6的时间表</vt:lpstr>
      <vt:lpstr>3）控制信号综合</vt:lpstr>
      <vt:lpstr>3）控制信号综合</vt:lpstr>
      <vt:lpstr>4）构成微操作序列形成部件的组合逻辑网络</vt:lpstr>
      <vt:lpstr>5）8条指令CPU逻辑结构</vt:lpstr>
      <vt:lpstr>7.5.2 多周期CPU设计</vt:lpstr>
      <vt:lpstr>7.5.2 多周期CPU设计</vt:lpstr>
      <vt:lpstr>7.5.2 多周期CPU设计</vt:lpstr>
      <vt:lpstr>1）数据通路设计</vt:lpstr>
      <vt:lpstr>    8条指令的多周期CPU数据通路</vt:lpstr>
      <vt:lpstr>2）控制器设计</vt:lpstr>
      <vt:lpstr>    指令流程图</vt:lpstr>
      <vt:lpstr>    指令流程图</vt:lpstr>
      <vt:lpstr>    指令流程图</vt:lpstr>
      <vt:lpstr>    指令流程图</vt:lpstr>
      <vt:lpstr>    编排指令操作时间表</vt:lpstr>
      <vt:lpstr>    编排指令操作时间表</vt:lpstr>
      <vt:lpstr>PowerPoint 演示文稿</vt:lpstr>
      <vt:lpstr>    8条指令控制信号表</vt:lpstr>
      <vt:lpstr>    8条指令控制信号表</vt:lpstr>
      <vt:lpstr>Rdc的输入有两个来源，IR15-11和IR20-16， 所以，在Rdc的输入端要加一个MUX6</vt:lpstr>
      <vt:lpstr>    加入MUX6的8条指令控制信号表</vt:lpstr>
      <vt:lpstr>    加入MUX6的8条指令控制信号表</vt:lpstr>
      <vt:lpstr> 3）进行微操作综合</vt:lpstr>
      <vt:lpstr> 3）进行微操作综合</vt:lpstr>
      <vt:lpstr>4）多周期CPU的控制部件的状态转移图</vt:lpstr>
      <vt:lpstr>    8条指令有限状态机状态转换表</vt:lpstr>
      <vt:lpstr>    二进制编码8条指令有限状态机状态转换表</vt:lpstr>
      <vt:lpstr>    多周期CPU控制部件逻辑结构</vt:lpstr>
      <vt:lpstr>8条指令的多周期CPU数据通路  与上页控制部件逻辑结构合并，形成完整的8条指令CPU逻辑图（见下页）</vt:lpstr>
      <vt:lpstr>    8条指令多周期CPU逻辑图</vt:lpstr>
      <vt:lpstr>7.6 CPU的测试</vt:lpstr>
      <vt:lpstr>7.6.1 前仿真测试</vt:lpstr>
      <vt:lpstr>7.6.2 后仿真测试</vt:lpstr>
      <vt:lpstr>7.6.3 下板测试</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PPTfans网设计</dc:title>
  <dc:creator>林辉强</dc:creator>
  <cp:keywords>www.pptfans.cn</cp:keywords>
  <cp:lastModifiedBy>Qa1398</cp:lastModifiedBy>
  <cp:revision>1894</cp:revision>
  <cp:lastPrinted>2113-01-01T00:00:00Z</cp:lastPrinted>
  <dcterms:created xsi:type="dcterms:W3CDTF">2113-01-01T00:00:00Z</dcterms:created>
  <dcterms:modified xsi:type="dcterms:W3CDTF">2022-05-23T06:42:07Z</dcterms:modified>
  <cp:category>ppt模板设计</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KSOProductBuildVer">
    <vt:lpwstr>2052-10.1.0.7106</vt:lpwstr>
  </property>
</Properties>
</file>
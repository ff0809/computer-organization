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4"/>
  </p:notesMasterIdLst>
  <p:sldIdLst>
    <p:sldId id="256" r:id="rId2"/>
    <p:sldId id="257" r:id="rId3"/>
    <p:sldId id="258" r:id="rId4"/>
    <p:sldId id="259" r:id="rId5"/>
    <p:sldId id="260" r:id="rId6"/>
    <p:sldId id="261" r:id="rId7"/>
    <p:sldId id="262" r:id="rId8"/>
    <p:sldId id="263" r:id="rId9"/>
    <p:sldId id="264" r:id="rId10"/>
    <p:sldId id="265" r:id="rId11"/>
    <p:sldId id="266" r:id="rId12"/>
    <p:sldId id="423" r:id="rId13"/>
    <p:sldId id="422" r:id="rId14"/>
    <p:sldId id="269" r:id="rId15"/>
    <p:sldId id="270" r:id="rId16"/>
    <p:sldId id="271" r:id="rId17"/>
    <p:sldId id="424" r:id="rId18"/>
    <p:sldId id="425" r:id="rId19"/>
    <p:sldId id="426" r:id="rId20"/>
    <p:sldId id="427" r:id="rId21"/>
    <p:sldId id="428" r:id="rId22"/>
    <p:sldId id="429" r:id="rId23"/>
    <p:sldId id="278" r:id="rId24"/>
    <p:sldId id="279" r:id="rId25"/>
    <p:sldId id="430" r:id="rId26"/>
    <p:sldId id="281" r:id="rId27"/>
    <p:sldId id="282" r:id="rId28"/>
    <p:sldId id="504" r:id="rId29"/>
    <p:sldId id="503" r:id="rId30"/>
    <p:sldId id="505" r:id="rId31"/>
    <p:sldId id="506" r:id="rId32"/>
    <p:sldId id="431" r:id="rId33"/>
    <p:sldId id="285" r:id="rId34"/>
    <p:sldId id="286" r:id="rId35"/>
    <p:sldId id="287" r:id="rId36"/>
    <p:sldId id="288" r:id="rId37"/>
    <p:sldId id="289" r:id="rId38"/>
    <p:sldId id="290" r:id="rId39"/>
    <p:sldId id="432" r:id="rId40"/>
    <p:sldId id="433" r:id="rId41"/>
    <p:sldId id="434" r:id="rId42"/>
    <p:sldId id="294" r:id="rId43"/>
    <p:sldId id="43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452" r:id="rId61"/>
    <p:sldId id="312" r:id="rId62"/>
    <p:sldId id="313" r:id="rId63"/>
    <p:sldId id="314" r:id="rId64"/>
    <p:sldId id="315" r:id="rId65"/>
    <p:sldId id="316" r:id="rId66"/>
    <p:sldId id="453" r:id="rId67"/>
    <p:sldId id="317" r:id="rId68"/>
    <p:sldId id="318" r:id="rId69"/>
    <p:sldId id="319" r:id="rId70"/>
    <p:sldId id="436" r:id="rId71"/>
    <p:sldId id="320" r:id="rId72"/>
    <p:sldId id="321" r:id="rId73"/>
    <p:sldId id="438"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456" r:id="rId89"/>
    <p:sldId id="496" r:id="rId90"/>
    <p:sldId id="457" r:id="rId91"/>
    <p:sldId id="494" r:id="rId92"/>
    <p:sldId id="495" r:id="rId93"/>
    <p:sldId id="459" r:id="rId94"/>
    <p:sldId id="336" r:id="rId95"/>
    <p:sldId id="454" r:id="rId96"/>
    <p:sldId id="461" r:id="rId97"/>
    <p:sldId id="460" r:id="rId98"/>
    <p:sldId id="463" r:id="rId99"/>
    <p:sldId id="462" r:id="rId100"/>
    <p:sldId id="464" r:id="rId101"/>
    <p:sldId id="337" r:id="rId102"/>
    <p:sldId id="338" r:id="rId103"/>
    <p:sldId id="339" r:id="rId104"/>
    <p:sldId id="340" r:id="rId105"/>
    <p:sldId id="341" r:id="rId106"/>
    <p:sldId id="342" r:id="rId107"/>
    <p:sldId id="443" r:id="rId108"/>
    <p:sldId id="343" r:id="rId109"/>
    <p:sldId id="344" r:id="rId110"/>
    <p:sldId id="345" r:id="rId111"/>
    <p:sldId id="346" r:id="rId112"/>
    <p:sldId id="447" r:id="rId113"/>
    <p:sldId id="347" r:id="rId114"/>
    <p:sldId id="348" r:id="rId115"/>
    <p:sldId id="349" r:id="rId116"/>
    <p:sldId id="350" r:id="rId117"/>
    <p:sldId id="351" r:id="rId118"/>
    <p:sldId id="448" r:id="rId119"/>
    <p:sldId id="352" r:id="rId120"/>
    <p:sldId id="353" r:id="rId121"/>
    <p:sldId id="449" r:id="rId122"/>
    <p:sldId id="355" r:id="rId123"/>
    <p:sldId id="356" r:id="rId124"/>
    <p:sldId id="357" r:id="rId125"/>
    <p:sldId id="358" r:id="rId126"/>
    <p:sldId id="359" r:id="rId127"/>
    <p:sldId id="360" r:id="rId128"/>
    <p:sldId id="361" r:id="rId129"/>
    <p:sldId id="362" r:id="rId130"/>
    <p:sldId id="363" r:id="rId131"/>
    <p:sldId id="364" r:id="rId132"/>
    <p:sldId id="472" r:id="rId133"/>
    <p:sldId id="365" r:id="rId134"/>
    <p:sldId id="469" r:id="rId135"/>
    <p:sldId id="465" r:id="rId136"/>
    <p:sldId id="466" r:id="rId137"/>
    <p:sldId id="467" r:id="rId138"/>
    <p:sldId id="366" r:id="rId139"/>
    <p:sldId id="470" r:id="rId140"/>
    <p:sldId id="367" r:id="rId141"/>
    <p:sldId id="368" r:id="rId142"/>
    <p:sldId id="473" r:id="rId143"/>
    <p:sldId id="369" r:id="rId144"/>
    <p:sldId id="370" r:id="rId145"/>
    <p:sldId id="371" r:id="rId146"/>
    <p:sldId id="372" r:id="rId147"/>
    <p:sldId id="373" r:id="rId148"/>
    <p:sldId id="374" r:id="rId149"/>
    <p:sldId id="375" r:id="rId150"/>
    <p:sldId id="474" r:id="rId151"/>
    <p:sldId id="485" r:id="rId152"/>
    <p:sldId id="483" r:id="rId153"/>
    <p:sldId id="486" r:id="rId154"/>
    <p:sldId id="376" r:id="rId155"/>
    <p:sldId id="377" r:id="rId156"/>
    <p:sldId id="475" r:id="rId157"/>
    <p:sldId id="378" r:id="rId158"/>
    <p:sldId id="484" r:id="rId159"/>
    <p:sldId id="487" r:id="rId160"/>
    <p:sldId id="508" r:id="rId161"/>
    <p:sldId id="380" r:id="rId162"/>
    <p:sldId id="381" r:id="rId163"/>
    <p:sldId id="382" r:id="rId164"/>
    <p:sldId id="489" r:id="rId165"/>
    <p:sldId id="385" r:id="rId166"/>
    <p:sldId id="468" r:id="rId167"/>
    <p:sldId id="488" r:id="rId168"/>
    <p:sldId id="493" r:id="rId169"/>
    <p:sldId id="477" r:id="rId170"/>
    <p:sldId id="478" r:id="rId171"/>
    <p:sldId id="479" r:id="rId172"/>
    <p:sldId id="389" r:id="rId173"/>
    <p:sldId id="390" r:id="rId174"/>
    <p:sldId id="490" r:id="rId175"/>
    <p:sldId id="391" r:id="rId176"/>
    <p:sldId id="491" r:id="rId177"/>
    <p:sldId id="392" r:id="rId178"/>
    <p:sldId id="497" r:id="rId179"/>
    <p:sldId id="393" r:id="rId180"/>
    <p:sldId id="498" r:id="rId181"/>
    <p:sldId id="394" r:id="rId182"/>
    <p:sldId id="499" r:id="rId183"/>
    <p:sldId id="395" r:id="rId184"/>
    <p:sldId id="439" r:id="rId185"/>
    <p:sldId id="440" r:id="rId186"/>
    <p:sldId id="500" r:id="rId187"/>
    <p:sldId id="397" r:id="rId188"/>
    <p:sldId id="441" r:id="rId189"/>
    <p:sldId id="398" r:id="rId190"/>
    <p:sldId id="501" r:id="rId191"/>
    <p:sldId id="399" r:id="rId192"/>
    <p:sldId id="502" r:id="rId193"/>
    <p:sldId id="401" r:id="rId194"/>
    <p:sldId id="402" r:id="rId195"/>
    <p:sldId id="403" r:id="rId196"/>
    <p:sldId id="442" r:id="rId197"/>
    <p:sldId id="507" r:id="rId198"/>
    <p:sldId id="404" r:id="rId199"/>
    <p:sldId id="406" r:id="rId200"/>
    <p:sldId id="407" r:id="rId201"/>
    <p:sldId id="408" r:id="rId202"/>
    <p:sldId id="409" r:id="rId203"/>
    <p:sldId id="410" r:id="rId204"/>
    <p:sldId id="411" r:id="rId205"/>
    <p:sldId id="412" r:id="rId206"/>
    <p:sldId id="418" r:id="rId207"/>
    <p:sldId id="414" r:id="rId208"/>
    <p:sldId id="451" r:id="rId209"/>
    <p:sldId id="416" r:id="rId210"/>
    <p:sldId id="417" r:id="rId211"/>
    <p:sldId id="419" r:id="rId212"/>
    <p:sldId id="421" r:id="rId2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7E8FF"/>
    <a:srgbClr val="66FF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62" autoAdjust="0"/>
    <p:restoredTop sz="99382" autoAdjust="0"/>
  </p:normalViewPr>
  <p:slideViewPr>
    <p:cSldViewPr>
      <p:cViewPr varScale="1">
        <p:scale>
          <a:sx n="99" d="100"/>
          <a:sy n="99" d="100"/>
        </p:scale>
        <p:origin x="90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commentAuthors" Target="commentAuthor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33AABC-7474-4834-A4AC-52FE4242D36B}" type="datetimeFigureOut">
              <a:rPr lang="zh-CN" altLang="en-US" smtClean="0"/>
              <a:t>2025/3/14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D751FD-9BD6-409D-8448-333BF349E9F7}" type="slidenum">
              <a:rPr lang="zh-CN" altLang="en-US" smtClean="0"/>
              <a:t>‹#›</a:t>
            </a:fld>
            <a:endParaRPr lang="zh-CN" altLang="en-US"/>
          </a:p>
        </p:txBody>
      </p:sp>
    </p:spTree>
    <p:extLst>
      <p:ext uri="{BB962C8B-B14F-4D97-AF65-F5344CB8AC3E}">
        <p14:creationId xmlns:p14="http://schemas.microsoft.com/office/powerpoint/2010/main" val="3663902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a:ln/>
        </p:spPr>
      </p:sp>
      <p:sp>
        <p:nvSpPr>
          <p:cNvPr id="174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4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45DF683-EA25-4FA2-B6D7-22B497A2CF42}" type="slidenum">
              <a:rPr lang="zh-CN" altLang="en-US" sz="1200" b="0">
                <a:solidFill>
                  <a:schemeClr val="tx1"/>
                </a:solidFill>
                <a:latin typeface="Times New Roman" pitchFamily="18" charset="0"/>
                <a:ea typeface="宋体" pitchFamily="2" charset="-122"/>
              </a:rPr>
              <a:pPr eaLnBrk="1" hangingPunct="1"/>
              <a:t>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a:ln/>
        </p:spPr>
      </p:sp>
      <p:sp>
        <p:nvSpPr>
          <p:cNvPr id="175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5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2494294-12B5-46B3-A752-F872454F3409}" type="slidenum">
              <a:rPr lang="zh-CN" altLang="en-US" sz="1200" b="0">
                <a:solidFill>
                  <a:schemeClr val="tx1"/>
                </a:solidFill>
                <a:latin typeface="Times New Roman" pitchFamily="18" charset="0"/>
                <a:ea typeface="宋体" pitchFamily="2" charset="-122"/>
              </a:rPr>
              <a:pPr eaLnBrk="1" hangingPunct="1"/>
              <a:t>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a:ln/>
        </p:spPr>
      </p:sp>
      <p:sp>
        <p:nvSpPr>
          <p:cNvPr id="1761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61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B304CE7-3996-4303-9240-8804112FED9C}" type="slidenum">
              <a:rPr lang="zh-CN" altLang="en-US" sz="1200" b="0">
                <a:solidFill>
                  <a:schemeClr val="tx1"/>
                </a:solidFill>
                <a:latin typeface="Times New Roman" pitchFamily="18" charset="0"/>
                <a:ea typeface="宋体" pitchFamily="2" charset="-122"/>
              </a:rPr>
              <a:pPr eaLnBrk="1" hangingPunct="1"/>
              <a:t>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DA9C843-A91F-4109-9E5A-27FA814D149A}" type="slidenum">
              <a:rPr lang="zh-CN" altLang="en-US" sz="1200" b="0">
                <a:solidFill>
                  <a:schemeClr val="tx1"/>
                </a:solidFill>
                <a:latin typeface="Times New Roman" pitchFamily="18" charset="0"/>
                <a:ea typeface="宋体" pitchFamily="2" charset="-122"/>
              </a:rPr>
              <a:pPr eaLnBrk="1" hangingPunct="1"/>
              <a:t>4</a:t>
            </a:fld>
            <a:endParaRPr lang="zh-CN" altLang="en-US" sz="1200" b="0">
              <a:solidFill>
                <a:schemeClr val="tx1"/>
              </a:solidFill>
              <a:latin typeface="Times New Roman" pitchFamily="18" charset="0"/>
              <a:ea typeface="宋体" pitchFamily="2" charset="-122"/>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27BFE46-FC4F-4136-9C9B-0D9C3FF86A10}" type="slidenum">
              <a:rPr lang="zh-CN" altLang="en-US" sz="1200" b="0">
                <a:solidFill>
                  <a:schemeClr val="tx1"/>
                </a:solidFill>
                <a:latin typeface="Times New Roman" pitchFamily="18" charset="0"/>
                <a:ea typeface="宋体" pitchFamily="2" charset="-122"/>
              </a:rPr>
              <a:pPr eaLnBrk="1" hangingPunct="1"/>
              <a:t>5</a:t>
            </a:fld>
            <a:endParaRPr lang="zh-CN" altLang="en-US" sz="1200" b="0">
              <a:solidFill>
                <a:schemeClr val="tx1"/>
              </a:solidFill>
              <a:latin typeface="Times New Roman" pitchFamily="18" charset="0"/>
              <a:ea typeface="宋体" pitchFamily="2" charset="-122"/>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F416AE1-6143-4FA6-8147-B0BE35E8693A}" type="slidenum">
              <a:rPr lang="zh-CN" altLang="en-US" sz="1200" b="0">
                <a:solidFill>
                  <a:schemeClr val="tx1"/>
                </a:solidFill>
                <a:latin typeface="Times New Roman" pitchFamily="18" charset="0"/>
                <a:ea typeface="宋体" pitchFamily="2" charset="-122"/>
              </a:rPr>
              <a:pPr eaLnBrk="1" hangingPunct="1"/>
              <a:t>6</a:t>
            </a:fld>
            <a:endParaRPr lang="zh-CN" altLang="en-US" sz="1200" b="0">
              <a:solidFill>
                <a:schemeClr val="tx1"/>
              </a:solidFill>
              <a:latin typeface="Times New Roman" pitchFamily="18" charset="0"/>
              <a:ea typeface="宋体" pitchFamily="2" charset="-122"/>
            </a:endParaRPr>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a:ln/>
        </p:spPr>
      </p:sp>
      <p:sp>
        <p:nvSpPr>
          <p:cNvPr id="180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定点小数表示范围（</a:t>
            </a:r>
            <a:r>
              <a:rPr lang="en-US" altLang="zh-CN"/>
              <a:t>-1 1</a:t>
            </a:r>
            <a:r>
              <a:rPr lang="zh-CN" altLang="en-US"/>
              <a:t>）且不连续</a:t>
            </a:r>
          </a:p>
        </p:txBody>
      </p:sp>
      <p:sp>
        <p:nvSpPr>
          <p:cNvPr id="180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B064D6C-B7C4-4619-BC7B-3511F98B5743}" type="slidenum">
              <a:rPr lang="zh-CN" altLang="en-US" sz="1200" b="0">
                <a:solidFill>
                  <a:schemeClr val="tx1"/>
                </a:solidFill>
                <a:latin typeface="Times New Roman" pitchFamily="18" charset="0"/>
                <a:ea typeface="宋体" pitchFamily="2" charset="-122"/>
              </a:rPr>
              <a:pPr eaLnBrk="1" hangingPunct="1"/>
              <a:t>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908E9A6-9690-4150-B002-E74E77BFF673}" type="slidenum">
              <a:rPr lang="en-US" altLang="zh-CN" sz="1200" b="0">
                <a:solidFill>
                  <a:schemeClr val="tx1"/>
                </a:solidFill>
                <a:latin typeface="Times New Roman" pitchFamily="18" charset="0"/>
                <a:ea typeface="宋体" pitchFamily="2" charset="-122"/>
              </a:rPr>
              <a:pPr eaLnBrk="1" hangingPunct="1"/>
              <a:t>10</a:t>
            </a:fld>
            <a:endParaRPr lang="en-US" altLang="zh-CN" sz="1200" b="0">
              <a:solidFill>
                <a:schemeClr val="tx1"/>
              </a:solidFill>
              <a:latin typeface="Times New Roman" pitchFamily="18" charset="0"/>
              <a:ea typeface="宋体" pitchFamily="2" charset="-122"/>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44BC5AD-56DA-4603-8729-578267424C9D}" type="slidenum">
              <a:rPr lang="en-US" altLang="zh-CN" sz="1200" b="0">
                <a:solidFill>
                  <a:schemeClr val="tx1"/>
                </a:solidFill>
                <a:latin typeface="Times New Roman" pitchFamily="18" charset="0"/>
                <a:ea typeface="宋体" pitchFamily="2" charset="-122"/>
              </a:rPr>
              <a:pPr eaLnBrk="1" hangingPunct="1"/>
              <a:t>11</a:t>
            </a:fld>
            <a:endParaRPr lang="en-US" altLang="zh-CN" sz="1200" b="0">
              <a:solidFill>
                <a:schemeClr val="tx1"/>
              </a:solidFill>
              <a:latin typeface="Times New Roman" pitchFamily="18" charset="0"/>
              <a:ea typeface="宋体" pitchFamily="2" charset="-122"/>
            </a:endParaRPr>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9B8F1A5-EE27-4940-BBB8-A6FEB37DBB08}" type="slidenum">
              <a:rPr lang="en-US" altLang="zh-CN" sz="1200" b="0">
                <a:solidFill>
                  <a:srgbClr val="000000"/>
                </a:solidFill>
                <a:latin typeface="Times New Roman" pitchFamily="18" charset="0"/>
                <a:ea typeface="宋体" pitchFamily="2" charset="-122"/>
              </a:rPr>
              <a:pPr eaLnBrk="1" hangingPunct="1"/>
              <a:t>15</a:t>
            </a:fld>
            <a:endParaRPr lang="en-US" altLang="zh-CN" sz="1200" b="0">
              <a:solidFill>
                <a:srgbClr val="000000"/>
              </a:solidFill>
              <a:latin typeface="Times New Roman" pitchFamily="18" charset="0"/>
              <a:ea typeface="宋体" pitchFamily="2" charset="-122"/>
            </a:endParaRP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1EEE101-DFAB-44C1-A596-C64A842146EF}" type="slidenum">
              <a:rPr lang="en-US" altLang="zh-CN" sz="1200" b="0">
                <a:solidFill>
                  <a:srgbClr val="000000"/>
                </a:solidFill>
                <a:latin typeface="Times New Roman" pitchFamily="18" charset="0"/>
                <a:ea typeface="宋体" pitchFamily="2" charset="-122"/>
              </a:rPr>
              <a:pPr eaLnBrk="1" hangingPunct="1"/>
              <a:t>16</a:t>
            </a:fld>
            <a:endParaRPr lang="en-US" altLang="zh-CN" sz="1200" b="0">
              <a:solidFill>
                <a:srgbClr val="000000"/>
              </a:solidFill>
              <a:latin typeface="Times New Roman" pitchFamily="18" charset="0"/>
              <a:ea typeface="宋体" pitchFamily="2" charset="-122"/>
            </a:endParaRPr>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2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A578D86-E5D6-4ED0-A604-E52869E221C7}" type="slidenum">
              <a:rPr lang="zh-CN" altLang="en-US" sz="1200" b="0">
                <a:solidFill>
                  <a:schemeClr val="tx1"/>
                </a:solidFill>
                <a:latin typeface="Times New Roman" pitchFamily="18" charset="0"/>
                <a:ea typeface="宋体" pitchFamily="2" charset="-122"/>
              </a:rPr>
              <a:pPr eaLnBrk="1" hangingPunct="1"/>
              <a:t>23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a:ln/>
        </p:spPr>
      </p:sp>
      <p:sp>
        <p:nvSpPr>
          <p:cNvPr id="193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3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07DA643-4CB1-480F-83C5-060DE0A343F3}" type="slidenum">
              <a:rPr lang="zh-CN" altLang="en-US" sz="1200" b="0">
                <a:solidFill>
                  <a:schemeClr val="tx1"/>
                </a:solidFill>
                <a:latin typeface="Times New Roman" pitchFamily="18" charset="0"/>
                <a:ea typeface="宋体" pitchFamily="2" charset="-122"/>
              </a:rPr>
              <a:pPr eaLnBrk="1" hangingPunct="1"/>
              <a:t>24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a:ln/>
        </p:spPr>
      </p:sp>
      <p:sp>
        <p:nvSpPr>
          <p:cNvPr id="193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3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07DA643-4CB1-480F-83C5-060DE0A343F3}" type="slidenum">
              <a:rPr lang="zh-CN" altLang="en-US" sz="1200" b="0">
                <a:solidFill>
                  <a:schemeClr val="tx1"/>
                </a:solidFill>
                <a:latin typeface="Times New Roman" pitchFamily="18" charset="0"/>
                <a:ea typeface="宋体" pitchFamily="2" charset="-122"/>
              </a:rPr>
              <a:pPr eaLnBrk="1" hangingPunct="1"/>
              <a:t>25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TextEdit="1"/>
          </p:cNvSpPr>
          <p:nvPr>
            <p:ph type="sldImg"/>
          </p:nvPr>
        </p:nvSpPr>
        <p:spPr>
          <a:ln/>
        </p:spPr>
      </p:sp>
      <p:sp>
        <p:nvSpPr>
          <p:cNvPr id="195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55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2854B44-FD36-4BF1-84DD-7DDE8978045E}" type="slidenum">
              <a:rPr lang="zh-CN" altLang="en-US" sz="1200" b="0">
                <a:solidFill>
                  <a:srgbClr val="000000"/>
                </a:solidFill>
                <a:latin typeface="Times New Roman" pitchFamily="18" charset="0"/>
                <a:ea typeface="宋体" pitchFamily="2" charset="-122"/>
              </a:rPr>
              <a:pPr eaLnBrk="1" hangingPunct="1"/>
              <a:t>26</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a:ln/>
        </p:spPr>
      </p:sp>
      <p:sp>
        <p:nvSpPr>
          <p:cNvPr id="1966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66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DE32F14-43F2-4F08-9A61-0C266D0BDAFB}" type="slidenum">
              <a:rPr lang="zh-CN" altLang="en-US" sz="1200" b="0">
                <a:solidFill>
                  <a:schemeClr val="tx1"/>
                </a:solidFill>
                <a:latin typeface="Times New Roman" pitchFamily="18" charset="0"/>
                <a:ea typeface="宋体" pitchFamily="2" charset="-122"/>
              </a:rPr>
              <a:pPr eaLnBrk="1" hangingPunct="1"/>
              <a:t>27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81EEE9B-BB53-41AC-A755-213E5248CAB0}" type="slidenum">
              <a:rPr lang="zh-CN" altLang="en-US" sz="1200" b="0">
                <a:solidFill>
                  <a:schemeClr val="tx1"/>
                </a:solidFill>
                <a:latin typeface="Times New Roman" pitchFamily="18" charset="0"/>
                <a:ea typeface="宋体" pitchFamily="2" charset="-122"/>
              </a:rPr>
              <a:pPr eaLnBrk="1" hangingPunct="1"/>
              <a:t>28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81EEE9B-BB53-41AC-A755-213E5248CAB0}" type="slidenum">
              <a:rPr lang="zh-CN" altLang="en-US" sz="1200" b="0">
                <a:solidFill>
                  <a:schemeClr val="tx1"/>
                </a:solidFill>
                <a:latin typeface="Times New Roman" pitchFamily="18" charset="0"/>
                <a:ea typeface="宋体" pitchFamily="2" charset="-122"/>
              </a:rPr>
              <a:pPr eaLnBrk="1" hangingPunct="1"/>
              <a:t>29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81EEE9B-BB53-41AC-A755-213E5248CAB0}" type="slidenum">
              <a:rPr lang="zh-CN" altLang="en-US" sz="1200" b="0">
                <a:solidFill>
                  <a:schemeClr val="tx1"/>
                </a:solidFill>
                <a:latin typeface="Times New Roman" pitchFamily="18" charset="0"/>
                <a:ea typeface="宋体" pitchFamily="2" charset="-122"/>
              </a:rPr>
              <a:pPr eaLnBrk="1" hangingPunct="1"/>
              <a:t>30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81EEE9B-BB53-41AC-A755-213E5248CAB0}" type="slidenum">
              <a:rPr lang="zh-CN" altLang="en-US" sz="1200" b="0">
                <a:solidFill>
                  <a:schemeClr val="tx1"/>
                </a:solidFill>
                <a:latin typeface="Times New Roman" pitchFamily="18" charset="0"/>
                <a:ea typeface="宋体" pitchFamily="2" charset="-122"/>
              </a:rPr>
              <a:pPr eaLnBrk="1" hangingPunct="1"/>
              <a:t>31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a:ln/>
        </p:spPr>
      </p:sp>
      <p:sp>
        <p:nvSpPr>
          <p:cNvPr id="197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此处讲的是依照之前浮点数表示原理而制定的两种国际标准，主要是对尾数和阶数的规定。</a:t>
            </a:r>
          </a:p>
        </p:txBody>
      </p:sp>
      <p:sp>
        <p:nvSpPr>
          <p:cNvPr id="197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81EEE9B-BB53-41AC-A755-213E5248CAB0}" type="slidenum">
              <a:rPr lang="zh-CN" altLang="en-US" sz="1200" b="0">
                <a:solidFill>
                  <a:schemeClr val="tx1"/>
                </a:solidFill>
                <a:latin typeface="Times New Roman" pitchFamily="18" charset="0"/>
                <a:ea typeface="宋体" pitchFamily="2" charset="-122"/>
              </a:rPr>
              <a:pPr eaLnBrk="1" hangingPunct="1"/>
              <a:t>32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a:ln/>
        </p:spPr>
      </p:sp>
      <p:sp>
        <p:nvSpPr>
          <p:cNvPr id="199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9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DBAF86A-F601-4F4F-BCC4-FF5DC3C82048}" type="slidenum">
              <a:rPr lang="zh-CN" altLang="en-US" sz="1200" b="0">
                <a:solidFill>
                  <a:schemeClr val="tx1"/>
                </a:solidFill>
                <a:latin typeface="Times New Roman" pitchFamily="18" charset="0"/>
                <a:ea typeface="宋体" pitchFamily="2" charset="-122"/>
              </a:rPr>
              <a:pPr eaLnBrk="1" hangingPunct="1"/>
              <a:t>33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a:ln/>
        </p:spPr>
      </p:sp>
      <p:sp>
        <p:nvSpPr>
          <p:cNvPr id="200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0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EB2A954-18F4-4D5D-91E5-C90DF092E404}" type="slidenum">
              <a:rPr lang="zh-CN" altLang="en-US" sz="1200" b="0">
                <a:solidFill>
                  <a:schemeClr val="tx1"/>
                </a:solidFill>
                <a:latin typeface="Times New Roman" pitchFamily="18" charset="0"/>
                <a:ea typeface="宋体" pitchFamily="2" charset="-122"/>
              </a:rPr>
              <a:pPr eaLnBrk="1" hangingPunct="1"/>
              <a:t>34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幻灯片图像占位符 1"/>
          <p:cNvSpPr>
            <a:spLocks noGrp="1" noRot="1" noChangeAspect="1" noTextEdit="1"/>
          </p:cNvSpPr>
          <p:nvPr>
            <p:ph type="sldImg"/>
          </p:nvPr>
        </p:nvSpPr>
        <p:spPr>
          <a:ln/>
        </p:spPr>
      </p:sp>
      <p:sp>
        <p:nvSpPr>
          <p:cNvPr id="201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1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27BB6DE-7933-4218-A6B7-78C02C22811B}" type="slidenum">
              <a:rPr lang="zh-CN" altLang="en-US" sz="1200" b="0">
                <a:solidFill>
                  <a:schemeClr val="tx1"/>
                </a:solidFill>
                <a:latin typeface="Times New Roman" pitchFamily="18" charset="0"/>
                <a:ea typeface="宋体" pitchFamily="2" charset="-122"/>
              </a:rPr>
              <a:pPr eaLnBrk="1" hangingPunct="1"/>
              <a:t>35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a:ln/>
        </p:spPr>
      </p:sp>
      <p:sp>
        <p:nvSpPr>
          <p:cNvPr id="2027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27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B0CEF1D-156D-41AE-B242-580F2E53E017}" type="slidenum">
              <a:rPr lang="zh-CN" altLang="en-US" sz="1200" b="0">
                <a:solidFill>
                  <a:schemeClr val="tx1"/>
                </a:solidFill>
                <a:latin typeface="Times New Roman" pitchFamily="18" charset="0"/>
                <a:ea typeface="宋体" pitchFamily="2" charset="-122"/>
              </a:rPr>
              <a:pPr eaLnBrk="1" hangingPunct="1"/>
              <a:t>36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幻灯片图像占位符 1"/>
          <p:cNvSpPr>
            <a:spLocks noGrp="1" noRot="1" noChangeAspect="1" noTextEdit="1"/>
          </p:cNvSpPr>
          <p:nvPr>
            <p:ph type="sldImg"/>
          </p:nvPr>
        </p:nvSpPr>
        <p:spPr>
          <a:ln/>
        </p:spPr>
      </p:sp>
      <p:sp>
        <p:nvSpPr>
          <p:cNvPr id="203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37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69FD018-5707-4A7E-9D10-3E809BCE12A1}" type="slidenum">
              <a:rPr lang="zh-CN" altLang="en-US" sz="1200" b="0">
                <a:solidFill>
                  <a:srgbClr val="000000"/>
                </a:solidFill>
                <a:latin typeface="Times New Roman" pitchFamily="18" charset="0"/>
                <a:ea typeface="宋体" pitchFamily="2" charset="-122"/>
              </a:rPr>
              <a:pPr eaLnBrk="1" hangingPunct="1"/>
              <a:t>37</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4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A2C3EA6-99A2-48CB-9537-4DDA592A9FC0}" type="slidenum">
              <a:rPr lang="zh-CN" altLang="en-US" sz="1200" b="0">
                <a:solidFill>
                  <a:srgbClr val="000000"/>
                </a:solidFill>
                <a:latin typeface="Times New Roman" pitchFamily="18" charset="0"/>
                <a:ea typeface="宋体" pitchFamily="2" charset="-122"/>
              </a:rPr>
              <a:pPr eaLnBrk="1" hangingPunct="1"/>
              <a:t>38</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4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A2C3EA6-99A2-48CB-9537-4DDA592A9FC0}" type="slidenum">
              <a:rPr lang="zh-CN" altLang="en-US" sz="1200" b="0">
                <a:solidFill>
                  <a:srgbClr val="000000"/>
                </a:solidFill>
                <a:latin typeface="Times New Roman" pitchFamily="18" charset="0"/>
                <a:ea typeface="宋体" pitchFamily="2" charset="-122"/>
              </a:rPr>
              <a:pPr eaLnBrk="1" hangingPunct="1"/>
              <a:t>39</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4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A2C3EA6-99A2-48CB-9537-4DDA592A9FC0}" type="slidenum">
              <a:rPr lang="zh-CN" altLang="en-US" sz="1200" b="0">
                <a:solidFill>
                  <a:srgbClr val="000000"/>
                </a:solidFill>
                <a:latin typeface="Times New Roman" pitchFamily="18" charset="0"/>
                <a:ea typeface="宋体" pitchFamily="2" charset="-122"/>
              </a:rPr>
              <a:pPr eaLnBrk="1" hangingPunct="1"/>
              <a:t>40</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4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A2C3EA6-99A2-48CB-9537-4DDA592A9FC0}" type="slidenum">
              <a:rPr lang="zh-CN" altLang="en-US" sz="1200" b="0">
                <a:solidFill>
                  <a:srgbClr val="000000"/>
                </a:solidFill>
                <a:latin typeface="Times New Roman" pitchFamily="18" charset="0"/>
                <a:ea typeface="宋体" pitchFamily="2" charset="-122"/>
              </a:rPr>
              <a:pPr eaLnBrk="1" hangingPunct="1"/>
              <a:t>41</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a:ln/>
        </p:spPr>
      </p:sp>
      <p:sp>
        <p:nvSpPr>
          <p:cNvPr id="208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8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5476793-09AB-4761-91A9-D952AE5A5A6E}" type="slidenum">
              <a:rPr lang="zh-CN" altLang="en-US" sz="1200" b="0">
                <a:solidFill>
                  <a:srgbClr val="000000"/>
                </a:solidFill>
                <a:latin typeface="Times New Roman" pitchFamily="18" charset="0"/>
                <a:ea typeface="宋体" pitchFamily="2" charset="-122"/>
              </a:rPr>
              <a:pPr eaLnBrk="1" hangingPunct="1"/>
              <a:t>42</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a:ln/>
        </p:spPr>
      </p:sp>
      <p:sp>
        <p:nvSpPr>
          <p:cNvPr id="208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08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5476793-09AB-4761-91A9-D952AE5A5A6E}" type="slidenum">
              <a:rPr lang="zh-CN" altLang="en-US" sz="1200" b="0">
                <a:solidFill>
                  <a:srgbClr val="000000"/>
                </a:solidFill>
                <a:latin typeface="Times New Roman" pitchFamily="18" charset="0"/>
                <a:ea typeface="宋体" pitchFamily="2" charset="-122"/>
              </a:rPr>
              <a:pPr eaLnBrk="1" hangingPunct="1"/>
              <a:t>43</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a:ln/>
        </p:spPr>
      </p:sp>
      <p:sp>
        <p:nvSpPr>
          <p:cNvPr id="210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解释上例</a:t>
            </a:r>
          </a:p>
        </p:txBody>
      </p:sp>
      <p:sp>
        <p:nvSpPr>
          <p:cNvPr id="210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3FF0EE1-F831-4EFD-B045-15AD84292FC4}" type="slidenum">
              <a:rPr lang="zh-CN" altLang="en-US" sz="1200" b="0">
                <a:solidFill>
                  <a:srgbClr val="000000"/>
                </a:solidFill>
                <a:latin typeface="Times New Roman" pitchFamily="18" charset="0"/>
                <a:ea typeface="宋体" pitchFamily="2" charset="-122"/>
              </a:rPr>
              <a:pPr eaLnBrk="1" hangingPunct="1"/>
              <a:t>44</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幻灯片图像占位符 1"/>
          <p:cNvSpPr>
            <a:spLocks noGrp="1" noRot="1" noChangeAspect="1" noTextEdit="1"/>
          </p:cNvSpPr>
          <p:nvPr>
            <p:ph type="sldImg"/>
          </p:nvPr>
        </p:nvSpPr>
        <p:spPr>
          <a:ln/>
        </p:spPr>
      </p:sp>
      <p:sp>
        <p:nvSpPr>
          <p:cNvPr id="211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11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55B4F5B-7D78-4CF2-BECE-BB52DB373723}" type="slidenum">
              <a:rPr lang="zh-CN" altLang="en-US" sz="1200" b="0">
                <a:solidFill>
                  <a:srgbClr val="000000"/>
                </a:solidFill>
                <a:latin typeface="Times New Roman" pitchFamily="18" charset="0"/>
                <a:ea typeface="宋体" pitchFamily="2" charset="-122"/>
              </a:rPr>
              <a:pPr eaLnBrk="1" hangingPunct="1"/>
              <a:t>45</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a:ln/>
        </p:spPr>
      </p:sp>
      <p:sp>
        <p:nvSpPr>
          <p:cNvPr id="2129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尾数右移一位则保留了最高值位保留，但牺牲了最小值位，故有精度损失。阶值溢出则不是精度有损，而是机器 无法表示。</a:t>
            </a:r>
          </a:p>
        </p:txBody>
      </p:sp>
      <p:sp>
        <p:nvSpPr>
          <p:cNvPr id="2129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5EB6841-7344-466B-BC2F-4830684AA73F}" type="slidenum">
              <a:rPr lang="zh-CN" altLang="en-US" sz="1200" b="0">
                <a:solidFill>
                  <a:srgbClr val="000000"/>
                </a:solidFill>
                <a:latin typeface="Times New Roman" pitchFamily="18" charset="0"/>
                <a:ea typeface="宋体" pitchFamily="2" charset="-122"/>
              </a:rPr>
              <a:pPr eaLnBrk="1" hangingPunct="1"/>
              <a:t>46</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p:cNvSpPr>
            <a:spLocks noGrp="1" noRot="1" noChangeAspect="1" noTextEdit="1"/>
          </p:cNvSpPr>
          <p:nvPr>
            <p:ph type="sldImg"/>
          </p:nvPr>
        </p:nvSpPr>
        <p:spPr>
          <a:ln/>
        </p:spPr>
      </p:sp>
      <p:sp>
        <p:nvSpPr>
          <p:cNvPr id="214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尾数右移一位则保留了最高值位保留，但牺牲了最小值位，故有精度损失。阶值溢出则不是精度有损，而是机器 无法表示。</a:t>
            </a:r>
          </a:p>
        </p:txBody>
      </p:sp>
      <p:sp>
        <p:nvSpPr>
          <p:cNvPr id="214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FC426BF-108A-4889-B6D3-B94CB469A4C2}" type="slidenum">
              <a:rPr lang="zh-CN" altLang="en-US" sz="1200" b="0">
                <a:solidFill>
                  <a:srgbClr val="000000"/>
                </a:solidFill>
                <a:latin typeface="Times New Roman" pitchFamily="18" charset="0"/>
                <a:ea typeface="宋体" pitchFamily="2" charset="-122"/>
              </a:rPr>
              <a:pPr eaLnBrk="1" hangingPunct="1"/>
              <a:t>47</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a:ln/>
        </p:spPr>
      </p:sp>
      <p:sp>
        <p:nvSpPr>
          <p:cNvPr id="215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212852C-BBA4-4FB5-8111-C788540B5A87}" type="slidenum">
              <a:rPr lang="zh-CN" altLang="en-US" sz="1200" b="0">
                <a:solidFill>
                  <a:schemeClr val="tx1"/>
                </a:solidFill>
                <a:latin typeface="Times New Roman" pitchFamily="18" charset="0"/>
                <a:ea typeface="宋体" pitchFamily="2" charset="-122"/>
              </a:rPr>
              <a:pPr eaLnBrk="1" hangingPunct="1"/>
              <a:t>48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幻灯片图像占位符 1"/>
          <p:cNvSpPr>
            <a:spLocks noGrp="1" noRot="1" noChangeAspect="1" noTextEdit="1"/>
          </p:cNvSpPr>
          <p:nvPr>
            <p:ph type="sldImg"/>
          </p:nvPr>
        </p:nvSpPr>
        <p:spPr>
          <a:ln/>
        </p:spPr>
      </p:sp>
      <p:sp>
        <p:nvSpPr>
          <p:cNvPr id="216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6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28AFDF4-D440-4224-9C03-C70877B3B0AE}" type="slidenum">
              <a:rPr lang="zh-CN" altLang="en-US" sz="1200" b="0">
                <a:solidFill>
                  <a:srgbClr val="000000"/>
                </a:solidFill>
                <a:latin typeface="Times New Roman" pitchFamily="18" charset="0"/>
                <a:ea typeface="宋体" pitchFamily="2" charset="-122"/>
              </a:rPr>
              <a:pPr eaLnBrk="1" hangingPunct="1"/>
              <a:t>49</a:t>
            </a:fld>
            <a:endParaRPr lang="zh-CN" altLang="en-US" sz="1200" b="0">
              <a:solidFill>
                <a:srgbClr val="000000"/>
              </a:solidFill>
              <a:latin typeface="Times New Roman" pitchFamily="18" charset="0"/>
              <a:ea typeface="宋体"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a:ln/>
        </p:spPr>
      </p:sp>
      <p:sp>
        <p:nvSpPr>
          <p:cNvPr id="217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原码仅改变符号位，不改变值位。</a:t>
            </a:r>
          </a:p>
        </p:txBody>
      </p:sp>
      <p:sp>
        <p:nvSpPr>
          <p:cNvPr id="217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F44F0FB-0D62-49C7-8364-420CB74EC507}" type="slidenum">
              <a:rPr lang="zh-CN" altLang="en-US" sz="1200" b="0">
                <a:solidFill>
                  <a:schemeClr val="tx1"/>
                </a:solidFill>
                <a:latin typeface="Times New Roman" pitchFamily="18" charset="0"/>
                <a:ea typeface="宋体" pitchFamily="2" charset="-122"/>
              </a:rPr>
              <a:pPr eaLnBrk="1" hangingPunct="1"/>
              <a:t>50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p:cNvSpPr>
            <a:spLocks noGrp="1" noRot="1" noChangeAspect="1" noTextEdit="1"/>
          </p:cNvSpPr>
          <p:nvPr>
            <p:ph type="sldImg"/>
          </p:nvPr>
        </p:nvSpPr>
        <p:spPr>
          <a:ln/>
        </p:spPr>
      </p:sp>
      <p:sp>
        <p:nvSpPr>
          <p:cNvPr id="218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8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E0C0C69-7F38-4475-BF8F-327541F27EFD}" type="slidenum">
              <a:rPr lang="zh-CN" altLang="en-US" sz="1200" b="0">
                <a:solidFill>
                  <a:schemeClr val="tx1"/>
                </a:solidFill>
                <a:latin typeface="Times New Roman" pitchFamily="18" charset="0"/>
                <a:ea typeface="宋体" pitchFamily="2" charset="-122"/>
              </a:rPr>
              <a:pPr eaLnBrk="1" hangingPunct="1"/>
              <a:t>51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a:ln/>
        </p:spPr>
      </p:sp>
      <p:sp>
        <p:nvSpPr>
          <p:cNvPr id="219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9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84E5370-D45C-4728-B9EE-A458B0AD71D7}" type="slidenum">
              <a:rPr lang="zh-CN" altLang="en-US" sz="1200" b="0">
                <a:solidFill>
                  <a:schemeClr val="tx1"/>
                </a:solidFill>
                <a:latin typeface="Times New Roman" pitchFamily="18" charset="0"/>
                <a:ea typeface="宋体" pitchFamily="2" charset="-122"/>
              </a:rPr>
              <a:pPr eaLnBrk="1" hangingPunct="1"/>
              <a:t>52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p:cNvSpPr>
            <a:spLocks noGrp="1" noRot="1" noChangeAspect="1" noTextEdit="1"/>
          </p:cNvSpPr>
          <p:nvPr>
            <p:ph type="sldImg"/>
          </p:nvPr>
        </p:nvSpPr>
        <p:spPr>
          <a:ln/>
        </p:spPr>
      </p:sp>
      <p:sp>
        <p:nvSpPr>
          <p:cNvPr id="220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0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47CB8CC-4721-4548-9DCF-108E1E35C135}" type="slidenum">
              <a:rPr lang="zh-CN" altLang="en-US" sz="1200" b="0">
                <a:solidFill>
                  <a:schemeClr val="tx1"/>
                </a:solidFill>
                <a:latin typeface="Times New Roman" pitchFamily="18" charset="0"/>
                <a:ea typeface="宋体" pitchFamily="2" charset="-122"/>
              </a:rPr>
              <a:pPr eaLnBrk="1" hangingPunct="1"/>
              <a:t>53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a:ln/>
        </p:spPr>
      </p:sp>
      <p:sp>
        <p:nvSpPr>
          <p:cNvPr id="221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1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ED7BAFF-DAF9-45D6-95DD-4BC263F45E56}" type="slidenum">
              <a:rPr lang="zh-CN" altLang="en-US" sz="1200" b="0">
                <a:solidFill>
                  <a:schemeClr val="tx1"/>
                </a:solidFill>
                <a:latin typeface="Times New Roman" pitchFamily="18" charset="0"/>
                <a:ea typeface="宋体" pitchFamily="2" charset="-122"/>
              </a:rPr>
              <a:pPr eaLnBrk="1" hangingPunct="1"/>
              <a:t>54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p:cNvSpPr>
            <a:spLocks noGrp="1" noRot="1" noChangeAspect="1" noTextEdit="1"/>
          </p:cNvSpPr>
          <p:nvPr>
            <p:ph type="sldImg"/>
          </p:nvPr>
        </p:nvSpPr>
        <p:spPr>
          <a:ln/>
        </p:spPr>
      </p:sp>
      <p:sp>
        <p:nvSpPr>
          <p:cNvPr id="222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仅对负数反置其值位。</a:t>
            </a:r>
          </a:p>
        </p:txBody>
      </p:sp>
      <p:sp>
        <p:nvSpPr>
          <p:cNvPr id="222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FEEA14F-FF7C-4E4A-8DCF-C1DD31F702D0}" type="slidenum">
              <a:rPr lang="zh-CN" altLang="en-US" sz="1200" b="0">
                <a:solidFill>
                  <a:schemeClr val="tx1"/>
                </a:solidFill>
                <a:latin typeface="Times New Roman" pitchFamily="18" charset="0"/>
                <a:ea typeface="宋体" pitchFamily="2" charset="-122"/>
              </a:rPr>
              <a:pPr eaLnBrk="1" hangingPunct="1"/>
              <a:t>55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a:ln/>
        </p:spPr>
      </p:sp>
      <p:sp>
        <p:nvSpPr>
          <p:cNvPr id="223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3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E2D5786-2899-4E10-A3E8-C33262CB661C}" type="slidenum">
              <a:rPr lang="zh-CN" altLang="en-US" sz="1200" b="0">
                <a:solidFill>
                  <a:schemeClr val="tx1"/>
                </a:solidFill>
                <a:latin typeface="Times New Roman" pitchFamily="18" charset="0"/>
                <a:ea typeface="宋体" pitchFamily="2" charset="-122"/>
              </a:rPr>
              <a:pPr eaLnBrk="1" hangingPunct="1"/>
              <a:t>56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幻灯片图像占位符 1"/>
          <p:cNvSpPr>
            <a:spLocks noGrp="1" noRot="1" noChangeAspect="1" noTextEdit="1"/>
          </p:cNvSpPr>
          <p:nvPr>
            <p:ph type="sldImg"/>
          </p:nvPr>
        </p:nvSpPr>
        <p:spPr>
          <a:ln/>
        </p:spPr>
      </p:sp>
      <p:sp>
        <p:nvSpPr>
          <p:cNvPr id="224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4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807C238-D2D1-492F-A2B0-96DF6A6874D7}" type="slidenum">
              <a:rPr lang="zh-CN" altLang="en-US" sz="1200" b="0">
                <a:solidFill>
                  <a:schemeClr val="tx1"/>
                </a:solidFill>
                <a:latin typeface="Times New Roman" pitchFamily="18" charset="0"/>
                <a:ea typeface="宋体" pitchFamily="2" charset="-122"/>
              </a:rPr>
              <a:pPr eaLnBrk="1" hangingPunct="1"/>
              <a:t>57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a:ln/>
        </p:spPr>
      </p:sp>
      <p:sp>
        <p:nvSpPr>
          <p:cNvPr id="225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A6DF6CD-9A0F-465F-B600-9A6CE6932E74}" type="slidenum">
              <a:rPr lang="zh-CN" altLang="en-US" sz="1200" b="0">
                <a:solidFill>
                  <a:schemeClr val="tx1"/>
                </a:solidFill>
                <a:latin typeface="Times New Roman" pitchFamily="18" charset="0"/>
                <a:ea typeface="宋体" pitchFamily="2" charset="-122"/>
              </a:rPr>
              <a:pPr eaLnBrk="1" hangingPunct="1"/>
              <a:t>58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幻灯片图像占位符 1"/>
          <p:cNvSpPr>
            <a:spLocks noGrp="1" noRot="1" noChangeAspect="1" noTextEdit="1"/>
          </p:cNvSpPr>
          <p:nvPr>
            <p:ph type="sldImg"/>
          </p:nvPr>
        </p:nvSpPr>
        <p:spPr>
          <a:ln/>
        </p:spPr>
      </p:sp>
      <p:sp>
        <p:nvSpPr>
          <p:cNvPr id="226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0</a:t>
            </a:r>
            <a:r>
              <a:rPr lang="zh-CN" altLang="en-US"/>
              <a:t>的反码也有两种表示方式。</a:t>
            </a:r>
          </a:p>
        </p:txBody>
      </p:sp>
      <p:sp>
        <p:nvSpPr>
          <p:cNvPr id="226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7245ACE-5A26-4A27-B687-BC14079D7344}" type="slidenum">
              <a:rPr lang="zh-CN" altLang="en-US" sz="1200" b="0">
                <a:solidFill>
                  <a:schemeClr val="tx1"/>
                </a:solidFill>
                <a:latin typeface="Times New Roman" pitchFamily="18" charset="0"/>
                <a:ea typeface="宋体" pitchFamily="2" charset="-122"/>
              </a:rPr>
              <a:pPr eaLnBrk="1" hangingPunct="1"/>
              <a:t>59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幻灯片图像占位符 1"/>
          <p:cNvSpPr>
            <a:spLocks noGrp="1" noRot="1" noChangeAspect="1" noTextEdit="1"/>
          </p:cNvSpPr>
          <p:nvPr>
            <p:ph type="sldImg"/>
          </p:nvPr>
        </p:nvSpPr>
        <p:spPr>
          <a:ln/>
        </p:spPr>
      </p:sp>
      <p:sp>
        <p:nvSpPr>
          <p:cNvPr id="226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0</a:t>
            </a:r>
            <a:r>
              <a:rPr lang="zh-CN" altLang="en-US"/>
              <a:t>的反码也有两种表示方式。</a:t>
            </a:r>
          </a:p>
        </p:txBody>
      </p:sp>
      <p:sp>
        <p:nvSpPr>
          <p:cNvPr id="226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7245ACE-5A26-4A27-B687-BC14079D7344}" type="slidenum">
              <a:rPr lang="zh-CN" altLang="en-US" sz="1200" b="0">
                <a:solidFill>
                  <a:schemeClr val="tx1"/>
                </a:solidFill>
                <a:latin typeface="Times New Roman" pitchFamily="18" charset="0"/>
                <a:ea typeface="宋体" pitchFamily="2" charset="-122"/>
              </a:rPr>
              <a:pPr eaLnBrk="1" hangingPunct="1"/>
              <a:t>60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a:ln/>
        </p:spPr>
      </p:sp>
      <p:sp>
        <p:nvSpPr>
          <p:cNvPr id="227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近对负数值位反置加</a:t>
            </a:r>
            <a:r>
              <a:rPr lang="en-US" altLang="zh-CN"/>
              <a:t>1</a:t>
            </a:r>
            <a:r>
              <a:rPr lang="zh-CN" altLang="en-US"/>
              <a:t>。</a:t>
            </a:r>
          </a:p>
        </p:txBody>
      </p:sp>
      <p:sp>
        <p:nvSpPr>
          <p:cNvPr id="227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FBC9241-AEAA-415C-BCC6-F9B6A6F7B3EE}" type="slidenum">
              <a:rPr lang="zh-CN" altLang="en-US" sz="1200" b="0">
                <a:solidFill>
                  <a:schemeClr val="tx1"/>
                </a:solidFill>
                <a:latin typeface="Times New Roman" pitchFamily="18" charset="0"/>
                <a:ea typeface="宋体" pitchFamily="2" charset="-122"/>
              </a:rPr>
              <a:pPr eaLnBrk="1" hangingPunct="1"/>
              <a:t>61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幻灯片图像占位符 1"/>
          <p:cNvSpPr>
            <a:spLocks noGrp="1" noRot="1" noChangeAspect="1" noTextEdit="1"/>
          </p:cNvSpPr>
          <p:nvPr>
            <p:ph type="sldImg"/>
          </p:nvPr>
        </p:nvSpPr>
        <p:spPr>
          <a:ln/>
        </p:spPr>
      </p:sp>
      <p:sp>
        <p:nvSpPr>
          <p:cNvPr id="228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近对负数值位反置加</a:t>
            </a:r>
            <a:r>
              <a:rPr lang="en-US" altLang="zh-CN"/>
              <a:t>1</a:t>
            </a:r>
            <a:r>
              <a:rPr lang="zh-CN" altLang="en-US"/>
              <a:t>。</a:t>
            </a:r>
          </a:p>
        </p:txBody>
      </p:sp>
      <p:sp>
        <p:nvSpPr>
          <p:cNvPr id="228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9874226-8A87-4F6A-BEC4-AF8C04296213}" type="slidenum">
              <a:rPr lang="zh-CN" altLang="en-US" sz="1200" b="0">
                <a:solidFill>
                  <a:schemeClr val="tx1"/>
                </a:solidFill>
                <a:latin typeface="Times New Roman" pitchFamily="18" charset="0"/>
                <a:ea typeface="宋体" pitchFamily="2" charset="-122"/>
              </a:rPr>
              <a:pPr eaLnBrk="1" hangingPunct="1"/>
              <a:t>62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a:ln/>
        </p:spPr>
      </p:sp>
      <p:sp>
        <p:nvSpPr>
          <p:cNvPr id="229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近对负数值位反置加</a:t>
            </a:r>
            <a:r>
              <a:rPr lang="en-US" altLang="zh-CN"/>
              <a:t>1</a:t>
            </a:r>
            <a:r>
              <a:rPr lang="zh-CN" altLang="en-US"/>
              <a:t>。</a:t>
            </a:r>
          </a:p>
        </p:txBody>
      </p:sp>
      <p:sp>
        <p:nvSpPr>
          <p:cNvPr id="229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B04647A-A1E8-4438-83FE-EA2FD9F7D3CC}" type="slidenum">
              <a:rPr lang="zh-CN" altLang="en-US" sz="1200" b="0">
                <a:solidFill>
                  <a:schemeClr val="tx1"/>
                </a:solidFill>
                <a:latin typeface="Times New Roman" pitchFamily="18" charset="0"/>
                <a:ea typeface="宋体" pitchFamily="2" charset="-122"/>
              </a:rPr>
              <a:pPr eaLnBrk="1" hangingPunct="1"/>
              <a:t>63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幻灯片图像占位符 1"/>
          <p:cNvSpPr>
            <a:spLocks noGrp="1" noRot="1" noChangeAspect="1" noTextEdit="1"/>
          </p:cNvSpPr>
          <p:nvPr>
            <p:ph type="sldImg"/>
          </p:nvPr>
        </p:nvSpPr>
        <p:spPr>
          <a:ln/>
        </p:spPr>
      </p:sp>
      <p:sp>
        <p:nvSpPr>
          <p:cNvPr id="230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近对负数值位反置加</a:t>
            </a:r>
            <a:r>
              <a:rPr lang="en-US" altLang="zh-CN"/>
              <a:t>1</a:t>
            </a:r>
            <a:r>
              <a:rPr lang="zh-CN" altLang="en-US"/>
              <a:t>。</a:t>
            </a:r>
          </a:p>
        </p:txBody>
      </p:sp>
      <p:sp>
        <p:nvSpPr>
          <p:cNvPr id="230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0168F9F-8E05-40C3-A147-B2BADC897FB6}" type="slidenum">
              <a:rPr lang="zh-CN" altLang="en-US" sz="1200" b="0">
                <a:solidFill>
                  <a:schemeClr val="tx1"/>
                </a:solidFill>
                <a:latin typeface="Times New Roman" pitchFamily="18" charset="0"/>
                <a:ea typeface="宋体" pitchFamily="2" charset="-122"/>
              </a:rPr>
              <a:pPr eaLnBrk="1" hangingPunct="1"/>
              <a:t>64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a:ln/>
        </p:spPr>
      </p:sp>
      <p:sp>
        <p:nvSpPr>
          <p:cNvPr id="231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1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5133E2A-C184-4E25-9D7A-8DB8F11723C5}" type="slidenum">
              <a:rPr lang="zh-CN" altLang="en-US" sz="1200" b="0">
                <a:solidFill>
                  <a:schemeClr val="tx1"/>
                </a:solidFill>
                <a:latin typeface="Times New Roman" pitchFamily="18" charset="0"/>
                <a:ea typeface="宋体" pitchFamily="2" charset="-122"/>
              </a:rPr>
              <a:pPr eaLnBrk="1" hangingPunct="1"/>
              <a:t>65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a:ln/>
        </p:spPr>
      </p:sp>
      <p:sp>
        <p:nvSpPr>
          <p:cNvPr id="231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1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5133E2A-C184-4E25-9D7A-8DB8F11723C5}" type="slidenum">
              <a:rPr lang="zh-CN" altLang="en-US" sz="1200" b="0">
                <a:solidFill>
                  <a:schemeClr val="tx1"/>
                </a:solidFill>
                <a:latin typeface="Times New Roman" pitchFamily="18" charset="0"/>
                <a:ea typeface="宋体" pitchFamily="2" charset="-122"/>
              </a:rPr>
              <a:pPr eaLnBrk="1" hangingPunct="1"/>
              <a:t>66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p:cNvSpPr>
            <a:spLocks noGrp="1" noRot="1" noChangeAspect="1" noTextEdit="1"/>
          </p:cNvSpPr>
          <p:nvPr>
            <p:ph type="sldImg"/>
          </p:nvPr>
        </p:nvSpPr>
        <p:spPr>
          <a:ln/>
        </p:spPr>
      </p:sp>
      <p:sp>
        <p:nvSpPr>
          <p:cNvPr id="232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将补码符号位取反即是</a:t>
            </a:r>
          </a:p>
        </p:txBody>
      </p:sp>
      <p:sp>
        <p:nvSpPr>
          <p:cNvPr id="232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02582BC-5D5B-4C4C-B0BC-42462753BF31}" type="slidenum">
              <a:rPr lang="zh-CN" altLang="en-US" sz="1200" b="0">
                <a:solidFill>
                  <a:schemeClr val="tx1"/>
                </a:solidFill>
                <a:latin typeface="Times New Roman" pitchFamily="18" charset="0"/>
                <a:ea typeface="宋体" pitchFamily="2" charset="-122"/>
              </a:rPr>
              <a:pPr eaLnBrk="1" hangingPunct="1"/>
              <a:t>67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a:ln/>
        </p:spPr>
      </p:sp>
      <p:sp>
        <p:nvSpPr>
          <p:cNvPr id="233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将补码符号位取反即是</a:t>
            </a:r>
          </a:p>
        </p:txBody>
      </p:sp>
      <p:sp>
        <p:nvSpPr>
          <p:cNvPr id="233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560DB6D-97DA-42DF-A8D9-EDF660D4D8FE}" type="slidenum">
              <a:rPr lang="zh-CN" altLang="en-US" sz="1200" b="0">
                <a:solidFill>
                  <a:schemeClr val="tx1"/>
                </a:solidFill>
                <a:latin typeface="Times New Roman" pitchFamily="18" charset="0"/>
                <a:ea typeface="宋体" pitchFamily="2" charset="-122"/>
              </a:rPr>
              <a:pPr eaLnBrk="1" hangingPunct="1"/>
              <a:t>68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p:cNvSpPr>
            <a:spLocks noGrp="1" noRot="1" noChangeAspect="1" noTextEdit="1"/>
          </p:cNvSpPr>
          <p:nvPr>
            <p:ph type="sldImg"/>
          </p:nvPr>
        </p:nvSpPr>
        <p:spPr>
          <a:ln/>
        </p:spPr>
      </p:sp>
      <p:sp>
        <p:nvSpPr>
          <p:cNvPr id="234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4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ADF1396-7A11-4A97-AC03-D429B1D35B71}" type="slidenum">
              <a:rPr lang="zh-CN" altLang="en-US" sz="1200" b="0">
                <a:solidFill>
                  <a:schemeClr val="tx1"/>
                </a:solidFill>
                <a:latin typeface="Times New Roman" pitchFamily="18" charset="0"/>
                <a:ea typeface="宋体" pitchFamily="2" charset="-122"/>
              </a:rPr>
              <a:pPr eaLnBrk="1" hangingPunct="1"/>
              <a:t>69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p:cNvSpPr>
            <a:spLocks noGrp="1" noRot="1" noChangeAspect="1" noTextEdit="1"/>
          </p:cNvSpPr>
          <p:nvPr>
            <p:ph type="sldImg"/>
          </p:nvPr>
        </p:nvSpPr>
        <p:spPr>
          <a:ln/>
        </p:spPr>
      </p:sp>
      <p:sp>
        <p:nvSpPr>
          <p:cNvPr id="234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4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ADF1396-7A11-4A97-AC03-D429B1D35B71}" type="slidenum">
              <a:rPr lang="zh-CN" altLang="en-US" sz="1200" b="0">
                <a:solidFill>
                  <a:schemeClr val="tx1"/>
                </a:solidFill>
                <a:latin typeface="Times New Roman" pitchFamily="18" charset="0"/>
                <a:ea typeface="宋体" pitchFamily="2" charset="-122"/>
              </a:rPr>
              <a:pPr eaLnBrk="1" hangingPunct="1"/>
              <a:t>70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a:ln/>
        </p:spPr>
      </p:sp>
      <p:sp>
        <p:nvSpPr>
          <p:cNvPr id="235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此为对数字的编码，前原码、反码、补码、移码均为对数的二进制表示。数字编码如何组成数。</a:t>
            </a:r>
          </a:p>
        </p:txBody>
      </p:sp>
      <p:sp>
        <p:nvSpPr>
          <p:cNvPr id="235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966FBC3-112F-4D53-B645-6D444AA11509}" type="slidenum">
              <a:rPr lang="zh-CN" altLang="en-US" sz="1200" b="0">
                <a:solidFill>
                  <a:schemeClr val="tx1"/>
                </a:solidFill>
                <a:latin typeface="Times New Roman" pitchFamily="18" charset="0"/>
                <a:ea typeface="宋体" pitchFamily="2" charset="-122"/>
              </a:rPr>
              <a:pPr eaLnBrk="1" hangingPunct="1"/>
              <a:t>71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p:cNvSpPr>
            <a:spLocks noGrp="1" noRot="1" noChangeAspect="1" noTextEdit="1"/>
          </p:cNvSpPr>
          <p:nvPr>
            <p:ph type="sldImg"/>
          </p:nvPr>
        </p:nvSpPr>
        <p:spPr>
          <a:ln/>
        </p:spPr>
      </p:sp>
      <p:sp>
        <p:nvSpPr>
          <p:cNvPr id="236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FF0000"/>
                </a:solidFill>
              </a:rPr>
              <a:t>解释什么是</a:t>
            </a:r>
            <a:r>
              <a:rPr lang="en-US" altLang="zh-CN" dirty="0">
                <a:solidFill>
                  <a:srgbClr val="FF0000"/>
                </a:solidFill>
              </a:rPr>
              <a:t>BCD</a:t>
            </a:r>
            <a:r>
              <a:rPr lang="zh-CN" altLang="en-US" dirty="0">
                <a:solidFill>
                  <a:srgbClr val="FF0000"/>
                </a:solidFill>
              </a:rPr>
              <a:t>码，</a:t>
            </a:r>
          </a:p>
        </p:txBody>
      </p:sp>
      <p:sp>
        <p:nvSpPr>
          <p:cNvPr id="236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0854365-B838-4344-8141-4A8FD86E2E75}" type="slidenum">
              <a:rPr lang="zh-CN" altLang="en-US" sz="1200" b="0">
                <a:solidFill>
                  <a:schemeClr val="tx1"/>
                </a:solidFill>
                <a:latin typeface="Times New Roman" pitchFamily="18" charset="0"/>
                <a:ea typeface="宋体" pitchFamily="2" charset="-122"/>
              </a:rPr>
              <a:pPr eaLnBrk="1" hangingPunct="1"/>
              <a:t>72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p:cNvSpPr>
            <a:spLocks noGrp="1" noRot="1" noChangeAspect="1" noTextEdit="1"/>
          </p:cNvSpPr>
          <p:nvPr>
            <p:ph type="sldImg"/>
          </p:nvPr>
        </p:nvSpPr>
        <p:spPr>
          <a:ln/>
        </p:spPr>
      </p:sp>
      <p:sp>
        <p:nvSpPr>
          <p:cNvPr id="236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FF0000"/>
                </a:solidFill>
              </a:rPr>
              <a:t>解释什么是</a:t>
            </a:r>
            <a:r>
              <a:rPr lang="en-US" altLang="zh-CN" dirty="0">
                <a:solidFill>
                  <a:srgbClr val="FF0000"/>
                </a:solidFill>
              </a:rPr>
              <a:t>BCD</a:t>
            </a:r>
            <a:r>
              <a:rPr lang="zh-CN" altLang="en-US" dirty="0">
                <a:solidFill>
                  <a:srgbClr val="FF0000"/>
                </a:solidFill>
              </a:rPr>
              <a:t>码，</a:t>
            </a:r>
          </a:p>
        </p:txBody>
      </p:sp>
      <p:sp>
        <p:nvSpPr>
          <p:cNvPr id="236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0854365-B838-4344-8141-4A8FD86E2E75}" type="slidenum">
              <a:rPr lang="zh-CN" altLang="en-US" sz="1200" b="0">
                <a:solidFill>
                  <a:schemeClr val="tx1"/>
                </a:solidFill>
                <a:latin typeface="Times New Roman" pitchFamily="18" charset="0"/>
                <a:ea typeface="宋体" pitchFamily="2" charset="-122"/>
              </a:rPr>
              <a:pPr eaLnBrk="1" hangingPunct="1"/>
              <a:t>73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a:ln/>
        </p:spPr>
      </p:sp>
      <p:sp>
        <p:nvSpPr>
          <p:cNvPr id="237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是字符，不是数字。</a:t>
            </a:r>
          </a:p>
        </p:txBody>
      </p:sp>
      <p:sp>
        <p:nvSpPr>
          <p:cNvPr id="237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4EDACE0-FF3F-4EB4-92DE-DA48B36441FE}" type="slidenum">
              <a:rPr lang="zh-CN" altLang="en-US" sz="1200" b="0">
                <a:solidFill>
                  <a:schemeClr val="tx1"/>
                </a:solidFill>
                <a:latin typeface="Times New Roman" pitchFamily="18" charset="0"/>
                <a:ea typeface="宋体" pitchFamily="2" charset="-122"/>
              </a:rPr>
              <a:pPr eaLnBrk="1" hangingPunct="1"/>
              <a:t>74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幻灯片图像占位符 1"/>
          <p:cNvSpPr>
            <a:spLocks noGrp="1" noRot="1" noChangeAspect="1" noTextEdit="1"/>
          </p:cNvSpPr>
          <p:nvPr>
            <p:ph type="sldImg"/>
          </p:nvPr>
        </p:nvSpPr>
        <p:spPr>
          <a:ln/>
        </p:spPr>
      </p:sp>
      <p:sp>
        <p:nvSpPr>
          <p:cNvPr id="238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校验用以排错。</a:t>
            </a:r>
          </a:p>
        </p:txBody>
      </p:sp>
      <p:sp>
        <p:nvSpPr>
          <p:cNvPr id="238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86586A2-E397-4FA6-BF4D-1974C3C8DC41}" type="slidenum">
              <a:rPr lang="zh-CN" altLang="en-US" sz="1200" b="0">
                <a:solidFill>
                  <a:schemeClr val="tx1"/>
                </a:solidFill>
                <a:latin typeface="Times New Roman" pitchFamily="18" charset="0"/>
                <a:ea typeface="宋体" pitchFamily="2" charset="-122"/>
              </a:rPr>
              <a:pPr eaLnBrk="1" hangingPunct="1"/>
              <a:t>75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a:ln/>
        </p:spPr>
      </p:sp>
      <p:sp>
        <p:nvSpPr>
          <p:cNvPr id="239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校验用以排错。</a:t>
            </a:r>
          </a:p>
        </p:txBody>
      </p:sp>
      <p:sp>
        <p:nvSpPr>
          <p:cNvPr id="239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4A1B1DB-8DD3-413E-A25D-3309BEF063DF}" type="slidenum">
              <a:rPr lang="zh-CN" altLang="en-US" sz="1200" b="0">
                <a:solidFill>
                  <a:schemeClr val="tx1"/>
                </a:solidFill>
                <a:latin typeface="Times New Roman" pitchFamily="18" charset="0"/>
                <a:ea typeface="宋体" pitchFamily="2" charset="-122"/>
              </a:rPr>
              <a:pPr eaLnBrk="1" hangingPunct="1"/>
              <a:t>76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幻灯片图像占位符 1"/>
          <p:cNvSpPr>
            <a:spLocks noGrp="1" noRot="1" noChangeAspect="1" noTextEdit="1"/>
          </p:cNvSpPr>
          <p:nvPr>
            <p:ph type="sldImg"/>
          </p:nvPr>
        </p:nvSpPr>
        <p:spPr>
          <a:ln/>
        </p:spPr>
      </p:sp>
      <p:sp>
        <p:nvSpPr>
          <p:cNvPr id="240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0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844DA35-2A31-4E8E-B1AC-EC827BA96667}" type="slidenum">
              <a:rPr lang="zh-CN" altLang="en-US" sz="1200" b="0">
                <a:solidFill>
                  <a:schemeClr val="tx1"/>
                </a:solidFill>
                <a:latin typeface="Times New Roman" pitchFamily="18" charset="0"/>
                <a:ea typeface="宋体" pitchFamily="2" charset="-122"/>
              </a:rPr>
              <a:pPr eaLnBrk="1" hangingPunct="1"/>
              <a:t>77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a:ln/>
        </p:spPr>
      </p:sp>
      <p:sp>
        <p:nvSpPr>
          <p:cNvPr id="241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1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E0FA92F-F3F3-4821-9892-01F188B4E9BC}" type="slidenum">
              <a:rPr lang="zh-CN" altLang="en-US" sz="1200" b="0">
                <a:solidFill>
                  <a:schemeClr val="tx1"/>
                </a:solidFill>
                <a:latin typeface="Times New Roman" pitchFamily="18" charset="0"/>
                <a:ea typeface="宋体" pitchFamily="2" charset="-122"/>
              </a:rPr>
              <a:pPr eaLnBrk="1" hangingPunct="1"/>
              <a:t>78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p:cNvSpPr>
            <a:spLocks noGrp="1" noRot="1" noChangeAspect="1" noTextEdit="1"/>
          </p:cNvSpPr>
          <p:nvPr>
            <p:ph type="sldImg"/>
          </p:nvPr>
        </p:nvSpPr>
        <p:spPr>
          <a:ln/>
        </p:spPr>
      </p:sp>
      <p:sp>
        <p:nvSpPr>
          <p:cNvPr id="242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2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4AEAC93-784E-44BE-AB90-9C30EFF99939}" type="slidenum">
              <a:rPr lang="zh-CN" altLang="en-US" sz="1200" b="0">
                <a:solidFill>
                  <a:schemeClr val="tx1"/>
                </a:solidFill>
                <a:latin typeface="Times New Roman" pitchFamily="18" charset="0"/>
                <a:ea typeface="宋体" pitchFamily="2" charset="-122"/>
              </a:rPr>
              <a:pPr eaLnBrk="1" hangingPunct="1"/>
              <a:t>79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a:ln/>
        </p:spPr>
      </p:sp>
      <p:sp>
        <p:nvSpPr>
          <p:cNvPr id="243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3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303B4C5-BC4C-4B3B-9ABE-79E972C24485}" type="slidenum">
              <a:rPr lang="zh-CN" altLang="en-US" sz="1200" b="0">
                <a:solidFill>
                  <a:schemeClr val="tx1"/>
                </a:solidFill>
                <a:latin typeface="Times New Roman" pitchFamily="18" charset="0"/>
                <a:ea typeface="宋体" pitchFamily="2" charset="-122"/>
              </a:rPr>
              <a:pPr eaLnBrk="1" hangingPunct="1"/>
              <a:t>80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p:cNvSpPr>
            <a:spLocks noGrp="1" noRot="1" noChangeAspect="1" noTextEdit="1"/>
          </p:cNvSpPr>
          <p:nvPr>
            <p:ph type="sldImg"/>
          </p:nvPr>
        </p:nvSpPr>
        <p:spPr>
          <a:ln/>
        </p:spPr>
      </p:sp>
      <p:sp>
        <p:nvSpPr>
          <p:cNvPr id="244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4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8F947DE-85D2-4996-9BE8-AFA54FC35657}" type="slidenum">
              <a:rPr lang="zh-CN" altLang="en-US" sz="1200" b="0">
                <a:solidFill>
                  <a:schemeClr val="tx1"/>
                </a:solidFill>
                <a:latin typeface="Times New Roman" pitchFamily="18" charset="0"/>
                <a:ea typeface="宋体" pitchFamily="2" charset="-122"/>
              </a:rPr>
              <a:pPr eaLnBrk="1" hangingPunct="1"/>
              <a:t>81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p:cNvSpPr>
            <a:spLocks noGrp="1" noRot="1" noChangeAspect="1" noTextEdit="1"/>
          </p:cNvSpPr>
          <p:nvPr>
            <p:ph type="sldImg"/>
          </p:nvPr>
        </p:nvSpPr>
        <p:spPr>
          <a:ln/>
        </p:spPr>
      </p:sp>
      <p:sp>
        <p:nvSpPr>
          <p:cNvPr id="245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16F6FA6-3774-4935-9AEF-78B7BFAEB37C}" type="slidenum">
              <a:rPr lang="zh-CN" altLang="en-US" sz="1200" b="0">
                <a:solidFill>
                  <a:schemeClr val="tx1"/>
                </a:solidFill>
                <a:latin typeface="Times New Roman" pitchFamily="18" charset="0"/>
                <a:ea typeface="宋体" pitchFamily="2" charset="-122"/>
              </a:rPr>
              <a:pPr eaLnBrk="1" hangingPunct="1"/>
              <a:t>82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p:cNvSpPr>
            <a:spLocks noGrp="1" noRot="1" noChangeAspect="1" noTextEdit="1"/>
          </p:cNvSpPr>
          <p:nvPr>
            <p:ph type="sldImg"/>
          </p:nvPr>
        </p:nvSpPr>
        <p:spPr>
          <a:ln/>
        </p:spPr>
      </p:sp>
      <p:sp>
        <p:nvSpPr>
          <p:cNvPr id="246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6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4D0A9A7-6DB2-4363-87E0-53D466542228}" type="slidenum">
              <a:rPr lang="zh-CN" altLang="en-US" sz="1200" b="0">
                <a:solidFill>
                  <a:schemeClr val="tx1"/>
                </a:solidFill>
                <a:latin typeface="Times New Roman" pitchFamily="18" charset="0"/>
                <a:ea typeface="宋体" pitchFamily="2" charset="-122"/>
              </a:rPr>
              <a:pPr eaLnBrk="1" hangingPunct="1"/>
              <a:t>83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p:cNvSpPr>
            <a:spLocks noGrp="1" noRot="1" noChangeAspect="1" noTextEdit="1"/>
          </p:cNvSpPr>
          <p:nvPr>
            <p:ph type="sldImg"/>
          </p:nvPr>
        </p:nvSpPr>
        <p:spPr>
          <a:ln/>
        </p:spPr>
      </p:sp>
      <p:sp>
        <p:nvSpPr>
          <p:cNvPr id="247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分为奇校验和偶校验，一般是对二进制数中</a:t>
            </a:r>
            <a:r>
              <a:rPr lang="en-US" altLang="zh-CN"/>
              <a:t>1</a:t>
            </a:r>
            <a:r>
              <a:rPr lang="zh-CN" altLang="en-US"/>
              <a:t>的位数实现。</a:t>
            </a:r>
          </a:p>
        </p:txBody>
      </p:sp>
      <p:sp>
        <p:nvSpPr>
          <p:cNvPr id="247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4E8EC95-90F9-439C-945E-4E78057FF6EA}" type="slidenum">
              <a:rPr lang="zh-CN" altLang="en-US" sz="1200" b="0">
                <a:solidFill>
                  <a:schemeClr val="tx1"/>
                </a:solidFill>
                <a:latin typeface="Times New Roman" pitchFamily="18" charset="0"/>
                <a:ea typeface="宋体" pitchFamily="2" charset="-122"/>
              </a:rPr>
              <a:pPr eaLnBrk="1" hangingPunct="1"/>
              <a:t>84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幻灯片图像占位符 1"/>
          <p:cNvSpPr>
            <a:spLocks noGrp="1" noRot="1" noChangeAspect="1" noTextEdit="1"/>
          </p:cNvSpPr>
          <p:nvPr>
            <p:ph type="sldImg"/>
          </p:nvPr>
        </p:nvSpPr>
        <p:spPr>
          <a:ln/>
        </p:spPr>
      </p:sp>
      <p:sp>
        <p:nvSpPr>
          <p:cNvPr id="248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8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E1D196F-64B0-4B14-8F84-A87D5E28BB63}" type="slidenum">
              <a:rPr lang="zh-CN" altLang="en-US" sz="1200" b="0">
                <a:solidFill>
                  <a:schemeClr val="tx1"/>
                </a:solidFill>
                <a:latin typeface="Times New Roman" pitchFamily="18" charset="0"/>
                <a:ea typeface="宋体" pitchFamily="2" charset="-122"/>
              </a:rPr>
              <a:pPr eaLnBrk="1" hangingPunct="1"/>
              <a:t>85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a:ln/>
        </p:spPr>
      </p:sp>
      <p:sp>
        <p:nvSpPr>
          <p:cNvPr id="249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9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6073519-9451-42B5-9B08-0E4E0BD3139D}" type="slidenum">
              <a:rPr lang="zh-CN" altLang="en-US" sz="1200" b="0">
                <a:solidFill>
                  <a:schemeClr val="tx1"/>
                </a:solidFill>
                <a:latin typeface="Times New Roman" pitchFamily="18" charset="0"/>
                <a:ea typeface="宋体" pitchFamily="2" charset="-122"/>
              </a:rPr>
              <a:pPr eaLnBrk="1" hangingPunct="1"/>
              <a:t>86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幻灯片图像占位符 1"/>
          <p:cNvSpPr>
            <a:spLocks noGrp="1" noRot="1" noChangeAspect="1" noTextEdit="1"/>
          </p:cNvSpPr>
          <p:nvPr>
            <p:ph type="sldImg"/>
          </p:nvPr>
        </p:nvSpPr>
        <p:spPr>
          <a:ln/>
        </p:spPr>
      </p:sp>
      <p:sp>
        <p:nvSpPr>
          <p:cNvPr id="250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0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594B0E2-FCB3-4265-9F89-0412A1ADB1D9}" type="slidenum">
              <a:rPr lang="zh-CN" altLang="en-US" sz="1200" b="0">
                <a:solidFill>
                  <a:schemeClr val="tx1"/>
                </a:solidFill>
                <a:latin typeface="Times New Roman" pitchFamily="18" charset="0"/>
                <a:ea typeface="宋体" pitchFamily="2" charset="-122"/>
              </a:rPr>
              <a:pPr eaLnBrk="1" hangingPunct="1"/>
              <a:t>87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88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89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1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B0767D-ECB1-442D-A93B-F07DAFB18FC9}" type="slidenum">
              <a:rPr lang="zh-CN" altLang="en-US" sz="1200" b="0">
                <a:solidFill>
                  <a:schemeClr val="tx1"/>
                </a:solidFill>
                <a:latin typeface="Times New Roman" pitchFamily="18" charset="0"/>
                <a:ea typeface="宋体" pitchFamily="2" charset="-122"/>
              </a:rPr>
              <a:pPr eaLnBrk="1" hangingPunct="1"/>
              <a:t>94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96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1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B0767D-ECB1-442D-A93B-F07DAFB18FC9}" type="slidenum">
              <a:rPr lang="zh-CN" altLang="en-US" sz="1200" b="0">
                <a:solidFill>
                  <a:schemeClr val="tx1"/>
                </a:solidFill>
                <a:latin typeface="Times New Roman" pitchFamily="18" charset="0"/>
                <a:ea typeface="宋体" pitchFamily="2" charset="-122"/>
              </a:rPr>
              <a:pPr eaLnBrk="1" hangingPunct="1"/>
              <a:t>97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1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B0767D-ECB1-442D-A93B-F07DAFB18FC9}" type="slidenum">
              <a:rPr lang="zh-CN" altLang="en-US" sz="1200" b="0">
                <a:solidFill>
                  <a:schemeClr val="tx1"/>
                </a:solidFill>
                <a:latin typeface="Times New Roman" pitchFamily="18" charset="0"/>
                <a:ea typeface="宋体" pitchFamily="2" charset="-122"/>
              </a:rPr>
              <a:pPr eaLnBrk="1" hangingPunct="1"/>
              <a:t>98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1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B0767D-ECB1-442D-A93B-F07DAFB18FC9}" type="slidenum">
              <a:rPr lang="zh-CN" altLang="en-US" sz="1200" b="0">
                <a:solidFill>
                  <a:schemeClr val="tx1"/>
                </a:solidFill>
                <a:latin typeface="Times New Roman" pitchFamily="18" charset="0"/>
                <a:ea typeface="宋体" pitchFamily="2" charset="-122"/>
              </a:rPr>
              <a:pPr eaLnBrk="1" hangingPunct="1"/>
              <a:t>99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1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B0767D-ECB1-442D-A93B-F07DAFB18FC9}" type="slidenum">
              <a:rPr lang="zh-CN" altLang="en-US" sz="1200" b="0">
                <a:solidFill>
                  <a:schemeClr val="tx1"/>
                </a:solidFill>
                <a:latin typeface="Times New Roman" pitchFamily="18" charset="0"/>
                <a:ea typeface="宋体" pitchFamily="2" charset="-122"/>
              </a:rPr>
              <a:pPr eaLnBrk="1" hangingPunct="1"/>
              <a:t>100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101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a:ln/>
        </p:spPr>
      </p:sp>
      <p:sp>
        <p:nvSpPr>
          <p:cNvPr id="253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3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8C72D60-94D0-49A4-B8B6-358C74295CC3}" type="slidenum">
              <a:rPr lang="zh-CN" altLang="en-US" sz="1200" b="0">
                <a:solidFill>
                  <a:schemeClr val="tx1"/>
                </a:solidFill>
                <a:latin typeface="Times New Roman" pitchFamily="18" charset="0"/>
                <a:ea typeface="宋体" pitchFamily="2" charset="-122"/>
              </a:rPr>
              <a:pPr eaLnBrk="1" hangingPunct="1"/>
              <a:t>102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幻灯片图像占位符 1"/>
          <p:cNvSpPr>
            <a:spLocks noGrp="1" noRot="1" noChangeAspect="1" noTextEdit="1"/>
          </p:cNvSpPr>
          <p:nvPr>
            <p:ph type="sldImg"/>
          </p:nvPr>
        </p:nvSpPr>
        <p:spPr>
          <a:ln/>
        </p:spPr>
      </p:sp>
      <p:sp>
        <p:nvSpPr>
          <p:cNvPr id="254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4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4928B3D-9C43-4583-9D86-3D8EAD9D321F}" type="slidenum">
              <a:rPr lang="zh-CN" altLang="en-US" sz="1200" b="0">
                <a:solidFill>
                  <a:schemeClr val="tx1"/>
                </a:solidFill>
                <a:latin typeface="Times New Roman" pitchFamily="18" charset="0"/>
                <a:ea typeface="宋体" pitchFamily="2" charset="-122"/>
              </a:rPr>
              <a:pPr eaLnBrk="1" hangingPunct="1"/>
              <a:t>103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p:cNvSpPr>
            <a:spLocks noGrp="1" noRot="1" noChangeAspect="1" noTextEdit="1"/>
          </p:cNvSpPr>
          <p:nvPr>
            <p:ph type="sldImg"/>
          </p:nvPr>
        </p:nvSpPr>
        <p:spPr>
          <a:ln/>
        </p:spPr>
      </p:sp>
      <p:sp>
        <p:nvSpPr>
          <p:cNvPr id="256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5B3C815-8EC6-46A3-8CB8-4EE93F2013C4}" type="slidenum">
              <a:rPr lang="zh-CN" altLang="en-US" sz="1200" b="0">
                <a:solidFill>
                  <a:schemeClr val="tx1"/>
                </a:solidFill>
                <a:latin typeface="Times New Roman" pitchFamily="18" charset="0"/>
                <a:ea typeface="宋体" pitchFamily="2" charset="-122"/>
              </a:rPr>
              <a:pPr eaLnBrk="1" hangingPunct="1"/>
              <a:t>104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幻灯片图像占位符 1"/>
          <p:cNvSpPr>
            <a:spLocks noGrp="1" noRot="1" noChangeAspect="1" noTextEdit="1"/>
          </p:cNvSpPr>
          <p:nvPr>
            <p:ph type="sldImg"/>
          </p:nvPr>
        </p:nvSpPr>
        <p:spPr>
          <a:ln/>
        </p:spPr>
      </p:sp>
      <p:sp>
        <p:nvSpPr>
          <p:cNvPr id="257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7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F952DAB-F041-4986-84BE-3B15F3E61B12}" type="slidenum">
              <a:rPr lang="zh-CN" altLang="en-US" sz="1200" b="0">
                <a:solidFill>
                  <a:schemeClr val="tx1"/>
                </a:solidFill>
                <a:latin typeface="Times New Roman" pitchFamily="18" charset="0"/>
                <a:ea typeface="宋体" pitchFamily="2" charset="-122"/>
              </a:rPr>
              <a:pPr eaLnBrk="1" hangingPunct="1"/>
              <a:t>105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a:ln/>
        </p:spPr>
      </p:sp>
      <p:sp>
        <p:nvSpPr>
          <p:cNvPr id="258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8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D71C1EC-826E-47E8-B38B-FC7FCBF972D4}" type="slidenum">
              <a:rPr lang="zh-CN" altLang="en-US" sz="1200" b="0">
                <a:solidFill>
                  <a:schemeClr val="tx1"/>
                </a:solidFill>
                <a:latin typeface="Times New Roman" pitchFamily="18" charset="0"/>
                <a:ea typeface="宋体" pitchFamily="2" charset="-122"/>
              </a:rPr>
              <a:pPr eaLnBrk="1" hangingPunct="1"/>
              <a:t>106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a:ln/>
        </p:spPr>
      </p:sp>
      <p:sp>
        <p:nvSpPr>
          <p:cNvPr id="258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8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D71C1EC-826E-47E8-B38B-FC7FCBF972D4}" type="slidenum">
              <a:rPr lang="zh-CN" altLang="en-US" sz="1200" b="0">
                <a:solidFill>
                  <a:schemeClr val="tx1"/>
                </a:solidFill>
                <a:latin typeface="Times New Roman" pitchFamily="18" charset="0"/>
                <a:ea typeface="宋体" pitchFamily="2" charset="-122"/>
              </a:rPr>
              <a:pPr eaLnBrk="1" hangingPunct="1"/>
              <a:t>107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幻灯片图像占位符 1"/>
          <p:cNvSpPr>
            <a:spLocks noGrp="1" noRot="1" noChangeAspect="1" noTextEdit="1"/>
          </p:cNvSpPr>
          <p:nvPr>
            <p:ph type="sldImg"/>
          </p:nvPr>
        </p:nvSpPr>
        <p:spPr>
          <a:ln/>
        </p:spPr>
      </p:sp>
      <p:sp>
        <p:nvSpPr>
          <p:cNvPr id="259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9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31E3A8B-F6F0-4810-B2B2-91512DC9076E}" type="slidenum">
              <a:rPr lang="zh-CN" altLang="en-US" sz="1200" b="0">
                <a:solidFill>
                  <a:schemeClr val="tx1"/>
                </a:solidFill>
                <a:latin typeface="Times New Roman" pitchFamily="18" charset="0"/>
                <a:ea typeface="宋体" pitchFamily="2" charset="-122"/>
              </a:rPr>
              <a:pPr eaLnBrk="1" hangingPunct="1"/>
              <a:t>108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a:ln/>
        </p:spPr>
      </p:sp>
      <p:sp>
        <p:nvSpPr>
          <p:cNvPr id="260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0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2BB5A57-E526-4648-A883-A960FAFC8C2D}" type="slidenum">
              <a:rPr lang="zh-CN" altLang="en-US" sz="1200" b="0">
                <a:solidFill>
                  <a:schemeClr val="tx1"/>
                </a:solidFill>
                <a:latin typeface="Times New Roman" pitchFamily="18" charset="0"/>
                <a:ea typeface="宋体" pitchFamily="2" charset="-122"/>
              </a:rPr>
              <a:pPr eaLnBrk="1" hangingPunct="1"/>
              <a:t>109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幻灯片图像占位符 1"/>
          <p:cNvSpPr>
            <a:spLocks noGrp="1" noRot="1" noChangeAspect="1" noTextEdit="1"/>
          </p:cNvSpPr>
          <p:nvPr>
            <p:ph type="sldImg"/>
          </p:nvPr>
        </p:nvSpPr>
        <p:spPr>
          <a:ln/>
        </p:spPr>
      </p:sp>
      <p:sp>
        <p:nvSpPr>
          <p:cNvPr id="261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1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B704FDF-95AF-4A3B-B1F0-64683EA1EE7B}" type="slidenum">
              <a:rPr lang="zh-CN" altLang="en-US" sz="1200" b="0">
                <a:solidFill>
                  <a:schemeClr val="tx1"/>
                </a:solidFill>
                <a:latin typeface="Times New Roman" pitchFamily="18" charset="0"/>
                <a:ea typeface="宋体" pitchFamily="2" charset="-122"/>
              </a:rPr>
              <a:pPr eaLnBrk="1" hangingPunct="1"/>
              <a:t>110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a:ln/>
        </p:spPr>
      </p:sp>
      <p:sp>
        <p:nvSpPr>
          <p:cNvPr id="262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2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F330858-DE8C-491D-BD32-9B8D034E377E}" type="slidenum">
              <a:rPr lang="zh-CN" altLang="en-US" sz="1200" b="0">
                <a:solidFill>
                  <a:schemeClr val="tx1"/>
                </a:solidFill>
                <a:latin typeface="Times New Roman" pitchFamily="18" charset="0"/>
                <a:ea typeface="宋体" pitchFamily="2" charset="-122"/>
              </a:rPr>
              <a:pPr eaLnBrk="1" hangingPunct="1"/>
              <a:t>111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a:ln/>
        </p:spPr>
      </p:sp>
      <p:sp>
        <p:nvSpPr>
          <p:cNvPr id="262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2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F330858-DE8C-491D-BD32-9B8D034E377E}" type="slidenum">
              <a:rPr lang="zh-CN" altLang="en-US" sz="1200" b="0">
                <a:solidFill>
                  <a:schemeClr val="tx1"/>
                </a:solidFill>
                <a:latin typeface="Times New Roman" pitchFamily="18" charset="0"/>
                <a:ea typeface="宋体" pitchFamily="2" charset="-122"/>
              </a:rPr>
              <a:pPr eaLnBrk="1" hangingPunct="1"/>
              <a:t>112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幻灯片图像占位符 1"/>
          <p:cNvSpPr>
            <a:spLocks noGrp="1" noRot="1" noChangeAspect="1" noTextEdit="1"/>
          </p:cNvSpPr>
          <p:nvPr>
            <p:ph type="sldImg"/>
          </p:nvPr>
        </p:nvSpPr>
        <p:spPr>
          <a:ln/>
        </p:spPr>
      </p:sp>
      <p:sp>
        <p:nvSpPr>
          <p:cNvPr id="263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3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A0B371B-7BA1-4D92-B8D2-280D49281F22}" type="slidenum">
              <a:rPr lang="zh-CN" altLang="en-US" sz="1200" b="0">
                <a:solidFill>
                  <a:schemeClr val="tx1"/>
                </a:solidFill>
                <a:latin typeface="Times New Roman" pitchFamily="18" charset="0"/>
                <a:ea typeface="宋体" pitchFamily="2" charset="-122"/>
              </a:rPr>
              <a:pPr eaLnBrk="1" hangingPunct="1"/>
              <a:t>113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a:ln/>
        </p:spPr>
      </p:sp>
      <p:sp>
        <p:nvSpPr>
          <p:cNvPr id="264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4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9CE323D-A312-48B1-A212-1313ACF5DD37}" type="slidenum">
              <a:rPr lang="zh-CN" altLang="en-US" sz="1200" b="0">
                <a:solidFill>
                  <a:schemeClr val="tx1"/>
                </a:solidFill>
                <a:latin typeface="Times New Roman" pitchFamily="18" charset="0"/>
                <a:ea typeface="宋体" pitchFamily="2" charset="-122"/>
              </a:rPr>
              <a:pPr eaLnBrk="1" hangingPunct="1"/>
              <a:t>114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p:cNvSpPr>
            <a:spLocks noGrp="1" noRot="1" noChangeAspect="1" noTextEdit="1"/>
          </p:cNvSpPr>
          <p:nvPr>
            <p:ph type="sldImg"/>
          </p:nvPr>
        </p:nvSpPr>
        <p:spPr>
          <a:ln/>
        </p:spPr>
      </p:sp>
      <p:sp>
        <p:nvSpPr>
          <p:cNvPr id="265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5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0AFDA8A-D92A-438F-8203-8B733B43F9D8}" type="slidenum">
              <a:rPr lang="zh-CN" altLang="en-US" sz="1200" b="0">
                <a:solidFill>
                  <a:schemeClr val="tx1"/>
                </a:solidFill>
                <a:latin typeface="Times New Roman" pitchFamily="18" charset="0"/>
                <a:ea typeface="宋体" pitchFamily="2" charset="-122"/>
              </a:rPr>
              <a:pPr eaLnBrk="1" hangingPunct="1"/>
              <a:t>115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p:cNvSpPr>
            <a:spLocks noGrp="1" noRot="1" noChangeAspect="1" noTextEdit="1"/>
          </p:cNvSpPr>
          <p:nvPr>
            <p:ph type="sldImg"/>
          </p:nvPr>
        </p:nvSpPr>
        <p:spPr>
          <a:ln/>
        </p:spPr>
      </p:sp>
      <p:sp>
        <p:nvSpPr>
          <p:cNvPr id="266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注意可以纠错到具体那位出错。</a:t>
            </a:r>
          </a:p>
        </p:txBody>
      </p:sp>
      <p:sp>
        <p:nvSpPr>
          <p:cNvPr id="266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505F1FA-C503-44BC-93AF-E5C9940D5315}" type="slidenum">
              <a:rPr lang="zh-CN" altLang="en-US" sz="1200" b="0">
                <a:solidFill>
                  <a:schemeClr val="tx1"/>
                </a:solidFill>
                <a:latin typeface="Times New Roman" pitchFamily="18" charset="0"/>
                <a:ea typeface="宋体" pitchFamily="2" charset="-122"/>
              </a:rPr>
              <a:pPr eaLnBrk="1" hangingPunct="1"/>
              <a:t>116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幻灯片图像占位符 1"/>
          <p:cNvSpPr>
            <a:spLocks noGrp="1" noRot="1" noChangeAspect="1" noTextEdit="1"/>
          </p:cNvSpPr>
          <p:nvPr>
            <p:ph type="sldImg"/>
          </p:nvPr>
        </p:nvSpPr>
        <p:spPr>
          <a:ln/>
        </p:spPr>
      </p:sp>
      <p:sp>
        <p:nvSpPr>
          <p:cNvPr id="267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7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AF9045E-1402-4B62-AB8D-B3517F9EC00A}" type="slidenum">
              <a:rPr lang="zh-CN" altLang="en-US" sz="1200" b="0">
                <a:solidFill>
                  <a:schemeClr val="tx1"/>
                </a:solidFill>
                <a:latin typeface="Times New Roman" pitchFamily="18" charset="0"/>
                <a:ea typeface="宋体" pitchFamily="2" charset="-122"/>
              </a:rPr>
              <a:pPr eaLnBrk="1" hangingPunct="1"/>
              <a:t>117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幻灯片图像占位符 1"/>
          <p:cNvSpPr>
            <a:spLocks noGrp="1" noRot="1" noChangeAspect="1" noTextEdit="1"/>
          </p:cNvSpPr>
          <p:nvPr>
            <p:ph type="sldImg"/>
          </p:nvPr>
        </p:nvSpPr>
        <p:spPr>
          <a:ln/>
        </p:spPr>
      </p:sp>
      <p:sp>
        <p:nvSpPr>
          <p:cNvPr id="267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7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AF9045E-1402-4B62-AB8D-B3517F9EC00A}" type="slidenum">
              <a:rPr lang="zh-CN" altLang="en-US" sz="1200" b="0">
                <a:solidFill>
                  <a:schemeClr val="tx1"/>
                </a:solidFill>
                <a:latin typeface="Times New Roman" pitchFamily="18" charset="0"/>
                <a:ea typeface="宋体" pitchFamily="2" charset="-122"/>
              </a:rPr>
              <a:pPr eaLnBrk="1" hangingPunct="1"/>
              <a:t>118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p:cNvSpPr>
            <a:spLocks noGrp="1" noRot="1" noChangeAspect="1" noTextEdit="1"/>
          </p:cNvSpPr>
          <p:nvPr>
            <p:ph type="sldImg"/>
          </p:nvPr>
        </p:nvSpPr>
        <p:spPr>
          <a:ln/>
        </p:spPr>
      </p:sp>
      <p:sp>
        <p:nvSpPr>
          <p:cNvPr id="268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8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E7447AC-D0B9-4D25-B3F5-0CFC3D976A59}" type="slidenum">
              <a:rPr lang="zh-CN" altLang="en-US" sz="1200" b="0">
                <a:solidFill>
                  <a:schemeClr val="tx1"/>
                </a:solidFill>
                <a:latin typeface="Times New Roman" pitchFamily="18" charset="0"/>
                <a:ea typeface="宋体" pitchFamily="2" charset="-122"/>
              </a:rPr>
              <a:pPr eaLnBrk="1" hangingPunct="1"/>
              <a:t>119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p:cNvSpPr>
            <a:spLocks noGrp="1" noRot="1" noChangeAspect="1" noTextEdit="1"/>
          </p:cNvSpPr>
          <p:nvPr>
            <p:ph type="sldImg"/>
          </p:nvPr>
        </p:nvSpPr>
        <p:spPr>
          <a:ln/>
        </p:spPr>
      </p:sp>
      <p:sp>
        <p:nvSpPr>
          <p:cNvPr id="269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为什么</a:t>
            </a:r>
          </a:p>
        </p:txBody>
      </p:sp>
      <p:sp>
        <p:nvSpPr>
          <p:cNvPr id="2693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7D7FAD1-83C2-4162-8971-26F88874ACF1}" type="slidenum">
              <a:rPr lang="zh-CN" altLang="en-US" sz="1200" b="0">
                <a:solidFill>
                  <a:schemeClr val="tx1"/>
                </a:solidFill>
                <a:latin typeface="Times New Roman" pitchFamily="18" charset="0"/>
                <a:ea typeface="宋体" pitchFamily="2" charset="-122"/>
              </a:rPr>
              <a:pPr eaLnBrk="1" hangingPunct="1"/>
              <a:t>120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p:cNvSpPr>
            <a:spLocks noGrp="1" noRot="1" noChangeAspect="1" noTextEdit="1"/>
          </p:cNvSpPr>
          <p:nvPr>
            <p:ph type="sldImg"/>
          </p:nvPr>
        </p:nvSpPr>
        <p:spPr>
          <a:ln/>
        </p:spPr>
      </p:sp>
      <p:sp>
        <p:nvSpPr>
          <p:cNvPr id="2693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为什么</a:t>
            </a:r>
          </a:p>
        </p:txBody>
      </p:sp>
      <p:sp>
        <p:nvSpPr>
          <p:cNvPr id="2693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7D7FAD1-83C2-4162-8971-26F88874ACF1}" type="slidenum">
              <a:rPr lang="zh-CN" altLang="en-US" sz="1200" b="0">
                <a:solidFill>
                  <a:schemeClr val="tx1"/>
                </a:solidFill>
                <a:latin typeface="Times New Roman" pitchFamily="18" charset="0"/>
                <a:ea typeface="宋体" pitchFamily="2" charset="-122"/>
              </a:rPr>
              <a:pPr eaLnBrk="1" hangingPunct="1"/>
              <a:t>121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幻灯片图像占位符 1"/>
          <p:cNvSpPr>
            <a:spLocks noGrp="1" noRot="1" noChangeAspect="1" noTextEdit="1"/>
          </p:cNvSpPr>
          <p:nvPr>
            <p:ph type="sldImg"/>
          </p:nvPr>
        </p:nvSpPr>
        <p:spPr>
          <a:ln/>
        </p:spPr>
      </p:sp>
      <p:sp>
        <p:nvSpPr>
          <p:cNvPr id="271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1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4676025-2988-4034-A960-E99801DE5DEC}" type="slidenum">
              <a:rPr lang="zh-CN" altLang="en-US" sz="1200" b="0">
                <a:solidFill>
                  <a:schemeClr val="tx1"/>
                </a:solidFill>
                <a:latin typeface="Times New Roman" pitchFamily="18" charset="0"/>
                <a:ea typeface="宋体" pitchFamily="2" charset="-122"/>
              </a:rPr>
              <a:pPr eaLnBrk="1" hangingPunct="1"/>
              <a:t>122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幻灯片图像占位符 1"/>
          <p:cNvSpPr>
            <a:spLocks noGrp="1" noRot="1" noChangeAspect="1" noTextEdit="1"/>
          </p:cNvSpPr>
          <p:nvPr>
            <p:ph type="sldImg"/>
          </p:nvPr>
        </p:nvSpPr>
        <p:spPr>
          <a:ln/>
        </p:spPr>
      </p:sp>
      <p:sp>
        <p:nvSpPr>
          <p:cNvPr id="2723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23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4C9D83F-1E81-40DD-9E59-364E12A1D7DC}" type="slidenum">
              <a:rPr lang="zh-CN" altLang="en-US" sz="1200" b="0">
                <a:solidFill>
                  <a:schemeClr val="tx1"/>
                </a:solidFill>
                <a:latin typeface="Times New Roman" pitchFamily="18" charset="0"/>
                <a:ea typeface="宋体" pitchFamily="2" charset="-122"/>
              </a:rPr>
              <a:pPr eaLnBrk="1" hangingPunct="1"/>
              <a:t>123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幻灯片图像占位符 1"/>
          <p:cNvSpPr>
            <a:spLocks noGrp="1" noRot="1" noChangeAspect="1" noTextEdit="1"/>
          </p:cNvSpPr>
          <p:nvPr>
            <p:ph type="sldImg"/>
          </p:nvPr>
        </p:nvSpPr>
        <p:spPr>
          <a:ln/>
        </p:spPr>
      </p:sp>
      <p:sp>
        <p:nvSpPr>
          <p:cNvPr id="273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3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26A66AB-D6CA-4AD7-9550-E3280DCAE506}" type="slidenum">
              <a:rPr lang="zh-CN" altLang="en-US" sz="1200" b="0">
                <a:solidFill>
                  <a:schemeClr val="tx1"/>
                </a:solidFill>
                <a:latin typeface="Times New Roman" pitchFamily="18" charset="0"/>
                <a:ea typeface="宋体" pitchFamily="2" charset="-122"/>
              </a:rPr>
              <a:pPr eaLnBrk="1" hangingPunct="1"/>
              <a:t>124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a:ln/>
        </p:spPr>
      </p:sp>
      <p:sp>
        <p:nvSpPr>
          <p:cNvPr id="274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4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C8C1892-445C-443B-9664-DBB83A79AFCE}" type="slidenum">
              <a:rPr lang="zh-CN" altLang="en-US" sz="1200" b="0">
                <a:solidFill>
                  <a:schemeClr val="tx1"/>
                </a:solidFill>
                <a:latin typeface="Times New Roman" pitchFamily="18" charset="0"/>
                <a:ea typeface="宋体" pitchFamily="2" charset="-122"/>
              </a:rPr>
              <a:pPr eaLnBrk="1" hangingPunct="1"/>
              <a:t>125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幻灯片图像占位符 1"/>
          <p:cNvSpPr>
            <a:spLocks noGrp="1" noRot="1" noChangeAspect="1" noTextEdit="1"/>
          </p:cNvSpPr>
          <p:nvPr>
            <p:ph type="sldImg"/>
          </p:nvPr>
        </p:nvSpPr>
        <p:spPr>
          <a:ln/>
        </p:spPr>
      </p:sp>
      <p:sp>
        <p:nvSpPr>
          <p:cNvPr id="275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5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CC40712-B095-411A-8ADB-7EC8D571AE7E}" type="slidenum">
              <a:rPr lang="zh-CN" altLang="en-US" sz="1200" b="0">
                <a:solidFill>
                  <a:schemeClr val="tx1"/>
                </a:solidFill>
                <a:latin typeface="Times New Roman" pitchFamily="18" charset="0"/>
                <a:ea typeface="宋体" pitchFamily="2" charset="-122"/>
              </a:rPr>
              <a:pPr eaLnBrk="1" hangingPunct="1"/>
              <a:t>126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a:ln/>
        </p:spPr>
      </p:sp>
      <p:sp>
        <p:nvSpPr>
          <p:cNvPr id="276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6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2B22D25-CEA8-4493-91FA-0897D1A5202E}" type="slidenum">
              <a:rPr lang="zh-CN" altLang="en-US" sz="1200" b="0">
                <a:solidFill>
                  <a:schemeClr val="tx1"/>
                </a:solidFill>
                <a:latin typeface="Times New Roman" pitchFamily="18" charset="0"/>
                <a:ea typeface="宋体" pitchFamily="2" charset="-122"/>
              </a:rPr>
              <a:pPr eaLnBrk="1" hangingPunct="1"/>
              <a:t>127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幻灯片图像占位符 1"/>
          <p:cNvSpPr>
            <a:spLocks noGrp="1" noRot="1" noChangeAspect="1" noTextEdit="1"/>
          </p:cNvSpPr>
          <p:nvPr>
            <p:ph type="sldImg"/>
          </p:nvPr>
        </p:nvSpPr>
        <p:spPr>
          <a:ln/>
        </p:spPr>
      </p:sp>
      <p:sp>
        <p:nvSpPr>
          <p:cNvPr id="277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7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FA2E422-8647-4B84-9853-812A46AC733B}" type="slidenum">
              <a:rPr lang="zh-CN" altLang="en-US" sz="1200" b="0">
                <a:solidFill>
                  <a:schemeClr val="tx1"/>
                </a:solidFill>
                <a:latin typeface="Times New Roman" pitchFamily="18" charset="0"/>
                <a:ea typeface="宋体" pitchFamily="2" charset="-122"/>
              </a:rPr>
              <a:pPr eaLnBrk="1" hangingPunct="1"/>
              <a:t>128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a:ln/>
        </p:spPr>
      </p:sp>
      <p:sp>
        <p:nvSpPr>
          <p:cNvPr id="278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8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FD6ECF3-92E2-444E-B2FC-7629AC172F64}" type="slidenum">
              <a:rPr lang="zh-CN" altLang="en-US" sz="1200" b="0">
                <a:solidFill>
                  <a:schemeClr val="tx1"/>
                </a:solidFill>
                <a:latin typeface="Times New Roman" pitchFamily="18" charset="0"/>
                <a:ea typeface="宋体" pitchFamily="2" charset="-122"/>
              </a:rPr>
              <a:pPr eaLnBrk="1" hangingPunct="1"/>
              <a:t>129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幻灯片图像占位符 1"/>
          <p:cNvSpPr>
            <a:spLocks noGrp="1" noRot="1" noChangeAspect="1" noTextEdit="1"/>
          </p:cNvSpPr>
          <p:nvPr>
            <p:ph type="sldImg"/>
          </p:nvPr>
        </p:nvSpPr>
        <p:spPr>
          <a:ln/>
        </p:spPr>
      </p:sp>
      <p:sp>
        <p:nvSpPr>
          <p:cNvPr id="279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9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A293CBA-D7BF-49B8-A4B0-B87D565F36AD}" type="slidenum">
              <a:rPr lang="zh-CN" altLang="en-US" sz="1200" b="0">
                <a:solidFill>
                  <a:schemeClr val="tx1"/>
                </a:solidFill>
                <a:latin typeface="Times New Roman" pitchFamily="18" charset="0"/>
                <a:ea typeface="宋体" pitchFamily="2" charset="-122"/>
              </a:rPr>
              <a:pPr eaLnBrk="1" hangingPunct="1"/>
              <a:t>130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a:ln/>
        </p:spPr>
      </p:sp>
      <p:sp>
        <p:nvSpPr>
          <p:cNvPr id="280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0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CECB481-E2C3-4D74-901D-564F94591860}" type="slidenum">
              <a:rPr lang="zh-CN" altLang="en-US" sz="1200" b="0">
                <a:solidFill>
                  <a:schemeClr val="tx1"/>
                </a:solidFill>
                <a:latin typeface="Times New Roman" pitchFamily="18" charset="0"/>
                <a:ea typeface="宋体" pitchFamily="2" charset="-122"/>
              </a:rPr>
              <a:pPr eaLnBrk="1" hangingPunct="1"/>
              <a:t>131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a:ln/>
        </p:spPr>
      </p:sp>
      <p:sp>
        <p:nvSpPr>
          <p:cNvPr id="280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0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CECB481-E2C3-4D74-901D-564F94591860}" type="slidenum">
              <a:rPr lang="zh-CN" altLang="en-US" sz="1200" b="0">
                <a:solidFill>
                  <a:schemeClr val="tx1"/>
                </a:solidFill>
                <a:latin typeface="Times New Roman" pitchFamily="18" charset="0"/>
                <a:ea typeface="宋体" pitchFamily="2" charset="-122"/>
              </a:rPr>
              <a:pPr eaLnBrk="1" hangingPunct="1"/>
              <a:t>132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幻灯片图像占位符 1"/>
          <p:cNvSpPr>
            <a:spLocks noGrp="1" noRot="1" noChangeAspect="1" noTextEdit="1"/>
          </p:cNvSpPr>
          <p:nvPr>
            <p:ph type="sldImg"/>
          </p:nvPr>
        </p:nvSpPr>
        <p:spPr>
          <a:ln/>
        </p:spPr>
      </p:sp>
      <p:sp>
        <p:nvSpPr>
          <p:cNvPr id="2816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16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1D9739C-AC51-48BF-8685-6244781548E1}" type="slidenum">
              <a:rPr lang="zh-CN" altLang="en-US" sz="1200" b="0">
                <a:solidFill>
                  <a:schemeClr val="tx1"/>
                </a:solidFill>
                <a:latin typeface="Times New Roman" pitchFamily="18" charset="0"/>
                <a:ea typeface="宋体" pitchFamily="2" charset="-122"/>
              </a:rPr>
              <a:pPr eaLnBrk="1" hangingPunct="1"/>
              <a:t>133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幻灯片图像占位符 1"/>
          <p:cNvSpPr>
            <a:spLocks noGrp="1" noRot="1" noChangeAspect="1" noTextEdit="1"/>
          </p:cNvSpPr>
          <p:nvPr>
            <p:ph type="sldImg"/>
          </p:nvPr>
        </p:nvSpPr>
        <p:spPr>
          <a:ln/>
        </p:spPr>
      </p:sp>
      <p:sp>
        <p:nvSpPr>
          <p:cNvPr id="2816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16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1D9739C-AC51-48BF-8685-6244781548E1}" type="slidenum">
              <a:rPr lang="zh-CN" altLang="en-US" sz="1200" b="0">
                <a:solidFill>
                  <a:schemeClr val="tx1"/>
                </a:solidFill>
                <a:latin typeface="Times New Roman" pitchFamily="18" charset="0"/>
                <a:ea typeface="宋体" pitchFamily="2" charset="-122"/>
              </a:rPr>
              <a:pPr eaLnBrk="1" hangingPunct="1"/>
              <a:t>134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a:ln/>
        </p:spPr>
      </p:sp>
      <p:sp>
        <p:nvSpPr>
          <p:cNvPr id="282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2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84497C-AB44-4496-9F7E-D505A41E6D52}" type="slidenum">
              <a:rPr lang="zh-CN" altLang="en-US" sz="1200" b="0">
                <a:solidFill>
                  <a:schemeClr val="tx1"/>
                </a:solidFill>
                <a:latin typeface="Times New Roman" pitchFamily="18" charset="0"/>
                <a:ea typeface="宋体" pitchFamily="2" charset="-122"/>
              </a:rPr>
              <a:pPr eaLnBrk="1" hangingPunct="1"/>
              <a:t>135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a:ln/>
        </p:spPr>
      </p:sp>
      <p:sp>
        <p:nvSpPr>
          <p:cNvPr id="278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8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FD6ECF3-92E2-444E-B2FC-7629AC172F64}" type="slidenum">
              <a:rPr lang="zh-CN" altLang="en-US" sz="1200" b="0">
                <a:solidFill>
                  <a:schemeClr val="tx1"/>
                </a:solidFill>
                <a:latin typeface="Times New Roman" pitchFamily="18" charset="0"/>
                <a:ea typeface="宋体" pitchFamily="2" charset="-122"/>
              </a:rPr>
              <a:pPr eaLnBrk="1" hangingPunct="1"/>
              <a:t>136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a:ln/>
        </p:spPr>
      </p:sp>
      <p:sp>
        <p:nvSpPr>
          <p:cNvPr id="282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2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84497C-AB44-4496-9F7E-D505A41E6D52}" type="slidenum">
              <a:rPr lang="zh-CN" altLang="en-US" sz="1200" b="0">
                <a:solidFill>
                  <a:schemeClr val="tx1"/>
                </a:solidFill>
                <a:latin typeface="Times New Roman" pitchFamily="18" charset="0"/>
                <a:ea typeface="宋体" pitchFamily="2" charset="-122"/>
              </a:rPr>
              <a:pPr eaLnBrk="1" hangingPunct="1"/>
              <a:t>137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a:ln/>
        </p:spPr>
      </p:sp>
      <p:sp>
        <p:nvSpPr>
          <p:cNvPr id="282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2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84497C-AB44-4496-9F7E-D505A41E6D52}" type="slidenum">
              <a:rPr lang="zh-CN" altLang="en-US" sz="1200" b="0">
                <a:solidFill>
                  <a:schemeClr val="tx1"/>
                </a:solidFill>
                <a:latin typeface="Times New Roman" pitchFamily="18" charset="0"/>
                <a:ea typeface="宋体" pitchFamily="2" charset="-122"/>
              </a:rPr>
              <a:pPr eaLnBrk="1" hangingPunct="1"/>
              <a:t>138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幻灯片图像占位符 1"/>
          <p:cNvSpPr>
            <a:spLocks noGrp="1" noRot="1" noChangeAspect="1" noTextEdit="1"/>
          </p:cNvSpPr>
          <p:nvPr>
            <p:ph type="sldImg"/>
          </p:nvPr>
        </p:nvSpPr>
        <p:spPr>
          <a:ln/>
        </p:spPr>
      </p:sp>
      <p:sp>
        <p:nvSpPr>
          <p:cNvPr id="283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3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C89969D-C551-42EC-89EC-9C3D53F57CF4}" type="slidenum">
              <a:rPr lang="zh-CN" altLang="en-US" sz="1200" b="0">
                <a:solidFill>
                  <a:schemeClr val="tx1"/>
                </a:solidFill>
                <a:latin typeface="Times New Roman" pitchFamily="18" charset="0"/>
                <a:ea typeface="宋体" pitchFamily="2" charset="-122"/>
              </a:rPr>
              <a:pPr eaLnBrk="1" hangingPunct="1"/>
              <a:t>139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幻灯片图像占位符 1"/>
          <p:cNvSpPr>
            <a:spLocks noGrp="1" noRot="1" noChangeAspect="1" noTextEdit="1"/>
          </p:cNvSpPr>
          <p:nvPr>
            <p:ph type="sldImg"/>
          </p:nvPr>
        </p:nvSpPr>
        <p:spPr>
          <a:ln/>
        </p:spPr>
      </p:sp>
      <p:sp>
        <p:nvSpPr>
          <p:cNvPr id="283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3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C89969D-C551-42EC-89EC-9C3D53F57CF4}" type="slidenum">
              <a:rPr lang="zh-CN" altLang="en-US" sz="1200" b="0">
                <a:solidFill>
                  <a:schemeClr val="tx1"/>
                </a:solidFill>
                <a:latin typeface="Times New Roman" pitchFamily="18" charset="0"/>
                <a:ea typeface="宋体" pitchFamily="2" charset="-122"/>
              </a:rPr>
              <a:pPr eaLnBrk="1" hangingPunct="1"/>
              <a:t>140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a:ln/>
        </p:spPr>
      </p:sp>
      <p:sp>
        <p:nvSpPr>
          <p:cNvPr id="284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4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CA759F3-4AF2-43A7-82B4-E5DE608891E9}" type="slidenum">
              <a:rPr lang="zh-CN" altLang="en-US" sz="1200" b="0">
                <a:solidFill>
                  <a:schemeClr val="tx1"/>
                </a:solidFill>
                <a:latin typeface="Times New Roman" pitchFamily="18" charset="0"/>
                <a:ea typeface="宋体" pitchFamily="2" charset="-122"/>
              </a:rPr>
              <a:pPr eaLnBrk="1" hangingPunct="1"/>
              <a:t>141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a:ln/>
        </p:spPr>
      </p:sp>
      <p:sp>
        <p:nvSpPr>
          <p:cNvPr id="284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4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CA759F3-4AF2-43A7-82B4-E5DE608891E9}" type="slidenum">
              <a:rPr lang="zh-CN" altLang="en-US" sz="1200" b="0">
                <a:solidFill>
                  <a:schemeClr val="tx1"/>
                </a:solidFill>
                <a:latin typeface="Times New Roman" pitchFamily="18" charset="0"/>
                <a:ea typeface="宋体" pitchFamily="2" charset="-122"/>
              </a:rPr>
              <a:pPr eaLnBrk="1" hangingPunct="1"/>
              <a:t>142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幻灯片图像占位符 1"/>
          <p:cNvSpPr>
            <a:spLocks noGrp="1" noRot="1" noChangeAspect="1" noTextEdit="1"/>
          </p:cNvSpPr>
          <p:nvPr>
            <p:ph type="sldImg"/>
          </p:nvPr>
        </p:nvSpPr>
        <p:spPr>
          <a:ln/>
        </p:spPr>
      </p:sp>
      <p:sp>
        <p:nvSpPr>
          <p:cNvPr id="285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5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81456FB-9A07-435C-9267-ED78799F8C15}" type="slidenum">
              <a:rPr lang="zh-CN" altLang="en-US" sz="1200" b="0">
                <a:solidFill>
                  <a:schemeClr val="tx1"/>
                </a:solidFill>
                <a:latin typeface="Times New Roman" pitchFamily="18" charset="0"/>
                <a:ea typeface="宋体" pitchFamily="2" charset="-122"/>
              </a:rPr>
              <a:pPr eaLnBrk="1" hangingPunct="1"/>
              <a:t>143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幻灯片图像占位符 1"/>
          <p:cNvSpPr>
            <a:spLocks noGrp="1" noRot="1" noChangeAspect="1" noTextEdit="1"/>
          </p:cNvSpPr>
          <p:nvPr>
            <p:ph type="sldImg"/>
          </p:nvPr>
        </p:nvSpPr>
        <p:spPr>
          <a:ln/>
        </p:spPr>
      </p:sp>
      <p:sp>
        <p:nvSpPr>
          <p:cNvPr id="2867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8B8CB23-59F3-444F-A159-EE572D11F638}" type="slidenum">
              <a:rPr lang="zh-CN" altLang="en-US" sz="1200" b="0">
                <a:solidFill>
                  <a:schemeClr val="tx1"/>
                </a:solidFill>
                <a:latin typeface="Times New Roman" pitchFamily="18" charset="0"/>
                <a:ea typeface="宋体" pitchFamily="2" charset="-122"/>
              </a:rPr>
              <a:pPr eaLnBrk="1" hangingPunct="1"/>
              <a:t>144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p:cNvSpPr>
            <a:spLocks noGrp="1" noRot="1" noChangeAspect="1" noTextEdit="1"/>
          </p:cNvSpPr>
          <p:nvPr>
            <p:ph type="sldImg"/>
          </p:nvPr>
        </p:nvSpPr>
        <p:spPr>
          <a:ln/>
        </p:spPr>
      </p:sp>
      <p:sp>
        <p:nvSpPr>
          <p:cNvPr id="287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7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CB17143-05E2-470E-8CE2-7342557EDE7E}" type="slidenum">
              <a:rPr lang="zh-CN" altLang="en-US" sz="1200" b="0">
                <a:solidFill>
                  <a:schemeClr val="tx1"/>
                </a:solidFill>
                <a:latin typeface="Times New Roman" pitchFamily="18" charset="0"/>
                <a:ea typeface="宋体" pitchFamily="2" charset="-122"/>
              </a:rPr>
              <a:pPr eaLnBrk="1" hangingPunct="1"/>
              <a:t>145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幻灯片图像占位符 1"/>
          <p:cNvSpPr>
            <a:spLocks noGrp="1" noRot="1" noChangeAspect="1" noTextEdit="1"/>
          </p:cNvSpPr>
          <p:nvPr>
            <p:ph type="sldImg"/>
          </p:nvPr>
        </p:nvSpPr>
        <p:spPr>
          <a:ln/>
        </p:spPr>
      </p:sp>
      <p:sp>
        <p:nvSpPr>
          <p:cNvPr id="288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8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F5B4446-DE9F-45DA-B063-D47B36F96135}" type="slidenum">
              <a:rPr lang="zh-CN" altLang="en-US" sz="1200" b="0">
                <a:solidFill>
                  <a:schemeClr val="tx1"/>
                </a:solidFill>
                <a:latin typeface="Times New Roman" pitchFamily="18" charset="0"/>
                <a:ea typeface="宋体" pitchFamily="2" charset="-122"/>
              </a:rPr>
              <a:pPr eaLnBrk="1" hangingPunct="1"/>
              <a:t>146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幻灯片图像占位符 1"/>
          <p:cNvSpPr>
            <a:spLocks noGrp="1" noRot="1" noChangeAspect="1" noTextEdit="1"/>
          </p:cNvSpPr>
          <p:nvPr>
            <p:ph type="sldImg"/>
          </p:nvPr>
        </p:nvSpPr>
        <p:spPr>
          <a:ln/>
        </p:spPr>
      </p:sp>
      <p:sp>
        <p:nvSpPr>
          <p:cNvPr id="289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9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805F3F1C-C879-48F2-8A69-8816D3A7B0A4}" type="slidenum">
              <a:rPr lang="zh-CN" altLang="en-US" sz="1200" b="0">
                <a:solidFill>
                  <a:schemeClr val="tx1"/>
                </a:solidFill>
                <a:latin typeface="Times New Roman" pitchFamily="18" charset="0"/>
                <a:ea typeface="宋体" pitchFamily="2" charset="-122"/>
              </a:rPr>
              <a:pPr eaLnBrk="1" hangingPunct="1"/>
              <a:t>147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幻灯片图像占位符 1"/>
          <p:cNvSpPr>
            <a:spLocks noGrp="1" noRot="1" noChangeAspect="1" noTextEdit="1"/>
          </p:cNvSpPr>
          <p:nvPr>
            <p:ph type="sldImg"/>
          </p:nvPr>
        </p:nvSpPr>
        <p:spPr>
          <a:ln/>
        </p:spPr>
      </p:sp>
      <p:sp>
        <p:nvSpPr>
          <p:cNvPr id="290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0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65AD73F-4941-4A43-A493-19FC5B32052E}" type="slidenum">
              <a:rPr lang="zh-CN" altLang="en-US" sz="1200" b="0">
                <a:solidFill>
                  <a:schemeClr val="tx1"/>
                </a:solidFill>
                <a:latin typeface="Times New Roman" pitchFamily="18" charset="0"/>
                <a:ea typeface="宋体" pitchFamily="2" charset="-122"/>
              </a:rPr>
              <a:pPr eaLnBrk="1" hangingPunct="1"/>
              <a:t>148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p:cNvSpPr>
            <a:spLocks noGrp="1" noRot="1" noChangeAspect="1" noTextEdit="1"/>
          </p:cNvSpPr>
          <p:nvPr>
            <p:ph type="sldImg"/>
          </p:nvPr>
        </p:nvSpPr>
        <p:spPr>
          <a:ln/>
        </p:spPr>
      </p:sp>
      <p:sp>
        <p:nvSpPr>
          <p:cNvPr id="291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了解</a:t>
            </a:r>
          </a:p>
        </p:txBody>
      </p:sp>
      <p:sp>
        <p:nvSpPr>
          <p:cNvPr id="291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D5C5646-D3E0-4201-B024-E775506824A7}" type="slidenum">
              <a:rPr lang="zh-CN" altLang="en-US" sz="1200" b="0">
                <a:solidFill>
                  <a:schemeClr val="tx1"/>
                </a:solidFill>
                <a:latin typeface="Times New Roman" pitchFamily="18" charset="0"/>
                <a:ea typeface="宋体" pitchFamily="2" charset="-122"/>
              </a:rPr>
              <a:pPr eaLnBrk="1" hangingPunct="1"/>
              <a:t>149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p:cNvSpPr>
            <a:spLocks noGrp="1" noRot="1" noChangeAspect="1" noTextEdit="1"/>
          </p:cNvSpPr>
          <p:nvPr>
            <p:ph type="sldImg"/>
          </p:nvPr>
        </p:nvSpPr>
        <p:spPr>
          <a:ln/>
        </p:spPr>
      </p:sp>
      <p:sp>
        <p:nvSpPr>
          <p:cNvPr id="291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了解</a:t>
            </a:r>
          </a:p>
        </p:txBody>
      </p:sp>
      <p:sp>
        <p:nvSpPr>
          <p:cNvPr id="291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D5C5646-D3E0-4201-B024-E775506824A7}" type="slidenum">
              <a:rPr lang="zh-CN" altLang="en-US" sz="1200" b="0">
                <a:solidFill>
                  <a:schemeClr val="tx1"/>
                </a:solidFill>
                <a:latin typeface="Times New Roman" pitchFamily="18" charset="0"/>
                <a:ea typeface="宋体" pitchFamily="2" charset="-122"/>
              </a:rPr>
              <a:pPr eaLnBrk="1" hangingPunct="1"/>
              <a:t>150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p:cNvSpPr>
            <a:spLocks noGrp="1" noRot="1" noChangeAspect="1" noTextEdit="1"/>
          </p:cNvSpPr>
          <p:nvPr>
            <p:ph type="sldImg"/>
          </p:nvPr>
        </p:nvSpPr>
        <p:spPr>
          <a:ln/>
        </p:spPr>
      </p:sp>
      <p:sp>
        <p:nvSpPr>
          <p:cNvPr id="291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了解</a:t>
            </a:r>
          </a:p>
        </p:txBody>
      </p:sp>
      <p:sp>
        <p:nvSpPr>
          <p:cNvPr id="291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D5C5646-D3E0-4201-B024-E775506824A7}" type="slidenum">
              <a:rPr lang="zh-CN" altLang="en-US" sz="1200" b="0">
                <a:solidFill>
                  <a:schemeClr val="tx1"/>
                </a:solidFill>
                <a:latin typeface="Times New Roman" pitchFamily="18" charset="0"/>
                <a:ea typeface="宋体" pitchFamily="2" charset="-122"/>
              </a:rPr>
              <a:pPr eaLnBrk="1" hangingPunct="1"/>
              <a:t>151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p:cNvSpPr>
            <a:spLocks noGrp="1" noRot="1" noChangeAspect="1" noTextEdit="1"/>
          </p:cNvSpPr>
          <p:nvPr>
            <p:ph type="sldImg"/>
          </p:nvPr>
        </p:nvSpPr>
        <p:spPr>
          <a:ln/>
        </p:spPr>
      </p:sp>
      <p:sp>
        <p:nvSpPr>
          <p:cNvPr id="291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了解</a:t>
            </a:r>
          </a:p>
        </p:txBody>
      </p:sp>
      <p:sp>
        <p:nvSpPr>
          <p:cNvPr id="291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D5C5646-D3E0-4201-B024-E775506824A7}" type="slidenum">
              <a:rPr lang="zh-CN" altLang="en-US" sz="1200" b="0">
                <a:solidFill>
                  <a:schemeClr val="tx1"/>
                </a:solidFill>
                <a:latin typeface="Times New Roman" pitchFamily="18" charset="0"/>
                <a:ea typeface="宋体" pitchFamily="2" charset="-122"/>
              </a:rPr>
              <a:pPr eaLnBrk="1" hangingPunct="1"/>
              <a:t>152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p:cNvSpPr>
            <a:spLocks noGrp="1" noRot="1" noChangeAspect="1" noTextEdit="1"/>
          </p:cNvSpPr>
          <p:nvPr>
            <p:ph type="sldImg"/>
          </p:nvPr>
        </p:nvSpPr>
        <p:spPr>
          <a:ln/>
        </p:spPr>
      </p:sp>
      <p:sp>
        <p:nvSpPr>
          <p:cNvPr id="291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了解</a:t>
            </a:r>
          </a:p>
        </p:txBody>
      </p:sp>
      <p:sp>
        <p:nvSpPr>
          <p:cNvPr id="291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D5C5646-D3E0-4201-B024-E775506824A7}" type="slidenum">
              <a:rPr lang="zh-CN" altLang="en-US" sz="1200" b="0">
                <a:solidFill>
                  <a:schemeClr val="tx1"/>
                </a:solidFill>
                <a:latin typeface="Times New Roman" pitchFamily="18" charset="0"/>
                <a:ea typeface="宋体" pitchFamily="2" charset="-122"/>
              </a:rPr>
              <a:pPr eaLnBrk="1" hangingPunct="1"/>
              <a:t>153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幻灯片图像占位符 1"/>
          <p:cNvSpPr>
            <a:spLocks noGrp="1" noRot="1" noChangeAspect="1" noTextEdit="1"/>
          </p:cNvSpPr>
          <p:nvPr>
            <p:ph type="sldImg"/>
          </p:nvPr>
        </p:nvSpPr>
        <p:spPr>
          <a:ln/>
        </p:spPr>
      </p:sp>
      <p:sp>
        <p:nvSpPr>
          <p:cNvPr id="292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2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9282EB6-0939-44F3-BD42-D03CECD2480D}" type="slidenum">
              <a:rPr lang="zh-CN" altLang="en-US" sz="1200" b="0">
                <a:solidFill>
                  <a:schemeClr val="tx1"/>
                </a:solidFill>
                <a:latin typeface="Times New Roman" pitchFamily="18" charset="0"/>
                <a:ea typeface="宋体" pitchFamily="2" charset="-122"/>
              </a:rPr>
              <a:pPr eaLnBrk="1" hangingPunct="1"/>
              <a:t>154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p:cNvSpPr>
            <a:spLocks noGrp="1" noRot="1" noChangeAspect="1" noTextEdit="1"/>
          </p:cNvSpPr>
          <p:nvPr>
            <p:ph type="sldImg"/>
          </p:nvPr>
        </p:nvSpPr>
        <p:spPr>
          <a:ln/>
        </p:spPr>
      </p:sp>
      <p:sp>
        <p:nvSpPr>
          <p:cNvPr id="293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3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1CD1768-584C-4A25-95F6-F59B168FFD33}" type="slidenum">
              <a:rPr lang="zh-CN" altLang="en-US" sz="1200" b="0">
                <a:solidFill>
                  <a:schemeClr val="tx1"/>
                </a:solidFill>
                <a:latin typeface="Times New Roman" pitchFamily="18" charset="0"/>
                <a:ea typeface="宋体" pitchFamily="2" charset="-122"/>
              </a:rPr>
              <a:pPr eaLnBrk="1" hangingPunct="1"/>
              <a:t>155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p:cNvSpPr>
            <a:spLocks noGrp="1" noRot="1" noChangeAspect="1" noTextEdit="1"/>
          </p:cNvSpPr>
          <p:nvPr>
            <p:ph type="sldImg"/>
          </p:nvPr>
        </p:nvSpPr>
        <p:spPr>
          <a:ln/>
        </p:spPr>
      </p:sp>
      <p:sp>
        <p:nvSpPr>
          <p:cNvPr id="293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3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1CD1768-584C-4A25-95F6-F59B168FFD33}" type="slidenum">
              <a:rPr lang="zh-CN" altLang="en-US" sz="1200" b="0">
                <a:solidFill>
                  <a:schemeClr val="tx1"/>
                </a:solidFill>
                <a:latin typeface="Times New Roman" pitchFamily="18" charset="0"/>
                <a:ea typeface="宋体" pitchFamily="2" charset="-122"/>
              </a:rPr>
              <a:pPr eaLnBrk="1" hangingPunct="1"/>
              <a:t>156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幻灯片图像占位符 1"/>
          <p:cNvSpPr>
            <a:spLocks noGrp="1" noRot="1" noChangeAspect="1" noTextEdit="1"/>
          </p:cNvSpPr>
          <p:nvPr>
            <p:ph type="sldImg"/>
          </p:nvPr>
        </p:nvSpPr>
        <p:spPr>
          <a:ln/>
        </p:spPr>
      </p:sp>
      <p:sp>
        <p:nvSpPr>
          <p:cNvPr id="294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4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F0ECA3D-C58E-4FF7-A07B-8160A185985A}" type="slidenum">
              <a:rPr lang="zh-CN" altLang="en-US" sz="1200" b="0">
                <a:solidFill>
                  <a:schemeClr val="tx1"/>
                </a:solidFill>
                <a:latin typeface="Times New Roman" pitchFamily="18" charset="0"/>
                <a:ea typeface="宋体" pitchFamily="2" charset="-122"/>
              </a:rPr>
              <a:pPr eaLnBrk="1" hangingPunct="1"/>
              <a:t>157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27537CA-5E85-4EAD-9153-790B832AA214}" type="slidenum">
              <a:rPr lang="zh-CN" altLang="en-US" sz="1200" b="0">
                <a:solidFill>
                  <a:schemeClr val="tx1"/>
                </a:solidFill>
                <a:latin typeface="Times New Roman" pitchFamily="18" charset="0"/>
                <a:ea typeface="宋体" pitchFamily="2" charset="-122"/>
              </a:rPr>
              <a:pPr eaLnBrk="1" hangingPunct="1"/>
              <a:t>158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27537CA-5E85-4EAD-9153-790B832AA214}" type="slidenum">
              <a:rPr lang="zh-CN" altLang="en-US" sz="1200" b="0">
                <a:solidFill>
                  <a:schemeClr val="tx1"/>
                </a:solidFill>
                <a:latin typeface="Times New Roman" pitchFamily="18" charset="0"/>
                <a:ea typeface="宋体" pitchFamily="2" charset="-122"/>
              </a:rPr>
              <a:pPr eaLnBrk="1" hangingPunct="1"/>
              <a:t>159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27537CA-5E85-4EAD-9153-790B832AA214}" type="slidenum">
              <a:rPr lang="zh-CN" altLang="en-US" sz="1200" b="0">
                <a:solidFill>
                  <a:schemeClr val="tx1"/>
                </a:solidFill>
                <a:latin typeface="Times New Roman" pitchFamily="18" charset="0"/>
                <a:ea typeface="宋体" pitchFamily="2" charset="-122"/>
              </a:rPr>
              <a:pPr eaLnBrk="1" hangingPunct="1"/>
              <a:t>160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27537CA-5E85-4EAD-9153-790B832AA214}" type="slidenum">
              <a:rPr lang="zh-CN" altLang="en-US" sz="1200" b="0">
                <a:solidFill>
                  <a:schemeClr val="tx1"/>
                </a:solidFill>
                <a:latin typeface="Times New Roman" pitchFamily="18" charset="0"/>
                <a:ea typeface="宋体" pitchFamily="2" charset="-122"/>
              </a:rPr>
              <a:pPr eaLnBrk="1" hangingPunct="1"/>
              <a:t>161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p:cNvSpPr>
            <a:spLocks noGrp="1" noRot="1" noChangeAspect="1" noTextEdit="1"/>
          </p:cNvSpPr>
          <p:nvPr>
            <p:ph type="sldImg"/>
          </p:nvPr>
        </p:nvSpPr>
        <p:spPr>
          <a:ln/>
        </p:spPr>
      </p:sp>
      <p:sp>
        <p:nvSpPr>
          <p:cNvPr id="297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7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EF6E4CD-4E8E-4139-B79E-08CD51037717}" type="slidenum">
              <a:rPr lang="zh-CN" altLang="en-US" sz="1200" b="0">
                <a:solidFill>
                  <a:schemeClr val="tx1"/>
                </a:solidFill>
                <a:latin typeface="Times New Roman" pitchFamily="18" charset="0"/>
                <a:ea typeface="宋体" pitchFamily="2" charset="-122"/>
              </a:rPr>
              <a:pPr eaLnBrk="1" hangingPunct="1"/>
              <a:t>162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a:ln/>
        </p:spPr>
      </p:sp>
      <p:sp>
        <p:nvSpPr>
          <p:cNvPr id="299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9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0C85282-246C-4E7B-A4D1-E1DF740ECB41}" type="slidenum">
              <a:rPr lang="zh-CN" altLang="en-US" sz="1200" b="0">
                <a:solidFill>
                  <a:schemeClr val="tx1"/>
                </a:solidFill>
                <a:latin typeface="Times New Roman" pitchFamily="18" charset="0"/>
                <a:ea typeface="宋体" pitchFamily="2" charset="-122"/>
              </a:rPr>
              <a:pPr eaLnBrk="1" hangingPunct="1"/>
              <a:t>163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a:ln/>
        </p:spPr>
      </p:sp>
      <p:sp>
        <p:nvSpPr>
          <p:cNvPr id="299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9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0C85282-246C-4E7B-A4D1-E1DF740ECB41}" type="slidenum">
              <a:rPr lang="zh-CN" altLang="en-US" sz="1200" b="0">
                <a:solidFill>
                  <a:schemeClr val="tx1"/>
                </a:solidFill>
                <a:latin typeface="Times New Roman" pitchFamily="18" charset="0"/>
                <a:ea typeface="宋体" pitchFamily="2" charset="-122"/>
              </a:rPr>
              <a:pPr eaLnBrk="1" hangingPunct="1"/>
              <a:t>164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幻灯片图像占位符 1"/>
          <p:cNvSpPr>
            <a:spLocks noGrp="1" noRot="1" noChangeAspect="1" noTextEdit="1"/>
          </p:cNvSpPr>
          <p:nvPr>
            <p:ph type="sldImg"/>
          </p:nvPr>
        </p:nvSpPr>
        <p:spPr>
          <a:ln/>
        </p:spPr>
      </p:sp>
      <p:sp>
        <p:nvSpPr>
          <p:cNvPr id="302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具体参考数字逻辑。</a:t>
            </a:r>
          </a:p>
        </p:txBody>
      </p:sp>
      <p:sp>
        <p:nvSpPr>
          <p:cNvPr id="302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10868A-7E06-4D12-B53C-45C934F47237}" type="slidenum">
              <a:rPr lang="zh-CN" altLang="en-US" sz="1200" b="0">
                <a:solidFill>
                  <a:schemeClr val="tx1"/>
                </a:solidFill>
                <a:latin typeface="Times New Roman" pitchFamily="18" charset="0"/>
                <a:ea typeface="宋体" pitchFamily="2" charset="-122"/>
              </a:rPr>
              <a:pPr eaLnBrk="1" hangingPunct="1"/>
              <a:t>165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幻灯片图像占位符 1"/>
          <p:cNvSpPr>
            <a:spLocks noGrp="1" noRot="1" noChangeAspect="1" noTextEdit="1"/>
          </p:cNvSpPr>
          <p:nvPr>
            <p:ph type="sldImg"/>
          </p:nvPr>
        </p:nvSpPr>
        <p:spPr>
          <a:ln/>
        </p:spPr>
      </p:sp>
      <p:sp>
        <p:nvSpPr>
          <p:cNvPr id="302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具体参考数字逻辑。</a:t>
            </a:r>
          </a:p>
        </p:txBody>
      </p:sp>
      <p:sp>
        <p:nvSpPr>
          <p:cNvPr id="302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10868A-7E06-4D12-B53C-45C934F47237}" type="slidenum">
              <a:rPr lang="zh-CN" altLang="en-US" sz="1200" b="0">
                <a:solidFill>
                  <a:schemeClr val="tx1"/>
                </a:solidFill>
                <a:latin typeface="Times New Roman" pitchFamily="18" charset="0"/>
                <a:ea typeface="宋体" pitchFamily="2" charset="-122"/>
              </a:rPr>
              <a:pPr eaLnBrk="1" hangingPunct="1"/>
              <a:t>166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幻灯片图像占位符 1"/>
          <p:cNvSpPr>
            <a:spLocks noGrp="1" noRot="1" noChangeAspect="1" noTextEdit="1"/>
          </p:cNvSpPr>
          <p:nvPr>
            <p:ph type="sldImg"/>
          </p:nvPr>
        </p:nvSpPr>
        <p:spPr>
          <a:ln/>
        </p:spPr>
      </p:sp>
      <p:sp>
        <p:nvSpPr>
          <p:cNvPr id="302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具体参考数字逻辑。</a:t>
            </a:r>
          </a:p>
        </p:txBody>
      </p:sp>
      <p:sp>
        <p:nvSpPr>
          <p:cNvPr id="302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10868A-7E06-4D12-B53C-45C934F47237}" type="slidenum">
              <a:rPr lang="zh-CN" altLang="en-US" sz="1200" b="0">
                <a:solidFill>
                  <a:schemeClr val="tx1"/>
                </a:solidFill>
                <a:latin typeface="Times New Roman" pitchFamily="18" charset="0"/>
                <a:ea typeface="宋体" pitchFamily="2" charset="-122"/>
              </a:rPr>
              <a:pPr eaLnBrk="1" hangingPunct="1"/>
              <a:t>167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幻灯片图像占位符 1"/>
          <p:cNvSpPr>
            <a:spLocks noGrp="1" noRot="1" noChangeAspect="1" noTextEdit="1"/>
          </p:cNvSpPr>
          <p:nvPr>
            <p:ph type="sldImg"/>
          </p:nvPr>
        </p:nvSpPr>
        <p:spPr>
          <a:ln/>
        </p:spPr>
      </p:sp>
      <p:sp>
        <p:nvSpPr>
          <p:cNvPr id="302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具体参考数字逻辑。</a:t>
            </a:r>
          </a:p>
        </p:txBody>
      </p:sp>
      <p:sp>
        <p:nvSpPr>
          <p:cNvPr id="302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EB10868A-7E06-4D12-B53C-45C934F47237}" type="slidenum">
              <a:rPr lang="zh-CN" altLang="en-US" sz="1200" b="0">
                <a:solidFill>
                  <a:schemeClr val="tx1"/>
                </a:solidFill>
                <a:latin typeface="Times New Roman" pitchFamily="18" charset="0"/>
                <a:ea typeface="宋体" pitchFamily="2" charset="-122"/>
              </a:rPr>
              <a:pPr eaLnBrk="1" hangingPunct="1"/>
              <a:t>168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169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170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幻灯片图像占位符 1"/>
          <p:cNvSpPr>
            <a:spLocks noGrp="1" noRot="1" noChangeAspect="1" noTextEdit="1"/>
          </p:cNvSpPr>
          <p:nvPr>
            <p:ph type="sldImg"/>
          </p:nvPr>
        </p:nvSpPr>
        <p:spPr>
          <a:ln/>
        </p:spPr>
      </p:sp>
      <p:sp>
        <p:nvSpPr>
          <p:cNvPr id="252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2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0BDB8B4-B46D-4E5B-AF5D-36891AC6C3E3}" type="slidenum">
              <a:rPr lang="zh-CN" altLang="en-US" sz="1200" b="0">
                <a:solidFill>
                  <a:schemeClr val="tx1"/>
                </a:solidFill>
                <a:latin typeface="Times New Roman" pitchFamily="18" charset="0"/>
                <a:ea typeface="宋体" pitchFamily="2" charset="-122"/>
              </a:rPr>
              <a:pPr eaLnBrk="1" hangingPunct="1"/>
              <a:t>171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幻灯片图像占位符 1"/>
          <p:cNvSpPr>
            <a:spLocks noGrp="1" noRot="1" noChangeAspect="1" noTextEdit="1"/>
          </p:cNvSpPr>
          <p:nvPr>
            <p:ph type="sldImg"/>
          </p:nvPr>
        </p:nvSpPr>
        <p:spPr>
          <a:ln/>
        </p:spPr>
      </p:sp>
      <p:sp>
        <p:nvSpPr>
          <p:cNvPr id="306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6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73637FC-214C-433C-8130-B99ECD703C5B}" type="slidenum">
              <a:rPr lang="zh-CN" altLang="en-US" sz="1200" b="0">
                <a:solidFill>
                  <a:schemeClr val="tx1"/>
                </a:solidFill>
                <a:latin typeface="Times New Roman" pitchFamily="18" charset="0"/>
                <a:ea typeface="宋体" pitchFamily="2" charset="-122"/>
              </a:rPr>
              <a:pPr eaLnBrk="1" hangingPunct="1"/>
              <a:t>172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a:ln/>
        </p:spPr>
      </p:sp>
      <p:sp>
        <p:nvSpPr>
          <p:cNvPr id="307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0501BF1-74C0-42A0-856A-0C6200C9124E}" type="slidenum">
              <a:rPr lang="zh-CN" altLang="en-US" sz="1200" b="0">
                <a:solidFill>
                  <a:schemeClr val="tx1"/>
                </a:solidFill>
                <a:latin typeface="Times New Roman" pitchFamily="18" charset="0"/>
                <a:ea typeface="宋体" pitchFamily="2" charset="-122"/>
              </a:rPr>
              <a:pPr eaLnBrk="1" hangingPunct="1"/>
              <a:t>173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a:ln/>
        </p:spPr>
      </p:sp>
      <p:sp>
        <p:nvSpPr>
          <p:cNvPr id="307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0501BF1-74C0-42A0-856A-0C6200C9124E}" type="slidenum">
              <a:rPr lang="zh-CN" altLang="en-US" sz="1200" b="0">
                <a:solidFill>
                  <a:schemeClr val="tx1"/>
                </a:solidFill>
                <a:latin typeface="Times New Roman" pitchFamily="18" charset="0"/>
                <a:ea typeface="宋体" pitchFamily="2" charset="-122"/>
              </a:rPr>
              <a:pPr eaLnBrk="1" hangingPunct="1"/>
              <a:t>174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幻灯片图像占位符 1"/>
          <p:cNvSpPr>
            <a:spLocks noGrp="1" noRot="1" noChangeAspect="1" noTextEdit="1"/>
          </p:cNvSpPr>
          <p:nvPr>
            <p:ph type="sldImg"/>
          </p:nvPr>
        </p:nvSpPr>
        <p:spPr>
          <a:ln/>
        </p:spPr>
      </p:sp>
      <p:sp>
        <p:nvSpPr>
          <p:cNvPr id="308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8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3478443-C1B5-4362-AD33-6331CBF5F487}" type="slidenum">
              <a:rPr lang="zh-CN" altLang="en-US" sz="1200" b="0">
                <a:solidFill>
                  <a:schemeClr val="tx1"/>
                </a:solidFill>
                <a:latin typeface="Times New Roman" pitchFamily="18" charset="0"/>
                <a:ea typeface="宋体" pitchFamily="2" charset="-122"/>
              </a:rPr>
              <a:pPr eaLnBrk="1" hangingPunct="1"/>
              <a:t>175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幻灯片图像占位符 1"/>
          <p:cNvSpPr>
            <a:spLocks noGrp="1" noRot="1" noChangeAspect="1" noTextEdit="1"/>
          </p:cNvSpPr>
          <p:nvPr>
            <p:ph type="sldImg"/>
          </p:nvPr>
        </p:nvSpPr>
        <p:spPr>
          <a:ln/>
        </p:spPr>
      </p:sp>
      <p:sp>
        <p:nvSpPr>
          <p:cNvPr id="308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8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3478443-C1B5-4362-AD33-6331CBF5F487}" type="slidenum">
              <a:rPr lang="zh-CN" altLang="en-US" sz="1200" b="0">
                <a:solidFill>
                  <a:schemeClr val="tx1"/>
                </a:solidFill>
                <a:latin typeface="Times New Roman" pitchFamily="18" charset="0"/>
                <a:ea typeface="宋体" pitchFamily="2" charset="-122"/>
              </a:rPr>
              <a:pPr eaLnBrk="1" hangingPunct="1"/>
              <a:t>176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a:ln/>
        </p:spPr>
      </p:sp>
      <p:sp>
        <p:nvSpPr>
          <p:cNvPr id="309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9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F1AE79F-C842-41B6-9734-DBC7F26EF8D9}" type="slidenum">
              <a:rPr lang="zh-CN" altLang="en-US" sz="1200" b="0">
                <a:solidFill>
                  <a:schemeClr val="tx1"/>
                </a:solidFill>
                <a:latin typeface="Times New Roman" pitchFamily="18" charset="0"/>
                <a:ea typeface="宋体" pitchFamily="2" charset="-122"/>
              </a:rPr>
              <a:pPr eaLnBrk="1" hangingPunct="1"/>
              <a:t>177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a:ln/>
        </p:spPr>
      </p:sp>
      <p:sp>
        <p:nvSpPr>
          <p:cNvPr id="309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9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F1AE79F-C842-41B6-9734-DBC7F26EF8D9}" type="slidenum">
              <a:rPr lang="zh-CN" altLang="en-US" sz="1200" b="0">
                <a:solidFill>
                  <a:schemeClr val="tx1"/>
                </a:solidFill>
                <a:latin typeface="Times New Roman" pitchFamily="18" charset="0"/>
                <a:ea typeface="宋体" pitchFamily="2" charset="-122"/>
              </a:rPr>
              <a:pPr eaLnBrk="1" hangingPunct="1"/>
              <a:t>178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幻灯片图像占位符 1"/>
          <p:cNvSpPr>
            <a:spLocks noGrp="1" noRot="1" noChangeAspect="1" noTextEdit="1"/>
          </p:cNvSpPr>
          <p:nvPr>
            <p:ph type="sldImg"/>
          </p:nvPr>
        </p:nvSpPr>
        <p:spPr>
          <a:ln/>
        </p:spPr>
      </p:sp>
      <p:sp>
        <p:nvSpPr>
          <p:cNvPr id="310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0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2EA91E7-98FB-456F-8AC9-CEF4F78769DC}" type="slidenum">
              <a:rPr lang="zh-CN" altLang="en-US" sz="1200" b="0">
                <a:solidFill>
                  <a:schemeClr val="tx1"/>
                </a:solidFill>
                <a:latin typeface="Times New Roman" pitchFamily="18" charset="0"/>
                <a:ea typeface="宋体" pitchFamily="2" charset="-122"/>
              </a:rPr>
              <a:pPr eaLnBrk="1" hangingPunct="1"/>
              <a:t>179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幻灯片图像占位符 1"/>
          <p:cNvSpPr>
            <a:spLocks noGrp="1" noRot="1" noChangeAspect="1" noTextEdit="1"/>
          </p:cNvSpPr>
          <p:nvPr>
            <p:ph type="sldImg"/>
          </p:nvPr>
        </p:nvSpPr>
        <p:spPr>
          <a:ln/>
        </p:spPr>
      </p:sp>
      <p:sp>
        <p:nvSpPr>
          <p:cNvPr id="310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0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2EA91E7-98FB-456F-8AC9-CEF4F78769DC}" type="slidenum">
              <a:rPr lang="zh-CN" altLang="en-US" sz="1200" b="0">
                <a:solidFill>
                  <a:schemeClr val="tx1"/>
                </a:solidFill>
                <a:latin typeface="Times New Roman" pitchFamily="18" charset="0"/>
                <a:ea typeface="宋体" pitchFamily="2" charset="-122"/>
              </a:rPr>
              <a:pPr eaLnBrk="1" hangingPunct="1"/>
              <a:t>180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a:ln/>
        </p:spPr>
      </p:sp>
      <p:sp>
        <p:nvSpPr>
          <p:cNvPr id="311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会画图</a:t>
            </a:r>
          </a:p>
        </p:txBody>
      </p:sp>
      <p:sp>
        <p:nvSpPr>
          <p:cNvPr id="311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160AACF-CBBF-4E09-BD1B-8DB4E00B53C6}" type="slidenum">
              <a:rPr lang="zh-CN" altLang="en-US" sz="1200" b="0">
                <a:solidFill>
                  <a:schemeClr val="tx1"/>
                </a:solidFill>
                <a:latin typeface="Times New Roman" pitchFamily="18" charset="0"/>
                <a:ea typeface="宋体" pitchFamily="2" charset="-122"/>
              </a:rPr>
              <a:pPr eaLnBrk="1" hangingPunct="1"/>
              <a:t>181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a:ln/>
        </p:spPr>
      </p:sp>
      <p:sp>
        <p:nvSpPr>
          <p:cNvPr id="311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会画图</a:t>
            </a:r>
          </a:p>
        </p:txBody>
      </p:sp>
      <p:sp>
        <p:nvSpPr>
          <p:cNvPr id="311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160AACF-CBBF-4E09-BD1B-8DB4E00B53C6}" type="slidenum">
              <a:rPr lang="zh-CN" altLang="en-US" sz="1200" b="0">
                <a:solidFill>
                  <a:schemeClr val="tx1"/>
                </a:solidFill>
                <a:latin typeface="Times New Roman" pitchFamily="18" charset="0"/>
                <a:ea typeface="宋体" pitchFamily="2" charset="-122"/>
              </a:rPr>
              <a:pPr eaLnBrk="1" hangingPunct="1"/>
              <a:t>182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幻灯片图像占位符 1"/>
          <p:cNvSpPr>
            <a:spLocks noGrp="1" noRot="1" noChangeAspect="1" noTextEdit="1"/>
          </p:cNvSpPr>
          <p:nvPr>
            <p:ph type="sldImg"/>
          </p:nvPr>
        </p:nvSpPr>
        <p:spPr>
          <a:ln/>
        </p:spPr>
      </p:sp>
      <p:sp>
        <p:nvSpPr>
          <p:cNvPr id="312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2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2FA46CF-3866-4929-ADA6-2B8CD9B752CB}" type="slidenum">
              <a:rPr lang="zh-CN" altLang="en-US" sz="1200" b="0">
                <a:solidFill>
                  <a:schemeClr val="tx1"/>
                </a:solidFill>
                <a:latin typeface="Times New Roman" pitchFamily="18" charset="0"/>
                <a:ea typeface="宋体" pitchFamily="2" charset="-122"/>
              </a:rPr>
              <a:pPr eaLnBrk="1" hangingPunct="1"/>
              <a:t>183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幻灯片图像占位符 1"/>
          <p:cNvSpPr>
            <a:spLocks noGrp="1" noRot="1" noChangeAspect="1" noTextEdit="1"/>
          </p:cNvSpPr>
          <p:nvPr>
            <p:ph type="sldImg"/>
          </p:nvPr>
        </p:nvSpPr>
        <p:spPr>
          <a:ln/>
        </p:spPr>
      </p:sp>
      <p:sp>
        <p:nvSpPr>
          <p:cNvPr id="312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2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2FA46CF-3866-4929-ADA6-2B8CD9B752CB}" type="slidenum">
              <a:rPr lang="zh-CN" altLang="en-US" sz="1200" b="0">
                <a:solidFill>
                  <a:schemeClr val="tx1"/>
                </a:solidFill>
                <a:latin typeface="Times New Roman" pitchFamily="18" charset="0"/>
                <a:ea typeface="宋体" pitchFamily="2" charset="-122"/>
              </a:rPr>
              <a:pPr eaLnBrk="1" hangingPunct="1"/>
              <a:t>184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幻灯片图像占位符 1"/>
          <p:cNvSpPr>
            <a:spLocks noGrp="1" noRot="1" noChangeAspect="1" noTextEdit="1"/>
          </p:cNvSpPr>
          <p:nvPr>
            <p:ph type="sldImg"/>
          </p:nvPr>
        </p:nvSpPr>
        <p:spPr>
          <a:ln/>
        </p:spPr>
      </p:sp>
      <p:sp>
        <p:nvSpPr>
          <p:cNvPr id="312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2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2FA46CF-3866-4929-ADA6-2B8CD9B752CB}" type="slidenum">
              <a:rPr lang="zh-CN" altLang="en-US" sz="1200" b="0">
                <a:solidFill>
                  <a:schemeClr val="tx1"/>
                </a:solidFill>
                <a:latin typeface="Times New Roman" pitchFamily="18" charset="0"/>
                <a:ea typeface="宋体" pitchFamily="2" charset="-122"/>
              </a:rPr>
              <a:pPr eaLnBrk="1" hangingPunct="1"/>
              <a:t>185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幻灯片图像占位符 1"/>
          <p:cNvSpPr>
            <a:spLocks noGrp="1" noRot="1" noChangeAspect="1" noTextEdit="1"/>
          </p:cNvSpPr>
          <p:nvPr>
            <p:ph type="sldImg"/>
          </p:nvPr>
        </p:nvSpPr>
        <p:spPr>
          <a:ln/>
        </p:spPr>
      </p:sp>
      <p:sp>
        <p:nvSpPr>
          <p:cNvPr id="314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4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96CF55-D8AE-4D19-A25A-77BDACFB0999}" type="slidenum">
              <a:rPr lang="zh-CN" altLang="en-US" sz="1200" b="0">
                <a:solidFill>
                  <a:schemeClr val="tx1"/>
                </a:solidFill>
                <a:latin typeface="Times New Roman" pitchFamily="18" charset="0"/>
                <a:ea typeface="宋体" pitchFamily="2" charset="-122"/>
              </a:rPr>
              <a:pPr eaLnBrk="1" hangingPunct="1"/>
              <a:t>186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幻灯片图像占位符 1"/>
          <p:cNvSpPr>
            <a:spLocks noGrp="1" noRot="1" noChangeAspect="1" noTextEdit="1"/>
          </p:cNvSpPr>
          <p:nvPr>
            <p:ph type="sldImg"/>
          </p:nvPr>
        </p:nvSpPr>
        <p:spPr>
          <a:ln/>
        </p:spPr>
      </p:sp>
      <p:sp>
        <p:nvSpPr>
          <p:cNvPr id="314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4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96CF55-D8AE-4D19-A25A-77BDACFB0999}" type="slidenum">
              <a:rPr lang="zh-CN" altLang="en-US" sz="1200" b="0">
                <a:solidFill>
                  <a:schemeClr val="tx1"/>
                </a:solidFill>
                <a:latin typeface="Times New Roman" pitchFamily="18" charset="0"/>
                <a:ea typeface="宋体" pitchFamily="2" charset="-122"/>
              </a:rPr>
              <a:pPr eaLnBrk="1" hangingPunct="1"/>
              <a:t>187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幻灯片图像占位符 1"/>
          <p:cNvSpPr>
            <a:spLocks noGrp="1" noRot="1" noChangeAspect="1" noTextEdit="1"/>
          </p:cNvSpPr>
          <p:nvPr>
            <p:ph type="sldImg"/>
          </p:nvPr>
        </p:nvSpPr>
        <p:spPr>
          <a:ln/>
        </p:spPr>
      </p:sp>
      <p:sp>
        <p:nvSpPr>
          <p:cNvPr id="314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4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96CF55-D8AE-4D19-A25A-77BDACFB0999}" type="slidenum">
              <a:rPr lang="zh-CN" altLang="en-US" sz="1200" b="0">
                <a:solidFill>
                  <a:schemeClr val="tx1"/>
                </a:solidFill>
                <a:latin typeface="Times New Roman" pitchFamily="18" charset="0"/>
                <a:ea typeface="宋体" pitchFamily="2" charset="-122"/>
              </a:rPr>
              <a:pPr eaLnBrk="1" hangingPunct="1"/>
              <a:t>188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幻灯片图像占位符 1"/>
          <p:cNvSpPr>
            <a:spLocks noGrp="1" noRot="1" noChangeAspect="1" noTextEdit="1"/>
          </p:cNvSpPr>
          <p:nvPr>
            <p:ph type="sldImg"/>
          </p:nvPr>
        </p:nvSpPr>
        <p:spPr>
          <a:ln/>
        </p:spPr>
      </p:sp>
      <p:sp>
        <p:nvSpPr>
          <p:cNvPr id="315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53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25A27768-C662-4557-A337-2925A9A963EC}" type="slidenum">
              <a:rPr lang="zh-CN" altLang="en-US" sz="1200" b="0">
                <a:solidFill>
                  <a:schemeClr val="tx1"/>
                </a:solidFill>
                <a:latin typeface="Times New Roman" pitchFamily="18" charset="0"/>
                <a:ea typeface="宋体" pitchFamily="2" charset="-122"/>
              </a:rPr>
              <a:pPr eaLnBrk="1" hangingPunct="1"/>
              <a:t>189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幻灯片图像占位符 1"/>
          <p:cNvSpPr>
            <a:spLocks noGrp="1" noRot="1" noChangeAspect="1" noTextEdit="1"/>
          </p:cNvSpPr>
          <p:nvPr>
            <p:ph type="sldImg"/>
          </p:nvPr>
        </p:nvSpPr>
        <p:spPr>
          <a:ln/>
        </p:spPr>
      </p:sp>
      <p:sp>
        <p:nvSpPr>
          <p:cNvPr id="314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4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96CF55-D8AE-4D19-A25A-77BDACFB0999}" type="slidenum">
              <a:rPr lang="zh-CN" altLang="en-US" sz="1200" b="0">
                <a:solidFill>
                  <a:schemeClr val="tx1"/>
                </a:solidFill>
                <a:latin typeface="Times New Roman" pitchFamily="18" charset="0"/>
                <a:ea typeface="宋体" pitchFamily="2" charset="-122"/>
              </a:rPr>
              <a:pPr eaLnBrk="1" hangingPunct="1"/>
              <a:t>190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幻灯片图像占位符 1"/>
          <p:cNvSpPr>
            <a:spLocks noGrp="1" noRot="1" noChangeAspect="1" noTextEdit="1"/>
          </p:cNvSpPr>
          <p:nvPr>
            <p:ph type="sldImg"/>
          </p:nvPr>
        </p:nvSpPr>
        <p:spPr>
          <a:ln/>
        </p:spPr>
      </p:sp>
      <p:sp>
        <p:nvSpPr>
          <p:cNvPr id="316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6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E18AB47-49B8-47FC-A35F-687AFC33D544}" type="slidenum">
              <a:rPr lang="zh-CN" altLang="en-US" sz="1200" b="0">
                <a:solidFill>
                  <a:schemeClr val="tx1"/>
                </a:solidFill>
                <a:latin typeface="Times New Roman" pitchFamily="18" charset="0"/>
                <a:ea typeface="宋体" pitchFamily="2" charset="-122"/>
              </a:rPr>
              <a:pPr eaLnBrk="1" hangingPunct="1"/>
              <a:t>191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幻灯片图像占位符 1"/>
          <p:cNvSpPr>
            <a:spLocks noGrp="1" noRot="1" noChangeAspect="1" noTextEdit="1"/>
          </p:cNvSpPr>
          <p:nvPr>
            <p:ph type="sldImg"/>
          </p:nvPr>
        </p:nvSpPr>
        <p:spPr>
          <a:ln/>
        </p:spPr>
      </p:sp>
      <p:sp>
        <p:nvSpPr>
          <p:cNvPr id="314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4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C96CF55-D8AE-4D19-A25A-77BDACFB0999}" type="slidenum">
              <a:rPr lang="zh-CN" altLang="en-US" sz="1200" b="0">
                <a:solidFill>
                  <a:schemeClr val="tx1"/>
                </a:solidFill>
                <a:latin typeface="Times New Roman" pitchFamily="18" charset="0"/>
                <a:ea typeface="宋体" pitchFamily="2" charset="-122"/>
              </a:rPr>
              <a:pPr eaLnBrk="1" hangingPunct="1"/>
              <a:t>192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幻灯片图像占位符 1"/>
          <p:cNvSpPr>
            <a:spLocks noGrp="1" noRot="1" noChangeAspect="1" noTextEdit="1"/>
          </p:cNvSpPr>
          <p:nvPr>
            <p:ph type="sldImg"/>
          </p:nvPr>
        </p:nvSpPr>
        <p:spPr>
          <a:ln/>
        </p:spPr>
      </p:sp>
      <p:sp>
        <p:nvSpPr>
          <p:cNvPr id="318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8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6A6A6BAC-71E9-4E75-8B11-37E4B767C372}" type="slidenum">
              <a:rPr lang="zh-CN" altLang="en-US" sz="1200" b="0">
                <a:solidFill>
                  <a:schemeClr val="tx1"/>
                </a:solidFill>
                <a:latin typeface="Times New Roman" pitchFamily="18" charset="0"/>
                <a:ea typeface="宋体" pitchFamily="2" charset="-122"/>
              </a:rPr>
              <a:pPr eaLnBrk="1" hangingPunct="1"/>
              <a:t>193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a:ln/>
        </p:spPr>
      </p:sp>
      <p:sp>
        <p:nvSpPr>
          <p:cNvPr id="3194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94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CAE93C7-6960-41A7-8EBE-23A407EB9ABB}" type="slidenum">
              <a:rPr lang="zh-CN" altLang="en-US" sz="1200" b="0">
                <a:solidFill>
                  <a:schemeClr val="tx1"/>
                </a:solidFill>
                <a:latin typeface="Times New Roman" pitchFamily="18" charset="0"/>
                <a:ea typeface="宋体" pitchFamily="2" charset="-122"/>
              </a:rPr>
              <a:pPr eaLnBrk="1" hangingPunct="1"/>
              <a:t>194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幻灯片图像占位符 1"/>
          <p:cNvSpPr>
            <a:spLocks noGrp="1" noRot="1" noChangeAspect="1" noTextEdit="1"/>
          </p:cNvSpPr>
          <p:nvPr>
            <p:ph type="sldImg"/>
          </p:nvPr>
        </p:nvSpPr>
        <p:spPr>
          <a:ln/>
        </p:spPr>
      </p:sp>
      <p:sp>
        <p:nvSpPr>
          <p:cNvPr id="320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0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B64AE06-5807-44B1-B63C-D03F355C0CBE}" type="slidenum">
              <a:rPr lang="zh-CN" altLang="en-US" sz="1200" b="0">
                <a:solidFill>
                  <a:schemeClr val="tx1"/>
                </a:solidFill>
                <a:latin typeface="Times New Roman" pitchFamily="18" charset="0"/>
                <a:ea typeface="宋体" pitchFamily="2" charset="-122"/>
              </a:rPr>
              <a:pPr eaLnBrk="1" hangingPunct="1"/>
              <a:t>195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幻灯片图像占位符 1"/>
          <p:cNvSpPr>
            <a:spLocks noGrp="1" noRot="1" noChangeAspect="1" noTextEdit="1"/>
          </p:cNvSpPr>
          <p:nvPr>
            <p:ph type="sldImg"/>
          </p:nvPr>
        </p:nvSpPr>
        <p:spPr>
          <a:ln/>
        </p:spPr>
      </p:sp>
      <p:sp>
        <p:nvSpPr>
          <p:cNvPr id="320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0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9B64AE06-5807-44B1-B63C-D03F355C0CBE}" type="slidenum">
              <a:rPr lang="zh-CN" altLang="en-US" sz="1200" b="0">
                <a:solidFill>
                  <a:schemeClr val="tx1"/>
                </a:solidFill>
                <a:latin typeface="Times New Roman" pitchFamily="18" charset="0"/>
                <a:ea typeface="宋体" pitchFamily="2" charset="-122"/>
              </a:rPr>
              <a:pPr eaLnBrk="1" hangingPunct="1"/>
              <a:t>196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a:ln/>
        </p:spPr>
      </p:sp>
      <p:sp>
        <p:nvSpPr>
          <p:cNvPr id="321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1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AA44FF4-409A-472F-8BEB-5EA7FFEFC0F5}" type="slidenum">
              <a:rPr lang="zh-CN" altLang="en-US" sz="1200" b="0">
                <a:solidFill>
                  <a:schemeClr val="tx1"/>
                </a:solidFill>
                <a:latin typeface="Times New Roman" pitchFamily="18" charset="0"/>
                <a:ea typeface="宋体" pitchFamily="2" charset="-122"/>
              </a:rPr>
              <a:pPr eaLnBrk="1" hangingPunct="1"/>
              <a:t>197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a:ln/>
        </p:spPr>
      </p:sp>
      <p:sp>
        <p:nvSpPr>
          <p:cNvPr id="321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1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AA44FF4-409A-472F-8BEB-5EA7FFEFC0F5}" type="slidenum">
              <a:rPr lang="zh-CN" altLang="en-US" sz="1200" b="0">
                <a:solidFill>
                  <a:schemeClr val="tx1"/>
                </a:solidFill>
                <a:latin typeface="Times New Roman" pitchFamily="18" charset="0"/>
                <a:ea typeface="宋体" pitchFamily="2" charset="-122"/>
              </a:rPr>
              <a:pPr eaLnBrk="1" hangingPunct="1"/>
              <a:t>198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1"/>
          <p:cNvSpPr>
            <a:spLocks noGrp="1" noRot="1" noChangeAspect="1" noTextEdit="1"/>
          </p:cNvSpPr>
          <p:nvPr>
            <p:ph type="sldImg"/>
          </p:nvPr>
        </p:nvSpPr>
        <p:spPr>
          <a:ln/>
        </p:spPr>
      </p:sp>
      <p:sp>
        <p:nvSpPr>
          <p:cNvPr id="323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35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0EB163C8-E40D-4763-A4E4-CAB2EE119B15}" type="slidenum">
              <a:rPr lang="zh-CN" altLang="en-US" sz="1200" b="0">
                <a:solidFill>
                  <a:schemeClr val="tx1"/>
                </a:solidFill>
                <a:latin typeface="Times New Roman" pitchFamily="18" charset="0"/>
                <a:ea typeface="宋体" pitchFamily="2" charset="-122"/>
              </a:rPr>
              <a:pPr eaLnBrk="1" hangingPunct="1"/>
              <a:t>199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幻灯片图像占位符 1"/>
          <p:cNvSpPr>
            <a:spLocks noGrp="1" noRot="1" noChangeAspect="1" noTextEdit="1"/>
          </p:cNvSpPr>
          <p:nvPr>
            <p:ph type="sldImg"/>
          </p:nvPr>
        </p:nvSpPr>
        <p:spPr>
          <a:ln/>
        </p:spPr>
      </p:sp>
      <p:sp>
        <p:nvSpPr>
          <p:cNvPr id="3246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46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1F368BF2-8354-404B-9A7F-A4F1987FB134}" type="slidenum">
              <a:rPr lang="zh-CN" altLang="en-US" sz="1200" b="0">
                <a:solidFill>
                  <a:schemeClr val="tx1"/>
                </a:solidFill>
                <a:latin typeface="Times New Roman" pitchFamily="18" charset="0"/>
                <a:ea typeface="宋体" pitchFamily="2" charset="-122"/>
              </a:rPr>
              <a:pPr eaLnBrk="1" hangingPunct="1"/>
              <a:t>200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a:ln/>
        </p:spPr>
      </p:sp>
      <p:sp>
        <p:nvSpPr>
          <p:cNvPr id="325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5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51199E32-041A-44DD-88AE-E62339C8063B}" type="slidenum">
              <a:rPr lang="zh-CN" altLang="en-US" sz="1200" b="0">
                <a:solidFill>
                  <a:schemeClr val="tx1"/>
                </a:solidFill>
                <a:latin typeface="Times New Roman" pitchFamily="18" charset="0"/>
                <a:ea typeface="宋体" pitchFamily="2" charset="-122"/>
              </a:rPr>
              <a:pPr eaLnBrk="1" hangingPunct="1"/>
              <a:t>201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幻灯片图像占位符 1"/>
          <p:cNvSpPr>
            <a:spLocks noGrp="1" noRot="1" noChangeAspect="1" noTextEdit="1"/>
          </p:cNvSpPr>
          <p:nvPr>
            <p:ph type="sldImg"/>
          </p:nvPr>
        </p:nvSpPr>
        <p:spPr>
          <a:ln/>
        </p:spPr>
      </p:sp>
      <p:sp>
        <p:nvSpPr>
          <p:cNvPr id="3266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66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C3296C69-2BF1-4B53-B3A4-02D8074CA834}" type="slidenum">
              <a:rPr lang="zh-CN" altLang="en-US" sz="1200" b="0">
                <a:solidFill>
                  <a:schemeClr val="tx1"/>
                </a:solidFill>
                <a:latin typeface="Times New Roman" pitchFamily="18" charset="0"/>
                <a:ea typeface="宋体" pitchFamily="2" charset="-122"/>
              </a:rPr>
              <a:pPr eaLnBrk="1" hangingPunct="1"/>
              <a:t>202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p:cNvSpPr>
            <a:spLocks noGrp="1" noRot="1" noChangeAspect="1" noTextEdit="1"/>
          </p:cNvSpPr>
          <p:nvPr>
            <p:ph type="sldImg"/>
          </p:nvPr>
        </p:nvSpPr>
        <p:spPr>
          <a:ln/>
        </p:spPr>
      </p:sp>
      <p:sp>
        <p:nvSpPr>
          <p:cNvPr id="327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324AEE3-4920-453C-8ECC-8A0C0947B21C}" type="slidenum">
              <a:rPr lang="zh-CN" altLang="en-US" sz="1200" b="0">
                <a:solidFill>
                  <a:schemeClr val="tx1"/>
                </a:solidFill>
                <a:latin typeface="Times New Roman" pitchFamily="18" charset="0"/>
                <a:ea typeface="宋体" pitchFamily="2" charset="-122"/>
              </a:rPr>
              <a:pPr eaLnBrk="1" hangingPunct="1"/>
              <a:t>203</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幻灯片图像占位符 1"/>
          <p:cNvSpPr>
            <a:spLocks noGrp="1" noRot="1" noChangeAspect="1" noTextEdit="1"/>
          </p:cNvSpPr>
          <p:nvPr>
            <p:ph type="sldImg"/>
          </p:nvPr>
        </p:nvSpPr>
        <p:spPr>
          <a:ln/>
        </p:spPr>
      </p:sp>
      <p:sp>
        <p:nvSpPr>
          <p:cNvPr id="328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8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3FCF2BB8-CD9C-43FF-BED0-3E465BAC8CB1}" type="slidenum">
              <a:rPr lang="zh-CN" altLang="en-US" sz="1200" b="0">
                <a:solidFill>
                  <a:schemeClr val="tx1"/>
                </a:solidFill>
                <a:latin typeface="Times New Roman" pitchFamily="18" charset="0"/>
                <a:ea typeface="宋体" pitchFamily="2" charset="-122"/>
              </a:rPr>
              <a:pPr eaLnBrk="1" hangingPunct="1"/>
              <a:t>204</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a:ln/>
        </p:spPr>
      </p:sp>
      <p:sp>
        <p:nvSpPr>
          <p:cNvPr id="329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9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781BA7BB-8459-429B-870B-346198ADBC23}" type="slidenum">
              <a:rPr lang="zh-CN" altLang="en-US" sz="1200" b="0">
                <a:solidFill>
                  <a:schemeClr val="tx1"/>
                </a:solidFill>
                <a:latin typeface="Times New Roman" pitchFamily="18" charset="0"/>
                <a:ea typeface="宋体" pitchFamily="2" charset="-122"/>
              </a:rPr>
              <a:pPr eaLnBrk="1" hangingPunct="1"/>
              <a:t>205</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幻灯片图像占位符 1"/>
          <p:cNvSpPr>
            <a:spLocks noGrp="1" noRot="1" noChangeAspect="1" noTextEdit="1"/>
          </p:cNvSpPr>
          <p:nvPr>
            <p:ph type="sldImg"/>
          </p:nvPr>
        </p:nvSpPr>
        <p:spPr>
          <a:ln/>
        </p:spPr>
      </p:sp>
      <p:sp>
        <p:nvSpPr>
          <p:cNvPr id="3358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58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CB81C4D-2568-4A16-8A41-4EB5B9C5A996}" type="slidenum">
              <a:rPr lang="zh-CN" altLang="en-US" sz="1200" b="0">
                <a:solidFill>
                  <a:schemeClr val="tx1"/>
                </a:solidFill>
                <a:latin typeface="Times New Roman" pitchFamily="18" charset="0"/>
                <a:ea typeface="宋体" pitchFamily="2" charset="-122"/>
              </a:rPr>
              <a:pPr eaLnBrk="1" hangingPunct="1"/>
              <a:t>206</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a:ln/>
        </p:spPr>
      </p:sp>
      <p:sp>
        <p:nvSpPr>
          <p:cNvPr id="331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17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76261FC-1863-4170-84DD-BDC3257AEC3F}" type="slidenum">
              <a:rPr lang="zh-CN" altLang="en-US" sz="1200" b="0">
                <a:solidFill>
                  <a:schemeClr val="tx1"/>
                </a:solidFill>
                <a:latin typeface="Times New Roman" pitchFamily="18" charset="0"/>
                <a:ea typeface="宋体" pitchFamily="2" charset="-122"/>
              </a:rPr>
              <a:pPr eaLnBrk="1" hangingPunct="1"/>
              <a:t>207</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a:ln/>
        </p:spPr>
      </p:sp>
      <p:sp>
        <p:nvSpPr>
          <p:cNvPr id="331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17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F76261FC-1863-4170-84DD-BDC3257AEC3F}" type="slidenum">
              <a:rPr lang="zh-CN" altLang="en-US" sz="1200" b="0">
                <a:solidFill>
                  <a:schemeClr val="tx1"/>
                </a:solidFill>
                <a:latin typeface="Times New Roman" pitchFamily="18" charset="0"/>
                <a:ea typeface="宋体" pitchFamily="2" charset="-122"/>
              </a:rPr>
              <a:pPr eaLnBrk="1" hangingPunct="1"/>
              <a:t>208</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幻灯片图像占位符 1"/>
          <p:cNvSpPr>
            <a:spLocks noGrp="1" noRot="1" noChangeAspect="1" noTextEdit="1"/>
          </p:cNvSpPr>
          <p:nvPr>
            <p:ph type="sldImg"/>
          </p:nvPr>
        </p:nvSpPr>
        <p:spPr>
          <a:ln/>
        </p:spPr>
      </p:sp>
      <p:sp>
        <p:nvSpPr>
          <p:cNvPr id="333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3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D6BBA619-AA74-4770-964F-3E6708A1363E}" type="slidenum">
              <a:rPr lang="zh-CN" altLang="en-US" sz="1200" b="0">
                <a:solidFill>
                  <a:schemeClr val="tx1"/>
                </a:solidFill>
                <a:latin typeface="Times New Roman" pitchFamily="18" charset="0"/>
                <a:ea typeface="宋体" pitchFamily="2" charset="-122"/>
              </a:rPr>
              <a:pPr eaLnBrk="1" hangingPunct="1"/>
              <a:t>209</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幻灯片图像占位符 1"/>
          <p:cNvSpPr>
            <a:spLocks noGrp="1" noRot="1" noChangeAspect="1" noTextEdit="1"/>
          </p:cNvSpPr>
          <p:nvPr>
            <p:ph type="sldImg"/>
          </p:nvPr>
        </p:nvSpPr>
        <p:spPr>
          <a:ln/>
        </p:spPr>
      </p:sp>
      <p:sp>
        <p:nvSpPr>
          <p:cNvPr id="3348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48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BB028362-FBE5-40C7-A7E9-D84F859F9A1D}" type="slidenum">
              <a:rPr lang="zh-CN" altLang="en-US" sz="1200" b="0">
                <a:solidFill>
                  <a:schemeClr val="tx1"/>
                </a:solidFill>
                <a:latin typeface="Times New Roman" pitchFamily="18" charset="0"/>
                <a:ea typeface="宋体" pitchFamily="2" charset="-122"/>
              </a:rPr>
              <a:pPr eaLnBrk="1" hangingPunct="1"/>
              <a:t>210</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幻灯片图像占位符 1"/>
          <p:cNvSpPr>
            <a:spLocks noGrp="1" noRot="1" noChangeAspect="1" noTextEdit="1"/>
          </p:cNvSpPr>
          <p:nvPr>
            <p:ph type="sldImg"/>
          </p:nvPr>
        </p:nvSpPr>
        <p:spPr>
          <a:ln/>
        </p:spPr>
      </p:sp>
      <p:sp>
        <p:nvSpPr>
          <p:cNvPr id="336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6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4040A371-DA6C-425F-A927-991C21B56E1C}" type="slidenum">
              <a:rPr lang="zh-CN" altLang="en-US" sz="1200" b="0">
                <a:solidFill>
                  <a:schemeClr val="tx1"/>
                </a:solidFill>
                <a:latin typeface="Times New Roman" pitchFamily="18" charset="0"/>
                <a:ea typeface="宋体" pitchFamily="2" charset="-122"/>
              </a:rPr>
              <a:pPr eaLnBrk="1" hangingPunct="1"/>
              <a:t>211</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幻灯片图像占位符 1"/>
          <p:cNvSpPr>
            <a:spLocks noGrp="1" noRot="1" noChangeAspect="1" noTextEdit="1"/>
          </p:cNvSpPr>
          <p:nvPr>
            <p:ph type="sldImg"/>
          </p:nvPr>
        </p:nvSpPr>
        <p:spPr>
          <a:ln/>
        </p:spPr>
      </p:sp>
      <p:sp>
        <p:nvSpPr>
          <p:cNvPr id="338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8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500" b="1">
                <a:solidFill>
                  <a:srgbClr val="0066FF"/>
                </a:solidFill>
                <a:latin typeface="Arial" pitchFamily="34" charset="0"/>
                <a:ea typeface="华文新魏" pitchFamily="2" charset="-122"/>
              </a:defRPr>
            </a:lvl1pPr>
            <a:lvl2pPr marL="685817" indent="-263776" eaLnBrk="0" hangingPunct="0">
              <a:defRPr sz="1500" b="1">
                <a:solidFill>
                  <a:srgbClr val="0066FF"/>
                </a:solidFill>
                <a:latin typeface="Arial" pitchFamily="34" charset="0"/>
                <a:ea typeface="华文新魏" pitchFamily="2" charset="-122"/>
              </a:defRPr>
            </a:lvl2pPr>
            <a:lvl3pPr marL="1055103" indent="-211021" eaLnBrk="0" hangingPunct="0">
              <a:defRPr sz="1500" b="1">
                <a:solidFill>
                  <a:srgbClr val="0066FF"/>
                </a:solidFill>
                <a:latin typeface="Arial" pitchFamily="34" charset="0"/>
                <a:ea typeface="华文新魏" pitchFamily="2" charset="-122"/>
              </a:defRPr>
            </a:lvl3pPr>
            <a:lvl4pPr marL="1477145" indent="-211021" eaLnBrk="0" hangingPunct="0">
              <a:defRPr sz="1500" b="1">
                <a:solidFill>
                  <a:srgbClr val="0066FF"/>
                </a:solidFill>
                <a:latin typeface="Arial" pitchFamily="34" charset="0"/>
                <a:ea typeface="华文新魏" pitchFamily="2" charset="-122"/>
              </a:defRPr>
            </a:lvl4pPr>
            <a:lvl5pPr marL="1899186" indent="-211021" eaLnBrk="0" hangingPunct="0">
              <a:defRPr sz="1500" b="1">
                <a:solidFill>
                  <a:srgbClr val="0066FF"/>
                </a:solidFill>
                <a:latin typeface="Arial" pitchFamily="34" charset="0"/>
                <a:ea typeface="华文新魏" pitchFamily="2" charset="-122"/>
              </a:defRPr>
            </a:lvl5pPr>
            <a:lvl6pPr marL="2321227" indent="-211021" algn="r" eaLnBrk="0" fontAlgn="base" hangingPunct="0">
              <a:spcBef>
                <a:spcPct val="0"/>
              </a:spcBef>
              <a:spcAft>
                <a:spcPct val="0"/>
              </a:spcAft>
              <a:defRPr sz="1500" b="1">
                <a:solidFill>
                  <a:srgbClr val="0066FF"/>
                </a:solidFill>
                <a:latin typeface="Arial" pitchFamily="34" charset="0"/>
                <a:ea typeface="华文新魏" pitchFamily="2" charset="-122"/>
              </a:defRPr>
            </a:lvl6pPr>
            <a:lvl7pPr marL="2743269" indent="-211021" algn="r" eaLnBrk="0" fontAlgn="base" hangingPunct="0">
              <a:spcBef>
                <a:spcPct val="0"/>
              </a:spcBef>
              <a:spcAft>
                <a:spcPct val="0"/>
              </a:spcAft>
              <a:defRPr sz="1500" b="1">
                <a:solidFill>
                  <a:srgbClr val="0066FF"/>
                </a:solidFill>
                <a:latin typeface="Arial" pitchFamily="34" charset="0"/>
                <a:ea typeface="华文新魏" pitchFamily="2" charset="-122"/>
              </a:defRPr>
            </a:lvl7pPr>
            <a:lvl8pPr marL="3165310" indent="-211021" algn="r" eaLnBrk="0" fontAlgn="base" hangingPunct="0">
              <a:spcBef>
                <a:spcPct val="0"/>
              </a:spcBef>
              <a:spcAft>
                <a:spcPct val="0"/>
              </a:spcAft>
              <a:defRPr sz="1500" b="1">
                <a:solidFill>
                  <a:srgbClr val="0066FF"/>
                </a:solidFill>
                <a:latin typeface="Arial" pitchFamily="34" charset="0"/>
                <a:ea typeface="华文新魏" pitchFamily="2" charset="-122"/>
              </a:defRPr>
            </a:lvl8pPr>
            <a:lvl9pPr marL="3587351" indent="-211021" algn="r" eaLnBrk="0" fontAlgn="base" hangingPunct="0">
              <a:spcBef>
                <a:spcPct val="0"/>
              </a:spcBef>
              <a:spcAft>
                <a:spcPct val="0"/>
              </a:spcAft>
              <a:defRPr sz="1500" b="1">
                <a:solidFill>
                  <a:srgbClr val="0066FF"/>
                </a:solidFill>
                <a:latin typeface="Arial" pitchFamily="34" charset="0"/>
                <a:ea typeface="华文新魏" pitchFamily="2" charset="-122"/>
              </a:defRPr>
            </a:lvl9pPr>
          </a:lstStyle>
          <a:p>
            <a:pPr eaLnBrk="1" hangingPunct="1"/>
            <a:fld id="{A33CB9E7-D6D0-4FFB-B54F-5FE0A25E4426}" type="slidenum">
              <a:rPr lang="zh-CN" altLang="en-US" sz="1200" b="0">
                <a:solidFill>
                  <a:schemeClr val="tx1"/>
                </a:solidFill>
                <a:latin typeface="Times New Roman" pitchFamily="18" charset="0"/>
                <a:ea typeface="宋体" pitchFamily="2" charset="-122"/>
              </a:rPr>
              <a:pPr eaLnBrk="1" hangingPunct="1"/>
              <a:t>212</a:t>
            </a:fld>
            <a:endParaRPr lang="zh-CN" altLang="en-US" sz="1200" b="0">
              <a:solidFill>
                <a:schemeClr val="tx1"/>
              </a:solidFill>
              <a:latin typeface="Times New Roman" pitchFamily="18"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7" descr="E:\电信学院\同济logo\百年同济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731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0" name="Rectangle 2"/>
          <p:cNvSpPr>
            <a:spLocks noGrp="1" noChangeArrowheads="1"/>
          </p:cNvSpPr>
          <p:nvPr>
            <p:ph type="ctrTitle"/>
          </p:nvPr>
        </p:nvSpPr>
        <p:spPr>
          <a:xfrm>
            <a:off x="0" y="0"/>
            <a:ext cx="685800" cy="3657600"/>
          </a:xfrm>
        </p:spPr>
        <p:txBody>
          <a:bodyPr anchor="b"/>
          <a:lstStyle>
            <a:lvl1pPr>
              <a:defRPr sz="2000" b="1"/>
            </a:lvl1pPr>
          </a:lstStyle>
          <a:p>
            <a:r>
              <a:rPr lang="zh-CN" altLang="en-US"/>
              <a:t>单击此处编辑母版标题样式</a:t>
            </a:r>
          </a:p>
        </p:txBody>
      </p:sp>
      <p:sp>
        <p:nvSpPr>
          <p:cNvPr id="99331" name="Rectangle 3"/>
          <p:cNvSpPr>
            <a:spLocks noGrp="1" noChangeArrowheads="1"/>
          </p:cNvSpPr>
          <p:nvPr>
            <p:ph type="subTitle" idx="1"/>
          </p:nvPr>
        </p:nvSpPr>
        <p:spPr>
          <a:xfrm>
            <a:off x="1828800" y="228600"/>
            <a:ext cx="6400800" cy="685800"/>
          </a:xfrm>
        </p:spPr>
        <p:txBody>
          <a:bodyPr/>
          <a:lstStyle>
            <a:lvl1pPr marL="0" indent="0" algn="ctr">
              <a:defRPr/>
            </a:lvl1pPr>
          </a:lstStyle>
          <a:p>
            <a:r>
              <a:rPr lang="zh-CN" altLang="en-US"/>
              <a:t>单击此处编辑母版副标题样式</a:t>
            </a:r>
          </a:p>
        </p:txBody>
      </p:sp>
      <p:sp>
        <p:nvSpPr>
          <p:cNvPr id="5" name="Rectangle 4"/>
          <p:cNvSpPr>
            <a:spLocks noGrp="1" noChangeArrowheads="1"/>
          </p:cNvSpPr>
          <p:nvPr>
            <p:ph type="dt" sz="half" idx="10"/>
          </p:nvPr>
        </p:nvSpPr>
        <p:spPr>
          <a:xfrm>
            <a:off x="1262063" y="6248400"/>
            <a:ext cx="1905000" cy="457200"/>
          </a:xfrm>
        </p:spPr>
        <p:txBody>
          <a:bodyPr/>
          <a:lstStyle>
            <a:lvl1pPr>
              <a:defRPr/>
            </a:lvl1pPr>
          </a:lstStyle>
          <a:p>
            <a:fld id="{530820CF-B880-4189-942D-D702A7CBA730}" type="datetimeFigureOut">
              <a:rPr lang="zh-CN" altLang="en-US" smtClean="0"/>
              <a:t>2025/3/14</a:t>
            </a:fld>
            <a:endParaRPr lang="zh-CN" altLang="en-US"/>
          </a:p>
        </p:txBody>
      </p:sp>
      <p:sp>
        <p:nvSpPr>
          <p:cNvPr id="6" name="Rectangle 5"/>
          <p:cNvSpPr>
            <a:spLocks noGrp="1" noChangeArrowheads="1"/>
          </p:cNvSpPr>
          <p:nvPr>
            <p:ph type="ftr" sz="quarter" idx="11"/>
          </p:nvPr>
        </p:nvSpPr>
        <p:spPr>
          <a:xfrm>
            <a:off x="3700463" y="6248400"/>
            <a:ext cx="2895600" cy="457200"/>
          </a:xfrm>
        </p:spPr>
        <p:txBody>
          <a:bodyPr/>
          <a:lstStyle>
            <a:lvl1pPr>
              <a:defRPr sz="1400" b="0">
                <a:ea typeface="+mn-ea"/>
              </a:defRPr>
            </a:lvl1pPr>
          </a:lstStyle>
          <a:p>
            <a:endParaRPr lang="zh-CN" altLang="en-US"/>
          </a:p>
        </p:txBody>
      </p:sp>
      <p:sp>
        <p:nvSpPr>
          <p:cNvPr id="7" name="Rectangle 6"/>
          <p:cNvSpPr>
            <a:spLocks noGrp="1" noChangeArrowheads="1"/>
          </p:cNvSpPr>
          <p:nvPr>
            <p:ph type="sldNum" sz="quarter" idx="12"/>
          </p:nvPr>
        </p:nvSpPr>
        <p:spPr bwMode="auto">
          <a:xfrm>
            <a:off x="7129463"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b="0">
                <a:solidFill>
                  <a:schemeClr val="bg2"/>
                </a:solidFill>
                <a:latin typeface="Arial" charset="0"/>
                <a:ea typeface="+mn-ea"/>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4702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ftr" sz="quarter" idx="10"/>
          </p:nvPr>
        </p:nvSpPr>
        <p:spPr>
          <a:ln/>
        </p:spPr>
        <p:txBody>
          <a:bodyPr/>
          <a:lstStyle>
            <a:lvl1pPr>
              <a:defRPr/>
            </a:lvl1pPr>
          </a:lstStyle>
          <a:p>
            <a:endParaRPr lang="zh-CN" altLang="en-US"/>
          </a:p>
        </p:txBody>
      </p:sp>
      <p:sp>
        <p:nvSpPr>
          <p:cNvPr id="5"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146414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endParaRPr lang="zh-CN" altLang="en-US"/>
          </a:p>
        </p:txBody>
      </p:sp>
      <p:sp>
        <p:nvSpPr>
          <p:cNvPr id="5"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226706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4800" y="1828800"/>
            <a:ext cx="4267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1828800"/>
            <a:ext cx="4267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ftr" sz="quarter" idx="10"/>
          </p:nvPr>
        </p:nvSpPr>
        <p:spPr>
          <a:ln/>
        </p:spPr>
        <p:txBody>
          <a:bodyPr/>
          <a:lstStyle>
            <a:lvl1pPr>
              <a:defRPr/>
            </a:lvl1pPr>
          </a:lstStyle>
          <a:p>
            <a:endParaRPr lang="zh-CN" altLang="en-US"/>
          </a:p>
        </p:txBody>
      </p:sp>
      <p:sp>
        <p:nvSpPr>
          <p:cNvPr id="6"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2846520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ftr" sz="quarter" idx="10"/>
          </p:nvPr>
        </p:nvSpPr>
        <p:spPr>
          <a:ln/>
        </p:spPr>
        <p:txBody>
          <a:bodyPr/>
          <a:lstStyle>
            <a:lvl1pPr>
              <a:defRPr/>
            </a:lvl1pPr>
          </a:lstStyle>
          <a:p>
            <a:endParaRPr lang="zh-CN" altLang="en-US"/>
          </a:p>
        </p:txBody>
      </p:sp>
      <p:sp>
        <p:nvSpPr>
          <p:cNvPr id="8"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2018393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ftr" sz="quarter" idx="10"/>
          </p:nvPr>
        </p:nvSpPr>
        <p:spPr>
          <a:ln/>
        </p:spPr>
        <p:txBody>
          <a:bodyPr/>
          <a:lstStyle>
            <a:lvl1pPr>
              <a:defRPr/>
            </a:lvl1pPr>
          </a:lstStyle>
          <a:p>
            <a:endParaRPr lang="zh-CN" altLang="en-US"/>
          </a:p>
        </p:txBody>
      </p:sp>
      <p:sp>
        <p:nvSpPr>
          <p:cNvPr id="4"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495604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endParaRPr lang="zh-CN" altLang="en-US"/>
          </a:p>
        </p:txBody>
      </p:sp>
      <p:sp>
        <p:nvSpPr>
          <p:cNvPr id="3"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1623767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endParaRPr lang="zh-CN" altLang="en-US"/>
          </a:p>
        </p:txBody>
      </p:sp>
      <p:sp>
        <p:nvSpPr>
          <p:cNvPr id="6"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2051871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endParaRPr lang="zh-CN" altLang="en-US"/>
          </a:p>
        </p:txBody>
      </p:sp>
      <p:sp>
        <p:nvSpPr>
          <p:cNvPr id="6"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1904322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ftr" sz="quarter" idx="10"/>
          </p:nvPr>
        </p:nvSpPr>
        <p:spPr>
          <a:ln/>
        </p:spPr>
        <p:txBody>
          <a:bodyPr/>
          <a:lstStyle>
            <a:lvl1pPr>
              <a:defRPr/>
            </a:lvl1pPr>
          </a:lstStyle>
          <a:p>
            <a:endParaRPr lang="zh-CN" altLang="en-US"/>
          </a:p>
        </p:txBody>
      </p:sp>
      <p:sp>
        <p:nvSpPr>
          <p:cNvPr id="5"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3839737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19900" y="381000"/>
            <a:ext cx="21717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381000"/>
            <a:ext cx="63627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ftr" sz="quarter" idx="10"/>
          </p:nvPr>
        </p:nvSpPr>
        <p:spPr>
          <a:ln/>
        </p:spPr>
        <p:txBody>
          <a:bodyPr/>
          <a:lstStyle>
            <a:lvl1pPr>
              <a:defRPr/>
            </a:lvl1pPr>
          </a:lstStyle>
          <a:p>
            <a:endParaRPr lang="zh-CN" altLang="en-US"/>
          </a:p>
        </p:txBody>
      </p:sp>
      <p:sp>
        <p:nvSpPr>
          <p:cNvPr id="5"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960629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1524000" y="381000"/>
            <a:ext cx="7467600" cy="762000"/>
          </a:xfrm>
        </p:spPr>
        <p:txBody>
          <a:bodyPr/>
          <a:lstStyle/>
          <a:p>
            <a:r>
              <a:rPr lang="zh-CN" altLang="en-US"/>
              <a:t>单击此处编辑母版标题样式</a:t>
            </a:r>
          </a:p>
        </p:txBody>
      </p:sp>
      <p:sp>
        <p:nvSpPr>
          <p:cNvPr id="3" name="内容占位符 2"/>
          <p:cNvSpPr>
            <a:spLocks noGrp="1"/>
          </p:cNvSpPr>
          <p:nvPr>
            <p:ph sz="half" idx="1"/>
          </p:nvPr>
        </p:nvSpPr>
        <p:spPr>
          <a:xfrm>
            <a:off x="304800" y="1828800"/>
            <a:ext cx="4267200" cy="4191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724400" y="1828800"/>
            <a:ext cx="4267200" cy="4191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ftr" sz="quarter" idx="10"/>
          </p:nvPr>
        </p:nvSpPr>
        <p:spPr>
          <a:ln/>
        </p:spPr>
        <p:txBody>
          <a:bodyPr/>
          <a:lstStyle>
            <a:lvl1pPr>
              <a:defRPr/>
            </a:lvl1pPr>
          </a:lstStyle>
          <a:p>
            <a:endParaRPr lang="zh-CN" altLang="en-US"/>
          </a:p>
        </p:txBody>
      </p:sp>
      <p:sp>
        <p:nvSpPr>
          <p:cNvPr id="6" name="Rectangle 9"/>
          <p:cNvSpPr>
            <a:spLocks noGrp="1" noChangeArrowheads="1"/>
          </p:cNvSpPr>
          <p:nvPr>
            <p:ph type="dt" sz="half" idx="11"/>
          </p:nvPr>
        </p:nvSpPr>
        <p:spPr>
          <a:ln/>
        </p:spPr>
        <p:txBody>
          <a:bodyPr/>
          <a:lstStyle>
            <a:lvl1pPr>
              <a:defRPr/>
            </a:lvl1pPr>
          </a:lstStyle>
          <a:p>
            <a:fld id="{530820CF-B880-4189-942D-D702A7CBA730}" type="datetimeFigureOut">
              <a:rPr lang="zh-CN" altLang="en-US" smtClean="0"/>
              <a:t>2025/3/14</a:t>
            </a:fld>
            <a:endParaRPr lang="zh-CN" altLang="en-US"/>
          </a:p>
        </p:txBody>
      </p:sp>
    </p:spTree>
    <p:extLst>
      <p:ext uri="{BB962C8B-B14F-4D97-AF65-F5344CB8AC3E}">
        <p14:creationId xmlns:p14="http://schemas.microsoft.com/office/powerpoint/2010/main" val="1405159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p:cNvSpPr>
            <a:spLocks noGrp="1" noChangeArrowheads="1"/>
          </p:cNvSpPr>
          <p:nvPr>
            <p:ph type="body" idx="1"/>
          </p:nvPr>
        </p:nvSpPr>
        <p:spPr bwMode="auto">
          <a:xfrm>
            <a:off x="304800" y="1828800"/>
            <a:ext cx="8686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en-US"/>
          </a:p>
        </p:txBody>
      </p:sp>
      <p:sp>
        <p:nvSpPr>
          <p:cNvPr id="98308" name="Rectangle 4"/>
          <p:cNvSpPr>
            <a:spLocks noGrp="1" noChangeArrowheads="1"/>
          </p:cNvSpPr>
          <p:nvPr>
            <p:ph type="ftr" sz="quarter" idx="3"/>
          </p:nvPr>
        </p:nvSpPr>
        <p:spPr bwMode="auto">
          <a:xfrm>
            <a:off x="3276600" y="6324600"/>
            <a:ext cx="2895600" cy="336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ctr">
              <a:defRPr>
                <a:solidFill>
                  <a:schemeClr val="bg2"/>
                </a:solidFill>
                <a:latin typeface="Arial" charset="0"/>
              </a:defRPr>
            </a:lvl1pPr>
          </a:lstStyle>
          <a:p>
            <a:endParaRPr lang="zh-CN" altLang="en-US"/>
          </a:p>
        </p:txBody>
      </p:sp>
      <p:pic>
        <p:nvPicPr>
          <p:cNvPr id="1029" name="Picture 5" descr="E:\电信学院\同济logo\百年同济logo.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6"/>
          <p:cNvSpPr txBox="1">
            <a:spLocks noChangeArrowheads="1"/>
          </p:cNvSpPr>
          <p:nvPr/>
        </p:nvSpPr>
        <p:spPr bwMode="auto">
          <a:xfrm>
            <a:off x="304800" y="3200400"/>
            <a:ext cx="5492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spcBef>
                <a:spcPct val="50000"/>
              </a:spcBef>
              <a:defRPr/>
            </a:pPr>
            <a:endParaRPr kumimoji="1" lang="zh-CN" altLang="en-US" sz="2400" b="0">
              <a:solidFill>
                <a:schemeClr val="tx1"/>
              </a:solidFill>
              <a:ea typeface="宋体" pitchFamily="2" charset="-122"/>
            </a:endParaRPr>
          </a:p>
        </p:txBody>
      </p:sp>
      <p:sp>
        <p:nvSpPr>
          <p:cNvPr id="1031" name="Rectangle 7"/>
          <p:cNvSpPr>
            <a:spLocks noChangeArrowheads="1"/>
          </p:cNvSpPr>
          <p:nvPr/>
        </p:nvSpPr>
        <p:spPr bwMode="auto">
          <a:xfrm>
            <a:off x="304800" y="6248400"/>
            <a:ext cx="86868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endParaRPr kumimoji="1" lang="zh-CN" altLang="en-US" sz="2400" b="0">
              <a:solidFill>
                <a:srgbClr val="FD1B15"/>
              </a:solidFill>
              <a:ea typeface="宋体" pitchFamily="2" charset="-122"/>
            </a:endParaRPr>
          </a:p>
        </p:txBody>
      </p:sp>
      <p:sp>
        <p:nvSpPr>
          <p:cNvPr id="1032" name="Rectangle 8"/>
          <p:cNvSpPr>
            <a:spLocks noChangeArrowheads="1"/>
          </p:cNvSpPr>
          <p:nvPr/>
        </p:nvSpPr>
        <p:spPr bwMode="auto">
          <a:xfrm>
            <a:off x="1524000" y="1295400"/>
            <a:ext cx="74676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endParaRPr kumimoji="1" lang="zh-CN" altLang="en-US" sz="2400" b="0">
              <a:solidFill>
                <a:srgbClr val="FD1B15"/>
              </a:solidFill>
              <a:ea typeface="宋体" pitchFamily="2" charset="-122"/>
            </a:endParaRPr>
          </a:p>
        </p:txBody>
      </p:sp>
      <p:sp>
        <p:nvSpPr>
          <p:cNvPr id="98313" name="Rectangle 9"/>
          <p:cNvSpPr>
            <a:spLocks noGrp="1" noChangeArrowheads="1"/>
          </p:cNvSpPr>
          <p:nvPr>
            <p:ph type="dt" sz="half" idx="2"/>
          </p:nvPr>
        </p:nvSpPr>
        <p:spPr bwMode="auto">
          <a:xfrm>
            <a:off x="3810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400" b="0">
                <a:solidFill>
                  <a:schemeClr val="bg2"/>
                </a:solidFill>
                <a:latin typeface="Arial" charset="0"/>
                <a:ea typeface="+mn-ea"/>
              </a:defRPr>
            </a:lvl1pPr>
          </a:lstStyle>
          <a:p>
            <a:fld id="{530820CF-B880-4189-942D-D702A7CBA730}" type="datetimeFigureOut">
              <a:rPr lang="zh-CN" altLang="en-US" smtClean="0"/>
              <a:t>2025/3/14</a:t>
            </a:fld>
            <a:endParaRPr lang="zh-CN" altLang="en-US"/>
          </a:p>
        </p:txBody>
      </p:sp>
      <p:sp>
        <p:nvSpPr>
          <p:cNvPr id="1034" name="Rectangle 10"/>
          <p:cNvSpPr>
            <a:spLocks noChangeArrowheads="1"/>
          </p:cNvSpPr>
          <p:nvPr/>
        </p:nvSpPr>
        <p:spPr bwMode="auto">
          <a:xfrm>
            <a:off x="7086600" y="632460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035" name="Text Box 11"/>
          <p:cNvSpPr txBox="1">
            <a:spLocks noChangeArrowheads="1"/>
          </p:cNvSpPr>
          <p:nvPr/>
        </p:nvSpPr>
        <p:spPr bwMode="auto">
          <a:xfrm>
            <a:off x="7086600" y="632460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spcBef>
                <a:spcPct val="50000"/>
              </a:spcBef>
              <a:defRPr/>
            </a:pPr>
            <a:endParaRPr lang="zh-CN" altLang="en-US"/>
          </a:p>
        </p:txBody>
      </p:sp>
      <p:sp>
        <p:nvSpPr>
          <p:cNvPr id="1036" name="Text Box 12"/>
          <p:cNvSpPr txBox="1">
            <a:spLocks noChangeArrowheads="1"/>
          </p:cNvSpPr>
          <p:nvPr/>
        </p:nvSpPr>
        <p:spPr bwMode="auto">
          <a:xfrm>
            <a:off x="6858000" y="6338888"/>
            <a:ext cx="213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spcBef>
                <a:spcPct val="50000"/>
              </a:spcBef>
              <a:defRPr/>
            </a:pPr>
            <a:r>
              <a:rPr lang="zh-CN" altLang="en-US" sz="1800">
                <a:solidFill>
                  <a:srgbClr val="0000FF"/>
                </a:solidFill>
              </a:rPr>
              <a:t>同济大学电信学院</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1" fontAlgn="base" hangingPunct="1">
        <a:spcBef>
          <a:spcPct val="0"/>
        </a:spcBef>
        <a:spcAft>
          <a:spcPct val="0"/>
        </a:spcAft>
        <a:defRPr kumimoji="1" sz="4400">
          <a:solidFill>
            <a:schemeClr val="tx2"/>
          </a:solidFill>
          <a:latin typeface="+mj-lt"/>
          <a:ea typeface="+mj-ea"/>
          <a:cs typeface="+mj-cs"/>
        </a:defRPr>
      </a:lvl1pPr>
      <a:lvl2pPr algn="ctr" rtl="0" eaLnBrk="1" fontAlgn="base" hangingPunct="1">
        <a:spcBef>
          <a:spcPct val="0"/>
        </a:spcBef>
        <a:spcAft>
          <a:spcPct val="0"/>
        </a:spcAft>
        <a:defRPr kumimoji="1" sz="4400">
          <a:solidFill>
            <a:schemeClr val="tx2"/>
          </a:solidFill>
          <a:latin typeface="Arial" charset="0"/>
          <a:ea typeface="宋体" pitchFamily="2" charset="-122"/>
        </a:defRPr>
      </a:lvl2pPr>
      <a:lvl3pPr algn="ctr" rtl="0" eaLnBrk="1" fontAlgn="base" hangingPunct="1">
        <a:spcBef>
          <a:spcPct val="0"/>
        </a:spcBef>
        <a:spcAft>
          <a:spcPct val="0"/>
        </a:spcAft>
        <a:defRPr kumimoji="1" sz="4400">
          <a:solidFill>
            <a:schemeClr val="tx2"/>
          </a:solidFill>
          <a:latin typeface="Arial" charset="0"/>
          <a:ea typeface="宋体" pitchFamily="2" charset="-122"/>
        </a:defRPr>
      </a:lvl3pPr>
      <a:lvl4pPr algn="ctr" rtl="0" eaLnBrk="1" fontAlgn="base" hangingPunct="1">
        <a:spcBef>
          <a:spcPct val="0"/>
        </a:spcBef>
        <a:spcAft>
          <a:spcPct val="0"/>
        </a:spcAft>
        <a:defRPr kumimoji="1" sz="4400">
          <a:solidFill>
            <a:schemeClr val="tx2"/>
          </a:solidFill>
          <a:latin typeface="Arial" charset="0"/>
          <a:ea typeface="宋体" pitchFamily="2" charset="-122"/>
        </a:defRPr>
      </a:lvl4pPr>
      <a:lvl5pPr algn="ctr" rtl="0" eaLnBrk="1" fontAlgn="base" hangingPunct="1">
        <a:spcBef>
          <a:spcPct val="0"/>
        </a:spcBef>
        <a:spcAft>
          <a:spcPct val="0"/>
        </a:spcAft>
        <a:defRPr kumimoji="1" sz="4400">
          <a:solidFill>
            <a:schemeClr val="tx2"/>
          </a:solidFill>
          <a:latin typeface="Arial" charset="0"/>
          <a:ea typeface="宋体" pitchFamily="2" charset="-122"/>
        </a:defRPr>
      </a:lvl5pPr>
      <a:lvl6pPr marL="457200" algn="ctr" rtl="0" eaLnBrk="1" fontAlgn="base" hangingPunct="1">
        <a:spcBef>
          <a:spcPct val="0"/>
        </a:spcBef>
        <a:spcAft>
          <a:spcPct val="0"/>
        </a:spcAft>
        <a:defRPr kumimoji="1" sz="4400">
          <a:solidFill>
            <a:schemeClr val="tx2"/>
          </a:solidFill>
          <a:latin typeface="Arial" charset="0"/>
          <a:ea typeface="宋体" pitchFamily="2" charset="-122"/>
        </a:defRPr>
      </a:lvl6pPr>
      <a:lvl7pPr marL="914400" algn="ctr" rtl="0" eaLnBrk="1" fontAlgn="base" hangingPunct="1">
        <a:spcBef>
          <a:spcPct val="0"/>
        </a:spcBef>
        <a:spcAft>
          <a:spcPct val="0"/>
        </a:spcAft>
        <a:defRPr kumimoji="1" sz="4400">
          <a:solidFill>
            <a:schemeClr val="tx2"/>
          </a:solidFill>
          <a:latin typeface="Arial" charset="0"/>
          <a:ea typeface="宋体" pitchFamily="2" charset="-122"/>
        </a:defRPr>
      </a:lvl7pPr>
      <a:lvl8pPr marL="1371600" algn="ctr" rtl="0" eaLnBrk="1" fontAlgn="base" hangingPunct="1">
        <a:spcBef>
          <a:spcPct val="0"/>
        </a:spcBef>
        <a:spcAft>
          <a:spcPct val="0"/>
        </a:spcAft>
        <a:defRPr kumimoji="1" sz="4400">
          <a:solidFill>
            <a:schemeClr val="tx2"/>
          </a:solidFill>
          <a:latin typeface="Arial" charset="0"/>
          <a:ea typeface="宋体" pitchFamily="2" charset="-122"/>
        </a:defRPr>
      </a:lvl8pPr>
      <a:lvl9pPr marL="1828800" algn="ctr" rtl="0" eaLnBrk="1" fontAlgn="base" hangingPunct="1">
        <a:spcBef>
          <a:spcPct val="0"/>
        </a:spcBef>
        <a:spcAft>
          <a:spcPct val="0"/>
        </a:spcAft>
        <a:defRPr kumimoji="1" sz="4400">
          <a:solidFill>
            <a:schemeClr val="tx2"/>
          </a:solidFill>
          <a:latin typeface="Arial" charset="0"/>
          <a:ea typeface="宋体" pitchFamily="2" charset="-122"/>
        </a:defRPr>
      </a:lvl9pPr>
    </p:titleStyle>
    <p:bodyStyle>
      <a:lvl1pPr marL="342900" indent="-342900" algn="l" rtl="0" eaLnBrk="1" fontAlgn="base" hangingPunct="1">
        <a:spcBef>
          <a:spcPct val="20000"/>
        </a:spcBef>
        <a:spcAft>
          <a:spcPct val="0"/>
        </a:spcAft>
        <a:buClr>
          <a:schemeClr val="accent2"/>
        </a:buClr>
        <a:buSzPct val="85000"/>
        <a:buFont typeface="Wingdings" pitchFamily="2" charset="2"/>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folHlink"/>
        </a:buClr>
        <a:buSzPct val="80000"/>
        <a:buFont typeface="Wingdings" pitchFamily="2" charset="2"/>
        <a:buChar char="n"/>
        <a:defRPr kumimoji="1" sz="2800">
          <a:solidFill>
            <a:schemeClr val="tx1"/>
          </a:solidFill>
          <a:latin typeface="+mn-lt"/>
          <a:ea typeface="+mn-ea"/>
        </a:defRPr>
      </a:lvl2pPr>
      <a:lvl3pPr marL="1143000" indent="-228600" algn="l" rtl="0" eaLnBrk="1" fontAlgn="base" hangingPunct="1">
        <a:spcBef>
          <a:spcPct val="20000"/>
        </a:spcBef>
        <a:spcAft>
          <a:spcPct val="0"/>
        </a:spcAft>
        <a:buClr>
          <a:schemeClr val="hlink"/>
        </a:buClr>
        <a:buSzPct val="70000"/>
        <a:buFont typeface="Wingdings" pitchFamily="2" charset="2"/>
        <a:buChar char="n"/>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0.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92.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93.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9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8.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1.png"/><Relationship Id="rId4" Type="http://schemas.openxmlformats.org/officeDocument/2006/relationships/image" Target="../media/image42.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0.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1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8" Type="http://schemas.openxmlformats.org/officeDocument/2006/relationships/hyperlink" Target="http://zh.wikipedia.org/w/index.php?title=IrDA&amp;action=edit&amp;redlink=1" TargetMode="External"/><Relationship Id="rId3" Type="http://schemas.openxmlformats.org/officeDocument/2006/relationships/hyperlink" Target="http://zh.wikipedia.org/wiki/USB" TargetMode="External"/><Relationship Id="rId7" Type="http://schemas.openxmlformats.org/officeDocument/2006/relationships/hyperlink" Target="http://zh.wikipedia.org/wiki/PPP" TargetMode="External"/><Relationship Id="rId2" Type="http://schemas.openxmlformats.org/officeDocument/2006/relationships/notesSlide" Target="../notesSlides/notesSlide111.xml"/><Relationship Id="rId1" Type="http://schemas.openxmlformats.org/officeDocument/2006/relationships/slideLayout" Target="../slideLayouts/slideLayout7.xml"/><Relationship Id="rId6" Type="http://schemas.openxmlformats.org/officeDocument/2006/relationships/hyperlink" Target="http://zh.wikipedia.org/wiki/Bluetooth" TargetMode="External"/><Relationship Id="rId5" Type="http://schemas.openxmlformats.org/officeDocument/2006/relationships/hyperlink" Target="http://zh.wikipedia.org/w/index.php?title=V.41&amp;action=edit&amp;redlink=1" TargetMode="External"/><Relationship Id="rId10" Type="http://schemas.openxmlformats.org/officeDocument/2006/relationships/hyperlink" Target="http://zh.wikipedia.org/wiki/IEEE_802.3" TargetMode="External"/><Relationship Id="rId4" Type="http://schemas.openxmlformats.org/officeDocument/2006/relationships/hyperlink" Target="http://zh.wikipedia.org/w/index.php?title=X25&amp;action=edit&amp;redlink=1" TargetMode="External"/><Relationship Id="rId9" Type="http://schemas.openxmlformats.org/officeDocument/2006/relationships/hyperlink" Target="http://zh.wikipedia.org/wiki/IBM" TargetMode="Externa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9.xml"/><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33.xml"/><Relationship Id="rId1" Type="http://schemas.openxmlformats.org/officeDocument/2006/relationships/slideLayout" Target="../slideLayouts/slideLayout7.xml"/><Relationship Id="rId4" Type="http://schemas.openxmlformats.org/officeDocument/2006/relationships/image" Target="../media/image48.jpe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1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50.xml"/><Relationship Id="rId1" Type="http://schemas.openxmlformats.org/officeDocument/2006/relationships/slideLayout" Target="../slideLayouts/slideLayout7.xml"/><Relationship Id="rId4" Type="http://schemas.openxmlformats.org/officeDocument/2006/relationships/image" Target="../media/image57.jpeg"/></Relationships>
</file>

<file path=ppt/slides/_rels/slide16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51.xml"/><Relationship Id="rId1" Type="http://schemas.openxmlformats.org/officeDocument/2006/relationships/slideLayout" Target="../slideLayouts/slideLayout7.xml"/><Relationship Id="rId4" Type="http://schemas.openxmlformats.org/officeDocument/2006/relationships/image" Target="../media/image59.jpeg"/></Relationships>
</file>

<file path=ppt/slides/_rels/slide16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5.xml"/><Relationship Id="rId1" Type="http://schemas.openxmlformats.org/officeDocument/2006/relationships/slideLayout" Target="../slideLayouts/slideLayout7.xml"/><Relationship Id="rId4" Type="http://schemas.openxmlformats.org/officeDocument/2006/relationships/image" Target="../media/image590.png"/></Relationships>
</file>

<file path=ppt/slides/_rels/slide16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9.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71.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16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66.xml"/><Relationship Id="rId1" Type="http://schemas.openxmlformats.org/officeDocument/2006/relationships/slideLayout" Target="../slideLayouts/slideLayout7.xml"/><Relationship Id="rId4" Type="http://schemas.openxmlformats.org/officeDocument/2006/relationships/image" Target="../media/image65.jpeg"/></Relationships>
</file>

<file path=ppt/slides/_rels/slide1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7.xml"/><Relationship Id="rId1" Type="http://schemas.openxmlformats.org/officeDocument/2006/relationships/slideLayout" Target="../slideLayouts/slideLayout7.xml"/><Relationship Id="rId4" Type="http://schemas.openxmlformats.org/officeDocument/2006/relationships/image" Target="../media/image65.jpeg"/></Relationships>
</file>

<file path=ppt/slides/_rels/slide17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68.xml"/><Relationship Id="rId1" Type="http://schemas.openxmlformats.org/officeDocument/2006/relationships/slideLayout" Target="../slideLayouts/slideLayout7.xml"/><Relationship Id="rId4" Type="http://schemas.openxmlformats.org/officeDocument/2006/relationships/image" Target="../media/image67.jpeg"/></Relationships>
</file>

<file path=ppt/slides/_rels/slide18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77.xml"/><Relationship Id="rId1" Type="http://schemas.openxmlformats.org/officeDocument/2006/relationships/slideLayout" Target="../slideLayouts/slideLayout7.xml"/><Relationship Id="rId4" Type="http://schemas.openxmlformats.org/officeDocument/2006/relationships/image" Target="../media/image71.jpeg"/></Relationships>
</file>

<file path=ppt/slides/_rels/slide18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79.xml"/><Relationship Id="rId1" Type="http://schemas.openxmlformats.org/officeDocument/2006/relationships/slideLayout" Target="../slideLayouts/slideLayout7.xml"/><Relationship Id="rId4" Type="http://schemas.openxmlformats.org/officeDocument/2006/relationships/image" Target="../media/image71.jpe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81.xml"/><Relationship Id="rId1" Type="http://schemas.openxmlformats.org/officeDocument/2006/relationships/slideLayout" Target="../slideLayouts/slideLayout7.xml"/><Relationship Id="rId4" Type="http://schemas.openxmlformats.org/officeDocument/2006/relationships/image" Target="../media/image71.jpeg"/></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94.xml"/><Relationship Id="rId1" Type="http://schemas.openxmlformats.org/officeDocument/2006/relationships/slideLayout" Target="../slideLayouts/slideLayout7.xml"/><Relationship Id="rId4" Type="http://schemas.openxmlformats.org/officeDocument/2006/relationships/image" Target="../media/image77.jpeg"/></Relationships>
</file>

<file path=ppt/slides/_rels/slide20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00.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内容占位符 2"/>
          <p:cNvSpPr>
            <a:spLocks noGrp="1"/>
          </p:cNvSpPr>
          <p:nvPr>
            <p:ph idx="1"/>
          </p:nvPr>
        </p:nvSpPr>
        <p:spPr/>
        <p:txBody>
          <a:bodyPr/>
          <a:lstStyle/>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2.1</a:t>
            </a:r>
            <a:r>
              <a:rPr lang="zh-CN" altLang="en-US" b="1" dirty="0">
                <a:solidFill>
                  <a:schemeClr val="tx2"/>
                </a:solidFill>
                <a:latin typeface="楷体_GB2312" pitchFamily="49" charset="-122"/>
                <a:ea typeface="楷体_GB2312" pitchFamily="49" charset="-122"/>
              </a:rPr>
              <a:t> 数据信息在机器中的表示</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2.2</a:t>
            </a:r>
            <a:r>
              <a:rPr lang="zh-CN" altLang="en-US" b="1" dirty="0">
                <a:solidFill>
                  <a:schemeClr val="tx2"/>
                </a:solidFill>
                <a:latin typeface="楷体_GB2312" pitchFamily="49" charset="-122"/>
                <a:ea typeface="楷体_GB2312" pitchFamily="49" charset="-122"/>
              </a:rPr>
              <a:t> 数据的校验方法</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2.3</a:t>
            </a:r>
            <a:r>
              <a:rPr lang="zh-CN" altLang="en-US" b="1" dirty="0">
                <a:solidFill>
                  <a:schemeClr val="tx2"/>
                </a:solidFill>
                <a:latin typeface="楷体_GB2312" pitchFamily="49" charset="-122"/>
                <a:ea typeface="楷体_GB2312" pitchFamily="49" charset="-122"/>
              </a:rPr>
              <a:t> 寄存器</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2.4</a:t>
            </a:r>
            <a:r>
              <a:rPr lang="zh-CN" altLang="en-US" b="1" dirty="0">
                <a:solidFill>
                  <a:schemeClr val="tx2"/>
                </a:solidFill>
                <a:latin typeface="楷体_GB2312" pitchFamily="49" charset="-122"/>
                <a:ea typeface="楷体_GB2312" pitchFamily="49" charset="-122"/>
              </a:rPr>
              <a:t> 多路选择器</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2.5</a:t>
            </a:r>
            <a:r>
              <a:rPr lang="zh-CN" altLang="en-US" b="1" dirty="0">
                <a:solidFill>
                  <a:schemeClr val="tx2"/>
                </a:solidFill>
                <a:latin typeface="楷体_GB2312" pitchFamily="49" charset="-122"/>
                <a:ea typeface="楷体_GB2312" pitchFamily="49" charset="-122"/>
              </a:rPr>
              <a:t> 移位器</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2.6</a:t>
            </a:r>
            <a:r>
              <a:rPr lang="zh-CN" altLang="en-US" b="1" dirty="0">
                <a:solidFill>
                  <a:schemeClr val="tx2"/>
                </a:solidFill>
                <a:latin typeface="楷体_GB2312" pitchFamily="49" charset="-122"/>
                <a:ea typeface="楷体_GB2312" pitchFamily="49" charset="-122"/>
              </a:rPr>
              <a:t> 译码器</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2.7</a:t>
            </a:r>
            <a:r>
              <a:rPr lang="zh-CN" altLang="en-US" b="1" dirty="0">
                <a:solidFill>
                  <a:schemeClr val="tx2"/>
                </a:solidFill>
                <a:latin typeface="楷体_GB2312" pitchFamily="49" charset="-122"/>
                <a:ea typeface="楷体_GB2312" pitchFamily="49" charset="-122"/>
              </a:rPr>
              <a:t> 计数器</a:t>
            </a:r>
          </a:p>
        </p:txBody>
      </p:sp>
      <p:sp>
        <p:nvSpPr>
          <p:cNvPr id="3075" name="Rectangle 2"/>
          <p:cNvSpPr>
            <a:spLocks noGrp="1" noChangeArrowheads="1"/>
          </p:cNvSpPr>
          <p:nvPr>
            <p:ph type="title"/>
          </p:nvPr>
        </p:nvSpPr>
        <p:spPr>
          <a:xfrm>
            <a:off x="1500188" y="357188"/>
            <a:ext cx="7467600" cy="762000"/>
          </a:xfrm>
        </p:spPr>
        <p:txBody>
          <a:bodyPr/>
          <a:lstStyle/>
          <a:p>
            <a:pPr eaLnBrk="1" hangingPunct="1"/>
            <a:r>
              <a:rPr lang="zh-CN" altLang="en-US" sz="2800" dirty="0">
                <a:latin typeface="黑体" pitchFamily="49" charset="-122"/>
                <a:ea typeface="黑体" pitchFamily="49" charset="-122"/>
              </a:rPr>
              <a:t>第二章 </a:t>
            </a:r>
            <a:r>
              <a:rPr lang="zh-CN" altLang="zh-CN" sz="2800" dirty="0">
                <a:latin typeface="黑体" pitchFamily="49" charset="-122"/>
                <a:ea typeface="黑体" pitchFamily="49" charset="-122"/>
              </a:rPr>
              <a:t>计算机</a:t>
            </a:r>
            <a:r>
              <a:rPr lang="zh-CN" altLang="en-US" sz="2800" dirty="0">
                <a:latin typeface="黑体" pitchFamily="49" charset="-122"/>
                <a:ea typeface="黑体" pitchFamily="49" charset="-122"/>
              </a:rPr>
              <a:t>中数的表示及基本逻辑部件</a:t>
            </a:r>
          </a:p>
        </p:txBody>
      </p:sp>
    </p:spTree>
    <p:extLst>
      <p:ext uri="{BB962C8B-B14F-4D97-AF65-F5344CB8AC3E}">
        <p14:creationId xmlns:p14="http://schemas.microsoft.com/office/powerpoint/2010/main" val="34137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2"/>
          <p:cNvSpPr>
            <a:spLocks noGrp="1"/>
          </p:cNvSpPr>
          <p:nvPr>
            <p:ph idx="1"/>
          </p:nvPr>
        </p:nvSpPr>
        <p:spPr/>
        <p:txBody>
          <a:bodyPr/>
          <a:lstStyle/>
          <a:p>
            <a:pPr eaLnBrk="1" hangingPunct="1">
              <a:buFont typeface="Wingdings" pitchFamily="2" charset="2"/>
              <a:buNone/>
            </a:pPr>
            <a:r>
              <a:rPr lang="en-US" altLang="zh-CN" b="1">
                <a:solidFill>
                  <a:schemeClr val="tx2"/>
                </a:solidFill>
                <a:latin typeface="楷体_GB2312" pitchFamily="49" charset="-122"/>
                <a:ea typeface="楷体_GB2312" pitchFamily="49" charset="-122"/>
              </a:rPr>
              <a:t>2.8</a:t>
            </a:r>
            <a:r>
              <a:rPr lang="zh-CN" altLang="en-US" b="1">
                <a:solidFill>
                  <a:schemeClr val="tx2"/>
                </a:solidFill>
                <a:latin typeface="楷体_GB2312" pitchFamily="49" charset="-122"/>
                <a:ea typeface="楷体_GB2312" pitchFamily="49" charset="-122"/>
              </a:rPr>
              <a:t> 节拍分配器</a:t>
            </a:r>
            <a:endParaRPr lang="en-US" altLang="zh-CN" b="1">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a:solidFill>
                  <a:schemeClr val="tx2"/>
                </a:solidFill>
                <a:latin typeface="楷体_GB2312" pitchFamily="49" charset="-122"/>
                <a:ea typeface="楷体_GB2312" pitchFamily="49" charset="-122"/>
              </a:rPr>
              <a:t>2.9</a:t>
            </a:r>
            <a:r>
              <a:rPr lang="zh-CN" altLang="en-US" b="1">
                <a:solidFill>
                  <a:schemeClr val="tx2"/>
                </a:solidFill>
                <a:latin typeface="楷体_GB2312" pitchFamily="49" charset="-122"/>
                <a:ea typeface="楷体_GB2312" pitchFamily="49" charset="-122"/>
              </a:rPr>
              <a:t> 总线</a:t>
            </a:r>
            <a:endParaRPr lang="en-US" altLang="zh-CN" b="1">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a:solidFill>
                  <a:schemeClr val="tx2"/>
                </a:solidFill>
                <a:latin typeface="楷体_GB2312" pitchFamily="49" charset="-122"/>
                <a:ea typeface="楷体_GB2312" pitchFamily="49" charset="-122"/>
              </a:rPr>
              <a:t>2.10</a:t>
            </a:r>
            <a:r>
              <a:rPr lang="zh-CN" altLang="en-US" b="1">
                <a:solidFill>
                  <a:schemeClr val="tx2"/>
                </a:solidFill>
                <a:latin typeface="楷体_GB2312" pitchFamily="49" charset="-122"/>
                <a:ea typeface="楷体_GB2312" pitchFamily="49" charset="-122"/>
              </a:rPr>
              <a:t> 加法器</a:t>
            </a:r>
            <a:endParaRPr lang="en-US" altLang="zh-CN" b="1">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b="1">
                <a:solidFill>
                  <a:schemeClr val="tx2"/>
                </a:solidFill>
                <a:latin typeface="楷体_GB2312" pitchFamily="49" charset="-122"/>
                <a:ea typeface="楷体_GB2312" pitchFamily="49" charset="-122"/>
              </a:rPr>
              <a:t>2.11</a:t>
            </a:r>
            <a:r>
              <a:rPr lang="zh-CN" altLang="en-US" b="1">
                <a:solidFill>
                  <a:schemeClr val="tx2"/>
                </a:solidFill>
                <a:latin typeface="楷体_GB2312" pitchFamily="49" charset="-122"/>
                <a:ea typeface="楷体_GB2312" pitchFamily="49" charset="-122"/>
              </a:rPr>
              <a:t> 进位链</a:t>
            </a:r>
          </a:p>
        </p:txBody>
      </p:sp>
      <p:sp>
        <p:nvSpPr>
          <p:cNvPr id="4099" name="Rectangle 2"/>
          <p:cNvSpPr>
            <a:spLocks noGrp="1" noChangeArrowheads="1"/>
          </p:cNvSpPr>
          <p:nvPr>
            <p:ph type="title"/>
          </p:nvPr>
        </p:nvSpPr>
        <p:spPr/>
        <p:txBody>
          <a:bodyPr/>
          <a:lstStyle/>
          <a:p>
            <a:pPr eaLnBrk="1" hangingPunct="1"/>
            <a:r>
              <a:rPr lang="zh-CN" altLang="en-US" sz="2800">
                <a:latin typeface="黑体" pitchFamily="49" charset="-122"/>
                <a:ea typeface="黑体" pitchFamily="49" charset="-122"/>
              </a:rPr>
              <a:t>第二章 </a:t>
            </a:r>
            <a:r>
              <a:rPr lang="zh-CN" altLang="zh-CN" sz="2800">
                <a:latin typeface="黑体" pitchFamily="49" charset="-122"/>
                <a:ea typeface="黑体" pitchFamily="49" charset="-122"/>
              </a:rPr>
              <a:t>计算机</a:t>
            </a:r>
            <a:r>
              <a:rPr lang="zh-CN" altLang="en-US" sz="2800">
                <a:latin typeface="黑体" pitchFamily="49" charset="-122"/>
                <a:ea typeface="黑体" pitchFamily="49" charset="-122"/>
              </a:rPr>
              <a:t>中数的表示及基本逻辑部件</a:t>
            </a:r>
          </a:p>
        </p:txBody>
      </p:sp>
    </p:spTree>
    <p:extLst>
      <p:ext uri="{BB962C8B-B14F-4D97-AF65-F5344CB8AC3E}">
        <p14:creationId xmlns:p14="http://schemas.microsoft.com/office/powerpoint/2010/main" val="2950714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p:cNvSpPr>
          <p:nvPr>
            <p:ph idx="1"/>
          </p:nvPr>
        </p:nvSpPr>
        <p:spPr>
          <a:xfrm>
            <a:off x="500063" y="1828800"/>
            <a:ext cx="8143875" cy="4191000"/>
          </a:xfrm>
        </p:spPr>
        <p:txBody>
          <a:bodyPr/>
          <a:lstStyle/>
          <a:p>
            <a:pPr eaLnBrk="1" hangingPunct="1">
              <a:buFont typeface="Wingdings" pitchFamily="2" charset="2"/>
              <a:buChar char="n"/>
            </a:pPr>
            <a:r>
              <a:rPr lang="zh-CN" altLang="en-US" b="1" dirty="0">
                <a:solidFill>
                  <a:schemeClr val="tx2"/>
                </a:solidFill>
                <a:latin typeface="楷体_GB2312" pitchFamily="49" charset="-122"/>
                <a:ea typeface="楷体_GB2312" pitchFamily="49" charset="-122"/>
              </a:rPr>
              <a:t>掌握定点数、浮点数、原码、反码、补码和移码的表示</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Char char="n"/>
            </a:pPr>
            <a:r>
              <a:rPr lang="zh-CN" altLang="en-US" b="1" dirty="0">
                <a:solidFill>
                  <a:schemeClr val="tx2"/>
                </a:solidFill>
                <a:latin typeface="楷体_GB2312" pitchFamily="49" charset="-122"/>
                <a:ea typeface="楷体_GB2312" pitchFamily="49" charset="-122"/>
              </a:rPr>
              <a:t>掌握数据的校验方法及原理</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Char char="n"/>
            </a:pPr>
            <a:r>
              <a:rPr lang="zh-CN" altLang="en-US" b="1" dirty="0">
                <a:solidFill>
                  <a:schemeClr val="tx2"/>
                </a:solidFill>
                <a:latin typeface="楷体_GB2312" pitchFamily="49" charset="-122"/>
                <a:ea typeface="楷体_GB2312" pitchFamily="49" charset="-122"/>
              </a:rPr>
              <a:t>掌握常用的逻辑部件的工作原理</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Char char="n"/>
            </a:pPr>
            <a:r>
              <a:rPr lang="zh-CN" altLang="en-US" b="1" dirty="0">
                <a:solidFill>
                  <a:schemeClr val="tx2"/>
                </a:solidFill>
                <a:latin typeface="楷体_GB2312" pitchFamily="49" charset="-122"/>
                <a:ea typeface="楷体_GB2312" pitchFamily="49" charset="-122"/>
              </a:rPr>
              <a:t>掌握加法器进位链的工作原理</a:t>
            </a:r>
          </a:p>
        </p:txBody>
      </p:sp>
      <p:sp>
        <p:nvSpPr>
          <p:cNvPr id="5123" name="标题 1"/>
          <p:cNvSpPr>
            <a:spLocks noGrp="1"/>
          </p:cNvSpPr>
          <p:nvPr>
            <p:ph type="title"/>
          </p:nvPr>
        </p:nvSpPr>
        <p:spPr/>
        <p:txBody>
          <a:bodyPr/>
          <a:lstStyle/>
          <a:p>
            <a:pPr eaLnBrk="1" hangingPunct="1"/>
            <a:r>
              <a:rPr kumimoji="0" lang="zh-CN" altLang="zh-CN" sz="3600">
                <a:ea typeface="黑体" pitchFamily="49" charset="-122"/>
              </a:rPr>
              <a:t>主要知识点</a:t>
            </a:r>
            <a:endParaRPr lang="zh-CN" altLang="en-US" sz="3600"/>
          </a:p>
        </p:txBody>
      </p:sp>
    </p:spTree>
    <p:extLst>
      <p:ext uri="{BB962C8B-B14F-4D97-AF65-F5344CB8AC3E}">
        <p14:creationId xmlns:p14="http://schemas.microsoft.com/office/powerpoint/2010/main" val="132373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CN" sz="3600">
                <a:latin typeface="黑体" pitchFamily="49" charset="-122"/>
                <a:ea typeface="黑体" pitchFamily="49" charset="-122"/>
              </a:rPr>
              <a:t>2.1</a:t>
            </a:r>
            <a:r>
              <a:rPr lang="zh-CN" altLang="en-US" sz="3600">
                <a:latin typeface="黑体" pitchFamily="49" charset="-122"/>
                <a:ea typeface="黑体" pitchFamily="49" charset="-122"/>
              </a:rPr>
              <a:t>数据信息在机器中的表示</a:t>
            </a:r>
          </a:p>
        </p:txBody>
      </p:sp>
      <p:sp>
        <p:nvSpPr>
          <p:cNvPr id="6147" name="Rectangle 3"/>
          <p:cNvSpPr>
            <a:spLocks noGrp="1" noChangeArrowheads="1"/>
          </p:cNvSpPr>
          <p:nvPr>
            <p:ph type="body" idx="1"/>
          </p:nvPr>
        </p:nvSpPr>
        <p:spPr>
          <a:xfrm>
            <a:off x="304800" y="1700808"/>
            <a:ext cx="8686800" cy="4191000"/>
          </a:xfrm>
        </p:spPr>
        <p:txBody>
          <a:bodyPr/>
          <a:lstStyle/>
          <a:p>
            <a:pPr eaLnBrk="1" hangingPunct="1">
              <a:buFontTx/>
              <a:buNone/>
            </a:pPr>
            <a:r>
              <a:rPr lang="zh-CN" altLang="en-US" b="1" dirty="0">
                <a:solidFill>
                  <a:schemeClr val="tx2"/>
                </a:solidFill>
                <a:latin typeface="楷体_GB2312" pitchFamily="49" charset="-122"/>
                <a:ea typeface="楷体_GB2312" pitchFamily="49" charset="-122"/>
              </a:rPr>
              <a:t>  计算机中的数据简称为</a:t>
            </a:r>
            <a:r>
              <a:rPr lang="zh-CN" altLang="en-US" b="1" dirty="0">
                <a:solidFill>
                  <a:srgbClr val="FF0000"/>
                </a:solidFill>
                <a:latin typeface="楷体_GB2312" pitchFamily="49" charset="-122"/>
                <a:ea typeface="楷体_GB2312" pitchFamily="49" charset="-122"/>
              </a:rPr>
              <a:t>机器数</a:t>
            </a:r>
            <a:r>
              <a:rPr lang="zh-CN" altLang="en-US" b="1" dirty="0">
                <a:solidFill>
                  <a:schemeClr val="tx2"/>
                </a:solidFill>
                <a:latin typeface="楷体_GB2312" pitchFamily="49" charset="-122"/>
                <a:ea typeface="楷体_GB2312" pitchFamily="49" charset="-122"/>
              </a:rPr>
              <a:t>，一个完整的机器数一般应含有三个方面：符号、数值和小数点。</a:t>
            </a:r>
          </a:p>
          <a:p>
            <a:pPr eaLnBrk="1" hangingPunct="1">
              <a:buFontTx/>
              <a:buNone/>
            </a:pPr>
            <a:r>
              <a:rPr lang="zh-CN" altLang="en-US" b="1" dirty="0">
                <a:solidFill>
                  <a:schemeClr val="tx2"/>
                </a:solidFill>
                <a:latin typeface="楷体_GB2312" pitchFamily="49" charset="-122"/>
                <a:ea typeface="楷体_GB2312" pitchFamily="49" charset="-122"/>
              </a:rPr>
              <a:t>数：是指整数和小数，以及正数和负数。</a:t>
            </a:r>
            <a:endParaRPr lang="en-US" altLang="zh-CN" b="1" dirty="0">
              <a:solidFill>
                <a:schemeClr val="tx2"/>
              </a:solidFill>
              <a:latin typeface="楷体_GB2312" pitchFamily="49" charset="-122"/>
              <a:ea typeface="楷体_GB2312" pitchFamily="49" charset="-122"/>
            </a:endParaRPr>
          </a:p>
          <a:p>
            <a:pPr eaLnBrk="1" hangingPunct="1">
              <a:buFontTx/>
              <a:buNone/>
            </a:pPr>
            <a:r>
              <a:rPr lang="zh-CN" altLang="en-US" b="1" dirty="0">
                <a:solidFill>
                  <a:schemeClr val="tx2"/>
                </a:solidFill>
                <a:latin typeface="楷体_GB2312" pitchFamily="49" charset="-122"/>
                <a:ea typeface="楷体_GB2312" pitchFamily="49" charset="-122"/>
              </a:rPr>
              <a:t>以上四种数都可以用</a:t>
            </a:r>
            <a:r>
              <a:rPr lang="zh-CN" altLang="en-US" b="1" dirty="0">
                <a:solidFill>
                  <a:srgbClr val="FF0000"/>
                </a:solidFill>
                <a:latin typeface="楷体_GB2312" pitchFamily="49" charset="-122"/>
                <a:ea typeface="楷体_GB2312" pitchFamily="49" charset="-122"/>
              </a:rPr>
              <a:t>定点数</a:t>
            </a:r>
            <a:r>
              <a:rPr lang="zh-CN" altLang="en-US" b="1" dirty="0">
                <a:solidFill>
                  <a:schemeClr val="tx2"/>
                </a:solidFill>
                <a:latin typeface="楷体_GB2312" pitchFamily="49" charset="-122"/>
                <a:ea typeface="楷体_GB2312" pitchFamily="49" charset="-122"/>
              </a:rPr>
              <a:t>和</a:t>
            </a:r>
            <a:r>
              <a:rPr lang="zh-CN" altLang="en-US" b="1" dirty="0">
                <a:solidFill>
                  <a:srgbClr val="FF0000"/>
                </a:solidFill>
                <a:latin typeface="楷体_GB2312" pitchFamily="49" charset="-122"/>
                <a:ea typeface="楷体_GB2312" pitchFamily="49" charset="-122"/>
              </a:rPr>
              <a:t>浮点数</a:t>
            </a:r>
            <a:r>
              <a:rPr lang="zh-CN" altLang="en-US" b="1" dirty="0">
                <a:solidFill>
                  <a:schemeClr val="tx2"/>
                </a:solidFill>
                <a:latin typeface="楷体_GB2312" pitchFamily="49" charset="-122"/>
                <a:ea typeface="楷体_GB2312" pitchFamily="49" charset="-122"/>
              </a:rPr>
              <a:t>表示，但表示范围是有区别的</a:t>
            </a:r>
            <a:endParaRPr lang="en-US" altLang="zh-CN" b="1" dirty="0">
              <a:solidFill>
                <a:schemeClr val="tx2"/>
              </a:solidFill>
              <a:latin typeface="楷体_GB2312" pitchFamily="49" charset="-122"/>
              <a:ea typeface="楷体_GB2312" pitchFamily="49" charset="-122"/>
            </a:endParaRPr>
          </a:p>
          <a:p>
            <a:pPr eaLnBrk="1" hangingPunct="1">
              <a:buFontTx/>
              <a:buNone/>
            </a:pPr>
            <a:r>
              <a:rPr lang="zh-CN" altLang="en-US" b="1" dirty="0">
                <a:solidFill>
                  <a:schemeClr val="tx2"/>
                </a:solidFill>
                <a:latin typeface="楷体_GB2312" pitchFamily="49" charset="-122"/>
                <a:ea typeface="楷体_GB2312" pitchFamily="49" charset="-122"/>
              </a:rPr>
              <a:t>定点数能表示：纯整数和纯小数如二进制的</a:t>
            </a:r>
            <a:r>
              <a:rPr lang="en-US" altLang="zh-CN" b="1" dirty="0">
                <a:solidFill>
                  <a:schemeClr val="tx2"/>
                </a:solidFill>
                <a:latin typeface="楷体_GB2312" pitchFamily="49" charset="-122"/>
                <a:ea typeface="楷体_GB2312" pitchFamily="49" charset="-122"/>
              </a:rPr>
              <a:t>101</a:t>
            </a:r>
            <a:r>
              <a:rPr lang="zh-CN" altLang="en-US" b="1" dirty="0">
                <a:solidFill>
                  <a:schemeClr val="tx2"/>
                </a:solidFill>
                <a:latin typeface="楷体_GB2312" pitchFamily="49" charset="-122"/>
                <a:ea typeface="楷体_GB2312" pitchFamily="49" charset="-122"/>
              </a:rPr>
              <a:t>和二进制的</a:t>
            </a:r>
            <a:r>
              <a:rPr lang="en-US" altLang="zh-CN" b="1" dirty="0">
                <a:solidFill>
                  <a:schemeClr val="tx2"/>
                </a:solidFill>
                <a:latin typeface="楷体_GB2312" pitchFamily="49" charset="-122"/>
                <a:ea typeface="楷体_GB2312" pitchFamily="49" charset="-122"/>
              </a:rPr>
              <a:t>0.11</a:t>
            </a:r>
            <a:r>
              <a:rPr lang="zh-CN" altLang="en-US" b="1" dirty="0">
                <a:solidFill>
                  <a:schemeClr val="tx2"/>
                </a:solidFill>
                <a:latin typeface="楷体_GB2312" pitchFamily="49" charset="-122"/>
                <a:ea typeface="楷体_GB2312" pitchFamily="49" charset="-122"/>
              </a:rPr>
              <a:t>等但不能形如</a:t>
            </a:r>
            <a:r>
              <a:rPr lang="en-US" altLang="zh-CN" b="1" dirty="0">
                <a:solidFill>
                  <a:schemeClr val="tx2"/>
                </a:solidFill>
                <a:latin typeface="楷体_GB2312" pitchFamily="49" charset="-122"/>
                <a:ea typeface="楷体_GB2312" pitchFamily="49" charset="-122"/>
              </a:rPr>
              <a:t>11.01</a:t>
            </a:r>
            <a:r>
              <a:rPr lang="zh-CN" altLang="en-US" b="1" dirty="0">
                <a:solidFill>
                  <a:schemeClr val="tx2"/>
                </a:solidFill>
                <a:latin typeface="楷体_GB2312" pitchFamily="49" charset="-122"/>
                <a:ea typeface="楷体_GB2312" pitchFamily="49" charset="-122"/>
              </a:rPr>
              <a:t>的二进制数</a:t>
            </a:r>
          </a:p>
        </p:txBody>
      </p:sp>
    </p:spTree>
    <p:extLst>
      <p:ext uri="{BB962C8B-B14F-4D97-AF65-F5344CB8AC3E}">
        <p14:creationId xmlns:p14="http://schemas.microsoft.com/office/powerpoint/2010/main" val="2489245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sz="3600">
                <a:latin typeface="黑体" pitchFamily="49" charset="-122"/>
                <a:ea typeface="黑体" pitchFamily="49" charset="-122"/>
              </a:rPr>
              <a:t>2.1</a:t>
            </a:r>
            <a:r>
              <a:rPr lang="zh-CN" altLang="en-US" sz="3600">
                <a:latin typeface="黑体" pitchFamily="49" charset="-122"/>
                <a:ea typeface="黑体" pitchFamily="49" charset="-122"/>
              </a:rPr>
              <a:t>数据信息在机器中的表示</a:t>
            </a:r>
          </a:p>
        </p:txBody>
      </p:sp>
      <p:sp>
        <p:nvSpPr>
          <p:cNvPr id="7171" name="Rectangle 3"/>
          <p:cNvSpPr>
            <a:spLocks noGrp="1" noChangeArrowheads="1"/>
          </p:cNvSpPr>
          <p:nvPr>
            <p:ph type="body" idx="1"/>
          </p:nvPr>
        </p:nvSpPr>
        <p:spPr/>
        <p:txBody>
          <a:bodyPr/>
          <a:lstStyle/>
          <a:p>
            <a:pPr eaLnBrk="1" hangingPunct="1">
              <a:buFontTx/>
              <a:buNone/>
            </a:pPr>
            <a:r>
              <a:rPr lang="en-US" altLang="zh-CN" b="1" dirty="0">
                <a:solidFill>
                  <a:schemeClr val="tx2"/>
                </a:solidFill>
                <a:latin typeface="楷体_GB2312" pitchFamily="49" charset="-122"/>
                <a:ea typeface="楷体_GB2312" pitchFamily="49" charset="-122"/>
              </a:rPr>
              <a:t>	</a:t>
            </a:r>
            <a:r>
              <a:rPr lang="zh-CN" altLang="en-US" b="1" dirty="0">
                <a:solidFill>
                  <a:schemeClr val="tx2"/>
                </a:solidFill>
                <a:latin typeface="楷体_GB2312" pitchFamily="49" charset="-122"/>
                <a:ea typeface="楷体_GB2312" pitchFamily="49" charset="-122"/>
              </a:rPr>
              <a:t>浮点数能表示：纯整数、纯小数以及定点数不能表示的形如二进制</a:t>
            </a:r>
            <a:r>
              <a:rPr lang="en-US" altLang="zh-CN" b="1" dirty="0">
                <a:solidFill>
                  <a:schemeClr val="tx2"/>
                </a:solidFill>
                <a:latin typeface="楷体_GB2312" pitchFamily="49" charset="-122"/>
                <a:ea typeface="楷体_GB2312" pitchFamily="49" charset="-122"/>
              </a:rPr>
              <a:t>101.001</a:t>
            </a:r>
            <a:r>
              <a:rPr lang="zh-CN" altLang="en-US" b="1" dirty="0">
                <a:solidFill>
                  <a:schemeClr val="tx2"/>
                </a:solidFill>
                <a:latin typeface="楷体_GB2312" pitchFamily="49" charset="-122"/>
                <a:ea typeface="楷体_GB2312" pitchFamily="49" charset="-122"/>
              </a:rPr>
              <a:t>的既含有整数部分又含有小数部分的数。</a:t>
            </a:r>
            <a:endParaRPr lang="en-US" altLang="zh-CN"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48202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sz="3600">
                <a:latin typeface="黑体" pitchFamily="49" charset="-122"/>
                <a:ea typeface="黑体" pitchFamily="49" charset="-122"/>
              </a:rPr>
              <a:t>2.1</a:t>
            </a:r>
            <a:r>
              <a:rPr lang="zh-CN" altLang="en-US" sz="3600">
                <a:latin typeface="黑体" pitchFamily="49" charset="-122"/>
                <a:ea typeface="黑体" pitchFamily="49" charset="-122"/>
              </a:rPr>
              <a:t>数据信息在机器中的表示</a:t>
            </a:r>
          </a:p>
        </p:txBody>
      </p:sp>
      <p:sp>
        <p:nvSpPr>
          <p:cNvPr id="8195" name="Rectangle 3"/>
          <p:cNvSpPr>
            <a:spLocks noGrp="1" noChangeArrowheads="1"/>
          </p:cNvSpPr>
          <p:nvPr>
            <p:ph type="body" idx="1"/>
          </p:nvPr>
        </p:nvSpPr>
        <p:spPr/>
        <p:txBody>
          <a:bodyPr/>
          <a:lstStyle/>
          <a:p>
            <a:pPr eaLnBrk="1" hangingPunct="1">
              <a:buFontTx/>
              <a:buNone/>
            </a:pPr>
            <a:r>
              <a:rPr lang="en-US" altLang="zh-CN" b="1" dirty="0">
                <a:solidFill>
                  <a:schemeClr val="tx2"/>
                </a:solidFill>
                <a:latin typeface="楷体_GB2312" pitchFamily="49" charset="-122"/>
                <a:ea typeface="楷体_GB2312" pitchFamily="49" charset="-122"/>
              </a:rPr>
              <a:t>2.1.1</a:t>
            </a:r>
            <a:r>
              <a:rPr lang="zh-CN" altLang="en-US" b="1" dirty="0">
                <a:solidFill>
                  <a:schemeClr val="tx2"/>
                </a:solidFill>
                <a:latin typeface="楷体_GB2312" pitchFamily="49" charset="-122"/>
                <a:ea typeface="楷体_GB2312" pitchFamily="49" charset="-122"/>
              </a:rPr>
              <a:t>数的定点和浮点表示</a:t>
            </a:r>
            <a:endParaRPr lang="en-US" altLang="zh-CN" b="1" dirty="0">
              <a:solidFill>
                <a:schemeClr val="tx2"/>
              </a:solidFill>
              <a:latin typeface="楷体_GB2312" pitchFamily="49" charset="-122"/>
              <a:ea typeface="楷体_GB2312" pitchFamily="49" charset="-122"/>
            </a:endParaRPr>
          </a:p>
          <a:p>
            <a:pPr eaLnBrk="1" hangingPunct="1">
              <a:buFontTx/>
              <a:buNone/>
            </a:pPr>
            <a:r>
              <a:rPr lang="zh-CN" altLang="en-US" b="1" dirty="0">
                <a:solidFill>
                  <a:schemeClr val="tx2"/>
                </a:solidFill>
                <a:latin typeface="楷体_GB2312" pitchFamily="49" charset="-122"/>
                <a:ea typeface="楷体_GB2312" pitchFamily="49" charset="-122"/>
              </a:rPr>
              <a:t>      在计算机中按</a:t>
            </a:r>
            <a:r>
              <a:rPr lang="zh-CN" altLang="en-US" b="1" dirty="0">
                <a:solidFill>
                  <a:srgbClr val="FF0000"/>
                </a:solidFill>
                <a:latin typeface="楷体_GB2312" pitchFamily="49" charset="-122"/>
                <a:ea typeface="楷体_GB2312" pitchFamily="49" charset="-122"/>
              </a:rPr>
              <a:t>机器数</a:t>
            </a:r>
            <a:r>
              <a:rPr lang="zh-CN" altLang="en-US" b="1" dirty="0">
                <a:solidFill>
                  <a:schemeClr val="tx2"/>
                </a:solidFill>
                <a:latin typeface="楷体_GB2312" pitchFamily="49" charset="-122"/>
                <a:ea typeface="楷体_GB2312" pitchFamily="49" charset="-122"/>
              </a:rPr>
              <a:t>的</a:t>
            </a:r>
            <a:r>
              <a:rPr lang="zh-CN" altLang="en-US" b="1" dirty="0">
                <a:solidFill>
                  <a:srgbClr val="FF0000"/>
                </a:solidFill>
                <a:latin typeface="楷体_GB2312" pitchFamily="49" charset="-122"/>
                <a:ea typeface="楷体_GB2312" pitchFamily="49" charset="-122"/>
              </a:rPr>
              <a:t>小数点位置是否固定</a:t>
            </a:r>
            <a:r>
              <a:rPr lang="zh-CN" altLang="en-US" b="1" dirty="0">
                <a:solidFill>
                  <a:schemeClr val="tx2"/>
                </a:solidFill>
                <a:latin typeface="楷体_GB2312" pitchFamily="49" charset="-122"/>
                <a:ea typeface="楷体_GB2312" pitchFamily="49" charset="-122"/>
              </a:rPr>
              <a:t>，把数分成定点表示和浮点表示两种。</a:t>
            </a:r>
            <a:endParaRPr lang="en-US" altLang="zh-CN" b="1" dirty="0">
              <a:solidFill>
                <a:schemeClr val="tx2"/>
              </a:solidFill>
              <a:latin typeface="楷体_GB2312" pitchFamily="49" charset="-122"/>
              <a:ea typeface="楷体_GB2312" pitchFamily="49" charset="-122"/>
            </a:endParaRPr>
          </a:p>
          <a:p>
            <a:pPr eaLnBrk="1" hangingPunct="1">
              <a:buFontTx/>
              <a:buNone/>
            </a:pPr>
            <a:endParaRPr lang="zh-CN" altLang="zh-CN" dirty="0"/>
          </a:p>
        </p:txBody>
      </p:sp>
    </p:spTree>
    <p:extLst>
      <p:ext uri="{BB962C8B-B14F-4D97-AF65-F5344CB8AC3E}">
        <p14:creationId xmlns:p14="http://schemas.microsoft.com/office/powerpoint/2010/main" val="415576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内容占位符 2"/>
          <p:cNvSpPr>
            <a:spLocks noGrp="1"/>
          </p:cNvSpPr>
          <p:nvPr>
            <p:ph idx="1"/>
          </p:nvPr>
        </p:nvSpPr>
        <p:spPr/>
        <p:txBody>
          <a:bodyPr/>
          <a:lstStyle/>
          <a:p>
            <a:pPr eaLnBrk="1" hangingPunct="1">
              <a:buFont typeface="Wingdings" pitchFamily="2" charset="2"/>
              <a:buNone/>
            </a:pPr>
            <a:r>
              <a:rPr lang="en-US" altLang="zh-CN" b="1" dirty="0">
                <a:solidFill>
                  <a:schemeClr val="tx2"/>
                </a:solidFill>
                <a:latin typeface="楷体_GB2312" pitchFamily="49" charset="-122"/>
                <a:ea typeface="楷体_GB2312" pitchFamily="49" charset="-122"/>
              </a:rPr>
              <a:t>1.</a:t>
            </a:r>
            <a:r>
              <a:rPr lang="zh-CN" altLang="en-US" b="1" dirty="0">
                <a:solidFill>
                  <a:schemeClr val="tx2"/>
                </a:solidFill>
                <a:latin typeface="楷体_GB2312" pitchFamily="49" charset="-122"/>
                <a:ea typeface="楷体_GB2312" pitchFamily="49" charset="-122"/>
              </a:rPr>
              <a:t>定点表示法</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zh-CN" altLang="en-US" b="1" dirty="0">
                <a:solidFill>
                  <a:schemeClr val="tx2"/>
                </a:solidFill>
                <a:latin typeface="楷体_GB2312" pitchFamily="49" charset="-122"/>
                <a:ea typeface="楷体_GB2312" pitchFamily="49" charset="-122"/>
              </a:rPr>
              <a:t>      定点表示法约定机器中所有数据的小数点位置固定不变，一般采用两种简单的约定。</a:t>
            </a:r>
            <a:endParaRPr lang="en-US" altLang="zh-CN" b="1" dirty="0">
              <a:solidFill>
                <a:schemeClr val="tx2"/>
              </a:solidFill>
              <a:latin typeface="楷体_GB2312" pitchFamily="49" charset="-122"/>
              <a:ea typeface="楷体_GB2312" pitchFamily="49" charset="-122"/>
            </a:endParaRPr>
          </a:p>
          <a:p>
            <a:pPr eaLnBrk="1" hangingPunct="1">
              <a:buFont typeface="Wingdings" pitchFamily="2" charset="2"/>
              <a:buNone/>
            </a:pPr>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1</a:t>
            </a:r>
            <a:r>
              <a:rPr lang="zh-CN" altLang="en-US" b="1" dirty="0">
                <a:solidFill>
                  <a:schemeClr val="tx2"/>
                </a:solidFill>
                <a:latin typeface="楷体_GB2312" pitchFamily="49" charset="-122"/>
                <a:ea typeface="楷体_GB2312" pitchFamily="49" charset="-122"/>
              </a:rPr>
              <a:t>）定点</a:t>
            </a:r>
            <a:r>
              <a:rPr lang="zh-CN" altLang="en-US" b="1" dirty="0">
                <a:solidFill>
                  <a:srgbClr val="FF0000"/>
                </a:solidFill>
                <a:latin typeface="楷体_GB2312" pitchFamily="49" charset="-122"/>
                <a:ea typeface="楷体_GB2312" pitchFamily="49" charset="-122"/>
              </a:rPr>
              <a:t>小数</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表示纯小数</a:t>
            </a:r>
            <a:r>
              <a:rPr lang="en-US" altLang="zh-CN" b="1" dirty="0">
                <a:solidFill>
                  <a:srgbClr val="FF0000"/>
                </a:solidFill>
                <a:latin typeface="楷体_GB2312" pitchFamily="49" charset="-122"/>
                <a:ea typeface="楷体_GB2312" pitchFamily="49" charset="-122"/>
              </a:rPr>
              <a:t>)</a:t>
            </a:r>
          </a:p>
          <a:p>
            <a:pPr eaLnBrk="1" hangingPunct="1">
              <a:buFont typeface="Wingdings" pitchFamily="2" charset="2"/>
              <a:buNone/>
            </a:pPr>
            <a:r>
              <a:rPr lang="zh-CN" altLang="en-US" b="1" dirty="0">
                <a:solidFill>
                  <a:schemeClr val="tx2"/>
                </a:solidFill>
                <a:latin typeface="楷体_GB2312" pitchFamily="49" charset="-122"/>
                <a:ea typeface="楷体_GB2312" pitchFamily="49" charset="-122"/>
              </a:rPr>
              <a:t>      小数点放在最高数位之前，符号位之后。</a:t>
            </a:r>
          </a:p>
        </p:txBody>
      </p:sp>
      <p:sp>
        <p:nvSpPr>
          <p:cNvPr id="9219" name="Rectangle 2"/>
          <p:cNvSpPr>
            <a:spLocks noGrp="1" noChangeArrowheads="1"/>
          </p:cNvSpPr>
          <p:nvPr>
            <p:ph type="title"/>
          </p:nvPr>
        </p:nvSpPr>
        <p:spPr/>
        <p:txBody>
          <a:bodyPr/>
          <a:lstStyle/>
          <a:p>
            <a:pPr eaLnBrk="1" hangingPunct="1"/>
            <a:r>
              <a:rPr lang="en-US" altLang="zh-CN" sz="2800" b="1">
                <a:latin typeface="黑体" pitchFamily="49" charset="-122"/>
                <a:ea typeface="黑体" pitchFamily="49" charset="-122"/>
              </a:rPr>
              <a:t>2.1</a:t>
            </a:r>
            <a:r>
              <a:rPr lang="zh-CN" altLang="en-US" sz="2800" b="1">
                <a:latin typeface="黑体" pitchFamily="49" charset="-122"/>
                <a:ea typeface="黑体" pitchFamily="49" charset="-122"/>
              </a:rPr>
              <a:t>数据信息在机器中的表示</a:t>
            </a:r>
            <a:br>
              <a:rPr lang="en-US" altLang="zh-CN" sz="3600">
                <a:latin typeface="黑体" pitchFamily="49" charset="-122"/>
                <a:ea typeface="黑体" pitchFamily="49" charset="-122"/>
              </a:rPr>
            </a:br>
            <a:r>
              <a:rPr lang="en-US" altLang="zh-CN" sz="2000" b="1">
                <a:latin typeface="楷体_GB2312" pitchFamily="49" charset="-122"/>
                <a:ea typeface="楷体_GB2312" pitchFamily="49" charset="-122"/>
              </a:rPr>
              <a:t>2.2.1</a:t>
            </a:r>
            <a:r>
              <a:rPr lang="zh-CN" altLang="en-US" sz="2000" b="1">
                <a:latin typeface="楷体_GB2312" pitchFamily="49" charset="-122"/>
                <a:ea typeface="楷体_GB2312" pitchFamily="49" charset="-122"/>
              </a:rPr>
              <a:t>数的定点和浮点表示</a:t>
            </a:r>
          </a:p>
        </p:txBody>
      </p:sp>
      <p:pic>
        <p:nvPicPr>
          <p:cNvPr id="9220" name="图片 7" descr="定点小数.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786313"/>
            <a:ext cx="7786687"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87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Font typeface="Wingdings" pitchFamily="2" charset="2"/>
              <a:buNone/>
            </a:pPr>
            <a:r>
              <a:rPr lang="zh-CN" altLang="en-US"/>
              <a:t>        </a:t>
            </a:r>
            <a:r>
              <a:rPr lang="zh-CN" altLang="en-US" b="1">
                <a:solidFill>
                  <a:schemeClr val="tx2"/>
                </a:solidFill>
                <a:latin typeface="楷体_GB2312" pitchFamily="49" charset="-122"/>
                <a:ea typeface="楷体_GB2312" pitchFamily="49" charset="-122"/>
              </a:rPr>
              <a:t>这种约定只能表示纯小数，如</a:t>
            </a:r>
            <a:r>
              <a:rPr lang="en-US" altLang="zh-CN" b="1">
                <a:solidFill>
                  <a:schemeClr val="tx2"/>
                </a:solidFill>
                <a:latin typeface="楷体_GB2312" pitchFamily="49" charset="-122"/>
                <a:ea typeface="楷体_GB2312" pitchFamily="49" charset="-122"/>
              </a:rPr>
              <a:t>(0.111)2</a:t>
            </a:r>
            <a:r>
              <a:rPr lang="zh-CN" altLang="en-US" b="1">
                <a:solidFill>
                  <a:schemeClr val="tx2"/>
                </a:solidFill>
                <a:latin typeface="楷体_GB2312" pitchFamily="49" charset="-122"/>
                <a:ea typeface="楷体_GB2312" pitchFamily="49" charset="-122"/>
              </a:rPr>
              <a:t>、</a:t>
            </a:r>
            <a:endParaRPr lang="en-US" altLang="zh-CN" b="1">
              <a:solidFill>
                <a:schemeClr val="tx2"/>
              </a:solidFill>
              <a:latin typeface="楷体_GB2312" pitchFamily="49" charset="-122"/>
              <a:ea typeface="楷体_GB2312" pitchFamily="49" charset="-122"/>
            </a:endParaRPr>
          </a:p>
          <a:p>
            <a:pPr marL="0" indent="0">
              <a:buFont typeface="Wingdings" pitchFamily="2" charset="2"/>
              <a:buNone/>
            </a:pPr>
            <a:r>
              <a:rPr lang="en-US" altLang="zh-CN" b="1">
                <a:solidFill>
                  <a:schemeClr val="tx2"/>
                </a:solidFill>
                <a:latin typeface="楷体_GB2312" pitchFamily="49" charset="-122"/>
                <a:ea typeface="楷体_GB2312" pitchFamily="49" charset="-122"/>
              </a:rPr>
              <a:t>(0.101) 2</a:t>
            </a:r>
            <a:r>
              <a:rPr lang="zh-CN" altLang="en-US" b="1">
                <a:solidFill>
                  <a:schemeClr val="tx2"/>
                </a:solidFill>
                <a:latin typeface="楷体_GB2312" pitchFamily="49" charset="-122"/>
                <a:ea typeface="楷体_GB2312" pitchFamily="49" charset="-122"/>
              </a:rPr>
              <a:t>等，但却不能表示纯整数或既含整数部分又含小数部分的数字如</a:t>
            </a:r>
            <a:r>
              <a:rPr lang="en-US" altLang="zh-CN" b="1">
                <a:solidFill>
                  <a:schemeClr val="tx2"/>
                </a:solidFill>
                <a:latin typeface="楷体_GB2312" pitchFamily="49" charset="-122"/>
                <a:ea typeface="楷体_GB2312" pitchFamily="49" charset="-122"/>
              </a:rPr>
              <a:t>(110) 2</a:t>
            </a:r>
            <a:r>
              <a:rPr lang="zh-CN" altLang="en-US" b="1">
                <a:solidFill>
                  <a:schemeClr val="tx2"/>
                </a:solidFill>
                <a:latin typeface="楷体_GB2312" pitchFamily="49" charset="-122"/>
                <a:ea typeface="楷体_GB2312" pitchFamily="49" charset="-122"/>
              </a:rPr>
              <a:t>、</a:t>
            </a:r>
            <a:r>
              <a:rPr lang="en-US" altLang="zh-CN" b="1">
                <a:solidFill>
                  <a:schemeClr val="tx2"/>
                </a:solidFill>
                <a:latin typeface="楷体_GB2312" pitchFamily="49" charset="-122"/>
                <a:ea typeface="楷体_GB2312" pitchFamily="49" charset="-122"/>
              </a:rPr>
              <a:t> (11.110) 2</a:t>
            </a:r>
            <a:r>
              <a:rPr lang="zh-CN" altLang="en-US" b="1">
                <a:solidFill>
                  <a:schemeClr val="tx2"/>
                </a:solidFill>
                <a:latin typeface="楷体_GB2312" pitchFamily="49" charset="-122"/>
                <a:ea typeface="楷体_GB2312" pitchFamily="49" charset="-122"/>
              </a:rPr>
              <a:t>等。因为此种约定的数值为都处在小数位上。</a:t>
            </a:r>
          </a:p>
        </p:txBody>
      </p:sp>
    </p:spTree>
    <p:extLst>
      <p:ext uri="{BB962C8B-B14F-4D97-AF65-F5344CB8AC3E}">
        <p14:creationId xmlns:p14="http://schemas.microsoft.com/office/powerpoint/2010/main" val="3867574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定点小数表示范围讨论</a:t>
            </a:r>
          </a:p>
        </p:txBody>
      </p:sp>
      <p:sp>
        <p:nvSpPr>
          <p:cNvPr id="3" name="内容占位符 2"/>
          <p:cNvSpPr>
            <a:spLocks noGrp="1" noRot="1" noChangeAspect="1" noMove="1" noResize="1" noEditPoints="1" noAdjustHandles="1" noChangeArrowheads="1" noChangeShapeType="1" noTextEdit="1"/>
          </p:cNvSpPr>
          <p:nvPr>
            <p:ph idx="1"/>
          </p:nvPr>
        </p:nvSpPr>
        <p:spPr>
          <a:xfrm>
            <a:off x="251520" y="1772816"/>
            <a:ext cx="8686800" cy="4191000"/>
          </a:xfrm>
          <a:blipFill rotWithShape="1">
            <a:blip r:embed="rId2"/>
            <a:stretch>
              <a:fillRect l="-1754" t="-2329"/>
            </a:stretch>
          </a:blipFill>
        </p:spPr>
        <p:txBody>
          <a:bodyPr/>
          <a:lstStyle/>
          <a:p>
            <a:pPr>
              <a:defRPr/>
            </a:pPr>
            <a:r>
              <a:rPr lang="zh-CN" altLang="en-US" dirty="0">
                <a:noFill/>
              </a:rPr>
              <a:t> </a:t>
            </a:r>
          </a:p>
        </p:txBody>
      </p:sp>
    </p:spTree>
    <p:extLst>
      <p:ext uri="{BB962C8B-B14F-4D97-AF65-F5344CB8AC3E}">
        <p14:creationId xmlns:p14="http://schemas.microsoft.com/office/powerpoint/2010/main" val="1479561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22"/>
          <p:cNvSpPr>
            <a:spLocks noChangeArrowheads="1"/>
          </p:cNvSpPr>
          <p:nvPr/>
        </p:nvSpPr>
        <p:spPr bwMode="auto">
          <a:xfrm flipV="1">
            <a:off x="3571875" y="4572000"/>
            <a:ext cx="3827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2291" name="Rectangle 130"/>
          <p:cNvSpPr>
            <a:spLocks noChangeArrowheads="1"/>
          </p:cNvSpPr>
          <p:nvPr/>
        </p:nvSpPr>
        <p:spPr bwMode="auto">
          <a:xfrm>
            <a:off x="5245100" y="5643563"/>
            <a:ext cx="3898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8196" name="Rectangle 131"/>
          <p:cNvSpPr>
            <a:spLocks noRot="1" noChangeAspect="1" noMove="1" noResize="1" noEditPoints="1" noAdjustHandles="1" noChangeArrowheads="1" noChangeShapeType="1" noTextEdit="1"/>
          </p:cNvSpPr>
          <p:nvPr/>
        </p:nvSpPr>
        <p:spPr bwMode="auto">
          <a:xfrm>
            <a:off x="571500" y="1857375"/>
            <a:ext cx="8072438" cy="4143375"/>
          </a:xfrm>
          <a:prstGeom prst="rect">
            <a:avLst/>
          </a:prstGeom>
          <a:blipFill rotWithShape="1">
            <a:blip r:embed="rId3"/>
            <a:stretch>
              <a:fillRect l="-1964" t="-250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9"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4015903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22"/>
          <p:cNvSpPr>
            <a:spLocks noChangeArrowheads="1"/>
          </p:cNvSpPr>
          <p:nvPr/>
        </p:nvSpPr>
        <p:spPr bwMode="auto">
          <a:xfrm flipV="1">
            <a:off x="3571875" y="4572000"/>
            <a:ext cx="3827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3315" name="Rectangle 130"/>
          <p:cNvSpPr>
            <a:spLocks noChangeArrowheads="1"/>
          </p:cNvSpPr>
          <p:nvPr/>
        </p:nvSpPr>
        <p:spPr bwMode="auto">
          <a:xfrm>
            <a:off x="5245100" y="5643563"/>
            <a:ext cx="3898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8196" name="Rectangle 131"/>
          <p:cNvSpPr>
            <a:spLocks noRot="1" noChangeAspect="1" noMove="1" noResize="1" noEditPoints="1" noAdjustHandles="1" noChangeArrowheads="1" noChangeShapeType="1" noTextEdit="1"/>
          </p:cNvSpPr>
          <p:nvPr/>
        </p:nvSpPr>
        <p:spPr bwMode="auto">
          <a:xfrm>
            <a:off x="571500" y="1857375"/>
            <a:ext cx="8072438" cy="4143375"/>
          </a:xfrm>
          <a:prstGeom prst="rect">
            <a:avLst/>
          </a:prstGeom>
          <a:blipFill rotWithShape="1">
            <a:blip r:embed="rId3"/>
            <a:stretch>
              <a:fillRect l="-1964" r="-22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9"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421365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2</a:t>
            </a:r>
            <a:r>
              <a:rPr lang="zh-CN" altLang="en-US" b="1" dirty="0">
                <a:solidFill>
                  <a:schemeClr val="tx2"/>
                </a:solidFill>
                <a:latin typeface="楷体_GB2312" pitchFamily="49" charset="-122"/>
                <a:ea typeface="楷体_GB2312" pitchFamily="49" charset="-122"/>
              </a:rPr>
              <a:t>）定点</a:t>
            </a:r>
            <a:r>
              <a:rPr lang="zh-CN" altLang="en-US" b="1" dirty="0">
                <a:solidFill>
                  <a:srgbClr val="FF0000"/>
                </a:solidFill>
                <a:latin typeface="楷体_GB2312" pitchFamily="49" charset="-122"/>
                <a:ea typeface="楷体_GB2312" pitchFamily="49" charset="-122"/>
              </a:rPr>
              <a:t>整数（表示纯整数）</a:t>
            </a:r>
          </a:p>
          <a:p>
            <a:pPr marL="0" indent="0">
              <a:buNone/>
            </a:pPr>
            <a:r>
              <a:rPr lang="zh-CN" altLang="en-US" b="1" dirty="0">
                <a:solidFill>
                  <a:schemeClr val="tx2"/>
                </a:solidFill>
                <a:latin typeface="楷体_GB2312" pitchFamily="49" charset="-122"/>
                <a:ea typeface="楷体_GB2312" pitchFamily="49" charset="-122"/>
              </a:rPr>
              <a:t>    小数点的位置在数的最低位之后，即参与运算的数是纯整数。</a:t>
            </a:r>
          </a:p>
          <a:p>
            <a:pPr marL="0" indent="0">
              <a:buFont typeface="Wingdings" pitchFamily="2" charset="2"/>
              <a:buNone/>
            </a:pPr>
            <a:endParaRPr lang="zh-CN" altLang="en-US" b="1" dirty="0">
              <a:solidFill>
                <a:schemeClr val="tx2"/>
              </a:solidFill>
              <a:latin typeface="楷体_GB2312" pitchFamily="49" charset="-122"/>
              <a:ea typeface="楷体_GB2312" pitchFamily="49" charset="-122"/>
            </a:endParaRPr>
          </a:p>
        </p:txBody>
      </p:sp>
      <p:pic>
        <p:nvPicPr>
          <p:cNvPr id="5" name="图片 15" descr="定点整数.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5813" y="3892550"/>
            <a:ext cx="785812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2926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这种约定只能表示纯整数，如</a:t>
            </a:r>
            <a:r>
              <a:rPr lang="en-US" altLang="zh-CN" b="1" dirty="0">
                <a:solidFill>
                  <a:schemeClr val="tx2"/>
                </a:solidFill>
                <a:latin typeface="楷体_GB2312" pitchFamily="49" charset="-122"/>
                <a:ea typeface="楷体_GB2312" pitchFamily="49" charset="-122"/>
              </a:rPr>
              <a:t>(111)2</a:t>
            </a:r>
            <a:r>
              <a:rPr lang="zh-CN" altLang="en-US" b="1" dirty="0">
                <a:solidFill>
                  <a:schemeClr val="tx2"/>
                </a:solidFill>
                <a:latin typeface="楷体_GB2312" pitchFamily="49" charset="-122"/>
                <a:ea typeface="楷体_GB2312" pitchFamily="49" charset="-122"/>
              </a:rPr>
              <a:t>、</a:t>
            </a:r>
          </a:p>
          <a:p>
            <a:pPr marL="0" indent="0">
              <a:buNone/>
            </a:pPr>
            <a:r>
              <a:rPr lang="en-US" altLang="zh-CN" b="1" dirty="0">
                <a:solidFill>
                  <a:schemeClr val="tx2"/>
                </a:solidFill>
                <a:latin typeface="楷体_GB2312" pitchFamily="49" charset="-122"/>
                <a:ea typeface="楷体_GB2312" pitchFamily="49" charset="-122"/>
              </a:rPr>
              <a:t>(101) 2</a:t>
            </a:r>
            <a:r>
              <a:rPr lang="zh-CN" altLang="en-US" b="1" dirty="0">
                <a:solidFill>
                  <a:schemeClr val="tx2"/>
                </a:solidFill>
                <a:latin typeface="楷体_GB2312" pitchFamily="49" charset="-122"/>
                <a:ea typeface="楷体_GB2312" pitchFamily="49" charset="-122"/>
              </a:rPr>
              <a:t>等，但却不能表示纯小数或既含整数部分又含小数部分的数字如</a:t>
            </a:r>
            <a:r>
              <a:rPr lang="en-US" altLang="zh-CN" b="1" dirty="0">
                <a:solidFill>
                  <a:schemeClr val="tx2"/>
                </a:solidFill>
                <a:latin typeface="楷体_GB2312" pitchFamily="49" charset="-122"/>
                <a:ea typeface="楷体_GB2312" pitchFamily="49" charset="-122"/>
              </a:rPr>
              <a:t>(0.110) 2</a:t>
            </a:r>
            <a:r>
              <a:rPr lang="zh-CN" altLang="en-US" b="1" dirty="0">
                <a:solidFill>
                  <a:schemeClr val="tx2"/>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(11.110) 2</a:t>
            </a:r>
            <a:r>
              <a:rPr lang="zh-CN" altLang="en-US" b="1" dirty="0">
                <a:solidFill>
                  <a:schemeClr val="tx2"/>
                </a:solidFill>
                <a:latin typeface="楷体_GB2312" pitchFamily="49" charset="-122"/>
                <a:ea typeface="楷体_GB2312" pitchFamily="49" charset="-122"/>
              </a:rPr>
              <a:t>等。因为此种约定的数值为都处在整数位上。</a:t>
            </a:r>
          </a:p>
        </p:txBody>
      </p:sp>
    </p:spTree>
    <p:extLst>
      <p:ext uri="{BB962C8B-B14F-4D97-AF65-F5344CB8AC3E}">
        <p14:creationId xmlns:p14="http://schemas.microsoft.com/office/powerpoint/2010/main" val="1322926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定点整数表示范围的讨论</a:t>
            </a:r>
          </a:p>
        </p:txBody>
      </p:sp>
      <p:sp>
        <p:nvSpPr>
          <p:cNvPr id="3" name="内容占位符 2"/>
          <p:cNvSpPr>
            <a:spLocks noGrp="1" noRot="1" noChangeAspect="1" noMove="1" noResize="1" noEditPoints="1" noAdjustHandles="1" noChangeArrowheads="1" noChangeShapeType="1" noTextEdit="1"/>
          </p:cNvSpPr>
          <p:nvPr>
            <p:ph idx="1"/>
          </p:nvPr>
        </p:nvSpPr>
        <p:spPr>
          <a:xfrm>
            <a:off x="251520" y="1772816"/>
            <a:ext cx="8686800" cy="4191000"/>
          </a:xfrm>
          <a:blipFill rotWithShape="1">
            <a:blip r:embed="rId2"/>
            <a:stretch>
              <a:fillRect l="-1754" t="-2329"/>
            </a:stretch>
          </a:blipFill>
        </p:spPr>
        <p:txBody>
          <a:bodyPr/>
          <a:lstStyle/>
          <a:p>
            <a:pPr>
              <a:defRPr/>
            </a:pPr>
            <a:r>
              <a:rPr lang="zh-CN" altLang="en-US" dirty="0">
                <a:noFill/>
              </a:rPr>
              <a:t> </a:t>
            </a:r>
          </a:p>
        </p:txBody>
      </p:sp>
    </p:spTree>
    <p:extLst>
      <p:ext uri="{BB962C8B-B14F-4D97-AF65-F5344CB8AC3E}">
        <p14:creationId xmlns:p14="http://schemas.microsoft.com/office/powerpoint/2010/main" val="279889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2"/>
          <p:cNvSpPr>
            <a:spLocks noChangeArrowheads="1"/>
          </p:cNvSpPr>
          <p:nvPr/>
        </p:nvSpPr>
        <p:spPr bwMode="auto">
          <a:xfrm flipV="1">
            <a:off x="3571875" y="4572000"/>
            <a:ext cx="3827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7411" name="Rectangle 130"/>
          <p:cNvSpPr>
            <a:spLocks noChangeArrowheads="1"/>
          </p:cNvSpPr>
          <p:nvPr/>
        </p:nvSpPr>
        <p:spPr bwMode="auto">
          <a:xfrm>
            <a:off x="5245100" y="5643563"/>
            <a:ext cx="3898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8196" name="Rectangle 131"/>
          <p:cNvSpPr>
            <a:spLocks noRot="1" noChangeAspect="1" noMove="1" noResize="1" noEditPoints="1" noAdjustHandles="1" noChangeArrowheads="1" noChangeShapeType="1" noTextEdit="1"/>
          </p:cNvSpPr>
          <p:nvPr/>
        </p:nvSpPr>
        <p:spPr bwMode="auto">
          <a:xfrm>
            <a:off x="571500" y="1857375"/>
            <a:ext cx="8072438" cy="4143375"/>
          </a:xfrm>
          <a:prstGeom prst="rect">
            <a:avLst/>
          </a:prstGeom>
          <a:blipFill rotWithShape="1">
            <a:blip r:embed="rId3"/>
            <a:stretch>
              <a:fillRect l="-1964" t="-235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9"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Tree>
    <p:extLst>
      <p:ext uri="{BB962C8B-B14F-4D97-AF65-F5344CB8AC3E}">
        <p14:creationId xmlns:p14="http://schemas.microsoft.com/office/powerpoint/2010/main" val="1851744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22"/>
          <p:cNvSpPr>
            <a:spLocks noChangeArrowheads="1"/>
          </p:cNvSpPr>
          <p:nvPr/>
        </p:nvSpPr>
        <p:spPr bwMode="auto">
          <a:xfrm flipV="1">
            <a:off x="3571875" y="4572000"/>
            <a:ext cx="3827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8435" name="Rectangle 130"/>
          <p:cNvSpPr>
            <a:spLocks noChangeArrowheads="1"/>
          </p:cNvSpPr>
          <p:nvPr/>
        </p:nvSpPr>
        <p:spPr bwMode="auto">
          <a:xfrm>
            <a:off x="5245100" y="5643563"/>
            <a:ext cx="3898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8196" name="Rectangle 131"/>
          <p:cNvSpPr>
            <a:spLocks noRot="1" noChangeAspect="1" noMove="1" noResize="1" noEditPoints="1" noAdjustHandles="1" noChangeArrowheads="1" noChangeShapeType="1" noTextEdit="1"/>
          </p:cNvSpPr>
          <p:nvPr/>
        </p:nvSpPr>
        <p:spPr bwMode="auto">
          <a:xfrm>
            <a:off x="571500" y="1857375"/>
            <a:ext cx="8072438" cy="4143375"/>
          </a:xfrm>
          <a:prstGeom prst="rect">
            <a:avLst/>
          </a:prstGeom>
          <a:blipFill rotWithShape="1">
            <a:blip r:embed="rId3"/>
            <a:stretch>
              <a:fillRect l="-1964" r="-22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9"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Tree>
    <p:extLst>
      <p:ext uri="{BB962C8B-B14F-4D97-AF65-F5344CB8AC3E}">
        <p14:creationId xmlns:p14="http://schemas.microsoft.com/office/powerpoint/2010/main" val="516773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10243" name="内容占位符 2"/>
              <p:cNvSpPr>
                <a:spLocks noGrp="1"/>
              </p:cNvSpPr>
              <p:nvPr>
                <p:ph idx="1"/>
              </p:nvPr>
            </p:nvSpPr>
            <p:spPr/>
            <p:txBody>
              <a:bodyPr/>
              <a:lstStyle/>
              <a:p>
                <a:pPr marL="0" indent="0">
                  <a:buNone/>
                </a:pPr>
                <a:r>
                  <a:rPr lang="en-US" altLang="zh-CN" b="1" dirty="0">
                    <a:solidFill>
                      <a:schemeClr val="tx2"/>
                    </a:solidFill>
                    <a:latin typeface="楷体_GB2312" pitchFamily="49" charset="-122"/>
                    <a:ea typeface="楷体_GB2312" pitchFamily="49" charset="-122"/>
                  </a:rPr>
                  <a:t>2.</a:t>
                </a:r>
                <a:r>
                  <a:rPr lang="zh-CN" altLang="en-US" b="1" dirty="0">
                    <a:solidFill>
                      <a:schemeClr val="tx2"/>
                    </a:solidFill>
                    <a:latin typeface="楷体_GB2312" pitchFamily="49" charset="-122"/>
                    <a:ea typeface="楷体_GB2312" pitchFamily="49" charset="-122"/>
                  </a:rPr>
                  <a:t>数的浮点表示</a:t>
                </a:r>
                <a:endParaRPr lang="en-US" altLang="zh-CN" b="1" dirty="0">
                  <a:solidFill>
                    <a:schemeClr val="tx2"/>
                  </a:solidFill>
                  <a:latin typeface="楷体_GB2312" pitchFamily="49" charset="-122"/>
                  <a:ea typeface="楷体_GB2312" pitchFamily="49" charset="-122"/>
                </a:endParaRPr>
              </a:p>
              <a:p>
                <a:pPr marL="0" indent="0">
                  <a:buNone/>
                </a:pPr>
                <a:r>
                  <a:rPr lang="zh-CN" altLang="en-US" b="1" dirty="0">
                    <a:solidFill>
                      <a:schemeClr val="tx2"/>
                    </a:solidFill>
                    <a:latin typeface="楷体_GB2312" pitchFamily="49" charset="-122"/>
                    <a:ea typeface="楷体_GB2312" pitchFamily="49" charset="-122"/>
                  </a:rPr>
                  <a:t>    浮点表示法实际上是对二进制数使用科学计数法，十进制的科学计数法举例有：</a:t>
                </a:r>
                <a:endParaRPr lang="en-US" altLang="zh-CN" b="1" dirty="0">
                  <a:solidFill>
                    <a:schemeClr val="tx2"/>
                  </a:solidFill>
                  <a:latin typeface="楷体_GB2312" pitchFamily="49" charset="-122"/>
                  <a:ea typeface="楷体_GB2312" pitchFamily="49" charset="-122"/>
                </a:endParaRPr>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chemeClr val="tx2"/>
                          </a:solidFill>
                          <a:latin typeface="Cambria Math"/>
                          <a:ea typeface="楷体_GB2312" pitchFamily="49" charset="-122"/>
                        </a:rPr>
                        <m:t>𝟏𝟖𝟎</m:t>
                      </m:r>
                      <m:r>
                        <a:rPr lang="en-US" altLang="zh-CN" b="1" i="1" smtClean="0">
                          <a:solidFill>
                            <a:schemeClr val="tx2"/>
                          </a:solidFill>
                          <a:latin typeface="Cambria Math"/>
                          <a:ea typeface="楷体_GB2312" pitchFamily="49" charset="-122"/>
                        </a:rPr>
                        <m:t>=</m:t>
                      </m:r>
                      <m:r>
                        <a:rPr lang="en-US" altLang="zh-CN" b="1" i="1" smtClean="0">
                          <a:solidFill>
                            <a:schemeClr val="tx2"/>
                          </a:solidFill>
                          <a:latin typeface="Cambria Math"/>
                          <a:ea typeface="楷体_GB2312" pitchFamily="49" charset="-122"/>
                        </a:rPr>
                        <m:t>𝟏𝟖</m:t>
                      </m:r>
                      <m:r>
                        <a:rPr lang="en-US" altLang="zh-CN" b="1" i="1"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1" smtClean="0">
                              <a:solidFill>
                                <a:schemeClr val="tx2"/>
                              </a:solidFill>
                              <a:latin typeface="Cambria Math"/>
                              <a:ea typeface="Cambria Math"/>
                            </a:rPr>
                            <m:t>𝟏𝟎</m:t>
                          </m:r>
                        </m:e>
                        <m:sup>
                          <m:r>
                            <a:rPr lang="en-US" altLang="zh-CN" b="1" i="1" smtClean="0">
                              <a:solidFill>
                                <a:schemeClr val="tx2"/>
                              </a:solidFill>
                              <a:latin typeface="Cambria Math"/>
                              <a:ea typeface="Cambria Math"/>
                            </a:rPr>
                            <m:t>𝟏</m:t>
                          </m:r>
                        </m:sup>
                      </m:sSup>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𝟏</m:t>
                      </m:r>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𝟖</m:t>
                      </m:r>
                      <m:r>
                        <a:rPr lang="en-US" altLang="zh-CN" b="1" i="1"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1" smtClean="0">
                              <a:solidFill>
                                <a:schemeClr val="tx2"/>
                              </a:solidFill>
                              <a:latin typeface="Cambria Math"/>
                              <a:ea typeface="Cambria Math"/>
                            </a:rPr>
                            <m:t>𝟏𝟎</m:t>
                          </m:r>
                        </m:e>
                        <m:sup>
                          <m:r>
                            <a:rPr lang="en-US" altLang="zh-CN" b="1" i="1" smtClean="0">
                              <a:solidFill>
                                <a:schemeClr val="tx2"/>
                              </a:solidFill>
                              <a:latin typeface="Cambria Math"/>
                              <a:ea typeface="Cambria Math"/>
                            </a:rPr>
                            <m:t>𝟐</m:t>
                          </m:r>
                        </m:sup>
                      </m:sSup>
                    </m:oMath>
                  </m:oMathPara>
                </a14:m>
                <a:endParaRPr lang="en-US" altLang="zh-CN" b="1" dirty="0">
                  <a:solidFill>
                    <a:schemeClr val="tx2"/>
                  </a:solidFill>
                  <a:latin typeface="楷体_GB2312" pitchFamily="49" charset="-122"/>
                  <a:ea typeface="楷体_GB2312" pitchFamily="49" charset="-122"/>
                </a:endParaRPr>
              </a:p>
              <a:p>
                <a:pPr marL="0" indent="0">
                  <a:buNone/>
                </a:pPr>
                <a:r>
                  <a:rPr lang="zh-CN" altLang="en-US" b="1" dirty="0">
                    <a:solidFill>
                      <a:schemeClr val="tx2"/>
                    </a:solidFill>
                    <a:latin typeface="楷体_GB2312" pitchFamily="49" charset="-122"/>
                    <a:ea typeface="楷体_GB2312" pitchFamily="49" charset="-122"/>
                  </a:rPr>
                  <a:t>    二进制的科学计数法可类比如</a:t>
                </a:r>
                <a:endParaRPr lang="en-US" altLang="zh-CN" b="1" dirty="0">
                  <a:solidFill>
                    <a:schemeClr val="tx2"/>
                  </a:solidFill>
                  <a:latin typeface="楷体_GB2312" pitchFamily="49" charset="-122"/>
                  <a:ea typeface="楷体_GB2312" pitchFamily="49" charset="-122"/>
                </a:endParaRPr>
              </a:p>
              <a:p>
                <a:pPr marL="0" indent="0">
                  <a:buNone/>
                </a:pPr>
                <a14:m>
                  <m:oMathPara xmlns:m="http://schemas.openxmlformats.org/officeDocument/2006/math">
                    <m:oMathParaPr>
                      <m:jc m:val="centerGroup"/>
                    </m:oMathParaPr>
                    <m:oMath xmlns:m="http://schemas.openxmlformats.org/officeDocument/2006/math">
                      <m:r>
                        <a:rPr lang="en-US" altLang="zh-CN" b="1" i="1" smtClean="0">
                          <a:solidFill>
                            <a:schemeClr val="tx2"/>
                          </a:solidFill>
                          <a:latin typeface="Cambria Math"/>
                          <a:ea typeface="楷体_GB2312" pitchFamily="49" charset="-122"/>
                        </a:rPr>
                        <m:t>𝟏𝟎𝟏</m:t>
                      </m:r>
                      <m:r>
                        <a:rPr lang="en-US" altLang="zh-CN" b="1" i="1" smtClean="0">
                          <a:solidFill>
                            <a:schemeClr val="tx2"/>
                          </a:solidFill>
                          <a:latin typeface="Cambria Math"/>
                          <a:ea typeface="楷体_GB2312" pitchFamily="49" charset="-122"/>
                        </a:rPr>
                        <m:t>=</m:t>
                      </m:r>
                      <m:r>
                        <a:rPr lang="en-US" altLang="zh-CN" b="1" i="1" smtClean="0">
                          <a:solidFill>
                            <a:schemeClr val="tx2"/>
                          </a:solidFill>
                          <a:latin typeface="Cambria Math"/>
                          <a:ea typeface="楷体_GB2312" pitchFamily="49" charset="-122"/>
                        </a:rPr>
                        <m:t>𝟏𝟎</m:t>
                      </m:r>
                      <m:r>
                        <a:rPr lang="en-US" altLang="zh-CN" b="1" i="1" smtClean="0">
                          <a:solidFill>
                            <a:schemeClr val="tx2"/>
                          </a:solidFill>
                          <a:latin typeface="Cambria Math"/>
                          <a:ea typeface="楷体_GB2312" pitchFamily="49" charset="-122"/>
                        </a:rPr>
                        <m:t>.</m:t>
                      </m:r>
                      <m:r>
                        <a:rPr lang="en-US" altLang="zh-CN" b="1" i="1" smtClean="0">
                          <a:solidFill>
                            <a:schemeClr val="tx2"/>
                          </a:solidFill>
                          <a:latin typeface="Cambria Math"/>
                          <a:ea typeface="楷体_GB2312" pitchFamily="49" charset="-122"/>
                        </a:rPr>
                        <m:t>𝟏</m:t>
                      </m:r>
                      <m:r>
                        <a:rPr lang="en-US" altLang="zh-CN" b="1" i="1"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1" smtClean="0">
                              <a:solidFill>
                                <a:schemeClr val="tx2"/>
                              </a:solidFill>
                              <a:latin typeface="Cambria Math"/>
                              <a:ea typeface="Cambria Math"/>
                            </a:rPr>
                            <m:t>𝟐</m:t>
                          </m:r>
                        </m:e>
                        <m:sup>
                          <m:r>
                            <a:rPr lang="en-US" altLang="zh-CN" b="1" i="1" smtClean="0">
                              <a:solidFill>
                                <a:schemeClr val="tx2"/>
                              </a:solidFill>
                              <a:latin typeface="Cambria Math"/>
                              <a:ea typeface="Cambria Math"/>
                            </a:rPr>
                            <m:t>𝟏</m:t>
                          </m:r>
                        </m:sup>
                      </m:sSup>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𝟏</m:t>
                      </m:r>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𝟎𝟏</m:t>
                      </m:r>
                      <m:r>
                        <a:rPr lang="en-US" altLang="zh-CN" b="1" i="1"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1" smtClean="0">
                              <a:solidFill>
                                <a:schemeClr val="tx2"/>
                              </a:solidFill>
                              <a:latin typeface="Cambria Math"/>
                              <a:ea typeface="Cambria Math"/>
                            </a:rPr>
                            <m:t>𝟐</m:t>
                          </m:r>
                        </m:e>
                        <m:sup>
                          <m:r>
                            <a:rPr lang="en-US" altLang="zh-CN" b="1" i="1" smtClean="0">
                              <a:solidFill>
                                <a:schemeClr val="tx2"/>
                              </a:solidFill>
                              <a:latin typeface="Cambria Math"/>
                              <a:ea typeface="Cambria Math"/>
                            </a:rPr>
                            <m:t>𝟏𝟎</m:t>
                          </m:r>
                        </m:sup>
                      </m:sSup>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𝟎</m:t>
                      </m:r>
                      <m:r>
                        <a:rPr lang="en-US" altLang="zh-CN" b="1" i="1" smtClean="0">
                          <a:solidFill>
                            <a:schemeClr val="tx2"/>
                          </a:solidFill>
                          <a:latin typeface="Cambria Math"/>
                          <a:ea typeface="Cambria Math"/>
                        </a:rPr>
                        <m:t>.</m:t>
                      </m:r>
                      <m:r>
                        <a:rPr lang="en-US" altLang="zh-CN" b="1" i="1" smtClean="0">
                          <a:solidFill>
                            <a:schemeClr val="tx2"/>
                          </a:solidFill>
                          <a:latin typeface="Cambria Math"/>
                          <a:ea typeface="Cambria Math"/>
                        </a:rPr>
                        <m:t>𝟏𝟎𝟏</m:t>
                      </m:r>
                      <m:r>
                        <a:rPr lang="en-US" altLang="zh-CN" b="1" i="1"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1" smtClean="0">
                              <a:solidFill>
                                <a:schemeClr val="tx2"/>
                              </a:solidFill>
                              <a:latin typeface="Cambria Math"/>
                              <a:ea typeface="Cambria Math"/>
                            </a:rPr>
                            <m:t>𝟐</m:t>
                          </m:r>
                        </m:e>
                        <m:sup>
                          <m:r>
                            <a:rPr lang="en-US" altLang="zh-CN" b="1" i="1" smtClean="0">
                              <a:solidFill>
                                <a:schemeClr val="tx2"/>
                              </a:solidFill>
                              <a:latin typeface="Cambria Math"/>
                              <a:ea typeface="Cambria Math"/>
                            </a:rPr>
                            <m:t>𝟏𝟏</m:t>
                          </m:r>
                        </m:sup>
                      </m:sSup>
                    </m:oMath>
                  </m:oMathPara>
                </a14:m>
                <a:endParaRPr lang="zh-CN" altLang="en-US" b="1" dirty="0">
                  <a:solidFill>
                    <a:schemeClr val="tx2"/>
                  </a:solidFill>
                  <a:latin typeface="楷体_GB2312" pitchFamily="49" charset="-122"/>
                  <a:ea typeface="楷体_GB2312" pitchFamily="49" charset="-122"/>
                </a:endParaRPr>
              </a:p>
            </p:txBody>
          </p:sp>
        </mc:Choice>
        <mc:Fallback xmlns="">
          <p:sp>
            <p:nvSpPr>
              <p:cNvPr id="10243" name="内容占位符 2"/>
              <p:cNvSpPr>
                <a:spLocks noGrp="1" noRot="1" noChangeAspect="1" noMove="1" noResize="1" noEditPoints="1" noAdjustHandles="1" noChangeArrowheads="1" noChangeShapeType="1" noTextEdit="1"/>
              </p:cNvSpPr>
              <p:nvPr>
                <p:ph idx="1"/>
              </p:nvPr>
            </p:nvSpPr>
            <p:spPr>
              <a:blipFill rotWithShape="1">
                <a:blip r:embed="rId2"/>
                <a:stretch>
                  <a:fillRect l="-1754" t="-18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4987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注意二进制表示中除了进制数</a:t>
            </a:r>
            <a:r>
              <a:rPr lang="en-US" altLang="zh-CN" b="1" dirty="0">
                <a:solidFill>
                  <a:schemeClr val="tx2"/>
                </a:solidFill>
                <a:latin typeface="楷体_GB2312" pitchFamily="49" charset="-122"/>
                <a:ea typeface="楷体_GB2312" pitchFamily="49" charset="-122"/>
              </a:rPr>
              <a:t>2</a:t>
            </a:r>
            <a:r>
              <a:rPr lang="zh-CN" altLang="en-US" b="1" dirty="0">
                <a:solidFill>
                  <a:schemeClr val="tx2"/>
                </a:solidFill>
                <a:latin typeface="楷体_GB2312" pitchFamily="49" charset="-122"/>
                <a:ea typeface="楷体_GB2312" pitchFamily="49" charset="-122"/>
              </a:rPr>
              <a:t>为十进制的值</a:t>
            </a:r>
            <a:r>
              <a:rPr lang="en-US" altLang="zh-CN" b="1" dirty="0">
                <a:solidFill>
                  <a:schemeClr val="tx2"/>
                </a:solidFill>
                <a:latin typeface="楷体_GB2312" pitchFamily="49" charset="-122"/>
                <a:ea typeface="楷体_GB2312" pitchFamily="49" charset="-122"/>
              </a:rPr>
              <a:t>2</a:t>
            </a:r>
            <a:r>
              <a:rPr lang="zh-CN" altLang="en-US" b="1" dirty="0">
                <a:solidFill>
                  <a:schemeClr val="tx2"/>
                </a:solidFill>
                <a:latin typeface="楷体_GB2312" pitchFamily="49" charset="-122"/>
                <a:ea typeface="楷体_GB2312" pitchFamily="49" charset="-122"/>
              </a:rPr>
              <a:t>外，其他如</a:t>
            </a:r>
            <a:r>
              <a:rPr lang="en-US" altLang="zh-CN" b="1" dirty="0">
                <a:solidFill>
                  <a:schemeClr val="tx2"/>
                </a:solidFill>
                <a:latin typeface="楷体_GB2312" pitchFamily="49" charset="-122"/>
                <a:ea typeface="楷体_GB2312" pitchFamily="49" charset="-122"/>
              </a:rPr>
              <a:t>0.101</a:t>
            </a:r>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11</a:t>
            </a:r>
            <a:r>
              <a:rPr lang="zh-CN" altLang="en-US" b="1" dirty="0">
                <a:solidFill>
                  <a:schemeClr val="tx2"/>
                </a:solidFill>
                <a:latin typeface="楷体_GB2312" pitchFamily="49" charset="-122"/>
                <a:ea typeface="楷体_GB2312" pitchFamily="49" charset="-122"/>
              </a:rPr>
              <a:t>等都是二进制的数值。</a:t>
            </a:r>
          </a:p>
          <a:p>
            <a:pPr marL="0" indent="0">
              <a:buNone/>
            </a:pPr>
            <a:r>
              <a:rPr lang="zh-CN" altLang="en-US" b="1" dirty="0">
                <a:solidFill>
                  <a:schemeClr val="tx2"/>
                </a:solidFill>
                <a:latin typeface="楷体_GB2312" pitchFamily="49" charset="-122"/>
                <a:ea typeface="楷体_GB2312" pitchFamily="49" charset="-122"/>
              </a:rPr>
              <a:t>所以同一个二进制数值可以有不同的表示方式，这样的表示方式就称为浮点表示方式。</a:t>
            </a:r>
          </a:p>
          <a:p>
            <a:pPr marL="0" indent="0">
              <a:buNone/>
            </a:pPr>
            <a:endParaRPr lang="zh-CN" altLang="en-US"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906529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在浮点数的表示中，由于小数点的位置是变动的，所以，要用一种方法来表示小数点的位置。</a:t>
            </a:r>
          </a:p>
          <a:p>
            <a:pPr marL="0" indent="0">
              <a:buNone/>
            </a:pPr>
            <a:r>
              <a:rPr lang="zh-CN" altLang="en-US" b="1" dirty="0">
                <a:solidFill>
                  <a:schemeClr val="tx2"/>
                </a:solidFill>
                <a:latin typeface="楷体_GB2312" pitchFamily="49" charset="-122"/>
                <a:ea typeface="楷体_GB2312" pitchFamily="49" charset="-122"/>
              </a:rPr>
              <a:t>    若直接将这个小数点记录在机器数位置中，就会造成</a:t>
            </a:r>
            <a:r>
              <a:rPr lang="en-US" altLang="zh-CN" b="1" dirty="0">
                <a:solidFill>
                  <a:schemeClr val="tx2"/>
                </a:solidFill>
                <a:latin typeface="楷体_GB2312" pitchFamily="49" charset="-122"/>
                <a:ea typeface="楷体_GB2312" pitchFamily="49" charset="-122"/>
              </a:rPr>
              <a:t>bit</a:t>
            </a:r>
            <a:r>
              <a:rPr lang="zh-CN" altLang="en-US" b="1" dirty="0">
                <a:solidFill>
                  <a:schemeClr val="tx2"/>
                </a:solidFill>
                <a:latin typeface="楷体_GB2312" pitchFamily="49" charset="-122"/>
                <a:ea typeface="楷体_GB2312" pitchFamily="49" charset="-122"/>
              </a:rPr>
              <a:t>的浪费，实际表示时都是通过如下方式表示</a:t>
            </a:r>
          </a:p>
          <a:p>
            <a:pPr marL="0" indent="0">
              <a:buNone/>
            </a:pPr>
            <a:endParaRPr lang="zh-CN" altLang="en-US"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906529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一般地，任何一个数都可以写成：</a:t>
                </a:r>
                <a:endParaRPr lang="en-US" altLang="zh-CN" b="1" dirty="0">
                  <a:solidFill>
                    <a:schemeClr val="tx2"/>
                  </a:solidFill>
                  <a:latin typeface="楷体_GB2312" pitchFamily="49" charset="-122"/>
                  <a:ea typeface="楷体_GB2312" pitchFamily="49" charset="-122"/>
                </a:endParaRPr>
              </a:p>
              <a:p>
                <a:pPr marL="0" indent="0">
                  <a:buNone/>
                </a:pPr>
                <a:endParaRPr lang="en-US" altLang="zh-CN" b="1" dirty="0">
                  <a:solidFill>
                    <a:schemeClr val="tx2"/>
                  </a:solidFill>
                  <a:latin typeface="楷体_GB2312" pitchFamily="49" charset="-122"/>
                  <a:ea typeface="楷体_GB2312" pitchFamily="49" charset="-122"/>
                </a:endParaRPr>
              </a:p>
              <a:p>
                <a:pPr marL="0" indent="0">
                  <a:buNone/>
                </a:pPr>
                <a14:m>
                  <m:oMathPara xmlns:m="http://schemas.openxmlformats.org/officeDocument/2006/math">
                    <m:oMathParaPr>
                      <m:jc m:val="centerGroup"/>
                    </m:oMathParaPr>
                    <m:oMath xmlns:m="http://schemas.openxmlformats.org/officeDocument/2006/math">
                      <m:r>
                        <a:rPr lang="en-US" altLang="zh-CN" b="1" i="0" smtClean="0">
                          <a:solidFill>
                            <a:schemeClr val="tx2"/>
                          </a:solidFill>
                          <a:latin typeface="Cambria Math"/>
                          <a:ea typeface="楷体_GB2312" pitchFamily="49" charset="-122"/>
                        </a:rPr>
                        <m:t>𝐗</m:t>
                      </m:r>
                      <m:r>
                        <a:rPr lang="en-US" altLang="zh-CN" b="1" i="0" smtClean="0">
                          <a:solidFill>
                            <a:schemeClr val="tx2"/>
                          </a:solidFill>
                          <a:latin typeface="Cambria Math"/>
                          <a:ea typeface="楷体_GB2312" pitchFamily="49" charset="-122"/>
                        </a:rPr>
                        <m:t>=±</m:t>
                      </m:r>
                      <m:r>
                        <a:rPr lang="en-US" altLang="zh-CN" b="1" i="0" smtClean="0">
                          <a:solidFill>
                            <a:schemeClr val="tx2"/>
                          </a:solidFill>
                          <a:latin typeface="Cambria Math"/>
                          <a:ea typeface="Cambria Math"/>
                        </a:rPr>
                        <m:t>𝐒</m:t>
                      </m:r>
                      <m:r>
                        <a:rPr lang="en-US" altLang="zh-CN" b="1" i="0" smtClean="0">
                          <a:solidFill>
                            <a:schemeClr val="tx2"/>
                          </a:solidFill>
                          <a:latin typeface="Cambria Math"/>
                          <a:ea typeface="Cambria Math"/>
                        </a:rPr>
                        <m:t>×</m:t>
                      </m:r>
                      <m:sSup>
                        <m:sSupPr>
                          <m:ctrlPr>
                            <a:rPr lang="en-US" altLang="zh-CN" b="1" i="1" smtClean="0">
                              <a:solidFill>
                                <a:schemeClr val="tx2"/>
                              </a:solidFill>
                              <a:latin typeface="Cambria Math" panose="02040503050406030204" pitchFamily="18" charset="0"/>
                              <a:ea typeface="Cambria Math"/>
                            </a:rPr>
                          </m:ctrlPr>
                        </m:sSupPr>
                        <m:e>
                          <m:r>
                            <a:rPr lang="en-US" altLang="zh-CN" b="1" i="0" smtClean="0">
                              <a:solidFill>
                                <a:schemeClr val="tx2"/>
                              </a:solidFill>
                              <a:latin typeface="Cambria Math"/>
                              <a:ea typeface="Cambria Math"/>
                            </a:rPr>
                            <m:t>𝐛</m:t>
                          </m:r>
                        </m:e>
                        <m:sup>
                          <m:r>
                            <a:rPr lang="en-US" altLang="zh-CN" b="1" i="0" smtClean="0">
                              <a:solidFill>
                                <a:schemeClr val="tx2"/>
                              </a:solidFill>
                              <a:latin typeface="Cambria Math"/>
                              <a:ea typeface="Cambria Math"/>
                            </a:rPr>
                            <m:t>±</m:t>
                          </m:r>
                          <m:r>
                            <a:rPr lang="en-US" altLang="zh-CN" b="1" i="0" smtClean="0">
                              <a:solidFill>
                                <a:schemeClr val="tx2"/>
                              </a:solidFill>
                              <a:latin typeface="Cambria Math"/>
                              <a:ea typeface="Cambria Math"/>
                            </a:rPr>
                            <m:t>𝐍</m:t>
                          </m:r>
                        </m:sup>
                      </m:sSup>
                    </m:oMath>
                  </m:oMathPara>
                </a14:m>
                <a:endParaRPr lang="en-US" altLang="zh-CN" b="1" dirty="0">
                  <a:solidFill>
                    <a:schemeClr val="tx2"/>
                  </a:solidFill>
                  <a:latin typeface="楷体_GB2312" pitchFamily="49" charset="-122"/>
                  <a:ea typeface="楷体_GB2312" pitchFamily="49" charset="-122"/>
                </a:endParaRPr>
              </a:p>
              <a:p>
                <a:pPr marL="0" indent="0">
                  <a:buNone/>
                </a:pPr>
                <a:r>
                  <a:rPr lang="en-US" altLang="zh-CN" b="1" dirty="0">
                    <a:solidFill>
                      <a:schemeClr val="tx2"/>
                    </a:solidFill>
                    <a:latin typeface="楷体_GB2312" pitchFamily="49" charset="-122"/>
                    <a:ea typeface="楷体_GB2312" pitchFamily="49" charset="-122"/>
                  </a:rPr>
                  <a:t>     </a:t>
                </a:r>
              </a:p>
              <a:p>
                <a:pPr marL="0" indent="0" algn="ctr">
                  <a:buNone/>
                </a:pPr>
                <a:r>
                  <a:rPr lang="en-US" altLang="zh-CN" b="1" dirty="0">
                    <a:solidFill>
                      <a:schemeClr val="tx2"/>
                    </a:solidFill>
                    <a:latin typeface="楷体_GB2312" pitchFamily="49" charset="-122"/>
                    <a:ea typeface="楷体_GB2312" pitchFamily="49" charset="-122"/>
                  </a:rPr>
                  <a:t>b — </a:t>
                </a:r>
                <a:r>
                  <a:rPr lang="zh-CN" altLang="en-US" b="1" dirty="0">
                    <a:solidFill>
                      <a:schemeClr val="tx2"/>
                    </a:solidFill>
                    <a:latin typeface="楷体_GB2312" pitchFamily="49" charset="-122"/>
                    <a:ea typeface="楷体_GB2312" pitchFamily="49" charset="-122"/>
                  </a:rPr>
                  <a:t>进位基数</a:t>
                </a:r>
                <a:endParaRPr lang="en-US" altLang="zh-CN" b="1" dirty="0">
                  <a:solidFill>
                    <a:schemeClr val="tx2"/>
                  </a:solidFill>
                  <a:latin typeface="楷体_GB2312" pitchFamily="49" charset="-122"/>
                  <a:ea typeface="楷体_GB2312" pitchFamily="49" charset="-122"/>
                </a:endParaRPr>
              </a:p>
              <a:p>
                <a:pPr marL="0" indent="0" algn="ctr">
                  <a:buNone/>
                </a:pPr>
                <a:r>
                  <a:rPr lang="en-US" altLang="zh-CN" b="1" dirty="0">
                    <a:solidFill>
                      <a:schemeClr val="tx2"/>
                    </a:solidFill>
                    <a:latin typeface="楷体_GB2312" pitchFamily="49" charset="-122"/>
                    <a:ea typeface="楷体_GB2312" pitchFamily="49" charset="-122"/>
                  </a:rPr>
                  <a:t>±N — </a:t>
                </a:r>
                <a:r>
                  <a:rPr lang="zh-CN" altLang="en-US" b="1" dirty="0">
                    <a:solidFill>
                      <a:schemeClr val="tx2"/>
                    </a:solidFill>
                    <a:latin typeface="楷体_GB2312" pitchFamily="49" charset="-122"/>
                    <a:ea typeface="楷体_GB2312" pitchFamily="49" charset="-122"/>
                  </a:rPr>
                  <a:t>阶</a:t>
                </a:r>
                <a:endParaRPr lang="en-US" altLang="zh-CN" b="1" dirty="0">
                  <a:solidFill>
                    <a:schemeClr val="tx2"/>
                  </a:solidFill>
                  <a:latin typeface="楷体_GB2312" pitchFamily="49" charset="-122"/>
                  <a:ea typeface="楷体_GB2312" pitchFamily="49" charset="-122"/>
                </a:endParaRPr>
              </a:p>
              <a:p>
                <a:pPr marL="0" indent="0" algn="ctr">
                  <a:buNone/>
                </a:pPr>
                <a:r>
                  <a:rPr lang="en-US" altLang="zh-CN" b="1" dirty="0">
                    <a:solidFill>
                      <a:schemeClr val="tx2"/>
                    </a:solidFill>
                    <a:latin typeface="楷体_GB2312" pitchFamily="49" charset="-122"/>
                    <a:ea typeface="楷体_GB2312" pitchFamily="49" charset="-122"/>
                  </a:rPr>
                  <a:t>±S — </a:t>
                </a:r>
                <a:r>
                  <a:rPr lang="zh-CN" altLang="en-US" b="1" dirty="0">
                    <a:solidFill>
                      <a:schemeClr val="tx2"/>
                    </a:solidFill>
                    <a:latin typeface="楷体_GB2312" pitchFamily="49" charset="-122"/>
                    <a:ea typeface="楷体_GB2312" pitchFamily="49" charset="-122"/>
                  </a:rPr>
                  <a:t>尾数</a:t>
                </a:r>
              </a:p>
            </p:txBody>
          </p:sp>
        </mc:Choice>
        <mc:Fallback xmlns="">
          <p:sp>
            <p:nvSpPr>
              <p:cNvPr id="10243" name="内容占位符 2"/>
              <p:cNvSpPr>
                <a:spLocks noGrp="1" noRot="1" noChangeAspect="1" noMove="1" noResize="1" noEditPoints="1" noAdjustHandles="1" noChangeArrowheads="1" noChangeShapeType="1" noTextEdit="1"/>
              </p:cNvSpPr>
              <p:nvPr>
                <p:ph idx="1"/>
              </p:nvPr>
            </p:nvSpPr>
            <p:spPr>
              <a:blipFill rotWithShape="1">
                <a:blip r:embed="rId2"/>
                <a:stretch>
                  <a:fillRect t="-1890" b="-1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06529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浮点数的表示主要是表示</a:t>
            </a:r>
            <a:r>
              <a:rPr lang="zh-CN" altLang="en-US" b="1" dirty="0">
                <a:solidFill>
                  <a:srgbClr val="FF0000"/>
                </a:solidFill>
                <a:latin typeface="楷体_GB2312" pitchFamily="49" charset="-122"/>
                <a:ea typeface="楷体_GB2312" pitchFamily="49" charset="-122"/>
              </a:rPr>
              <a:t>正负</a:t>
            </a:r>
            <a:r>
              <a:rPr lang="en-US" altLang="zh-CN" b="1" dirty="0">
                <a:solidFill>
                  <a:srgbClr val="FF0000"/>
                </a:solidFill>
                <a:latin typeface="楷体_GB2312" pitchFamily="49" charset="-122"/>
                <a:ea typeface="楷体_GB2312" pitchFamily="49" charset="-122"/>
              </a:rPr>
              <a:t>S(</a:t>
            </a:r>
            <a:r>
              <a:rPr lang="zh-CN" altLang="en-US" b="1" dirty="0">
                <a:solidFill>
                  <a:srgbClr val="FF0000"/>
                </a:solidFill>
                <a:latin typeface="楷体_GB2312" pitchFamily="49" charset="-122"/>
                <a:ea typeface="楷体_GB2312" pitchFamily="49" charset="-122"/>
              </a:rPr>
              <a:t>尾数</a:t>
            </a:r>
            <a:r>
              <a:rPr lang="en-US" altLang="zh-CN" b="1" dirty="0">
                <a:solidFill>
                  <a:srgbClr val="FF0000"/>
                </a:solidFill>
                <a:latin typeface="楷体_GB2312" pitchFamily="49" charset="-122"/>
                <a:ea typeface="楷体_GB2312" pitchFamily="49" charset="-122"/>
              </a:rPr>
              <a:t>)</a:t>
            </a:r>
            <a:r>
              <a:rPr lang="zh-CN" altLang="en-US" b="1" dirty="0">
                <a:solidFill>
                  <a:schemeClr val="tx2"/>
                </a:solidFill>
                <a:latin typeface="楷体_GB2312" pitchFamily="49" charset="-122"/>
                <a:ea typeface="楷体_GB2312" pitchFamily="49" charset="-122"/>
              </a:rPr>
              <a:t>和</a:t>
            </a:r>
            <a:r>
              <a:rPr lang="zh-CN" altLang="en-US" b="1" dirty="0">
                <a:solidFill>
                  <a:srgbClr val="FF0000"/>
                </a:solidFill>
                <a:latin typeface="楷体_GB2312" pitchFamily="49" charset="-122"/>
                <a:ea typeface="楷体_GB2312" pitchFamily="49" charset="-122"/>
              </a:rPr>
              <a:t>正负</a:t>
            </a:r>
            <a:r>
              <a:rPr lang="en-US" altLang="zh-CN" b="1" dirty="0">
                <a:solidFill>
                  <a:srgbClr val="FF0000"/>
                </a:solidFill>
                <a:latin typeface="楷体_GB2312" pitchFamily="49" charset="-122"/>
                <a:ea typeface="楷体_GB2312" pitchFamily="49" charset="-122"/>
              </a:rPr>
              <a:t>N</a:t>
            </a:r>
            <a:r>
              <a:rPr lang="zh-CN" altLang="en-US" b="1" dirty="0">
                <a:solidFill>
                  <a:srgbClr val="FF0000"/>
                </a:solidFill>
                <a:latin typeface="楷体_GB2312" pitchFamily="49" charset="-122"/>
                <a:ea typeface="楷体_GB2312" pitchFamily="49" charset="-122"/>
              </a:rPr>
              <a:t>（阶数）</a:t>
            </a:r>
          </a:p>
          <a:p>
            <a:pPr marL="0" indent="0">
              <a:buNone/>
            </a:pPr>
            <a:r>
              <a:rPr lang="zh-CN" altLang="en-US" b="1" dirty="0">
                <a:solidFill>
                  <a:schemeClr val="tx2"/>
                </a:solidFill>
                <a:latin typeface="楷体_GB2312" pitchFamily="49" charset="-122"/>
                <a:ea typeface="楷体_GB2312" pitchFamily="49" charset="-122"/>
              </a:rPr>
              <a:t>在计算机中浮点数表示形如下：</a:t>
            </a:r>
          </a:p>
          <a:p>
            <a:pPr marL="0" indent="0">
              <a:buNone/>
            </a:pPr>
            <a:endParaRPr lang="zh-CN" altLang="en-US" b="1" dirty="0">
              <a:solidFill>
                <a:schemeClr val="tx2"/>
              </a:solidFill>
              <a:latin typeface="楷体_GB2312" pitchFamily="49" charset="-122"/>
              <a:ea typeface="楷体_GB2312" pitchFamily="49" charset="-122"/>
            </a:endParaRPr>
          </a:p>
        </p:txBody>
      </p:sp>
      <p:pic>
        <p:nvPicPr>
          <p:cNvPr id="4" name="图片 11" descr="浮点数表示.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516572"/>
            <a:ext cx="764222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6529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endParaRPr lang="zh-CN" altLang="en-US"/>
          </a:p>
        </p:txBody>
      </p:sp>
      <p:sp>
        <p:nvSpPr>
          <p:cNvPr id="10243" name="内容占位符 2"/>
          <p:cNvSpPr>
            <a:spLocks noGrp="1"/>
          </p:cNvSpPr>
          <p:nvPr>
            <p:ph idx="1"/>
          </p:nvPr>
        </p:nvSpPr>
        <p:spPr/>
        <p:txBody>
          <a:bodyPr/>
          <a:lstStyle/>
          <a:p>
            <a:pPr marL="0" indent="0">
              <a:buNone/>
            </a:pPr>
            <a:r>
              <a:rPr lang="zh-CN" altLang="en-US" b="1" dirty="0">
                <a:solidFill>
                  <a:schemeClr val="tx2"/>
                </a:solidFill>
                <a:latin typeface="楷体_GB2312" pitchFamily="49" charset="-122"/>
                <a:ea typeface="楷体_GB2312" pitchFamily="49" charset="-122"/>
              </a:rPr>
              <a:t> </a:t>
            </a:r>
          </a:p>
        </p:txBody>
      </p:sp>
      <p:pic>
        <p:nvPicPr>
          <p:cNvPr id="4" name="图片 3" descr="计算机中浮点数表示.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924175"/>
            <a:ext cx="7643813"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652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25603" name="Rectangle 7"/>
          <p:cNvSpPr>
            <a:spLocks noChangeArrowheads="1"/>
          </p:cNvSpPr>
          <p:nvPr/>
        </p:nvSpPr>
        <p:spPr bwMode="auto">
          <a:xfrm>
            <a:off x="642938" y="1785938"/>
            <a:ext cx="8001000"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buClr>
                <a:schemeClr val="accent2"/>
              </a:buClr>
              <a:buFont typeface="Wingdings" pitchFamily="2" charset="2"/>
              <a:buChar char="n"/>
            </a:pPr>
            <a:r>
              <a:rPr lang="zh-CN" altLang="en-US" sz="3200" dirty="0">
                <a:solidFill>
                  <a:srgbClr val="000000"/>
                </a:solidFill>
                <a:latin typeface="楷体_GB2312" pitchFamily="49" charset="-122"/>
                <a:ea typeface="楷体_GB2312" pitchFamily="49" charset="-122"/>
              </a:rPr>
              <a:t>尾数</a:t>
            </a:r>
            <a:r>
              <a:rPr lang="en-US" altLang="zh-CN" sz="3200" dirty="0">
                <a:solidFill>
                  <a:srgbClr val="000000"/>
                </a:solidFill>
                <a:latin typeface="楷体_GB2312" pitchFamily="49" charset="-122"/>
                <a:ea typeface="楷体_GB2312" pitchFamily="49" charset="-122"/>
              </a:rPr>
              <a:t>S</a:t>
            </a:r>
            <a:r>
              <a:rPr lang="zh-CN" altLang="en-US" sz="3200" dirty="0">
                <a:solidFill>
                  <a:srgbClr val="000000"/>
                </a:solidFill>
                <a:latin typeface="楷体_GB2312" pitchFamily="49" charset="-122"/>
                <a:ea typeface="楷体_GB2312" pitchFamily="49" charset="-122"/>
              </a:rPr>
              <a:t>是一个纯小数，尾数的位数越多精度越高，整个浮点数的</a:t>
            </a:r>
            <a:r>
              <a:rPr lang="zh-CN" altLang="en-US" sz="3200" dirty="0">
                <a:solidFill>
                  <a:srgbClr val="FF0000"/>
                </a:solidFill>
                <a:latin typeface="楷体_GB2312" pitchFamily="49" charset="-122"/>
                <a:ea typeface="楷体_GB2312" pitchFamily="49" charset="-122"/>
              </a:rPr>
              <a:t>正负号由</a:t>
            </a:r>
            <a:r>
              <a:rPr lang="zh-CN" altLang="en-US" sz="3200" b="0" dirty="0">
                <a:solidFill>
                  <a:srgbClr val="FF0000"/>
                </a:solidFill>
                <a:latin typeface="楷体_GB2312" pitchFamily="49" charset="-122"/>
                <a:ea typeface="楷体_GB2312" pitchFamily="49" charset="-122"/>
              </a:rPr>
              <a:t>尾符</a:t>
            </a:r>
            <a:r>
              <a:rPr lang="zh-CN" altLang="en-US" sz="3200" dirty="0">
                <a:solidFill>
                  <a:srgbClr val="FF0000"/>
                </a:solidFill>
                <a:latin typeface="楷体_GB2312" pitchFamily="49" charset="-122"/>
                <a:ea typeface="楷体_GB2312" pitchFamily="49" charset="-122"/>
              </a:rPr>
              <a:t>决定</a:t>
            </a:r>
            <a:r>
              <a:rPr lang="zh-CN" altLang="en-US" sz="3200" dirty="0">
                <a:solidFill>
                  <a:srgbClr val="000000"/>
                </a:solidFill>
                <a:latin typeface="楷体_GB2312" pitchFamily="49" charset="-122"/>
                <a:ea typeface="楷体_GB2312" pitchFamily="49" charset="-122"/>
              </a:rPr>
              <a:t>。</a:t>
            </a:r>
            <a:endParaRPr lang="en-US" altLang="zh-CN" sz="3200" dirty="0">
              <a:solidFill>
                <a:srgbClr val="000000"/>
              </a:solidFill>
              <a:latin typeface="楷体_GB2312" pitchFamily="49" charset="-122"/>
              <a:ea typeface="楷体_GB2312" pitchFamily="49" charset="-122"/>
            </a:endParaRPr>
          </a:p>
          <a:p>
            <a:pPr algn="l">
              <a:buClr>
                <a:schemeClr val="accent2"/>
              </a:buClr>
              <a:buFont typeface="Wingdings" pitchFamily="2" charset="2"/>
              <a:buChar char="n"/>
            </a:pPr>
            <a:r>
              <a:rPr lang="zh-CN" altLang="en-US" sz="3200" dirty="0">
                <a:solidFill>
                  <a:srgbClr val="000000"/>
                </a:solidFill>
                <a:latin typeface="楷体_GB2312" pitchFamily="49" charset="-122"/>
                <a:ea typeface="楷体_GB2312" pitchFamily="49" charset="-122"/>
              </a:rPr>
              <a:t>阶值</a:t>
            </a:r>
            <a:r>
              <a:rPr lang="en-US" altLang="zh-CN" sz="3200" dirty="0">
                <a:solidFill>
                  <a:srgbClr val="000000"/>
                </a:solidFill>
                <a:latin typeface="楷体_GB2312" pitchFamily="49" charset="-122"/>
                <a:ea typeface="楷体_GB2312" pitchFamily="49" charset="-122"/>
              </a:rPr>
              <a:t>N</a:t>
            </a:r>
            <a:r>
              <a:rPr lang="zh-CN" altLang="en-US" sz="3200" dirty="0">
                <a:solidFill>
                  <a:srgbClr val="000000"/>
                </a:solidFill>
                <a:latin typeface="楷体_GB2312" pitchFamily="49" charset="-122"/>
                <a:ea typeface="楷体_GB2312" pitchFamily="49" charset="-122"/>
              </a:rPr>
              <a:t>是一个纯整数，阶符表示数的实际小数点位置的移动方向，若阶符为正则实际小数点在尾数小数点的右边，若</a:t>
            </a:r>
            <a:r>
              <a:rPr lang="zh-CN" altLang="en-US" sz="3200" dirty="0">
                <a:solidFill>
                  <a:srgbClr val="FF0000"/>
                </a:solidFill>
                <a:latin typeface="楷体_GB2312" pitchFamily="49" charset="-122"/>
                <a:ea typeface="楷体_GB2312" pitchFamily="49" charset="-122"/>
              </a:rPr>
              <a:t>阶符</a:t>
            </a:r>
            <a:r>
              <a:rPr lang="zh-CN" altLang="en-US" sz="3200" dirty="0">
                <a:solidFill>
                  <a:srgbClr val="000000"/>
                </a:solidFill>
                <a:latin typeface="楷体_GB2312" pitchFamily="49" charset="-122"/>
                <a:ea typeface="楷体_GB2312" pitchFamily="49" charset="-122"/>
              </a:rPr>
              <a:t>为负则实际小数点在尾数小数点的左边，其具体位置由阶值确定。阶值的位数越多，数的表示范围就越大。</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8025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mc:AlternateContent xmlns:mc="http://schemas.openxmlformats.org/markup-compatibility/2006" xmlns:a14="http://schemas.microsoft.com/office/drawing/2010/main">
        <mc:Choice Requires="a14">
          <p:sp>
            <p:nvSpPr>
              <p:cNvPr id="26627" name="Rectangle 7"/>
              <p:cNvSpPr>
                <a:spLocks noChangeArrowheads="1"/>
              </p:cNvSpPr>
              <p:nvPr/>
            </p:nvSpPr>
            <p:spPr bwMode="auto">
              <a:xfrm>
                <a:off x="642938" y="1785938"/>
                <a:ext cx="8001000" cy="42148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FF0000"/>
                    </a:solidFill>
                    <a:latin typeface="楷体_GB2312" pitchFamily="49" charset="-122"/>
                    <a:ea typeface="楷体_GB2312" pitchFamily="49" charset="-122"/>
                  </a:rPr>
                  <a:t>如</a:t>
                </a:r>
                <a:r>
                  <a:rPr lang="en-US" altLang="zh-CN" sz="3200" dirty="0">
                    <a:solidFill>
                      <a:srgbClr val="FF0000"/>
                    </a:solidFill>
                    <a:latin typeface="楷体_GB2312" pitchFamily="49" charset="-122"/>
                    <a:ea typeface="楷体_GB2312" pitchFamily="49" charset="-122"/>
                  </a:rPr>
                  <a:t>1.0101</a:t>
                </a:r>
                <a14:m>
                  <m:oMath xmlns:m="http://schemas.openxmlformats.org/officeDocument/2006/math">
                    <m:r>
                      <a:rPr lang="en-US" altLang="zh-CN" sz="3200" i="1" smtClean="0">
                        <a:solidFill>
                          <a:srgbClr val="FF0000"/>
                        </a:solidFill>
                        <a:latin typeface="Cambria Math"/>
                        <a:ea typeface="Cambria Math"/>
                      </a:rPr>
                      <m:t>×</m:t>
                    </m:r>
                    <m:sSup>
                      <m:sSupPr>
                        <m:ctrlPr>
                          <a:rPr lang="en-US" altLang="zh-CN" sz="3200" i="1" smtClean="0">
                            <a:solidFill>
                              <a:srgbClr val="FF0000"/>
                            </a:solidFill>
                            <a:latin typeface="Cambria Math" panose="02040503050406030204" pitchFamily="18" charset="0"/>
                            <a:ea typeface="Cambria Math"/>
                          </a:rPr>
                        </m:ctrlPr>
                      </m:sSupPr>
                      <m:e>
                        <m:r>
                          <a:rPr lang="en-US" altLang="zh-CN" sz="3200" b="1" i="1" smtClean="0">
                            <a:solidFill>
                              <a:srgbClr val="FF0000"/>
                            </a:solidFill>
                            <a:latin typeface="Cambria Math"/>
                            <a:ea typeface="Cambria Math"/>
                          </a:rPr>
                          <m:t>𝟐</m:t>
                        </m:r>
                      </m:e>
                      <m:sup>
                        <m:r>
                          <a:rPr lang="en-US" altLang="zh-CN" sz="3200" b="1" i="1" smtClean="0">
                            <a:solidFill>
                              <a:srgbClr val="FF0000"/>
                            </a:solidFill>
                            <a:latin typeface="Cambria Math"/>
                            <a:ea typeface="Cambria Math"/>
                          </a:rPr>
                          <m:t>𝟏𝟏</m:t>
                        </m:r>
                      </m:sup>
                    </m:sSup>
                  </m:oMath>
                </a14:m>
                <a:r>
                  <a:rPr lang="zh-CN" altLang="en-US" sz="3200" dirty="0">
                    <a:solidFill>
                      <a:srgbClr val="FF0000"/>
                    </a:solidFill>
                    <a:latin typeface="楷体_GB2312" pitchFamily="49" charset="-122"/>
                    <a:ea typeface="楷体_GB2312" pitchFamily="49" charset="-122"/>
                  </a:rPr>
                  <a:t>所对应的真值为</a:t>
                </a:r>
                <a:r>
                  <a:rPr lang="en-US" altLang="zh-CN" sz="3200" dirty="0">
                    <a:solidFill>
                      <a:srgbClr val="FF0000"/>
                    </a:solidFill>
                    <a:latin typeface="楷体_GB2312" pitchFamily="49" charset="-122"/>
                    <a:ea typeface="楷体_GB2312" pitchFamily="49" charset="-122"/>
                  </a:rPr>
                  <a:t>1010.1</a:t>
                </a:r>
                <a:r>
                  <a:rPr lang="zh-CN" altLang="en-US" sz="3200" dirty="0">
                    <a:solidFill>
                      <a:srgbClr val="FF0000"/>
                    </a:solidFill>
                    <a:latin typeface="楷体_GB2312" pitchFamily="49" charset="-122"/>
                    <a:ea typeface="楷体_GB2312" pitchFamily="49" charset="-122"/>
                  </a:rPr>
                  <a:t>，真值和浮点表示相比，小数点要向右移动</a:t>
                </a:r>
                <a:r>
                  <a:rPr lang="en-US" altLang="zh-CN" sz="3200" dirty="0">
                    <a:solidFill>
                      <a:srgbClr val="FF0000"/>
                    </a:solidFill>
                    <a:latin typeface="楷体_GB2312" pitchFamily="49" charset="-122"/>
                    <a:ea typeface="楷体_GB2312" pitchFamily="49" charset="-122"/>
                  </a:rPr>
                  <a:t>3</a:t>
                </a:r>
                <a:r>
                  <a:rPr lang="zh-CN" altLang="en-US" sz="3200" dirty="0">
                    <a:solidFill>
                      <a:srgbClr val="FF0000"/>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11</a:t>
                </a:r>
                <a:r>
                  <a:rPr lang="zh-CN" altLang="en-US" sz="3200" dirty="0">
                    <a:solidFill>
                      <a:srgbClr val="FF0000"/>
                    </a:solidFill>
                    <a:latin typeface="楷体_GB2312" pitchFamily="49" charset="-122"/>
                    <a:ea typeface="楷体_GB2312" pitchFamily="49" charset="-122"/>
                  </a:rPr>
                  <a:t>）位。</a:t>
                </a:r>
                <a:endParaRPr lang="en-US" altLang="zh-CN" sz="3200" dirty="0">
                  <a:solidFill>
                    <a:srgbClr val="FF0000"/>
                  </a:solidFill>
                  <a:latin typeface="楷体_GB2312" pitchFamily="49" charset="-122"/>
                  <a:ea typeface="楷体_GB2312" pitchFamily="49" charset="-122"/>
                </a:endParaRPr>
              </a:p>
              <a:p>
                <a:pPr algn="l"/>
                <a:endParaRPr lang="en-US" altLang="zh-CN" sz="3200" dirty="0">
                  <a:solidFill>
                    <a:srgbClr val="FF0000"/>
                  </a:solidFill>
                  <a:latin typeface="楷体_GB2312" pitchFamily="49" charset="-122"/>
                  <a:ea typeface="楷体_GB2312" pitchFamily="49" charset="-122"/>
                </a:endParaRPr>
              </a:p>
              <a:p>
                <a:r>
                  <a:rPr lang="en-US" altLang="zh-CN" sz="3200" dirty="0">
                    <a:solidFill>
                      <a:srgbClr val="FF0000"/>
                    </a:solidFill>
                    <a:latin typeface="楷体_GB2312" pitchFamily="49" charset="-122"/>
                    <a:ea typeface="楷体_GB2312" pitchFamily="49" charset="-122"/>
                  </a:rPr>
                  <a:t>1.0101</a:t>
                </a:r>
                <a14:m>
                  <m:oMath xmlns:m="http://schemas.openxmlformats.org/officeDocument/2006/math">
                    <m:r>
                      <a:rPr lang="en-US" altLang="zh-CN" sz="3200" i="1">
                        <a:solidFill>
                          <a:srgbClr val="FF0000"/>
                        </a:solidFill>
                        <a:latin typeface="Cambria Math"/>
                        <a:ea typeface="Cambria Math"/>
                      </a:rPr>
                      <m:t>×</m:t>
                    </m:r>
                    <m:sSup>
                      <m:sSupPr>
                        <m:ctrlPr>
                          <a:rPr lang="en-US" altLang="zh-CN" sz="3200" i="1">
                            <a:solidFill>
                              <a:srgbClr val="FF0000"/>
                            </a:solidFill>
                            <a:latin typeface="Cambria Math" panose="02040503050406030204" pitchFamily="18" charset="0"/>
                            <a:ea typeface="Cambria Math"/>
                          </a:rPr>
                        </m:ctrlPr>
                      </m:sSupPr>
                      <m:e>
                        <m:r>
                          <a:rPr lang="en-US" altLang="zh-CN" sz="3200" i="1">
                            <a:solidFill>
                              <a:srgbClr val="FF0000"/>
                            </a:solidFill>
                            <a:latin typeface="Cambria Math"/>
                            <a:ea typeface="Cambria Math"/>
                          </a:rPr>
                          <m:t>𝟐</m:t>
                        </m:r>
                      </m:e>
                      <m:sup>
                        <m:r>
                          <a:rPr lang="en-US" altLang="zh-CN" sz="3200" b="1" i="1" smtClean="0">
                            <a:solidFill>
                              <a:srgbClr val="FF0000"/>
                            </a:solidFill>
                            <a:latin typeface="Cambria Math"/>
                            <a:ea typeface="Cambria Math"/>
                          </a:rPr>
                          <m:t>−</m:t>
                        </m:r>
                        <m:r>
                          <a:rPr lang="en-US" altLang="zh-CN" sz="3200" i="1">
                            <a:solidFill>
                              <a:srgbClr val="FF0000"/>
                            </a:solidFill>
                            <a:latin typeface="Cambria Math"/>
                            <a:ea typeface="Cambria Math"/>
                          </a:rPr>
                          <m:t>𝟏𝟏</m:t>
                        </m:r>
                      </m:sup>
                    </m:sSup>
                  </m:oMath>
                </a14:m>
                <a:r>
                  <a:rPr lang="zh-CN" altLang="en-US" sz="3200" dirty="0">
                    <a:solidFill>
                      <a:srgbClr val="FF0000"/>
                    </a:solidFill>
                    <a:latin typeface="楷体_GB2312" pitchFamily="49" charset="-122"/>
                    <a:ea typeface="楷体_GB2312" pitchFamily="49" charset="-122"/>
                  </a:rPr>
                  <a:t>所对应的真值为</a:t>
                </a:r>
                <a:r>
                  <a:rPr lang="en-US" altLang="zh-CN" sz="3200" dirty="0">
                    <a:solidFill>
                      <a:srgbClr val="FF0000"/>
                    </a:solidFill>
                    <a:latin typeface="楷体_GB2312" pitchFamily="49" charset="-122"/>
                    <a:ea typeface="楷体_GB2312" pitchFamily="49" charset="-122"/>
                  </a:rPr>
                  <a:t>0.0010101</a:t>
                </a:r>
                <a:r>
                  <a:rPr lang="zh-CN" altLang="en-US" sz="3200" dirty="0">
                    <a:solidFill>
                      <a:srgbClr val="FF0000"/>
                    </a:solidFill>
                    <a:latin typeface="楷体_GB2312" pitchFamily="49" charset="-122"/>
                    <a:ea typeface="楷体_GB2312" pitchFamily="49" charset="-122"/>
                  </a:rPr>
                  <a:t>，真值和浮点表示相比，小数点要向左移</a:t>
                </a:r>
                <a:r>
                  <a:rPr lang="en-US" altLang="zh-CN" sz="3200" dirty="0">
                    <a:solidFill>
                      <a:srgbClr val="FF0000"/>
                    </a:solidFill>
                    <a:latin typeface="楷体_GB2312" pitchFamily="49" charset="-122"/>
                    <a:ea typeface="楷体_GB2312" pitchFamily="49" charset="-122"/>
                  </a:rPr>
                  <a:t>3</a:t>
                </a:r>
                <a:r>
                  <a:rPr lang="zh-CN" altLang="en-US" sz="3200" dirty="0">
                    <a:solidFill>
                      <a:srgbClr val="FF0000"/>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111</a:t>
                </a:r>
                <a:r>
                  <a:rPr lang="zh-CN" altLang="en-US" sz="3200" dirty="0">
                    <a:solidFill>
                      <a:srgbClr val="FF0000"/>
                    </a:solidFill>
                    <a:latin typeface="楷体_GB2312" pitchFamily="49" charset="-122"/>
                    <a:ea typeface="楷体_GB2312" pitchFamily="49" charset="-122"/>
                  </a:rPr>
                  <a:t>）位。</a:t>
                </a:r>
                <a:endParaRPr lang="en-US" altLang="zh-CN" sz="3200" dirty="0">
                  <a:solidFill>
                    <a:srgbClr val="FF0000"/>
                  </a:solidFill>
                  <a:latin typeface="楷体_GB2312" pitchFamily="49" charset="-122"/>
                  <a:ea typeface="楷体_GB2312" pitchFamily="49" charset="-122"/>
                </a:endParaRPr>
              </a:p>
            </p:txBody>
          </p:sp>
        </mc:Choice>
        <mc:Fallback xmlns="">
          <p:sp>
            <p:nvSpPr>
              <p:cNvPr id="26627" name="Rectangle 7"/>
              <p:cNvSpPr>
                <a:spLocks noRot="1" noChangeAspect="1" noMove="1" noResize="1" noEditPoints="1" noAdjustHandles="1" noChangeArrowheads="1" noChangeShapeType="1" noTextEdit="1"/>
              </p:cNvSpPr>
              <p:nvPr/>
            </p:nvSpPr>
            <p:spPr bwMode="auto">
              <a:xfrm>
                <a:off x="642938" y="1785938"/>
                <a:ext cx="8001000" cy="4214812"/>
              </a:xfrm>
              <a:prstGeom prst="rect">
                <a:avLst/>
              </a:prstGeom>
              <a:blipFill rotWithShape="1">
                <a:blip r:embed="rId3"/>
                <a:stretch>
                  <a:fillRect l="-1904" t="-21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121922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26627" name="Rectangle 7"/>
          <p:cNvSpPr>
            <a:spLocks noChangeArrowheads="1"/>
          </p:cNvSpPr>
          <p:nvPr/>
        </p:nvSpPr>
        <p:spPr bwMode="auto">
          <a:xfrm>
            <a:off x="642938" y="1785938"/>
            <a:ext cx="8001000"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r>
              <a:rPr lang="zh-CN" altLang="en-US" sz="3200" dirty="0">
                <a:solidFill>
                  <a:srgbClr val="FF0000"/>
                </a:solidFill>
                <a:latin typeface="楷体_GB2312" pitchFamily="49" charset="-122"/>
                <a:ea typeface="楷体_GB2312" pitchFamily="49" charset="-122"/>
              </a:rPr>
              <a:t>    </a:t>
            </a:r>
            <a:r>
              <a:rPr lang="zh-CN" altLang="en-US" sz="3200" dirty="0">
                <a:solidFill>
                  <a:srgbClr val="000000"/>
                </a:solidFill>
                <a:latin typeface="楷体_GB2312" pitchFamily="49" charset="-122"/>
                <a:ea typeface="楷体_GB2312" pitchFamily="49" charset="-122"/>
              </a:rPr>
              <a:t>为了避免记录尾数中小数点的位置，尾数要采用定点小数来表示</a:t>
            </a:r>
            <a:r>
              <a:rPr lang="en-US" altLang="zh-CN" sz="3200" dirty="0">
                <a:solidFill>
                  <a:srgbClr val="000000"/>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纯小数</a:t>
            </a:r>
            <a:r>
              <a:rPr lang="en-US" altLang="zh-CN" sz="3200" dirty="0">
                <a:solidFill>
                  <a:srgbClr val="000000"/>
                </a:solidFill>
                <a:latin typeface="楷体_GB2312" pitchFamily="49" charset="-122"/>
                <a:ea typeface="楷体_GB2312" pitchFamily="49" charset="-122"/>
              </a:rPr>
              <a:t>)</a:t>
            </a:r>
            <a:r>
              <a:rPr lang="zh-CN" altLang="en-US" sz="3200" dirty="0">
                <a:solidFill>
                  <a:srgbClr val="000000"/>
                </a:solidFill>
                <a:latin typeface="楷体_GB2312" pitchFamily="49" charset="-122"/>
                <a:ea typeface="楷体_GB2312" pitchFamily="49" charset="-122"/>
              </a:rPr>
              <a:t>。</a:t>
            </a:r>
          </a:p>
          <a:p>
            <a:r>
              <a:rPr lang="zh-CN" altLang="en-US" sz="3200" dirty="0">
                <a:solidFill>
                  <a:srgbClr val="000000"/>
                </a:solidFill>
                <a:latin typeface="楷体_GB2312" pitchFamily="49" charset="-122"/>
                <a:ea typeface="楷体_GB2312" pitchFamily="49" charset="-122"/>
              </a:rPr>
              <a:t>    </a:t>
            </a:r>
            <a:endParaRPr lang="en-US" altLang="zh-CN" sz="3200" dirty="0">
              <a:solidFill>
                <a:srgbClr val="000000"/>
              </a:solidFill>
              <a:latin typeface="楷体_GB2312" pitchFamily="49" charset="-122"/>
              <a:ea typeface="楷体_GB2312" pitchFamily="49" charset="-122"/>
            </a:endParaRPr>
          </a:p>
          <a:p>
            <a:r>
              <a:rPr lang="en-US" altLang="zh-CN" sz="3200" dirty="0">
                <a:solidFill>
                  <a:srgbClr val="000000"/>
                </a:solidFill>
                <a:latin typeface="楷体_GB2312" pitchFamily="49" charset="-122"/>
                <a:ea typeface="楷体_GB2312" pitchFamily="49" charset="-122"/>
              </a:rPr>
              <a:t>	</a:t>
            </a:r>
            <a:r>
              <a:rPr lang="zh-CN" altLang="en-US" sz="3200" dirty="0">
                <a:solidFill>
                  <a:srgbClr val="000000"/>
                </a:solidFill>
                <a:latin typeface="楷体_GB2312" pitchFamily="49" charset="-122"/>
                <a:ea typeface="楷体_GB2312" pitchFamily="49" charset="-122"/>
              </a:rPr>
              <a:t>阶值绝对值表示小数点的移动位数，故而阶值采用定点整数表示（</a:t>
            </a:r>
            <a:r>
              <a:rPr lang="zh-CN" altLang="en-US" sz="3200" dirty="0">
                <a:solidFill>
                  <a:srgbClr val="FF0000"/>
                </a:solidFill>
                <a:latin typeface="楷体_GB2312" pitchFamily="49" charset="-122"/>
                <a:ea typeface="楷体_GB2312" pitchFamily="49" charset="-122"/>
              </a:rPr>
              <a:t>纯整数</a:t>
            </a:r>
            <a:r>
              <a:rPr lang="zh-CN" altLang="en-US" sz="3200" dirty="0">
                <a:solidFill>
                  <a:srgbClr val="000000"/>
                </a:solidFill>
                <a:latin typeface="楷体_GB2312" pitchFamily="49" charset="-122"/>
                <a:ea typeface="楷体_GB2312" pitchFamily="49" charset="-122"/>
              </a:rPr>
              <a:t>）。而阶值的正负则表示了小数点移动的方向</a:t>
            </a:r>
          </a:p>
          <a:p>
            <a:pPr algn="l"/>
            <a:endParaRPr lang="en-US" altLang="zh-CN" sz="3200" dirty="0">
              <a:solidFill>
                <a:srgbClr val="FF0000"/>
              </a:solidFill>
              <a:latin typeface="楷体_GB2312" pitchFamily="49" charset="-122"/>
              <a:ea typeface="楷体_GB2312" pitchFamily="49" charset="-122"/>
            </a:endParaRPr>
          </a:p>
        </p:txBody>
      </p:sp>
    </p:spTree>
    <p:extLst>
      <p:ext uri="{BB962C8B-B14F-4D97-AF65-F5344CB8AC3E}">
        <p14:creationId xmlns:p14="http://schemas.microsoft.com/office/powerpoint/2010/main" val="1758591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28675" name="Rectangle 7"/>
          <p:cNvSpPr>
            <a:spLocks noChangeArrowheads="1"/>
          </p:cNvSpPr>
          <p:nvPr/>
        </p:nvSpPr>
        <p:spPr bwMode="auto">
          <a:xfrm>
            <a:off x="642938" y="1785938"/>
            <a:ext cx="8001000"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buClr>
                <a:srgbClr val="969696"/>
              </a:buClr>
              <a:buFont typeface="Wingdings" pitchFamily="2" charset="2"/>
              <a:buChar char="n"/>
            </a:pPr>
            <a:r>
              <a:rPr lang="zh-CN" altLang="en-US" sz="3200">
                <a:solidFill>
                  <a:srgbClr val="000000"/>
                </a:solidFill>
                <a:latin typeface="楷体_GB2312" pitchFamily="49" charset="-122"/>
                <a:ea typeface="楷体_GB2312" pitchFamily="49" charset="-122"/>
              </a:rPr>
              <a:t>可以看出：定点数就是为了表示浮点数而服务的，尾数</a:t>
            </a:r>
            <a:r>
              <a:rPr lang="en-US" altLang="zh-CN" sz="3200">
                <a:solidFill>
                  <a:srgbClr val="000000"/>
                </a:solidFill>
                <a:latin typeface="楷体_GB2312" pitchFamily="49" charset="-122"/>
                <a:ea typeface="楷体_GB2312" pitchFamily="49" charset="-122"/>
              </a:rPr>
              <a:t>S</a:t>
            </a:r>
            <a:r>
              <a:rPr lang="zh-CN" altLang="en-US" sz="3200">
                <a:solidFill>
                  <a:srgbClr val="000000"/>
                </a:solidFill>
                <a:latin typeface="楷体_GB2312" pitchFamily="49" charset="-122"/>
                <a:ea typeface="楷体_GB2312" pitchFamily="49" charset="-122"/>
              </a:rPr>
              <a:t>用定点小数来表示，阶值</a:t>
            </a:r>
            <a:r>
              <a:rPr lang="en-US" altLang="zh-CN" sz="3200">
                <a:solidFill>
                  <a:srgbClr val="000000"/>
                </a:solidFill>
                <a:latin typeface="楷体_GB2312" pitchFamily="49" charset="-122"/>
                <a:ea typeface="楷体_GB2312" pitchFamily="49" charset="-122"/>
              </a:rPr>
              <a:t>N</a:t>
            </a:r>
            <a:r>
              <a:rPr lang="zh-CN" altLang="en-US" sz="3200">
                <a:solidFill>
                  <a:srgbClr val="000000"/>
                </a:solidFill>
                <a:latin typeface="楷体_GB2312" pitchFamily="49" charset="-122"/>
                <a:ea typeface="楷体_GB2312" pitchFamily="49" charset="-122"/>
              </a:rPr>
              <a:t>用定点整数表示。</a:t>
            </a:r>
            <a:endParaRPr lang="en-US" altLang="zh-CN" sz="3200">
              <a:solidFill>
                <a:srgbClr val="000000"/>
              </a:solidFill>
              <a:latin typeface="楷体_GB2312" pitchFamily="49" charset="-122"/>
              <a:ea typeface="楷体_GB2312" pitchFamily="49" charset="-122"/>
            </a:endParaRPr>
          </a:p>
          <a:p>
            <a:pPr algn="l"/>
            <a:endParaRPr lang="en-US" altLang="zh-CN" sz="320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98758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1"/>
          <p:cNvSpPr>
            <a:spLocks noChangeArrowheads="1"/>
          </p:cNvSpPr>
          <p:nvPr/>
        </p:nvSpPr>
        <p:spPr bwMode="auto">
          <a:xfrm>
            <a:off x="1043608" y="1484784"/>
            <a:ext cx="735806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根据</a:t>
            </a:r>
            <a:r>
              <a:rPr lang="en-US" altLang="zh-CN" sz="3200" dirty="0">
                <a:solidFill>
                  <a:schemeClr val="tx2"/>
                </a:solidFill>
                <a:latin typeface="楷体_GB2312" pitchFamily="49" charset="-122"/>
                <a:ea typeface="楷体_GB2312" pitchFamily="49" charset="-122"/>
              </a:rPr>
              <a:t>IEEE 754</a:t>
            </a:r>
            <a:r>
              <a:rPr lang="zh-CN" altLang="en-US" sz="3200" dirty="0">
                <a:solidFill>
                  <a:schemeClr val="tx2"/>
                </a:solidFill>
                <a:latin typeface="楷体_GB2312" pitchFamily="49" charset="-122"/>
                <a:ea typeface="楷体_GB2312" pitchFamily="49" charset="-122"/>
              </a:rPr>
              <a:t>国际标准，常用的浮点数有两种格式：</a:t>
            </a:r>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(1) </a:t>
            </a:r>
            <a:r>
              <a:rPr lang="zh-CN" altLang="en-US" sz="3200" dirty="0">
                <a:solidFill>
                  <a:schemeClr val="tx2"/>
                </a:solidFill>
                <a:latin typeface="楷体_GB2312" pitchFamily="49" charset="-122"/>
                <a:ea typeface="楷体_GB2312" pitchFamily="49" charset="-122"/>
              </a:rPr>
              <a:t>单精度浮点数</a:t>
            </a:r>
            <a:r>
              <a:rPr lang="en-US" altLang="zh-CN" sz="3200" dirty="0">
                <a:solidFill>
                  <a:schemeClr val="tx2"/>
                </a:solidFill>
                <a:latin typeface="楷体_GB2312" pitchFamily="49" charset="-122"/>
                <a:ea typeface="楷体_GB2312" pitchFamily="49" charset="-122"/>
              </a:rPr>
              <a:t>(32</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，阶码</a:t>
            </a:r>
            <a:r>
              <a:rPr lang="en-US" altLang="zh-CN" sz="3200" dirty="0">
                <a:solidFill>
                  <a:schemeClr val="tx2"/>
                </a:solidFill>
                <a:latin typeface="楷体_GB2312" pitchFamily="49" charset="-122"/>
                <a:ea typeface="楷体_GB2312" pitchFamily="49" charset="-122"/>
              </a:rPr>
              <a:t>N</a:t>
            </a:r>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8</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内含</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位符号位</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，尾数</a:t>
            </a:r>
            <a:r>
              <a:rPr lang="en-US" altLang="zh-CN" sz="3200" dirty="0">
                <a:solidFill>
                  <a:schemeClr val="tx2"/>
                </a:solidFill>
                <a:latin typeface="楷体_GB2312" pitchFamily="49" charset="-122"/>
                <a:ea typeface="楷体_GB2312" pitchFamily="49" charset="-122"/>
              </a:rPr>
              <a:t>S</a:t>
            </a:r>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24</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内含</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位符号位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a:t>
            </a:r>
          </a:p>
          <a:p>
            <a:pPr algn="l" eaLnBrk="1" hangingPunct="1"/>
            <a:r>
              <a:rPr lang="en-US" altLang="zh-CN" sz="3200" dirty="0">
                <a:solidFill>
                  <a:schemeClr val="tx2"/>
                </a:solidFill>
                <a:latin typeface="楷体_GB2312" pitchFamily="49" charset="-122"/>
                <a:ea typeface="楷体_GB2312" pitchFamily="49" charset="-122"/>
              </a:rPr>
              <a:t>(2) </a:t>
            </a:r>
            <a:r>
              <a:rPr lang="zh-CN" altLang="en-US" sz="3200" dirty="0">
                <a:solidFill>
                  <a:schemeClr val="tx2"/>
                </a:solidFill>
                <a:latin typeface="楷体_GB2312" pitchFamily="49" charset="-122"/>
                <a:ea typeface="楷体_GB2312" pitchFamily="49" charset="-122"/>
              </a:rPr>
              <a:t>双精度浮点数</a:t>
            </a:r>
            <a:r>
              <a:rPr lang="en-US" altLang="zh-CN" sz="3200" dirty="0">
                <a:solidFill>
                  <a:schemeClr val="tx2"/>
                </a:solidFill>
                <a:latin typeface="楷体_GB2312" pitchFamily="49" charset="-122"/>
                <a:ea typeface="楷体_GB2312" pitchFamily="49" charset="-122"/>
              </a:rPr>
              <a:t>(64</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，阶码</a:t>
            </a:r>
            <a:r>
              <a:rPr lang="en-US" altLang="zh-CN" sz="3200" dirty="0">
                <a:solidFill>
                  <a:schemeClr val="tx2"/>
                </a:solidFill>
                <a:latin typeface="楷体_GB2312" pitchFamily="49" charset="-122"/>
                <a:ea typeface="楷体_GB2312" pitchFamily="49" charset="-122"/>
              </a:rPr>
              <a:t>N</a:t>
            </a:r>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11</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内含</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位符号位</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，尾数</a:t>
            </a:r>
            <a:r>
              <a:rPr lang="en-US" altLang="zh-CN" sz="3200" dirty="0">
                <a:solidFill>
                  <a:schemeClr val="tx2"/>
                </a:solidFill>
                <a:latin typeface="楷体_GB2312" pitchFamily="49" charset="-122"/>
                <a:ea typeface="楷体_GB2312" pitchFamily="49" charset="-122"/>
              </a:rPr>
              <a:t>S</a:t>
            </a:r>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53</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内含</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位符号位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1230767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722" name="矩形 1"/>
              <p:cNvSpPr>
                <a:spLocks noChangeArrowheads="1"/>
              </p:cNvSpPr>
              <p:nvPr/>
            </p:nvSpPr>
            <p:spPr bwMode="auto">
              <a:xfrm>
                <a:off x="1000125" y="1500188"/>
                <a:ext cx="7358063" cy="30581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单精度数：</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FF0000"/>
                    </a:solidFill>
                    <a:latin typeface="楷体_GB2312" pitchFamily="49" charset="-122"/>
                    <a:ea typeface="楷体_GB2312" pitchFamily="49" charset="-122"/>
                  </a:rPr>
                  <a:t>最小值</a:t>
                </a:r>
                <a:r>
                  <a:rPr lang="zh-CN" altLang="en-US" sz="3200" dirty="0">
                    <a:solidFill>
                      <a:schemeClr val="tx2"/>
                    </a:solidFill>
                    <a:latin typeface="楷体_GB2312" pitchFamily="49" charset="-122"/>
                    <a:ea typeface="楷体_GB2312" pitchFamily="49" charset="-122"/>
                  </a:rPr>
                  <a:t>：阶值最大，尾数最小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阶值最大为</a:t>
                </a:r>
                <a:r>
                  <a:rPr lang="en-US" altLang="zh-CN" sz="3200" dirty="0">
                    <a:solidFill>
                      <a:schemeClr val="tx2"/>
                    </a:solidFill>
                    <a:latin typeface="楷体_GB2312" pitchFamily="49" charset="-122"/>
                    <a:ea typeface="楷体_GB2312" pitchFamily="49" charset="-122"/>
                  </a:rPr>
                  <a:t>01111111=127</a:t>
                </a:r>
              </a:p>
              <a:p>
                <a:pPr algn="l" eaLnBrk="1" hangingPunct="1"/>
                <a:r>
                  <a:rPr lang="zh-CN" altLang="en-US" sz="3200" dirty="0">
                    <a:solidFill>
                      <a:schemeClr val="tx2"/>
                    </a:solidFill>
                    <a:latin typeface="楷体_GB2312" pitchFamily="49" charset="-122"/>
                    <a:ea typeface="楷体_GB2312" pitchFamily="49" charset="-122"/>
                  </a:rPr>
                  <a:t>尾数最小为</a:t>
                </a:r>
                <a:r>
                  <a:rPr lang="en-US" altLang="zh-CN" sz="3200" dirty="0">
                    <a:solidFill>
                      <a:schemeClr val="tx2"/>
                    </a:solidFill>
                    <a:latin typeface="楷体_GB2312" pitchFamily="49" charset="-122"/>
                    <a:ea typeface="楷体_GB2312" pitchFamily="49" charset="-122"/>
                  </a:rPr>
                  <a:t>0xffffff=-1(</a:t>
                </a:r>
                <a:r>
                  <a:rPr lang="zh-CN" altLang="en-US" sz="3200" dirty="0">
                    <a:solidFill>
                      <a:schemeClr val="tx2"/>
                    </a:solidFill>
                    <a:latin typeface="楷体_GB2312" pitchFamily="49" charset="-122"/>
                    <a:ea typeface="楷体_GB2312" pitchFamily="49" charset="-122"/>
                  </a:rPr>
                  <a:t>除最高位为符号位，其余都是小数位</a:t>
                </a:r>
                <a:r>
                  <a:rPr lang="en-US" altLang="zh-CN" sz="3200" dirty="0">
                    <a:solidFill>
                      <a:schemeClr val="tx2"/>
                    </a:solidFill>
                    <a:latin typeface="楷体_GB2312" pitchFamily="49" charset="-122"/>
                    <a:ea typeface="楷体_GB2312" pitchFamily="49" charset="-122"/>
                  </a:rPr>
                  <a:t>)</a:t>
                </a:r>
              </a:p>
              <a:p>
                <a:pPr eaLnBrk="1" hangingPunct="1"/>
                <a:r>
                  <a:rPr lang="zh-CN" altLang="en-US" sz="3200" dirty="0">
                    <a:solidFill>
                      <a:schemeClr val="tx2"/>
                    </a:solidFill>
                    <a:latin typeface="楷体_GB2312" pitchFamily="49" charset="-122"/>
                    <a:ea typeface="楷体_GB2312" pitchFamily="49" charset="-122"/>
                  </a:rPr>
                  <a:t>所以单精度数最小值为</a:t>
                </a:r>
                <a14:m>
                  <m:oMath xmlns:m="http://schemas.openxmlformats.org/officeDocument/2006/math">
                    <m:r>
                      <a:rPr lang="en-US" altLang="zh-CN" sz="3200"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𝟏𝟐𝟕</m:t>
                        </m:r>
                      </m:sup>
                    </m:sSup>
                  </m:oMath>
                </a14:m>
                <a:endParaRPr lang="en-US" altLang="zh-CN" sz="3200" dirty="0">
                  <a:solidFill>
                    <a:schemeClr val="tx2"/>
                  </a:solidFill>
                  <a:latin typeface="楷体_GB2312" pitchFamily="49" charset="-122"/>
                  <a:ea typeface="楷体_GB2312" pitchFamily="49" charset="-122"/>
                </a:endParaRPr>
              </a:p>
            </p:txBody>
          </p:sp>
        </mc:Choice>
        <mc:Fallback xmlns="">
          <p:sp>
            <p:nvSpPr>
              <p:cNvPr id="30722" name="矩形 1"/>
              <p:cNvSpPr>
                <a:spLocks noRot="1" noChangeAspect="1" noMove="1" noResize="1" noEditPoints="1" noAdjustHandles="1" noChangeArrowheads="1" noChangeShapeType="1" noTextEdit="1"/>
              </p:cNvSpPr>
              <p:nvPr/>
            </p:nvSpPr>
            <p:spPr bwMode="auto">
              <a:xfrm>
                <a:off x="1000125" y="1500188"/>
                <a:ext cx="7358063" cy="3058145"/>
              </a:xfrm>
              <a:prstGeom prst="rect">
                <a:avLst/>
              </a:prstGeom>
              <a:blipFill rotWithShape="1">
                <a:blip r:embed="rId3"/>
                <a:stretch>
                  <a:fillRect l="-2071" t="-2590" b="-47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2140022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722" name="矩形 1"/>
              <p:cNvSpPr>
                <a:spLocks noChangeArrowheads="1"/>
              </p:cNvSpPr>
              <p:nvPr/>
            </p:nvSpPr>
            <p:spPr bwMode="auto">
              <a:xfrm>
                <a:off x="1109662" y="1446184"/>
                <a:ext cx="7358063" cy="50613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单精度</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rgbClr val="FF0000"/>
                    </a:solidFill>
                    <a:latin typeface="楷体_GB2312" pitchFamily="49" charset="-122"/>
                    <a:ea typeface="楷体_GB2312" pitchFamily="49" charset="-122"/>
                  </a:rPr>
                  <a:t>最大值</a:t>
                </a:r>
                <a:r>
                  <a:rPr lang="zh-CN" altLang="en-US" sz="3200" dirty="0">
                    <a:solidFill>
                      <a:schemeClr val="tx2"/>
                    </a:solidFill>
                    <a:latin typeface="楷体_GB2312" pitchFamily="49" charset="-122"/>
                    <a:ea typeface="楷体_GB2312" pitchFamily="49" charset="-122"/>
                  </a:rPr>
                  <a:t>：阶值最大，尾数最大</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阶值最大为</a:t>
                </a:r>
                <a:r>
                  <a:rPr lang="en-US" altLang="zh-CN" sz="3200" dirty="0">
                    <a:solidFill>
                      <a:schemeClr val="tx2"/>
                    </a:solidFill>
                    <a:latin typeface="楷体_GB2312" pitchFamily="49" charset="-122"/>
                    <a:ea typeface="楷体_GB2312" pitchFamily="49" charset="-122"/>
                  </a:rPr>
                  <a:t>01111111=127</a:t>
                </a:r>
              </a:p>
              <a:p>
                <a:pPr eaLnBrk="1" hangingPunct="1"/>
                <a:r>
                  <a:rPr lang="zh-CN" altLang="en-US" sz="3200" dirty="0">
                    <a:solidFill>
                      <a:schemeClr val="tx2"/>
                    </a:solidFill>
                    <a:latin typeface="楷体_GB2312" pitchFamily="49" charset="-122"/>
                    <a:ea typeface="楷体_GB2312" pitchFamily="49" charset="-122"/>
                  </a:rPr>
                  <a:t>尾数最大为</a:t>
                </a:r>
                <a:r>
                  <a:rPr lang="en-US" altLang="zh-CN" sz="3200" dirty="0">
                    <a:solidFill>
                      <a:schemeClr val="tx2"/>
                    </a:solidFill>
                    <a:latin typeface="楷体_GB2312" pitchFamily="49" charset="-122"/>
                    <a:ea typeface="楷体_GB2312" pitchFamily="49" charset="-122"/>
                  </a:rPr>
                  <a:t>0x7fffff=</a:t>
                </a:r>
                <a14:m>
                  <m:oMath xmlns:m="http://schemas.openxmlformats.org/officeDocument/2006/math">
                    <m:r>
                      <a:rPr lang="en-US" altLang="zh-CN" sz="3200" i="1" dirty="0">
                        <a:solidFill>
                          <a:schemeClr val="tx2"/>
                        </a:solidFill>
                        <a:latin typeface="Cambria Math"/>
                        <a:ea typeface="楷体_GB2312" pitchFamily="49" charset="-122"/>
                      </a:rPr>
                      <m:t>𝟏</m:t>
                    </m:r>
                    <m:r>
                      <a:rPr lang="en-US" altLang="zh-CN" sz="3200" i="1"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m:t>
                        </m:r>
                        <m:r>
                          <a:rPr lang="en-US" altLang="zh-CN" sz="3200" i="1" dirty="0">
                            <a:solidFill>
                              <a:schemeClr val="tx2"/>
                            </a:solidFill>
                            <a:latin typeface="Cambria Math"/>
                            <a:ea typeface="楷体_GB2312" pitchFamily="49" charset="-122"/>
                          </a:rPr>
                          <m:t>𝟐𝟑</m:t>
                        </m:r>
                      </m:sup>
                    </m:sSup>
                  </m:oMath>
                </a14:m>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除最高位为符号位，其余都是小数位</a:t>
                </a:r>
                <a:r>
                  <a:rPr lang="en-US" altLang="zh-CN" sz="3200" dirty="0">
                    <a:solidFill>
                      <a:schemeClr val="tx2"/>
                    </a:solidFill>
                    <a:latin typeface="楷体_GB2312" pitchFamily="49" charset="-122"/>
                    <a:ea typeface="楷体_GB2312" pitchFamily="49" charset="-122"/>
                  </a:rPr>
                  <a:t>)</a:t>
                </a:r>
              </a:p>
              <a:p>
                <a:pPr eaLnBrk="1" hangingPunct="1"/>
                <a:r>
                  <a:rPr lang="zh-CN" altLang="en-US" sz="3200" dirty="0">
                    <a:solidFill>
                      <a:schemeClr val="tx2"/>
                    </a:solidFill>
                    <a:latin typeface="楷体_GB2312" pitchFamily="49" charset="-122"/>
                    <a:ea typeface="楷体_GB2312" pitchFamily="49" charset="-122"/>
                  </a:rPr>
                  <a:t>所以单精度数最大值为</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ea typeface="楷体_GB2312" pitchFamily="49" charset="-122"/>
                  </a:rPr>
                  <a:t>（</a:t>
                </a:r>
                <a14:m>
                  <m:oMath xmlns:m="http://schemas.openxmlformats.org/officeDocument/2006/math">
                    <m:r>
                      <a:rPr lang="en-US" altLang="zh-CN" sz="3200" i="1" dirty="0">
                        <a:solidFill>
                          <a:schemeClr val="tx2"/>
                        </a:solidFill>
                        <a:latin typeface="Cambria Math"/>
                        <a:ea typeface="楷体_GB2312" pitchFamily="49" charset="-122"/>
                      </a:rPr>
                      <m:t>𝟏</m:t>
                    </m:r>
                    <m:r>
                      <a:rPr lang="en-US" altLang="zh-CN" sz="3200" i="1"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m:t>
                        </m:r>
                        <m:r>
                          <a:rPr lang="en-US" altLang="zh-CN" sz="3200" i="1" dirty="0">
                            <a:solidFill>
                              <a:schemeClr val="tx2"/>
                            </a:solidFill>
                            <a:latin typeface="Cambria Math"/>
                            <a:ea typeface="楷体_GB2312" pitchFamily="49" charset="-122"/>
                          </a:rPr>
                          <m:t>𝟐𝟑</m:t>
                        </m:r>
                      </m:sup>
                    </m:sSup>
                    <m:r>
                      <a:rPr lang="zh-CN" altLang="en-US" sz="3200" b="1" i="1" dirty="0" smtClean="0">
                        <a:solidFill>
                          <a:schemeClr val="tx2"/>
                        </a:solidFill>
                        <a:latin typeface="Cambria Math"/>
                        <a:ea typeface="楷体_GB2312" pitchFamily="49" charset="-122"/>
                      </a:rPr>
                      <m:t>）</m:t>
                    </m:r>
                    <m:r>
                      <a:rPr lang="en-US" altLang="zh-CN" sz="3200" i="1" dirty="0">
                        <a:solidFill>
                          <a:schemeClr val="tx2"/>
                        </a:solidFill>
                        <a:latin typeface="Cambria Math"/>
                        <a:ea typeface="Cambria Math"/>
                      </a:rPr>
                      <m:t>×</m:t>
                    </m:r>
                    <m:sSup>
                      <m:sSupPr>
                        <m:ctrlPr>
                          <a:rPr lang="en-US" altLang="zh-CN" sz="3200" i="1" dirty="0">
                            <a:solidFill>
                              <a:schemeClr val="tx2"/>
                            </a:solidFill>
                            <a:latin typeface="Cambria Math" panose="02040503050406030204" pitchFamily="18" charset="0"/>
                            <a:ea typeface="Cambria Math"/>
                          </a:rPr>
                        </m:ctrlPr>
                      </m:sSupPr>
                      <m:e>
                        <m:r>
                          <a:rPr lang="en-US" altLang="zh-CN" sz="3200" i="1" dirty="0">
                            <a:solidFill>
                              <a:schemeClr val="tx2"/>
                            </a:solidFill>
                            <a:latin typeface="Cambria Math"/>
                            <a:ea typeface="Cambria Math"/>
                          </a:rPr>
                          <m:t>𝟐</m:t>
                        </m:r>
                      </m:e>
                      <m:sup>
                        <m:r>
                          <a:rPr lang="en-US" altLang="zh-CN" sz="3200" i="1" dirty="0">
                            <a:solidFill>
                              <a:schemeClr val="tx2"/>
                            </a:solidFill>
                            <a:latin typeface="Cambria Math"/>
                            <a:ea typeface="Cambria Math"/>
                          </a:rPr>
                          <m:t>𝟏𝟐𝟕</m:t>
                        </m:r>
                      </m:sup>
                    </m:sSup>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所以单精度数表示范围是：</a:t>
                </a:r>
                <a:endParaRPr lang="en-US" altLang="zh-CN" sz="3200" dirty="0">
                  <a:solidFill>
                    <a:schemeClr val="tx2"/>
                  </a:solidFill>
                  <a:latin typeface="楷体_GB2312" pitchFamily="49" charset="-122"/>
                  <a:ea typeface="楷体_GB2312" pitchFamily="49" charset="-122"/>
                </a:endParaRPr>
              </a:p>
              <a:p>
                <a:pPr algn="l" eaLnBrk="1" hangingPunct="1"/>
                <a14:m>
                  <m:oMathPara xmlns:m="http://schemas.openxmlformats.org/officeDocument/2006/math">
                    <m:oMathParaPr>
                      <m:jc m:val="centerGroup"/>
                    </m:oMathParaPr>
                    <m:oMath xmlns:m="http://schemas.openxmlformats.org/officeDocument/2006/math">
                      <m:r>
                        <a:rPr lang="en-US" altLang="zh-CN" sz="3200" dirty="0">
                          <a:solidFill>
                            <a:schemeClr val="tx2"/>
                          </a:solidFill>
                          <a:latin typeface="Cambria Math"/>
                          <a:ea typeface="楷体_GB2312" pitchFamily="49" charset="-122"/>
                        </a:rPr>
                        <m:t>−</m:t>
                      </m:r>
                      <m:sSup>
                        <m:sSupPr>
                          <m:ctrlPr>
                            <a:rPr lang="en-US" altLang="zh-CN" sz="3200" i="1" dirty="0" smtClean="0">
                              <a:solidFill>
                                <a:schemeClr val="tx2"/>
                              </a:solidFill>
                              <a:latin typeface="Cambria Math" panose="02040503050406030204" pitchFamily="18" charset="0"/>
                              <a:ea typeface="楷体_GB2312" pitchFamily="49" charset="-122"/>
                            </a:rPr>
                          </m:ctrlPr>
                        </m:sSupPr>
                        <m:e>
                          <m:r>
                            <a:rPr lang="en-US" altLang="zh-CN" sz="3200" b="1" i="1" dirty="0" smtClean="0">
                              <a:solidFill>
                                <a:schemeClr val="tx2"/>
                              </a:solidFill>
                              <a:latin typeface="Cambria Math"/>
                              <a:ea typeface="楷体_GB2312" pitchFamily="49" charset="-122"/>
                            </a:rPr>
                            <m:t>𝟐</m:t>
                          </m:r>
                        </m:e>
                        <m:sup>
                          <m:r>
                            <a:rPr lang="en-US" altLang="zh-CN" sz="3200" b="1" i="1" dirty="0" smtClean="0">
                              <a:solidFill>
                                <a:schemeClr val="tx2"/>
                              </a:solidFill>
                              <a:latin typeface="Cambria Math"/>
                              <a:ea typeface="楷体_GB2312" pitchFamily="49" charset="-122"/>
                            </a:rPr>
                            <m:t>𝟏𝟐𝟕</m:t>
                          </m:r>
                        </m:sup>
                      </m:sSup>
                      <m:r>
                        <a:rPr lang="en-US" altLang="zh-CN" sz="3200" b="1" i="1" dirty="0" smtClean="0">
                          <a:solidFill>
                            <a:schemeClr val="tx2"/>
                          </a:solidFill>
                          <a:latin typeface="Cambria Math"/>
                          <a:ea typeface="楷体_GB2312" pitchFamily="49" charset="-122"/>
                        </a:rPr>
                        <m:t>~</m:t>
                      </m:r>
                      <m:r>
                        <a:rPr lang="zh-CN" altLang="en-US" sz="3200" b="1" i="1" dirty="0" smtClean="0">
                          <a:solidFill>
                            <a:schemeClr val="tx2"/>
                          </a:solidFill>
                          <a:latin typeface="Cambria Math"/>
                          <a:ea typeface="楷体_GB2312" pitchFamily="49" charset="-122"/>
                        </a:rPr>
                        <m:t>（</m:t>
                      </m:r>
                      <m:r>
                        <a:rPr lang="en-US" altLang="zh-CN" sz="3200" b="1" i="1" dirty="0" smtClean="0">
                          <a:solidFill>
                            <a:schemeClr val="tx2"/>
                          </a:solidFill>
                          <a:latin typeface="Cambria Math"/>
                          <a:ea typeface="楷体_GB2312" pitchFamily="49" charset="-122"/>
                        </a:rPr>
                        <m:t>𝟏</m:t>
                      </m:r>
                      <m:r>
                        <a:rPr lang="en-US" altLang="zh-CN" sz="3200" b="1" i="1" dirty="0" smtClean="0">
                          <a:solidFill>
                            <a:schemeClr val="tx2"/>
                          </a:solidFill>
                          <a:latin typeface="Cambria Math"/>
                          <a:ea typeface="楷体_GB2312" pitchFamily="49" charset="-122"/>
                        </a:rPr>
                        <m:t>−</m:t>
                      </m:r>
                      <m:sSup>
                        <m:sSupPr>
                          <m:ctrlPr>
                            <a:rPr lang="en-US" altLang="zh-CN" sz="3200" b="1" i="1" dirty="0" smtClean="0">
                              <a:solidFill>
                                <a:schemeClr val="tx2"/>
                              </a:solidFill>
                              <a:latin typeface="Cambria Math" panose="02040503050406030204" pitchFamily="18" charset="0"/>
                              <a:ea typeface="楷体_GB2312" pitchFamily="49" charset="-122"/>
                            </a:rPr>
                          </m:ctrlPr>
                        </m:sSupPr>
                        <m:e>
                          <m:r>
                            <a:rPr lang="en-US" altLang="zh-CN" sz="3200" b="1" i="1" dirty="0" smtClean="0">
                              <a:solidFill>
                                <a:schemeClr val="tx2"/>
                              </a:solidFill>
                              <a:latin typeface="Cambria Math"/>
                              <a:ea typeface="楷体_GB2312" pitchFamily="49" charset="-122"/>
                            </a:rPr>
                            <m:t>𝟐</m:t>
                          </m:r>
                        </m:e>
                        <m:sup>
                          <m:r>
                            <a:rPr lang="en-US" altLang="zh-CN" sz="3200" b="1" i="1" dirty="0" smtClean="0">
                              <a:solidFill>
                                <a:schemeClr val="tx2"/>
                              </a:solidFill>
                              <a:latin typeface="Cambria Math"/>
                              <a:ea typeface="楷体_GB2312" pitchFamily="49" charset="-122"/>
                            </a:rPr>
                            <m:t>−</m:t>
                          </m:r>
                          <m:r>
                            <a:rPr lang="en-US" altLang="zh-CN" sz="3200" b="1" i="1" dirty="0" smtClean="0">
                              <a:solidFill>
                                <a:schemeClr val="tx2"/>
                              </a:solidFill>
                              <a:latin typeface="Cambria Math"/>
                              <a:ea typeface="楷体_GB2312" pitchFamily="49" charset="-122"/>
                            </a:rPr>
                            <m:t>𝟐𝟑</m:t>
                          </m:r>
                        </m:sup>
                      </m:sSup>
                      <m:r>
                        <a:rPr lang="zh-CN" altLang="en-US" sz="3200" b="1" i="1" dirty="0" smtClean="0">
                          <a:solidFill>
                            <a:schemeClr val="tx2"/>
                          </a:solidFill>
                          <a:latin typeface="Cambria Math"/>
                          <a:ea typeface="楷体_GB2312" pitchFamily="49" charset="-122"/>
                        </a:rPr>
                        <m:t>）</m:t>
                      </m:r>
                      <m:r>
                        <a:rPr lang="en-US" altLang="zh-CN" sz="3200" b="1" i="1" dirty="0" smtClean="0">
                          <a:solidFill>
                            <a:schemeClr val="tx2"/>
                          </a:solidFill>
                          <a:latin typeface="Cambria Math"/>
                          <a:ea typeface="Cambria Math"/>
                        </a:rPr>
                        <m:t>×</m:t>
                      </m:r>
                      <m:sSup>
                        <m:sSupPr>
                          <m:ctrlPr>
                            <a:rPr lang="en-US" altLang="zh-CN" sz="3200" b="1" i="1" dirty="0" smtClean="0">
                              <a:solidFill>
                                <a:schemeClr val="tx2"/>
                              </a:solidFill>
                              <a:latin typeface="Cambria Math" panose="02040503050406030204" pitchFamily="18" charset="0"/>
                              <a:ea typeface="Cambria Math"/>
                            </a:rPr>
                          </m:ctrlPr>
                        </m:sSupPr>
                        <m:e>
                          <m:r>
                            <a:rPr lang="en-US" altLang="zh-CN" sz="3200" b="1" i="1" dirty="0" smtClean="0">
                              <a:solidFill>
                                <a:schemeClr val="tx2"/>
                              </a:solidFill>
                              <a:latin typeface="Cambria Math"/>
                              <a:ea typeface="Cambria Math"/>
                            </a:rPr>
                            <m:t>𝟐</m:t>
                          </m:r>
                        </m:e>
                        <m:sup>
                          <m:r>
                            <a:rPr lang="en-US" altLang="zh-CN" sz="3200" b="1" i="1" dirty="0" smtClean="0">
                              <a:solidFill>
                                <a:schemeClr val="tx2"/>
                              </a:solidFill>
                              <a:latin typeface="Cambria Math"/>
                              <a:ea typeface="Cambria Math"/>
                            </a:rPr>
                            <m:t>𝟏𝟐𝟕</m:t>
                          </m:r>
                        </m:sup>
                      </m:sSup>
                    </m:oMath>
                  </m:oMathPara>
                </a14:m>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mc:Choice>
        <mc:Fallback xmlns="">
          <p:sp>
            <p:nvSpPr>
              <p:cNvPr id="30722" name="矩形 1"/>
              <p:cNvSpPr>
                <a:spLocks noRot="1" noChangeAspect="1" noMove="1" noResize="1" noEditPoints="1" noAdjustHandles="1" noChangeArrowheads="1" noChangeShapeType="1" noTextEdit="1"/>
              </p:cNvSpPr>
              <p:nvPr/>
            </p:nvSpPr>
            <p:spPr bwMode="auto">
              <a:xfrm>
                <a:off x="1109662" y="1446184"/>
                <a:ext cx="7358063" cy="5061386"/>
              </a:xfrm>
              <a:prstGeom prst="rect">
                <a:avLst/>
              </a:prstGeom>
              <a:blipFill>
                <a:blip r:embed="rId3"/>
                <a:stretch>
                  <a:fillRect l="-2071" t="-15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2521156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722" name="矩形 1"/>
              <p:cNvSpPr>
                <a:spLocks noChangeArrowheads="1"/>
              </p:cNvSpPr>
              <p:nvPr/>
            </p:nvSpPr>
            <p:spPr bwMode="auto">
              <a:xfrm>
                <a:off x="1000125" y="1500188"/>
                <a:ext cx="7358063" cy="30581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双精度数：</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FF0000"/>
                    </a:solidFill>
                    <a:latin typeface="楷体_GB2312" pitchFamily="49" charset="-122"/>
                    <a:ea typeface="楷体_GB2312" pitchFamily="49" charset="-122"/>
                  </a:rPr>
                  <a:t>最小值</a:t>
                </a:r>
                <a:r>
                  <a:rPr lang="zh-CN" altLang="en-US" sz="3200" dirty="0">
                    <a:solidFill>
                      <a:schemeClr val="tx2"/>
                    </a:solidFill>
                    <a:latin typeface="楷体_GB2312" pitchFamily="49" charset="-122"/>
                    <a:ea typeface="楷体_GB2312" pitchFamily="49" charset="-122"/>
                  </a:rPr>
                  <a:t>：阶值最大，尾数最小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阶值最大为</a:t>
                </a:r>
                <a:r>
                  <a:rPr lang="en-US" altLang="zh-CN" sz="3200" dirty="0">
                    <a:solidFill>
                      <a:schemeClr val="tx2"/>
                    </a:solidFill>
                    <a:latin typeface="楷体_GB2312" pitchFamily="49" charset="-122"/>
                    <a:ea typeface="楷体_GB2312" pitchFamily="49" charset="-122"/>
                  </a:rPr>
                  <a:t>0x3ff=1023</a:t>
                </a:r>
              </a:p>
              <a:p>
                <a:pPr algn="l" eaLnBrk="1" hangingPunct="1"/>
                <a:r>
                  <a:rPr lang="zh-CN" altLang="en-US" sz="3200" dirty="0">
                    <a:solidFill>
                      <a:schemeClr val="tx2"/>
                    </a:solidFill>
                    <a:latin typeface="楷体_GB2312" pitchFamily="49" charset="-122"/>
                    <a:ea typeface="楷体_GB2312" pitchFamily="49" charset="-122"/>
                  </a:rPr>
                  <a:t>尾数最小为</a:t>
                </a:r>
                <a:r>
                  <a:rPr lang="en-US" altLang="zh-CN" sz="3200" dirty="0">
                    <a:solidFill>
                      <a:schemeClr val="tx2"/>
                    </a:solidFill>
                    <a:latin typeface="楷体_GB2312" pitchFamily="49" charset="-122"/>
                    <a:ea typeface="楷体_GB2312" pitchFamily="49" charset="-122"/>
                  </a:rPr>
                  <a:t>0xffffff=-1(</a:t>
                </a:r>
                <a:r>
                  <a:rPr lang="zh-CN" altLang="en-US" sz="3200" dirty="0">
                    <a:solidFill>
                      <a:schemeClr val="tx2"/>
                    </a:solidFill>
                    <a:latin typeface="楷体_GB2312" pitchFamily="49" charset="-122"/>
                    <a:ea typeface="楷体_GB2312" pitchFamily="49" charset="-122"/>
                  </a:rPr>
                  <a:t>除最高位为符号位，其余都是小数位</a:t>
                </a:r>
                <a:r>
                  <a:rPr lang="en-US" altLang="zh-CN" sz="3200" dirty="0">
                    <a:solidFill>
                      <a:schemeClr val="tx2"/>
                    </a:solidFill>
                    <a:latin typeface="楷体_GB2312" pitchFamily="49" charset="-122"/>
                    <a:ea typeface="楷体_GB2312" pitchFamily="49" charset="-122"/>
                  </a:rPr>
                  <a:t>)</a:t>
                </a:r>
              </a:p>
              <a:p>
                <a:pPr eaLnBrk="1" hangingPunct="1"/>
                <a:r>
                  <a:rPr lang="zh-CN" altLang="en-US" sz="3200" dirty="0">
                    <a:solidFill>
                      <a:schemeClr val="tx2"/>
                    </a:solidFill>
                    <a:latin typeface="楷体_GB2312" pitchFamily="49" charset="-122"/>
                    <a:ea typeface="楷体_GB2312" pitchFamily="49" charset="-122"/>
                  </a:rPr>
                  <a:t>所以双精度数最小值为</a:t>
                </a:r>
                <a14:m>
                  <m:oMath xmlns:m="http://schemas.openxmlformats.org/officeDocument/2006/math">
                    <m:r>
                      <a:rPr lang="en-US" altLang="zh-CN" sz="3200"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b="1" i="1" dirty="0" smtClean="0">
                            <a:solidFill>
                              <a:schemeClr val="tx2"/>
                            </a:solidFill>
                            <a:latin typeface="Cambria Math"/>
                            <a:ea typeface="楷体_GB2312" pitchFamily="49" charset="-122"/>
                          </a:rPr>
                          <m:t>𝟏𝟎𝟐𝟑</m:t>
                        </m:r>
                      </m:sup>
                    </m:sSup>
                  </m:oMath>
                </a14:m>
                <a:endParaRPr lang="en-US" altLang="zh-CN" sz="3200" dirty="0">
                  <a:solidFill>
                    <a:schemeClr val="tx2"/>
                  </a:solidFill>
                  <a:latin typeface="楷体_GB2312" pitchFamily="49" charset="-122"/>
                  <a:ea typeface="楷体_GB2312" pitchFamily="49" charset="-122"/>
                </a:endParaRPr>
              </a:p>
            </p:txBody>
          </p:sp>
        </mc:Choice>
        <mc:Fallback>
          <p:sp>
            <p:nvSpPr>
              <p:cNvPr id="30722" name="矩形 1"/>
              <p:cNvSpPr>
                <a:spLocks noRot="1" noChangeAspect="1" noMove="1" noResize="1" noEditPoints="1" noAdjustHandles="1" noChangeArrowheads="1" noChangeShapeType="1" noTextEdit="1"/>
              </p:cNvSpPr>
              <p:nvPr/>
            </p:nvSpPr>
            <p:spPr bwMode="auto">
              <a:xfrm>
                <a:off x="1000125" y="1500188"/>
                <a:ext cx="7358063" cy="3058145"/>
              </a:xfrm>
              <a:prstGeom prst="rect">
                <a:avLst/>
              </a:prstGeom>
              <a:blipFill>
                <a:blip r:embed="rId3"/>
                <a:stretch>
                  <a:fillRect l="-2071" t="-2590" b="-55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1821326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722" name="矩形 1"/>
              <p:cNvSpPr>
                <a:spLocks noChangeArrowheads="1"/>
              </p:cNvSpPr>
              <p:nvPr/>
            </p:nvSpPr>
            <p:spPr bwMode="auto">
              <a:xfrm>
                <a:off x="1000125" y="1196752"/>
                <a:ext cx="7820347" cy="55426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双精度</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rgbClr val="FF0000"/>
                    </a:solidFill>
                    <a:latin typeface="楷体_GB2312" pitchFamily="49" charset="-122"/>
                    <a:ea typeface="楷体_GB2312" pitchFamily="49" charset="-122"/>
                  </a:rPr>
                  <a:t>最大值</a:t>
                </a:r>
                <a:r>
                  <a:rPr lang="zh-CN" altLang="en-US" sz="3200" dirty="0">
                    <a:solidFill>
                      <a:schemeClr val="tx2"/>
                    </a:solidFill>
                    <a:latin typeface="楷体_GB2312" pitchFamily="49" charset="-122"/>
                    <a:ea typeface="楷体_GB2312" pitchFamily="49" charset="-122"/>
                  </a:rPr>
                  <a:t>：阶值最大，尾数最大</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阶值最大为</a:t>
                </a:r>
                <a:r>
                  <a:rPr lang="en-US" altLang="zh-CN" sz="3200" dirty="0">
                    <a:solidFill>
                      <a:schemeClr val="tx2"/>
                    </a:solidFill>
                    <a:latin typeface="楷体_GB2312" pitchFamily="49" charset="-122"/>
                    <a:ea typeface="楷体_GB2312" pitchFamily="49" charset="-122"/>
                  </a:rPr>
                  <a:t>0x3ff=1023</a:t>
                </a:r>
              </a:p>
              <a:p>
                <a:pPr eaLnBrk="1" hangingPunct="1"/>
                <a:r>
                  <a:rPr lang="zh-CN" altLang="en-US" sz="3200" dirty="0">
                    <a:solidFill>
                      <a:schemeClr val="tx2"/>
                    </a:solidFill>
                    <a:latin typeface="楷体_GB2312" pitchFamily="49" charset="-122"/>
                    <a:ea typeface="楷体_GB2312" pitchFamily="49" charset="-122"/>
                  </a:rPr>
                  <a:t>尾数最大为</a:t>
                </a:r>
                <a:r>
                  <a:rPr lang="en-US" altLang="zh-CN" sz="3200" dirty="0">
                    <a:solidFill>
                      <a:schemeClr val="tx2"/>
                    </a:solidFill>
                    <a:latin typeface="楷体_GB2312" pitchFamily="49" charset="-122"/>
                    <a:ea typeface="楷体_GB2312" pitchFamily="49" charset="-122"/>
                  </a:rPr>
                  <a:t>0x0fffffffffffff</a:t>
                </a:r>
              </a:p>
              <a:p>
                <a:pPr eaLnBrk="1" hangingPunct="1"/>
                <a:r>
                  <a:rPr lang="en-US" altLang="zh-CN" sz="3200" dirty="0">
                    <a:solidFill>
                      <a:schemeClr val="tx2"/>
                    </a:solidFill>
                    <a:latin typeface="楷体_GB2312" pitchFamily="49" charset="-122"/>
                    <a:ea typeface="楷体_GB2312" pitchFamily="49" charset="-122"/>
                  </a:rPr>
                  <a:t>=</a:t>
                </a:r>
                <a14:m>
                  <m:oMath xmlns:m="http://schemas.openxmlformats.org/officeDocument/2006/math">
                    <m:r>
                      <a:rPr lang="en-US" altLang="zh-CN" sz="3200" i="1" dirty="0">
                        <a:solidFill>
                          <a:schemeClr val="tx2"/>
                        </a:solidFill>
                        <a:latin typeface="Cambria Math"/>
                        <a:ea typeface="楷体_GB2312" pitchFamily="49" charset="-122"/>
                      </a:rPr>
                      <m:t>𝟏</m:t>
                    </m:r>
                    <m:r>
                      <a:rPr lang="en-US" altLang="zh-CN" sz="3200" i="1"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m:t>
                        </m:r>
                        <m:r>
                          <a:rPr lang="en-US" altLang="zh-CN" sz="3200" b="1" i="1" dirty="0" smtClean="0">
                            <a:solidFill>
                              <a:schemeClr val="tx2"/>
                            </a:solidFill>
                            <a:latin typeface="Cambria Math"/>
                            <a:ea typeface="楷体_GB2312" pitchFamily="49" charset="-122"/>
                          </a:rPr>
                          <m:t>𝟓</m:t>
                        </m:r>
                        <m:r>
                          <a:rPr lang="en-US" altLang="zh-CN" sz="3200" i="1" dirty="0">
                            <a:solidFill>
                              <a:schemeClr val="tx2"/>
                            </a:solidFill>
                            <a:latin typeface="Cambria Math"/>
                            <a:ea typeface="楷体_GB2312" pitchFamily="49" charset="-122"/>
                          </a:rPr>
                          <m:t>𝟑</m:t>
                        </m:r>
                      </m:sup>
                    </m:sSup>
                  </m:oMath>
                </a14:m>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除最高位为符号位，其余都是小数位</a:t>
                </a:r>
                <a:r>
                  <a:rPr lang="en-US" altLang="zh-CN" sz="3200" dirty="0">
                    <a:solidFill>
                      <a:schemeClr val="tx2"/>
                    </a:solidFill>
                    <a:latin typeface="楷体_GB2312" pitchFamily="49" charset="-122"/>
                    <a:ea typeface="楷体_GB2312" pitchFamily="49" charset="-122"/>
                  </a:rPr>
                  <a:t>)</a:t>
                </a:r>
              </a:p>
              <a:p>
                <a:pPr eaLnBrk="1" hangingPunct="1"/>
                <a:r>
                  <a:rPr lang="zh-CN" altLang="en-US" sz="3200" dirty="0">
                    <a:solidFill>
                      <a:schemeClr val="tx2"/>
                    </a:solidFill>
                    <a:latin typeface="楷体_GB2312" pitchFamily="49" charset="-122"/>
                    <a:ea typeface="楷体_GB2312" pitchFamily="49" charset="-122"/>
                  </a:rPr>
                  <a:t>所以双精度数最大值为</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ea typeface="楷体_GB2312" pitchFamily="49" charset="-122"/>
                  </a:rPr>
                  <a:t>（</a:t>
                </a:r>
                <a14:m>
                  <m:oMath xmlns:m="http://schemas.openxmlformats.org/officeDocument/2006/math">
                    <m:r>
                      <a:rPr lang="en-US" altLang="zh-CN" sz="3200" i="1" dirty="0">
                        <a:solidFill>
                          <a:schemeClr val="tx2"/>
                        </a:solidFill>
                        <a:latin typeface="Cambria Math"/>
                        <a:ea typeface="楷体_GB2312" pitchFamily="49" charset="-122"/>
                      </a:rPr>
                      <m:t>𝟏</m:t>
                    </m:r>
                    <m:r>
                      <a:rPr lang="en-US" altLang="zh-CN" sz="3200" i="1"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m:t>
                        </m:r>
                        <m:r>
                          <a:rPr lang="en-US" altLang="zh-CN" sz="3200" b="1" i="1" dirty="0" smtClean="0">
                            <a:solidFill>
                              <a:schemeClr val="tx2"/>
                            </a:solidFill>
                            <a:latin typeface="Cambria Math"/>
                            <a:ea typeface="楷体_GB2312" pitchFamily="49" charset="-122"/>
                          </a:rPr>
                          <m:t>𝟓</m:t>
                        </m:r>
                        <m:r>
                          <a:rPr lang="en-US" altLang="zh-CN" sz="3200" i="1" dirty="0">
                            <a:solidFill>
                              <a:schemeClr val="tx2"/>
                            </a:solidFill>
                            <a:latin typeface="Cambria Math"/>
                            <a:ea typeface="楷体_GB2312" pitchFamily="49" charset="-122"/>
                          </a:rPr>
                          <m:t>𝟑</m:t>
                        </m:r>
                      </m:sup>
                    </m:sSup>
                    <m:r>
                      <a:rPr lang="zh-CN" altLang="en-US" sz="3200" b="1" i="1" dirty="0" smtClean="0">
                        <a:solidFill>
                          <a:schemeClr val="tx2"/>
                        </a:solidFill>
                        <a:latin typeface="Cambria Math"/>
                        <a:ea typeface="楷体_GB2312" pitchFamily="49" charset="-122"/>
                      </a:rPr>
                      <m:t>）</m:t>
                    </m:r>
                    <m:r>
                      <a:rPr lang="en-US" altLang="zh-CN" sz="3200" i="1" dirty="0">
                        <a:solidFill>
                          <a:schemeClr val="tx2"/>
                        </a:solidFill>
                        <a:latin typeface="Cambria Math"/>
                        <a:ea typeface="Cambria Math"/>
                      </a:rPr>
                      <m:t>×</m:t>
                    </m:r>
                    <m:sSup>
                      <m:sSupPr>
                        <m:ctrlPr>
                          <a:rPr lang="en-US" altLang="zh-CN" sz="3200" i="1" dirty="0">
                            <a:solidFill>
                              <a:schemeClr val="tx2"/>
                            </a:solidFill>
                            <a:latin typeface="Cambria Math" panose="02040503050406030204" pitchFamily="18" charset="0"/>
                            <a:ea typeface="Cambria Math"/>
                          </a:rPr>
                        </m:ctrlPr>
                      </m:sSupPr>
                      <m:e>
                        <m:r>
                          <a:rPr lang="en-US" altLang="zh-CN" sz="3200" i="1" dirty="0">
                            <a:solidFill>
                              <a:schemeClr val="tx2"/>
                            </a:solidFill>
                            <a:latin typeface="Cambria Math"/>
                            <a:ea typeface="Cambria Math"/>
                          </a:rPr>
                          <m:t>𝟐</m:t>
                        </m:r>
                      </m:e>
                      <m:sup>
                        <m:r>
                          <a:rPr lang="en-US" altLang="zh-CN" sz="3200" i="1" dirty="0">
                            <a:solidFill>
                              <a:schemeClr val="tx2"/>
                            </a:solidFill>
                            <a:latin typeface="Cambria Math"/>
                            <a:ea typeface="Cambria Math"/>
                          </a:rPr>
                          <m:t>𝟏</m:t>
                        </m:r>
                        <m:r>
                          <a:rPr lang="en-US" altLang="zh-CN" sz="3200" b="1" i="1" dirty="0" smtClean="0">
                            <a:solidFill>
                              <a:schemeClr val="tx2"/>
                            </a:solidFill>
                            <a:latin typeface="Cambria Math"/>
                            <a:ea typeface="Cambria Math"/>
                          </a:rPr>
                          <m:t>𝟎𝟐𝟑</m:t>
                        </m:r>
                      </m:sup>
                    </m:sSup>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所以双精度数表示范围是：</a:t>
                </a:r>
                <a:endParaRPr lang="en-US" altLang="zh-CN" sz="3200" dirty="0">
                  <a:solidFill>
                    <a:schemeClr val="tx2"/>
                  </a:solidFill>
                  <a:latin typeface="楷体_GB2312" pitchFamily="49" charset="-122"/>
                  <a:ea typeface="楷体_GB2312" pitchFamily="49" charset="-122"/>
                </a:endParaRPr>
              </a:p>
              <a:p>
                <a:pPr eaLnBrk="1" hangingPunct="1"/>
                <a14:m>
                  <m:oMathPara xmlns:m="http://schemas.openxmlformats.org/officeDocument/2006/math">
                    <m:oMathParaPr>
                      <m:jc m:val="centerGroup"/>
                    </m:oMathParaPr>
                    <m:oMath xmlns:m="http://schemas.openxmlformats.org/officeDocument/2006/math">
                      <m:r>
                        <a:rPr lang="en-US" altLang="zh-CN" sz="3200"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𝟏𝟎𝟐𝟑</m:t>
                          </m:r>
                        </m:sup>
                      </m:sSup>
                      <m:r>
                        <a:rPr lang="en-US" altLang="zh-CN" sz="3200" i="1" dirty="0">
                          <a:solidFill>
                            <a:schemeClr val="tx2"/>
                          </a:solidFill>
                          <a:latin typeface="Cambria Math"/>
                          <a:ea typeface="楷体_GB2312" pitchFamily="49" charset="-122"/>
                        </a:rPr>
                        <m:t>~</m:t>
                      </m:r>
                      <m:r>
                        <a:rPr lang="zh-CN" altLang="en-US" sz="3200" i="1" dirty="0">
                          <a:solidFill>
                            <a:schemeClr val="tx2"/>
                          </a:solidFill>
                          <a:latin typeface="Cambria Math"/>
                          <a:ea typeface="楷体_GB2312" pitchFamily="49" charset="-122"/>
                        </a:rPr>
                        <m:t>（</m:t>
                      </m:r>
                      <m:r>
                        <a:rPr lang="en-US" altLang="zh-CN" sz="3200" i="1" dirty="0">
                          <a:solidFill>
                            <a:schemeClr val="tx2"/>
                          </a:solidFill>
                          <a:latin typeface="Cambria Math"/>
                          <a:ea typeface="楷体_GB2312" pitchFamily="49" charset="-122"/>
                        </a:rPr>
                        <m:t>𝟏</m:t>
                      </m:r>
                      <m:r>
                        <a:rPr lang="en-US" altLang="zh-CN" sz="3200" i="1" dirty="0">
                          <a:solidFill>
                            <a:schemeClr val="tx2"/>
                          </a:solidFill>
                          <a:latin typeface="Cambria Math"/>
                          <a:ea typeface="楷体_GB2312" pitchFamily="49" charset="-122"/>
                        </a:rPr>
                        <m:t>−</m:t>
                      </m:r>
                      <m:sSup>
                        <m:sSupPr>
                          <m:ctrlPr>
                            <a:rPr lang="en-US" altLang="zh-CN" sz="3200" i="1" dirty="0">
                              <a:solidFill>
                                <a:schemeClr val="tx2"/>
                              </a:solidFill>
                              <a:latin typeface="Cambria Math" panose="02040503050406030204" pitchFamily="18" charset="0"/>
                              <a:ea typeface="楷体_GB2312" pitchFamily="49" charset="-122"/>
                            </a:rPr>
                          </m:ctrlPr>
                        </m:sSupPr>
                        <m:e>
                          <m:r>
                            <a:rPr lang="en-US" altLang="zh-CN" sz="3200" i="1" dirty="0">
                              <a:solidFill>
                                <a:schemeClr val="tx2"/>
                              </a:solidFill>
                              <a:latin typeface="Cambria Math"/>
                              <a:ea typeface="楷体_GB2312" pitchFamily="49" charset="-122"/>
                            </a:rPr>
                            <m:t>𝟐</m:t>
                          </m:r>
                        </m:e>
                        <m:sup>
                          <m:r>
                            <a:rPr lang="en-US" altLang="zh-CN" sz="3200" i="1" dirty="0">
                              <a:solidFill>
                                <a:schemeClr val="tx2"/>
                              </a:solidFill>
                              <a:latin typeface="Cambria Math"/>
                              <a:ea typeface="楷体_GB2312" pitchFamily="49" charset="-122"/>
                            </a:rPr>
                            <m:t>−</m:t>
                          </m:r>
                          <m:r>
                            <a:rPr lang="en-US" altLang="zh-CN" sz="3200" i="1" dirty="0">
                              <a:solidFill>
                                <a:schemeClr val="tx2"/>
                              </a:solidFill>
                              <a:latin typeface="Cambria Math"/>
                              <a:ea typeface="楷体_GB2312" pitchFamily="49" charset="-122"/>
                            </a:rPr>
                            <m:t>𝟓𝟑</m:t>
                          </m:r>
                        </m:sup>
                      </m:sSup>
                      <m:r>
                        <a:rPr lang="zh-CN" altLang="en-US" sz="3200" i="1" dirty="0">
                          <a:solidFill>
                            <a:schemeClr val="tx2"/>
                          </a:solidFill>
                          <a:latin typeface="Cambria Math"/>
                          <a:ea typeface="楷体_GB2312" pitchFamily="49" charset="-122"/>
                        </a:rPr>
                        <m:t>）</m:t>
                      </m:r>
                      <m:r>
                        <a:rPr lang="en-US" altLang="zh-CN" sz="3200" i="1" dirty="0">
                          <a:solidFill>
                            <a:schemeClr val="tx2"/>
                          </a:solidFill>
                          <a:latin typeface="Cambria Math"/>
                          <a:ea typeface="Cambria Math"/>
                        </a:rPr>
                        <m:t>×</m:t>
                      </m:r>
                      <m:sSup>
                        <m:sSupPr>
                          <m:ctrlPr>
                            <a:rPr lang="en-US" altLang="zh-CN" sz="3200" i="1" dirty="0">
                              <a:solidFill>
                                <a:schemeClr val="tx2"/>
                              </a:solidFill>
                              <a:latin typeface="Cambria Math" panose="02040503050406030204" pitchFamily="18" charset="0"/>
                              <a:ea typeface="Cambria Math"/>
                            </a:rPr>
                          </m:ctrlPr>
                        </m:sSupPr>
                        <m:e>
                          <m:r>
                            <a:rPr lang="en-US" altLang="zh-CN" sz="3200" i="1" dirty="0">
                              <a:solidFill>
                                <a:schemeClr val="tx2"/>
                              </a:solidFill>
                              <a:latin typeface="Cambria Math"/>
                              <a:ea typeface="Cambria Math"/>
                            </a:rPr>
                            <m:t>𝟐</m:t>
                          </m:r>
                        </m:e>
                        <m:sup>
                          <m:r>
                            <a:rPr lang="en-US" altLang="zh-CN" sz="3200" i="1" dirty="0">
                              <a:solidFill>
                                <a:schemeClr val="tx2"/>
                              </a:solidFill>
                              <a:latin typeface="Cambria Math"/>
                              <a:ea typeface="Cambria Math"/>
                            </a:rPr>
                            <m:t>𝟏𝟎𝟐𝟑</m:t>
                          </m:r>
                        </m:sup>
                      </m:sSup>
                    </m:oMath>
                  </m:oMathPara>
                </a14:m>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mc:Choice>
        <mc:Fallback>
          <p:sp>
            <p:nvSpPr>
              <p:cNvPr id="30722" name="矩形 1"/>
              <p:cNvSpPr>
                <a:spLocks noRot="1" noChangeAspect="1" noMove="1" noResize="1" noEditPoints="1" noAdjustHandles="1" noChangeArrowheads="1" noChangeShapeType="1" noTextEdit="1"/>
              </p:cNvSpPr>
              <p:nvPr/>
            </p:nvSpPr>
            <p:spPr bwMode="auto">
              <a:xfrm>
                <a:off x="1000125" y="1196752"/>
                <a:ext cx="7820347" cy="5542671"/>
              </a:xfrm>
              <a:prstGeom prst="rect">
                <a:avLst/>
              </a:prstGeom>
              <a:blipFill>
                <a:blip r:embed="rId3"/>
                <a:stretch>
                  <a:fillRect l="-1949" t="-14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Tree>
    <p:extLst>
      <p:ext uri="{BB962C8B-B14F-4D97-AF65-F5344CB8AC3E}">
        <p14:creationId xmlns:p14="http://schemas.microsoft.com/office/powerpoint/2010/main" val="2564235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p:cNvSpPr>
            <a:spLocks noChangeArrowheads="1"/>
          </p:cNvSpPr>
          <p:nvPr/>
        </p:nvSpPr>
        <p:spPr bwMode="auto">
          <a:xfrm>
            <a:off x="1000125" y="1500188"/>
            <a:ext cx="7358063"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浮点数尾数的规格化和溢出</a:t>
            </a:r>
            <a:endParaRPr lang="en-US" altLang="zh-CN" sz="3200" dirty="0">
              <a:solidFill>
                <a:schemeClr val="tx2"/>
              </a:solidFill>
              <a:latin typeface="楷体_GB2312" pitchFamily="49" charset="-122"/>
              <a:ea typeface="楷体_GB2312" pitchFamily="49" charset="-122"/>
            </a:endParaRPr>
          </a:p>
          <a:p>
            <a:pPr eaLnBrk="1" hangingPunct="1"/>
            <a:endParaRPr lang="zh-CN" altLang="en-US"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    浮点数分为规格化浮点数和非规格化浮点数，在计算机中常用的是规格化浮点数。</a:t>
            </a:r>
          </a:p>
          <a:p>
            <a:pPr eaLnBrk="1" hangingPunct="1"/>
            <a:r>
              <a:rPr lang="zh-CN" altLang="en-US" sz="3200" dirty="0">
                <a:solidFill>
                  <a:schemeClr val="tx2"/>
                </a:solidFill>
                <a:latin typeface="楷体_GB2312" pitchFamily="49" charset="-122"/>
                <a:ea typeface="楷体_GB2312" pitchFamily="49" charset="-122"/>
              </a:rPr>
              <a:t>    规格化的目的</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提高数的表示精度。</a:t>
            </a:r>
          </a:p>
          <a:p>
            <a:pPr eaLnBrk="1" hangingPunct="1"/>
            <a:r>
              <a:rPr lang="zh-CN" altLang="en-US" sz="3200" dirty="0">
                <a:solidFill>
                  <a:schemeClr val="tx2"/>
                </a:solidFill>
                <a:latin typeface="楷体_GB2312" pitchFamily="49" charset="-122"/>
                <a:ea typeface="楷体_GB2312" pitchFamily="49" charset="-122"/>
              </a:rPr>
              <a:t>    所谓的规格化尾数：就是尾数的最高有效位和符号位相反。</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4" name="矩形 12"/>
          <p:cNvSpPr>
            <a:spLocks noChangeArrowheads="1"/>
          </p:cNvSpPr>
          <p:nvPr/>
        </p:nvSpPr>
        <p:spPr bwMode="auto">
          <a:xfrm>
            <a:off x="1359346" y="1988840"/>
            <a:ext cx="3068638" cy="5842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rgbClr val="000000"/>
                </a:solidFill>
                <a:latin typeface="楷体_GB2312" pitchFamily="49" charset="-122"/>
                <a:ea typeface="楷体_GB2312" pitchFamily="49" charset="-122"/>
              </a:rPr>
              <a:t>浮点数的规格化</a:t>
            </a:r>
            <a:endParaRPr lang="zh-CN" altLang="en-US" dirty="0"/>
          </a:p>
        </p:txBody>
      </p:sp>
    </p:spTree>
    <p:extLst>
      <p:ext uri="{BB962C8B-B14F-4D97-AF65-F5344CB8AC3E}">
        <p14:creationId xmlns:p14="http://schemas.microsoft.com/office/powerpoint/2010/main" val="1602914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32771" name="Rectangle 7"/>
          <p:cNvSpPr>
            <a:spLocks noChangeArrowheads="1"/>
          </p:cNvSpPr>
          <p:nvPr/>
        </p:nvSpPr>
        <p:spPr bwMode="auto">
          <a:xfrm>
            <a:off x="428625" y="1785938"/>
            <a:ext cx="842962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例：正尾数 </a:t>
            </a:r>
            <a:endParaRPr lang="en-US" altLang="zh-CN" sz="3200" dirty="0">
              <a:solidFill>
                <a:srgbClr val="000000"/>
              </a:solidFill>
              <a:latin typeface="楷体_GB2312" pitchFamily="49" charset="-122"/>
              <a:ea typeface="楷体_GB2312" pitchFamily="49" charset="-122"/>
            </a:endParaRPr>
          </a:p>
          <a:p>
            <a:pPr algn="l"/>
            <a:r>
              <a:rPr lang="en-US" altLang="zh-CN" sz="3200" dirty="0">
                <a:solidFill>
                  <a:srgbClr val="FF0000"/>
                </a:solidFill>
                <a:latin typeface="楷体_GB2312" pitchFamily="49" charset="-122"/>
                <a:ea typeface="楷体_GB2312" pitchFamily="49" charset="-122"/>
              </a:rPr>
              <a:t>0</a:t>
            </a:r>
            <a:r>
              <a:rPr lang="en-US" altLang="zh-CN" sz="3200" dirty="0">
                <a:solidFill>
                  <a:srgbClr val="00000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0</a:t>
            </a:r>
            <a:r>
              <a:rPr lang="en-US" altLang="zh-CN" sz="3200" dirty="0">
                <a:solidFill>
                  <a:srgbClr val="000000"/>
                </a:solidFill>
                <a:latin typeface="楷体_GB2312" pitchFamily="49" charset="-122"/>
                <a:ea typeface="楷体_GB2312" pitchFamily="49" charset="-122"/>
              </a:rPr>
              <a:t>XXXXXXXX</a:t>
            </a:r>
            <a:r>
              <a:rPr lang="zh-CN" altLang="en-US" sz="3200" dirty="0">
                <a:solidFill>
                  <a:srgbClr val="000000"/>
                </a:solidFill>
                <a:latin typeface="楷体_GB2312" pitchFamily="49" charset="-122"/>
                <a:ea typeface="楷体_GB2312" pitchFamily="49" charset="-122"/>
              </a:rPr>
              <a:t>  非规格化数</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说明：</a:t>
            </a:r>
            <a:r>
              <a:rPr lang="en-US" altLang="zh-CN" sz="3200" dirty="0">
                <a:solidFill>
                  <a:srgbClr val="FF000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是符号位，</a:t>
            </a:r>
            <a:r>
              <a:rPr lang="en-US" altLang="zh-CN" sz="3200" dirty="0">
                <a:solidFill>
                  <a:srgbClr val="00B05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是尾数最高位，二者相同，所以是非规格化数 。</a:t>
            </a:r>
            <a:endParaRPr lang="en-US" altLang="zh-CN" sz="3200" dirty="0">
              <a:solidFill>
                <a:srgbClr val="000000"/>
              </a:solidFill>
              <a:latin typeface="楷体_GB2312" pitchFamily="49" charset="-122"/>
              <a:ea typeface="楷体_GB2312" pitchFamily="49" charset="-122"/>
            </a:endParaRPr>
          </a:p>
          <a:p>
            <a:pPr algn="l"/>
            <a:r>
              <a:rPr lang="en-US" altLang="zh-CN" sz="3200" dirty="0">
                <a:solidFill>
                  <a:srgbClr val="C00000"/>
                </a:solidFill>
                <a:latin typeface="楷体_GB2312" pitchFamily="49" charset="-122"/>
                <a:ea typeface="楷体_GB2312" pitchFamily="49" charset="-122"/>
              </a:rPr>
              <a:t>0</a:t>
            </a:r>
            <a:r>
              <a:rPr lang="en-US" altLang="zh-CN" sz="3200" dirty="0">
                <a:solidFill>
                  <a:srgbClr val="00000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XXXXXXXX</a:t>
            </a:r>
            <a:r>
              <a:rPr lang="zh-CN" altLang="en-US" sz="3200" dirty="0">
                <a:solidFill>
                  <a:srgbClr val="000000"/>
                </a:solidFill>
                <a:latin typeface="楷体_GB2312" pitchFamily="49" charset="-122"/>
                <a:ea typeface="楷体_GB2312" pitchFamily="49" charset="-122"/>
              </a:rPr>
              <a:t>  规格化数</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说明：</a:t>
            </a:r>
            <a:r>
              <a:rPr lang="en-US" altLang="zh-CN" sz="3200" dirty="0">
                <a:solidFill>
                  <a:srgbClr val="FF000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是符号位，</a:t>
            </a:r>
            <a:r>
              <a:rPr lang="en-US" altLang="zh-CN" sz="3200" dirty="0">
                <a:solidFill>
                  <a:srgbClr val="00B05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是尾数最高位，二者不同，所以是规格化数 。</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    </a:t>
            </a:r>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23555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33795" name="Rectangle 7"/>
          <p:cNvSpPr>
            <a:spLocks noChangeArrowheads="1"/>
          </p:cNvSpPr>
          <p:nvPr/>
        </p:nvSpPr>
        <p:spPr bwMode="auto">
          <a:xfrm>
            <a:off x="428625" y="1785938"/>
            <a:ext cx="842962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例：负尾数 </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XXXXXXXX</a:t>
            </a:r>
            <a:r>
              <a:rPr lang="zh-CN" altLang="en-US" sz="3200" dirty="0">
                <a:solidFill>
                  <a:srgbClr val="000000"/>
                </a:solidFill>
                <a:latin typeface="楷体_GB2312" pitchFamily="49" charset="-122"/>
                <a:ea typeface="楷体_GB2312" pitchFamily="49" charset="-122"/>
              </a:rPr>
              <a:t>  非规格化数</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0</a:t>
            </a:r>
            <a:r>
              <a:rPr lang="en-US" altLang="zh-CN" sz="3200" dirty="0">
                <a:solidFill>
                  <a:srgbClr val="000000"/>
                </a:solidFill>
                <a:latin typeface="楷体_GB2312" pitchFamily="49" charset="-122"/>
                <a:ea typeface="楷体_GB2312" pitchFamily="49" charset="-122"/>
              </a:rPr>
              <a:t>XXXXXXXX</a:t>
            </a:r>
            <a:r>
              <a:rPr lang="zh-CN" altLang="en-US" sz="3200" dirty="0">
                <a:solidFill>
                  <a:srgbClr val="000000"/>
                </a:solidFill>
                <a:latin typeface="楷体_GB2312" pitchFamily="49" charset="-122"/>
                <a:ea typeface="楷体_GB2312" pitchFamily="49" charset="-122"/>
              </a:rPr>
              <a:t>  规格化数</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例如 </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862823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20483" name="Rectangle 7"/>
          <p:cNvSpPr>
            <a:spLocks noRot="1" noChangeAspect="1" noMove="1" noResize="1" noEditPoints="1" noAdjustHandles="1" noChangeArrowheads="1" noChangeShapeType="1" noTextEdit="1"/>
          </p:cNvSpPr>
          <p:nvPr/>
        </p:nvSpPr>
        <p:spPr bwMode="auto">
          <a:xfrm>
            <a:off x="428625" y="1785938"/>
            <a:ext cx="8429625" cy="4214812"/>
          </a:xfrm>
          <a:prstGeom prst="rect">
            <a:avLst/>
          </a:prstGeom>
          <a:blipFill rotWithShape="1">
            <a:blip r:embed="rId3"/>
            <a:stretch>
              <a:fillRect l="-1808" t="-2171" r="-86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extLst>
      <p:ext uri="{BB962C8B-B14F-4D97-AF65-F5344CB8AC3E}">
        <p14:creationId xmlns:p14="http://schemas.microsoft.com/office/powerpoint/2010/main" val="1432328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2.1.1</a:t>
            </a:r>
            <a:r>
              <a:rPr kumimoji="1" lang="zh-CN" altLang="en-US" sz="2000" kern="0" dirty="0">
                <a:solidFill>
                  <a:schemeClr val="tx2"/>
                </a:solidFill>
                <a:latin typeface="楷体_GB2312" pitchFamily="49" charset="-122"/>
                <a:ea typeface="楷体_GB2312" pitchFamily="49" charset="-122"/>
                <a:cs typeface="+mj-cs"/>
              </a:rPr>
              <a:t>数的定点和浮点表示</a:t>
            </a:r>
          </a:p>
        </p:txBody>
      </p:sp>
      <p:sp>
        <p:nvSpPr>
          <p:cNvPr id="35843"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en-US" altLang="zh-CN" sz="3200" dirty="0">
                <a:solidFill>
                  <a:srgbClr val="000000"/>
                </a:solidFill>
                <a:latin typeface="楷体_GB2312" pitchFamily="49" charset="-122"/>
                <a:ea typeface="楷体_GB2312" pitchFamily="49" charset="-122"/>
              </a:rPr>
              <a:t>    </a:t>
            </a:r>
            <a:r>
              <a:rPr lang="zh-CN" altLang="en-US" sz="3200" dirty="0">
                <a:solidFill>
                  <a:srgbClr val="000000"/>
                </a:solidFill>
                <a:latin typeface="楷体_GB2312" pitchFamily="49" charset="-122"/>
                <a:ea typeface="楷体_GB2312" pitchFamily="49" charset="-122"/>
              </a:rPr>
              <a:t>浮点数的尾数和阶值所占的</a:t>
            </a:r>
            <a:r>
              <a:rPr lang="en-US" altLang="zh-CN" sz="3200" dirty="0">
                <a:solidFill>
                  <a:srgbClr val="000000"/>
                </a:solidFill>
                <a:latin typeface="楷体_GB2312" pitchFamily="49" charset="-122"/>
                <a:ea typeface="楷体_GB2312" pitchFamily="49" charset="-122"/>
              </a:rPr>
              <a:t>bit</a:t>
            </a:r>
            <a:r>
              <a:rPr lang="zh-CN" altLang="en-US" sz="3200" dirty="0">
                <a:solidFill>
                  <a:srgbClr val="000000"/>
                </a:solidFill>
                <a:latin typeface="楷体_GB2312" pitchFamily="49" charset="-122"/>
                <a:ea typeface="楷体_GB2312" pitchFamily="49" charset="-122"/>
              </a:rPr>
              <a:t>都是有限的，这就决定了浮点数的表示是有范围的，超过这个范围就称为溢出。</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浮点数的溢出分为</a:t>
            </a:r>
            <a:r>
              <a:rPr lang="zh-CN" altLang="en-US" sz="3200" dirty="0">
                <a:solidFill>
                  <a:srgbClr val="FF0000"/>
                </a:solidFill>
                <a:latin typeface="楷体_GB2312" pitchFamily="49" charset="-122"/>
                <a:ea typeface="楷体_GB2312" pitchFamily="49" charset="-122"/>
              </a:rPr>
              <a:t>尾数溢出</a:t>
            </a:r>
            <a:r>
              <a:rPr lang="zh-CN" altLang="en-US" sz="3200" dirty="0">
                <a:solidFill>
                  <a:srgbClr val="000000"/>
                </a:solidFill>
                <a:latin typeface="楷体_GB2312" pitchFamily="49" charset="-122"/>
                <a:ea typeface="楷体_GB2312" pitchFamily="49" charset="-122"/>
              </a:rPr>
              <a:t>和</a:t>
            </a:r>
            <a:r>
              <a:rPr lang="zh-CN" altLang="en-US" sz="3200" dirty="0">
                <a:solidFill>
                  <a:srgbClr val="FF0000"/>
                </a:solidFill>
                <a:latin typeface="楷体_GB2312" pitchFamily="49" charset="-122"/>
                <a:ea typeface="楷体_GB2312" pitchFamily="49" charset="-122"/>
              </a:rPr>
              <a:t>阶值溢出</a:t>
            </a:r>
            <a:r>
              <a:rPr lang="zh-CN" altLang="en-US" sz="3200" dirty="0">
                <a:solidFill>
                  <a:srgbClr val="000000"/>
                </a:solidFill>
                <a:latin typeface="楷体_GB2312" pitchFamily="49" charset="-122"/>
                <a:ea typeface="楷体_GB2312" pitchFamily="49" charset="-122"/>
              </a:rPr>
              <a:t>。</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
        <p:nvSpPr>
          <p:cNvPr id="35844" name="矩形 2"/>
          <p:cNvSpPr>
            <a:spLocks noChangeArrowheads="1"/>
          </p:cNvSpPr>
          <p:nvPr/>
        </p:nvSpPr>
        <p:spPr bwMode="auto">
          <a:xfrm>
            <a:off x="1258888" y="1692275"/>
            <a:ext cx="2657475" cy="5842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rgbClr val="000000"/>
                </a:solidFill>
                <a:latin typeface="楷体_GB2312" pitchFamily="49" charset="-122"/>
                <a:ea typeface="楷体_GB2312" pitchFamily="49" charset="-122"/>
              </a:rPr>
              <a:t>浮点数的溢出</a:t>
            </a:r>
            <a:endParaRPr lang="zh-CN" altLang="en-US" dirty="0"/>
          </a:p>
        </p:txBody>
      </p:sp>
    </p:spTree>
    <p:extLst>
      <p:ext uri="{BB962C8B-B14F-4D97-AF65-F5344CB8AC3E}">
        <p14:creationId xmlns:p14="http://schemas.microsoft.com/office/powerpoint/2010/main" val="146441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36867"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FF0000"/>
                </a:solidFill>
                <a:latin typeface="楷体_GB2312" pitchFamily="49" charset="-122"/>
                <a:ea typeface="楷体_GB2312" pitchFamily="49" charset="-122"/>
              </a:rPr>
              <a:t>尾数溢出</a:t>
            </a:r>
            <a:r>
              <a:rPr lang="zh-CN" altLang="en-US" sz="3200" dirty="0">
                <a:solidFill>
                  <a:srgbClr val="000000"/>
                </a:solidFill>
                <a:latin typeface="楷体_GB2312" pitchFamily="49" charset="-122"/>
                <a:ea typeface="楷体_GB2312" pitchFamily="49" charset="-122"/>
              </a:rPr>
              <a:t>时，可以用尾数右移一位，或小数点左移一位，而阶值加一，就消除尾数溢出。（此时在总位数一定的情况下，丢掉了右边的最后一位，这也是最小的一位）。</a:t>
            </a:r>
            <a:endParaRPr lang="en-US" altLang="zh-CN" sz="3200" dirty="0">
              <a:solidFill>
                <a:srgbClr val="000000"/>
              </a:solidFill>
              <a:latin typeface="楷体_GB2312" pitchFamily="49" charset="-122"/>
              <a:ea typeface="楷体_GB2312" pitchFamily="49" charset="-122"/>
            </a:endParaRPr>
          </a:p>
        </p:txBody>
      </p:sp>
      <p:sp>
        <p:nvSpPr>
          <p:cNvPr id="4" name="矩形 2"/>
          <p:cNvSpPr>
            <a:spLocks noChangeArrowheads="1"/>
          </p:cNvSpPr>
          <p:nvPr/>
        </p:nvSpPr>
        <p:spPr bwMode="auto">
          <a:xfrm>
            <a:off x="827584" y="1692275"/>
            <a:ext cx="2244525" cy="58477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rgbClr val="000000"/>
                </a:solidFill>
                <a:latin typeface="楷体_GB2312" pitchFamily="49" charset="-122"/>
                <a:ea typeface="楷体_GB2312" pitchFamily="49" charset="-122"/>
              </a:rPr>
              <a:t>尾数的溢出</a:t>
            </a:r>
            <a:endParaRPr lang="zh-CN" altLang="en-US" dirty="0"/>
          </a:p>
        </p:txBody>
      </p:sp>
    </p:spTree>
    <p:extLst>
      <p:ext uri="{BB962C8B-B14F-4D97-AF65-F5344CB8AC3E}">
        <p14:creationId xmlns:p14="http://schemas.microsoft.com/office/powerpoint/2010/main" val="2024837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37891" name="Rectangle 7"/>
          <p:cNvSpPr>
            <a:spLocks noChangeArrowheads="1"/>
          </p:cNvSpPr>
          <p:nvPr/>
        </p:nvSpPr>
        <p:spPr bwMode="auto">
          <a:xfrm>
            <a:off x="463550" y="1662113"/>
            <a:ext cx="842962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说明：单精度浮点表示法其尾数占</a:t>
            </a:r>
            <a:r>
              <a:rPr lang="en-US" altLang="zh-CN" sz="3200" dirty="0">
                <a:solidFill>
                  <a:srgbClr val="000000"/>
                </a:solidFill>
                <a:latin typeface="楷体_GB2312" pitchFamily="49" charset="-122"/>
                <a:ea typeface="楷体_GB2312" pitchFamily="49" charset="-122"/>
              </a:rPr>
              <a:t>8bit</a:t>
            </a:r>
            <a:r>
              <a:rPr lang="zh-CN" altLang="en-US" sz="3200" dirty="0">
                <a:solidFill>
                  <a:srgbClr val="000000"/>
                </a:solidFill>
                <a:latin typeface="楷体_GB2312" pitchFamily="49" charset="-122"/>
                <a:ea typeface="楷体_GB2312" pitchFamily="49" charset="-122"/>
              </a:rPr>
              <a:t>而阶值占</a:t>
            </a:r>
            <a:r>
              <a:rPr lang="en-US" altLang="zh-CN" sz="3200" dirty="0">
                <a:solidFill>
                  <a:srgbClr val="000000"/>
                </a:solidFill>
                <a:latin typeface="楷体_GB2312" pitchFamily="49" charset="-122"/>
                <a:ea typeface="楷体_GB2312" pitchFamily="49" charset="-122"/>
              </a:rPr>
              <a:t>24bit</a:t>
            </a:r>
            <a:r>
              <a:rPr lang="zh-CN" altLang="en-US" sz="3200" dirty="0">
                <a:solidFill>
                  <a:srgbClr val="000000"/>
                </a:solidFill>
                <a:latin typeface="楷体_GB2312" pitchFamily="49" charset="-122"/>
                <a:ea typeface="楷体_GB2312" pitchFamily="49" charset="-122"/>
              </a:rPr>
              <a:t>。则尾数的绝对值最大为</a:t>
            </a:r>
            <a:endParaRPr lang="en-US" altLang="zh-CN" sz="3200" dirty="0">
              <a:solidFill>
                <a:srgbClr val="000000"/>
              </a:solidFill>
              <a:latin typeface="楷体_GB2312" pitchFamily="49" charset="-122"/>
              <a:ea typeface="楷体_GB2312" pitchFamily="49" charset="-122"/>
            </a:endParaRPr>
          </a:p>
          <a:p>
            <a:pPr algn="l"/>
            <a:r>
              <a:rPr lang="en-US" altLang="zh-CN" sz="3200" dirty="0">
                <a:solidFill>
                  <a:srgbClr val="000000"/>
                </a:solidFill>
                <a:latin typeface="楷体_GB2312" pitchFamily="49" charset="-122"/>
                <a:ea typeface="楷体_GB2312" pitchFamily="49" charset="-122"/>
              </a:rPr>
              <a:t>0.1111111,</a:t>
            </a:r>
            <a:r>
              <a:rPr lang="zh-CN" altLang="en-US" sz="3200" dirty="0">
                <a:solidFill>
                  <a:srgbClr val="000000"/>
                </a:solidFill>
                <a:latin typeface="楷体_GB2312" pitchFamily="49" charset="-122"/>
                <a:ea typeface="楷体_GB2312" pitchFamily="49" charset="-122"/>
              </a:rPr>
              <a:t>若要表示尾数</a:t>
            </a:r>
            <a:r>
              <a:rPr lang="en-US" altLang="zh-CN" sz="3200" dirty="0">
                <a:solidFill>
                  <a:srgbClr val="000000"/>
                </a:solidFill>
                <a:latin typeface="楷体_GB2312" pitchFamily="49" charset="-122"/>
                <a:ea typeface="楷体_GB2312" pitchFamily="49" charset="-122"/>
              </a:rPr>
              <a:t>0.11111111</a:t>
            </a:r>
            <a:r>
              <a:rPr lang="zh-CN" altLang="en-US" sz="3200" dirty="0">
                <a:solidFill>
                  <a:srgbClr val="000000"/>
                </a:solidFill>
                <a:latin typeface="楷体_GB2312" pitchFamily="49" charset="-122"/>
                <a:ea typeface="楷体_GB2312" pitchFamily="49" charset="-122"/>
              </a:rPr>
              <a:t>则尾数的位数为</a:t>
            </a:r>
            <a:r>
              <a:rPr lang="en-US" altLang="zh-CN" sz="3200" dirty="0">
                <a:solidFill>
                  <a:srgbClr val="000000"/>
                </a:solidFill>
                <a:latin typeface="楷体_GB2312" pitchFamily="49" charset="-122"/>
                <a:ea typeface="楷体_GB2312" pitchFamily="49" charset="-122"/>
              </a:rPr>
              <a:t>9</a:t>
            </a:r>
            <a:r>
              <a:rPr lang="zh-CN" altLang="en-US" sz="3200" dirty="0">
                <a:solidFill>
                  <a:srgbClr val="000000"/>
                </a:solidFill>
                <a:latin typeface="楷体_GB2312" pitchFamily="49" charset="-122"/>
                <a:ea typeface="楷体_GB2312" pitchFamily="49" charset="-122"/>
              </a:rPr>
              <a:t>超过</a:t>
            </a:r>
            <a:r>
              <a:rPr lang="en-US" altLang="zh-CN" sz="3200" dirty="0">
                <a:solidFill>
                  <a:srgbClr val="000000"/>
                </a:solidFill>
                <a:latin typeface="楷体_GB2312" pitchFamily="49" charset="-122"/>
                <a:ea typeface="楷体_GB2312" pitchFamily="49" charset="-122"/>
              </a:rPr>
              <a:t>8</a:t>
            </a:r>
            <a:r>
              <a:rPr lang="zh-CN" altLang="en-US" sz="3200" dirty="0">
                <a:solidFill>
                  <a:srgbClr val="000000"/>
                </a:solidFill>
                <a:latin typeface="楷体_GB2312" pitchFamily="49" charset="-122"/>
                <a:ea typeface="楷体_GB2312" pitchFamily="49" charset="-122"/>
              </a:rPr>
              <a:t>位，这就是尾数溢出。</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842191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mc:AlternateContent xmlns:mc="http://schemas.openxmlformats.org/markup-compatibility/2006">
        <mc:Choice xmlns:a14="http://schemas.microsoft.com/office/drawing/2010/main" Requires="a14">
          <p:sp>
            <p:nvSpPr>
              <p:cNvPr id="37891" name="Rectangle 7"/>
              <p:cNvSpPr>
                <a:spLocks noChangeArrowheads="1"/>
              </p:cNvSpPr>
              <p:nvPr/>
            </p:nvSpPr>
            <p:spPr bwMode="auto">
              <a:xfrm>
                <a:off x="467544" y="1628800"/>
                <a:ext cx="8429625" cy="42148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r>
                  <a:rPr lang="zh-CN" altLang="en-US" sz="3200" dirty="0">
                    <a:solidFill>
                      <a:srgbClr val="000000"/>
                    </a:solidFill>
                    <a:latin typeface="楷体_GB2312" pitchFamily="49" charset="-122"/>
                    <a:ea typeface="楷体_GB2312" pitchFamily="49" charset="-122"/>
                  </a:rPr>
                  <a:t>尾数溢出时，可通过使尾数小数点左移一位，同时阶值加一的方式 调整，如</a:t>
                </a:r>
                <a:r>
                  <a:rPr lang="en-US" altLang="zh-CN" sz="3200" dirty="0">
                    <a:solidFill>
                      <a:srgbClr val="000000"/>
                    </a:solidFill>
                    <a:latin typeface="楷体_GB2312" pitchFamily="49" charset="-122"/>
                    <a:ea typeface="楷体_GB2312" pitchFamily="49" charset="-122"/>
                  </a:rPr>
                  <a:t>+11111111</a:t>
                </a:r>
                <a:r>
                  <a:rPr lang="zh-CN" altLang="en-US" sz="3200" dirty="0">
                    <a:solidFill>
                      <a:srgbClr val="000000"/>
                    </a:solidFill>
                    <a:latin typeface="楷体_GB2312" pitchFamily="49" charset="-122"/>
                    <a:ea typeface="楷体_GB2312" pitchFamily="49" charset="-122"/>
                  </a:rPr>
                  <a:t>按要求其尾数所占位只能有</a:t>
                </a:r>
                <a:r>
                  <a:rPr lang="en-US" altLang="zh-CN" sz="3200" dirty="0">
                    <a:solidFill>
                      <a:srgbClr val="000000"/>
                    </a:solidFill>
                    <a:latin typeface="楷体_GB2312" pitchFamily="49" charset="-122"/>
                    <a:ea typeface="楷体_GB2312" pitchFamily="49" charset="-122"/>
                  </a:rPr>
                  <a:t>7bit</a:t>
                </a:r>
                <a:r>
                  <a:rPr lang="zh-CN" altLang="en-US" sz="3200" dirty="0">
                    <a:solidFill>
                      <a:srgbClr val="000000"/>
                    </a:solidFill>
                    <a:latin typeface="楷体_GB2312" pitchFamily="49" charset="-122"/>
                    <a:ea typeface="楷体_GB2312" pitchFamily="49" charset="-122"/>
                  </a:rPr>
                  <a:t>（要去除一位符号位）可写为</a:t>
                </a:r>
                <a:r>
                  <a:rPr lang="en-US" altLang="zh-CN" sz="3200" dirty="0">
                    <a:solidFill>
                      <a:srgbClr val="00B05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.1111111</a:t>
                </a:r>
                <a14:m>
                  <m:oMath xmlns:m="http://schemas.openxmlformats.org/officeDocument/2006/math">
                    <m:r>
                      <a:rPr lang="en-US" altLang="zh-CN" sz="3200" i="1" smtClean="0">
                        <a:solidFill>
                          <a:srgbClr val="000000"/>
                        </a:solidFill>
                        <a:latin typeface="Cambria Math"/>
                        <a:ea typeface="Cambria Math"/>
                      </a:rPr>
                      <m:t>×</m:t>
                    </m:r>
                    <m:sSup>
                      <m:sSupPr>
                        <m:ctrlPr>
                          <a:rPr lang="en-US" altLang="zh-CN" sz="3200" i="1" smtClean="0">
                            <a:solidFill>
                              <a:srgbClr val="000000"/>
                            </a:solidFill>
                            <a:latin typeface="Cambria Math" panose="02040503050406030204" pitchFamily="18" charset="0"/>
                            <a:ea typeface="Cambria Math"/>
                          </a:rPr>
                        </m:ctrlPr>
                      </m:sSupPr>
                      <m:e>
                        <m:r>
                          <a:rPr lang="en-US" altLang="zh-CN" sz="3200" b="1" i="1" smtClean="0">
                            <a:solidFill>
                              <a:srgbClr val="000000"/>
                            </a:solidFill>
                            <a:latin typeface="Cambria Math"/>
                            <a:ea typeface="Cambria Math"/>
                          </a:rPr>
                          <m:t>𝟐</m:t>
                        </m:r>
                      </m:e>
                      <m:sup>
                        <m:r>
                          <a:rPr lang="en-US" altLang="zh-CN" sz="3200" b="1" i="1" smtClean="0">
                            <a:solidFill>
                              <a:srgbClr val="000000"/>
                            </a:solidFill>
                            <a:latin typeface="Cambria Math"/>
                            <a:ea typeface="Cambria Math"/>
                          </a:rPr>
                          <m:t>𝟏𝟏𝟏</m:t>
                        </m:r>
                      </m:sup>
                    </m:sSup>
                  </m:oMath>
                </a14:m>
                <a:r>
                  <a:rPr lang="en-US" altLang="zh-CN" sz="3200" dirty="0">
                    <a:solidFill>
                      <a:srgbClr val="00000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为符号位</a:t>
                </a:r>
                <a:r>
                  <a:rPr lang="en-US" altLang="zh-CN" sz="3200" dirty="0">
                    <a:solidFill>
                      <a:srgbClr val="000000"/>
                    </a:solidFill>
                    <a:latin typeface="楷体_GB2312" pitchFamily="49" charset="-122"/>
                    <a:ea typeface="楷体_GB2312" pitchFamily="49" charset="-122"/>
                  </a:rPr>
                  <a:t>)</a:t>
                </a:r>
                <a:r>
                  <a:rPr lang="zh-CN" altLang="en-US" sz="3200" dirty="0">
                    <a:solidFill>
                      <a:srgbClr val="000000"/>
                    </a:solidFill>
                    <a:latin typeface="楷体_GB2312" pitchFamily="49" charset="-122"/>
                    <a:ea typeface="楷体_GB2312" pitchFamily="49" charset="-122"/>
                  </a:rPr>
                  <a:t>这样在机器中表示时小数点左边的有效值位</a:t>
                </a:r>
                <a:r>
                  <a:rPr lang="en-US" altLang="zh-CN" sz="3200" dirty="0">
                    <a:solidFill>
                      <a:srgbClr val="FF000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就会被丢弃，这必然 会造成较大精度的损失。</a:t>
                </a:r>
                <a:endParaRPr lang="en-US" altLang="zh-CN" sz="3200" dirty="0">
                  <a:solidFill>
                    <a:srgbClr val="000000"/>
                  </a:solidFill>
                  <a:latin typeface="楷体_GB2312" pitchFamily="49" charset="-122"/>
                  <a:ea typeface="楷体_GB2312" pitchFamily="49" charset="-122"/>
                </a:endParaRPr>
              </a:p>
            </p:txBody>
          </p:sp>
        </mc:Choice>
        <mc:Fallback>
          <p:sp>
            <p:nvSpPr>
              <p:cNvPr id="37891" name="Rectangle 7"/>
              <p:cNvSpPr>
                <a:spLocks noRot="1" noChangeAspect="1" noMove="1" noResize="1" noEditPoints="1" noAdjustHandles="1" noChangeArrowheads="1" noChangeShapeType="1" noTextEdit="1"/>
              </p:cNvSpPr>
              <p:nvPr/>
            </p:nvSpPr>
            <p:spPr bwMode="auto">
              <a:xfrm>
                <a:off x="467544" y="1628800"/>
                <a:ext cx="8429625" cy="4214812"/>
              </a:xfrm>
              <a:prstGeom prst="rect">
                <a:avLst/>
              </a:prstGeom>
              <a:blipFill>
                <a:blip r:embed="rId3"/>
                <a:stretch>
                  <a:fillRect l="-1880" t="-1879" r="-10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500736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mc:AlternateContent xmlns:mc="http://schemas.openxmlformats.org/markup-compatibility/2006" xmlns:a14="http://schemas.microsoft.com/office/drawing/2010/main">
        <mc:Choice Requires="a14">
          <p:sp>
            <p:nvSpPr>
              <p:cNvPr id="37891" name="Rectangle 7"/>
              <p:cNvSpPr>
                <a:spLocks noChangeArrowheads="1"/>
              </p:cNvSpPr>
              <p:nvPr/>
            </p:nvSpPr>
            <p:spPr bwMode="auto">
              <a:xfrm>
                <a:off x="463550" y="1662113"/>
                <a:ext cx="8429625" cy="42148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r>
                  <a:rPr lang="zh-CN" altLang="en-US" sz="3200" dirty="0">
                    <a:solidFill>
                      <a:srgbClr val="000000"/>
                    </a:solidFill>
                    <a:latin typeface="楷体_GB2312" pitchFamily="49" charset="-122"/>
                    <a:ea typeface="楷体_GB2312" pitchFamily="49" charset="-122"/>
                  </a:rPr>
                  <a:t>解决办法是：可以使</a:t>
                </a:r>
                <a:r>
                  <a:rPr lang="en-US" altLang="zh-CN" sz="3200" b="0" dirty="0">
                    <a:solidFill>
                      <a:srgbClr val="00B050"/>
                    </a:solidFill>
                    <a:latin typeface="楷体_GB2312" pitchFamily="49" charset="-122"/>
                    <a:ea typeface="楷体_GB2312" pitchFamily="49" charset="-122"/>
                  </a:rPr>
                  <a:t>0</a:t>
                </a:r>
                <a:r>
                  <a:rPr lang="en-US" altLang="zh-CN" sz="3200" b="0" dirty="0">
                    <a:solidFill>
                      <a:srgbClr val="FF000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.1111111</a:t>
                </a:r>
                <a14:m>
                  <m:oMath xmlns:m="http://schemas.openxmlformats.org/officeDocument/2006/math">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i="1">
                            <a:solidFill>
                              <a:srgbClr val="000000"/>
                            </a:solidFill>
                            <a:latin typeface="Cambria Math"/>
                            <a:ea typeface="Cambria Math"/>
                          </a:rPr>
                          <m:t>𝟏𝟏𝟏</m:t>
                        </m:r>
                      </m:sup>
                    </m:sSup>
                  </m:oMath>
                </a14:m>
                <a:r>
                  <a:rPr lang="zh-CN" altLang="en-US" sz="3200" dirty="0">
                    <a:solidFill>
                      <a:srgbClr val="000000"/>
                    </a:solidFill>
                    <a:latin typeface="楷体_GB2312" pitchFamily="49" charset="-122"/>
                    <a:ea typeface="楷体_GB2312" pitchFamily="49" charset="-122"/>
                  </a:rPr>
                  <a:t>的小数点左移一位为</a:t>
                </a:r>
                <a:r>
                  <a:rPr lang="en-US" altLang="zh-CN" sz="3200" dirty="0">
                    <a:solidFill>
                      <a:srgbClr val="00B050"/>
                    </a:solidFill>
                    <a:latin typeface="楷体_GB2312" pitchFamily="49" charset="-122"/>
                    <a:ea typeface="楷体_GB2312" pitchFamily="49" charset="-122"/>
                  </a:rPr>
                  <a:t>0</a:t>
                </a:r>
                <a:r>
                  <a:rPr lang="en-US" altLang="zh-CN" sz="3200" dirty="0">
                    <a:solidFill>
                      <a:srgbClr val="000000"/>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1</a:t>
                </a:r>
                <a:r>
                  <a:rPr lang="en-US" altLang="zh-CN" sz="3200" dirty="0">
                    <a:solidFill>
                      <a:srgbClr val="000000"/>
                    </a:solidFill>
                    <a:latin typeface="楷体_GB2312" pitchFamily="49" charset="-122"/>
                    <a:ea typeface="楷体_GB2312" pitchFamily="49" charset="-122"/>
                  </a:rPr>
                  <a:t>1111111</a:t>
                </a:r>
                <a14:m>
                  <m:oMath xmlns:m="http://schemas.openxmlformats.org/officeDocument/2006/math">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b="1" i="1" smtClean="0">
                            <a:solidFill>
                              <a:srgbClr val="000000"/>
                            </a:solidFill>
                            <a:latin typeface="Cambria Math"/>
                            <a:ea typeface="Cambria Math"/>
                          </a:rPr>
                          <m:t>𝟏𝟎𝟎𝟎</m:t>
                        </m:r>
                      </m:sup>
                    </m:sSup>
                  </m:oMath>
                </a14:m>
                <a:r>
                  <a:rPr lang="zh-CN" altLang="en-US" sz="3200" dirty="0">
                    <a:solidFill>
                      <a:srgbClr val="000000"/>
                    </a:solidFill>
                    <a:latin typeface="楷体_GB2312" pitchFamily="49" charset="-122"/>
                    <a:ea typeface="楷体_GB2312" pitchFamily="49" charset="-122"/>
                  </a:rPr>
                  <a:t>，注意阶值同时加</a:t>
                </a:r>
                <a:r>
                  <a:rPr lang="en-US" altLang="zh-CN" sz="3200" dirty="0">
                    <a:solidFill>
                      <a:srgbClr val="00000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，但这时尾数所占的位数为</a:t>
                </a:r>
                <a:r>
                  <a:rPr lang="en-US" altLang="zh-CN" sz="3200" dirty="0">
                    <a:solidFill>
                      <a:srgbClr val="000000"/>
                    </a:solidFill>
                    <a:latin typeface="楷体_GB2312" pitchFamily="49" charset="-122"/>
                    <a:ea typeface="楷体_GB2312" pitchFamily="49" charset="-122"/>
                  </a:rPr>
                  <a:t>8bit</a:t>
                </a:r>
                <a:r>
                  <a:rPr lang="zh-CN" altLang="en-US" sz="3200" dirty="0">
                    <a:solidFill>
                      <a:srgbClr val="000000"/>
                    </a:solidFill>
                    <a:latin typeface="楷体_GB2312" pitchFamily="49" charset="-122"/>
                    <a:ea typeface="楷体_GB2312" pitchFamily="49" charset="-122"/>
                  </a:rPr>
                  <a:t>超出了限制，可以将最末位丢弃，即可最终表示为</a:t>
                </a:r>
                <a:endParaRPr lang="en-US" altLang="zh-CN" sz="3200" dirty="0">
                  <a:solidFill>
                    <a:srgbClr val="000000"/>
                  </a:solidFill>
                  <a:latin typeface="楷体_GB2312" pitchFamily="49" charset="-122"/>
                  <a:ea typeface="楷体_GB2312" pitchFamily="49" charset="-122"/>
                </a:endParaRPr>
              </a:p>
              <a:p>
                <a:r>
                  <a:rPr lang="en-US" altLang="zh-CN" sz="3200" dirty="0">
                    <a:solidFill>
                      <a:srgbClr val="000000"/>
                    </a:solidFill>
                    <a:latin typeface="楷体_GB2312" pitchFamily="49" charset="-122"/>
                    <a:ea typeface="楷体_GB2312" pitchFamily="49" charset="-122"/>
                  </a:rPr>
                  <a:t>0.1111111</a:t>
                </a:r>
                <a14:m>
                  <m:oMath xmlns:m="http://schemas.openxmlformats.org/officeDocument/2006/math">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i="1">
                            <a:solidFill>
                              <a:srgbClr val="000000"/>
                            </a:solidFill>
                            <a:latin typeface="Cambria Math"/>
                            <a:ea typeface="Cambria Math"/>
                          </a:rPr>
                          <m:t>𝟏</m:t>
                        </m:r>
                        <m:r>
                          <a:rPr lang="en-US" altLang="zh-CN" sz="3200" b="1" i="1" smtClean="0">
                            <a:solidFill>
                              <a:srgbClr val="000000"/>
                            </a:solidFill>
                            <a:latin typeface="Cambria Math"/>
                            <a:ea typeface="Cambria Math"/>
                          </a:rPr>
                          <m:t>𝟎𝟎𝟎</m:t>
                        </m:r>
                      </m:sup>
                    </m:sSup>
                  </m:oMath>
                </a14:m>
                <a:endParaRPr lang="en-US" altLang="zh-CN" sz="3200" dirty="0">
                  <a:solidFill>
                    <a:srgbClr val="000000"/>
                  </a:solidFill>
                  <a:latin typeface="楷体_GB2312" pitchFamily="49" charset="-122"/>
                  <a:ea typeface="楷体_GB2312" pitchFamily="49" charset="-122"/>
                </a:endParaRPr>
              </a:p>
            </p:txBody>
          </p:sp>
        </mc:Choice>
        <mc:Fallback xmlns="">
          <p:sp>
            <p:nvSpPr>
              <p:cNvPr id="37891" name="Rectangle 7"/>
              <p:cNvSpPr>
                <a:spLocks noRot="1" noChangeAspect="1" noMove="1" noResize="1" noEditPoints="1" noAdjustHandles="1" noChangeArrowheads="1" noChangeShapeType="1" noTextEdit="1"/>
              </p:cNvSpPr>
              <p:nvPr/>
            </p:nvSpPr>
            <p:spPr bwMode="auto">
              <a:xfrm>
                <a:off x="463550" y="1662113"/>
                <a:ext cx="8429625" cy="4214812"/>
              </a:xfrm>
              <a:prstGeom prst="rect">
                <a:avLst/>
              </a:prstGeom>
              <a:blipFill rotWithShape="1">
                <a:blip r:embed="rId3"/>
                <a:stretch>
                  <a:fillRect l="-1808" t="-2171" r="-8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683049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mc:AlternateContent xmlns:mc="http://schemas.openxmlformats.org/markup-compatibility/2006" xmlns:a14="http://schemas.microsoft.com/office/drawing/2010/main">
        <mc:Choice Requires="a14">
          <p:sp>
            <p:nvSpPr>
              <p:cNvPr id="37891" name="Rectangle 7"/>
              <p:cNvSpPr>
                <a:spLocks noChangeArrowheads="1"/>
              </p:cNvSpPr>
              <p:nvPr/>
            </p:nvSpPr>
            <p:spPr bwMode="auto">
              <a:xfrm>
                <a:off x="463550" y="1662113"/>
                <a:ext cx="8429625" cy="42148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r>
                  <a:rPr lang="zh-CN" altLang="en-US" sz="3200" dirty="0">
                    <a:solidFill>
                      <a:srgbClr val="000000"/>
                    </a:solidFill>
                    <a:latin typeface="楷体_GB2312" pitchFamily="49" charset="-122"/>
                    <a:ea typeface="楷体_GB2312" pitchFamily="49" charset="-122"/>
                  </a:rPr>
                  <a:t>这样就可以通过调整阶值来表示尾数溢出的浮点数，但是尾数溢出时会引起精度的损失，如上例中</a:t>
                </a:r>
                <a:endParaRPr lang="en-US" altLang="zh-CN" sz="3200" dirty="0">
                  <a:solidFill>
                    <a:srgbClr val="000000"/>
                  </a:solidFill>
                  <a:latin typeface="楷体_GB2312" pitchFamily="49" charset="-122"/>
                  <a:ea typeface="楷体_GB2312" pitchFamily="49" charset="-122"/>
                </a:endParaRPr>
              </a:p>
              <a:p>
                <a:r>
                  <a:rPr lang="en-US" altLang="zh-CN" sz="3200" dirty="0">
                    <a:solidFill>
                      <a:srgbClr val="000000"/>
                    </a:solidFill>
                    <a:latin typeface="楷体_GB2312" pitchFamily="49" charset="-122"/>
                    <a:ea typeface="楷体_GB2312" pitchFamily="49" charset="-122"/>
                  </a:rPr>
                  <a:t>0.1111111</a:t>
                </a:r>
                <a14:m>
                  <m:oMath xmlns:m="http://schemas.openxmlformats.org/officeDocument/2006/math">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i="1">
                            <a:solidFill>
                              <a:srgbClr val="000000"/>
                            </a:solidFill>
                            <a:latin typeface="Cambria Math"/>
                            <a:ea typeface="Cambria Math"/>
                          </a:rPr>
                          <m:t>𝟏</m:t>
                        </m:r>
                        <m:r>
                          <a:rPr lang="en-US" altLang="zh-CN" sz="3200" b="1" i="1" smtClean="0">
                            <a:solidFill>
                              <a:srgbClr val="000000"/>
                            </a:solidFill>
                            <a:latin typeface="Cambria Math"/>
                            <a:ea typeface="Cambria Math"/>
                          </a:rPr>
                          <m:t>𝟎𝟎𝟎</m:t>
                        </m:r>
                      </m:sup>
                    </m:sSup>
                  </m:oMath>
                </a14:m>
                <a:r>
                  <a:rPr lang="en-US" altLang="zh-CN" sz="3200" dirty="0">
                    <a:solidFill>
                      <a:srgbClr val="000000"/>
                    </a:solidFill>
                    <a:latin typeface="楷体_GB2312" pitchFamily="49" charset="-122"/>
                    <a:ea typeface="楷体_GB2312" pitchFamily="49" charset="-122"/>
                  </a:rPr>
                  <a:t>=11111110</a:t>
                </a:r>
                <a:r>
                  <a:rPr lang="zh-CN" altLang="en-US" sz="3200" dirty="0">
                    <a:solidFill>
                      <a:srgbClr val="000000"/>
                    </a:solidFill>
                    <a:latin typeface="楷体_GB2312" pitchFamily="49" charset="-122"/>
                    <a:ea typeface="楷体_GB2312" pitchFamily="49" charset="-122"/>
                  </a:rPr>
                  <a:t>而不是</a:t>
                </a:r>
                <a:r>
                  <a:rPr lang="en-US" altLang="zh-CN" sz="3200" dirty="0">
                    <a:solidFill>
                      <a:srgbClr val="000000"/>
                    </a:solidFill>
                    <a:latin typeface="楷体_GB2312" pitchFamily="49" charset="-122"/>
                    <a:ea typeface="楷体_GB2312" pitchFamily="49" charset="-122"/>
                  </a:rPr>
                  <a:t>11111111</a:t>
                </a:r>
              </a:p>
              <a:p>
                <a:r>
                  <a:rPr lang="zh-CN" altLang="en-US" sz="3200" dirty="0">
                    <a:solidFill>
                      <a:srgbClr val="000000"/>
                    </a:solidFill>
                    <a:latin typeface="楷体_GB2312" pitchFamily="49" charset="-122"/>
                    <a:ea typeface="楷体_GB2312" pitchFamily="49" charset="-122"/>
                  </a:rPr>
                  <a:t>这种损失是因为尾数的位数是有限的，不能够表示足够小的位的原因引起的。</a:t>
                </a:r>
                <a:endParaRPr lang="en-US" altLang="zh-CN" sz="3200" dirty="0">
                  <a:solidFill>
                    <a:srgbClr val="000000"/>
                  </a:solidFill>
                  <a:latin typeface="楷体_GB2312" pitchFamily="49" charset="-122"/>
                  <a:ea typeface="楷体_GB2312" pitchFamily="49" charset="-122"/>
                </a:endParaRPr>
              </a:p>
            </p:txBody>
          </p:sp>
        </mc:Choice>
        <mc:Fallback xmlns="">
          <p:sp>
            <p:nvSpPr>
              <p:cNvPr id="37891" name="Rectangle 7"/>
              <p:cNvSpPr>
                <a:spLocks noRot="1" noChangeAspect="1" noMove="1" noResize="1" noEditPoints="1" noAdjustHandles="1" noChangeArrowheads="1" noChangeShapeType="1" noTextEdit="1"/>
              </p:cNvSpPr>
              <p:nvPr/>
            </p:nvSpPr>
            <p:spPr bwMode="auto">
              <a:xfrm>
                <a:off x="463550" y="1662113"/>
                <a:ext cx="8429625" cy="4214812"/>
              </a:xfrm>
              <a:prstGeom prst="rect">
                <a:avLst/>
              </a:prstGeom>
              <a:blipFill rotWithShape="1">
                <a:blip r:embed="rId3"/>
                <a:stretch>
                  <a:fillRect l="-1808" t="-1881" r="-8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683049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41987"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阶值发生溢出时，又分为“下溢”和“上溢”。</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下溢：当阶码的值超出机器中能表示的最小值时，称为“下溢”。</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一般把该浮点数作为</a:t>
            </a:r>
            <a:r>
              <a:rPr lang="en-US" altLang="zh-CN" sz="3200" dirty="0">
                <a:solidFill>
                  <a:srgbClr val="00000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处理，称为机器零。</a:t>
            </a:r>
            <a:endParaRPr lang="en-US" altLang="zh-CN" sz="3200" dirty="0">
              <a:solidFill>
                <a:srgbClr val="000000"/>
              </a:solidFill>
              <a:latin typeface="楷体_GB2312" pitchFamily="49" charset="-122"/>
              <a:ea typeface="楷体_GB2312" pitchFamily="49" charset="-122"/>
            </a:endParaRPr>
          </a:p>
        </p:txBody>
      </p:sp>
      <p:sp>
        <p:nvSpPr>
          <p:cNvPr id="4" name="矩形 2"/>
          <p:cNvSpPr>
            <a:spLocks noChangeArrowheads="1"/>
          </p:cNvSpPr>
          <p:nvPr/>
        </p:nvSpPr>
        <p:spPr bwMode="auto">
          <a:xfrm>
            <a:off x="899592" y="1656775"/>
            <a:ext cx="2244525" cy="58477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rgbClr val="000000"/>
                </a:solidFill>
                <a:latin typeface="楷体_GB2312" pitchFamily="49" charset="-122"/>
                <a:ea typeface="楷体_GB2312" pitchFamily="49" charset="-122"/>
              </a:rPr>
              <a:t>阶值的溢出</a:t>
            </a:r>
            <a:endParaRPr lang="zh-CN" altLang="en-US" dirty="0"/>
          </a:p>
        </p:txBody>
      </p:sp>
    </p:spTree>
    <p:extLst>
      <p:ext uri="{BB962C8B-B14F-4D97-AF65-F5344CB8AC3E}">
        <p14:creationId xmlns:p14="http://schemas.microsoft.com/office/powerpoint/2010/main" val="31921082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mc:AlternateContent xmlns:mc="http://schemas.openxmlformats.org/markup-compatibility/2006" xmlns:a14="http://schemas.microsoft.com/office/drawing/2010/main">
        <mc:Choice Requires="a14">
          <p:sp>
            <p:nvSpPr>
              <p:cNvPr id="41987" name="Rectangle 7"/>
              <p:cNvSpPr>
                <a:spLocks noChangeArrowheads="1"/>
              </p:cNvSpPr>
              <p:nvPr/>
            </p:nvSpPr>
            <p:spPr bwMode="auto">
              <a:xfrm>
                <a:off x="463550" y="2276475"/>
                <a:ext cx="8429625" cy="42148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如浮点数的尾数占</a:t>
                </a:r>
                <a:r>
                  <a:rPr lang="en-US" altLang="zh-CN" sz="3200" dirty="0">
                    <a:solidFill>
                      <a:srgbClr val="000000"/>
                    </a:solidFill>
                    <a:latin typeface="楷体_GB2312" pitchFamily="49" charset="-122"/>
                    <a:ea typeface="楷体_GB2312" pitchFamily="49" charset="-122"/>
                  </a:rPr>
                  <a:t>4bit</a:t>
                </a:r>
                <a:r>
                  <a:rPr lang="zh-CN" altLang="en-US" sz="3200" dirty="0">
                    <a:solidFill>
                      <a:srgbClr val="000000"/>
                    </a:solidFill>
                    <a:latin typeface="楷体_GB2312" pitchFamily="49" charset="-122"/>
                    <a:ea typeface="楷体_GB2312" pitchFamily="49" charset="-122"/>
                  </a:rPr>
                  <a:t>，阶值占</a:t>
                </a:r>
                <a:r>
                  <a:rPr lang="en-US" altLang="zh-CN" sz="3200" dirty="0">
                    <a:solidFill>
                      <a:srgbClr val="000000"/>
                    </a:solidFill>
                    <a:latin typeface="楷体_GB2312" pitchFamily="49" charset="-122"/>
                    <a:ea typeface="楷体_GB2312" pitchFamily="49" charset="-122"/>
                  </a:rPr>
                  <a:t>2bit</a:t>
                </a:r>
                <a:r>
                  <a:rPr lang="zh-CN" altLang="en-US" sz="3200" dirty="0">
                    <a:solidFill>
                      <a:srgbClr val="000000"/>
                    </a:solidFill>
                    <a:latin typeface="楷体_GB2312" pitchFamily="49" charset="-122"/>
                    <a:ea typeface="楷体_GB2312" pitchFamily="49" charset="-122"/>
                  </a:rPr>
                  <a:t>，那么</a:t>
                </a:r>
                <a:endParaRPr lang="en-US" altLang="zh-CN" sz="3200" dirty="0">
                  <a:solidFill>
                    <a:srgbClr val="000000"/>
                  </a:solidFill>
                  <a:latin typeface="楷体_GB2312" pitchFamily="49" charset="-122"/>
                  <a:ea typeface="楷体_GB2312" pitchFamily="49" charset="-122"/>
                </a:endParaRPr>
              </a:p>
              <a:p>
                <a:pPr algn="l"/>
                <a:r>
                  <a:rPr lang="en-US" altLang="zh-CN" sz="3200" dirty="0">
                    <a:solidFill>
                      <a:srgbClr val="000000"/>
                    </a:solidFill>
                    <a:latin typeface="楷体_GB2312" pitchFamily="49" charset="-122"/>
                    <a:ea typeface="楷体_GB2312" pitchFamily="49" charset="-122"/>
                  </a:rPr>
                  <a:t>0.00000001</a:t>
                </a:r>
                <a:r>
                  <a:rPr lang="zh-CN" altLang="en-US" sz="3200" dirty="0">
                    <a:solidFill>
                      <a:srgbClr val="000000"/>
                    </a:solidFill>
                    <a:latin typeface="楷体_GB2312" pitchFamily="49" charset="-122"/>
                    <a:ea typeface="楷体_GB2312" pitchFamily="49" charset="-122"/>
                  </a:rPr>
                  <a:t>可以表示为：</a:t>
                </a:r>
                <a:endParaRPr lang="en-US" altLang="zh-CN" sz="3200" dirty="0">
                  <a:solidFill>
                    <a:srgbClr val="000000"/>
                  </a:solidFill>
                  <a:latin typeface="楷体_GB2312" pitchFamily="49" charset="-122"/>
                  <a:ea typeface="楷体_GB2312" pitchFamily="49" charset="-122"/>
                </a:endParaRPr>
              </a:p>
              <a:p>
                <a:pPr algn="ctr"/>
                <a14:m>
                  <m:oMath xmlns:m="http://schemas.openxmlformats.org/officeDocument/2006/math">
                    <m:r>
                      <a:rPr lang="en-US" altLang="zh-CN" sz="3200" b="1" i="1" smtClean="0">
                        <a:solidFill>
                          <a:srgbClr val="000000"/>
                        </a:solidFill>
                        <a:latin typeface="Cambria Math"/>
                        <a:ea typeface="楷体_GB2312" pitchFamily="49" charset="-122"/>
                      </a:rPr>
                      <m:t>𝟎</m:t>
                    </m:r>
                    <m:r>
                      <a:rPr lang="en-US" altLang="zh-CN" sz="3200" b="1" i="1" smtClean="0">
                        <a:solidFill>
                          <a:srgbClr val="000000"/>
                        </a:solidFill>
                        <a:latin typeface="Cambria Math"/>
                        <a:ea typeface="楷体_GB2312" pitchFamily="49" charset="-122"/>
                      </a:rPr>
                      <m:t>.</m:t>
                    </m:r>
                    <m:r>
                      <a:rPr lang="en-US" altLang="zh-CN" sz="3200" b="1" i="1" smtClean="0">
                        <a:solidFill>
                          <a:srgbClr val="000000"/>
                        </a:solidFill>
                        <a:latin typeface="Cambria Math"/>
                        <a:ea typeface="楷体_GB2312" pitchFamily="49" charset="-122"/>
                      </a:rPr>
                      <m:t>𝟎𝟎𝟎𝟏</m:t>
                    </m:r>
                    <m:r>
                      <a:rPr lang="en-US" altLang="zh-CN" sz="3200" b="1" i="1" smtClean="0">
                        <a:solidFill>
                          <a:srgbClr val="000000"/>
                        </a:solidFill>
                        <a:latin typeface="Cambria Math"/>
                        <a:ea typeface="Cambria Math"/>
                      </a:rPr>
                      <m:t>×</m:t>
                    </m:r>
                    <m:sSup>
                      <m:sSupPr>
                        <m:ctrlPr>
                          <a:rPr lang="en-US" altLang="zh-CN" sz="3200" b="1" i="1" smtClean="0">
                            <a:solidFill>
                              <a:srgbClr val="000000"/>
                            </a:solidFill>
                            <a:latin typeface="Cambria Math" panose="02040503050406030204" pitchFamily="18" charset="0"/>
                            <a:ea typeface="Cambria Math"/>
                          </a:rPr>
                        </m:ctrlPr>
                      </m:sSupPr>
                      <m:e>
                        <m:r>
                          <a:rPr lang="en-US" altLang="zh-CN" sz="3200" b="1" i="1" smtClean="0">
                            <a:solidFill>
                              <a:srgbClr val="000000"/>
                            </a:solidFill>
                            <a:latin typeface="Cambria Math"/>
                            <a:ea typeface="Cambria Math"/>
                          </a:rPr>
                          <m:t>𝟐</m:t>
                        </m:r>
                      </m:e>
                      <m:sup>
                        <m:r>
                          <a:rPr lang="en-US" altLang="zh-CN" sz="3200" b="1" i="1" smtClean="0">
                            <a:solidFill>
                              <a:srgbClr val="000000"/>
                            </a:solidFill>
                            <a:latin typeface="Cambria Math"/>
                            <a:ea typeface="Cambria Math"/>
                          </a:rPr>
                          <m:t>−</m:t>
                        </m:r>
                        <m:r>
                          <a:rPr lang="en-US" altLang="zh-CN" sz="3200" b="1" i="1" smtClean="0">
                            <a:solidFill>
                              <a:srgbClr val="000000"/>
                            </a:solidFill>
                            <a:latin typeface="Cambria Math"/>
                            <a:ea typeface="Cambria Math"/>
                          </a:rPr>
                          <m:t>𝟒</m:t>
                        </m:r>
                      </m:sup>
                    </m:sSup>
                  </m:oMath>
                </a14:m>
                <a:r>
                  <a:rPr lang="zh-CN" altLang="en-US" sz="3200" dirty="0">
                    <a:solidFill>
                      <a:srgbClr val="000000"/>
                    </a:solidFill>
                    <a:latin typeface="楷体_GB2312" pitchFamily="49" charset="-122"/>
                    <a:ea typeface="楷体_GB2312" pitchFamily="49" charset="-122"/>
                  </a:rPr>
                  <a:t>或</a:t>
                </a:r>
                <a:endParaRPr lang="en-US" altLang="zh-CN" sz="3200" dirty="0">
                  <a:solidFill>
                    <a:srgbClr val="000000"/>
                  </a:solidFill>
                  <a:latin typeface="楷体_GB2312" pitchFamily="49" charset="-122"/>
                  <a:ea typeface="楷体_GB2312" pitchFamily="49" charset="-122"/>
                </a:endParaRPr>
              </a:p>
              <a:p>
                <a:pPr algn="ctr"/>
                <a14:m>
                  <m:oMath xmlns:m="http://schemas.openxmlformats.org/officeDocument/2006/math">
                    <m:r>
                      <a:rPr lang="en-US" altLang="zh-CN" sz="3200" i="1">
                        <a:solidFill>
                          <a:srgbClr val="000000"/>
                        </a:solidFill>
                        <a:latin typeface="Cambria Math"/>
                        <a:ea typeface="楷体_GB2312" pitchFamily="49" charset="-122"/>
                      </a:rPr>
                      <m:t>𝟎</m:t>
                    </m:r>
                    <m:r>
                      <a:rPr lang="en-US" altLang="zh-CN" sz="3200" i="1">
                        <a:solidFill>
                          <a:srgbClr val="000000"/>
                        </a:solidFill>
                        <a:latin typeface="Cambria Math"/>
                        <a:ea typeface="楷体_GB2312" pitchFamily="49" charset="-122"/>
                      </a:rPr>
                      <m:t>.</m:t>
                    </m:r>
                    <m:r>
                      <a:rPr lang="en-US" altLang="zh-CN" sz="3200" i="1">
                        <a:solidFill>
                          <a:srgbClr val="000000"/>
                        </a:solidFill>
                        <a:latin typeface="Cambria Math"/>
                        <a:ea typeface="楷体_GB2312" pitchFamily="49" charset="-122"/>
                      </a:rPr>
                      <m:t>𝟎</m:t>
                    </m:r>
                    <m:r>
                      <a:rPr lang="en-US" altLang="zh-CN" sz="3200" b="1" i="1" smtClean="0">
                        <a:solidFill>
                          <a:srgbClr val="000000"/>
                        </a:solidFill>
                        <a:latin typeface="Cambria Math"/>
                        <a:ea typeface="楷体_GB2312" pitchFamily="49" charset="-122"/>
                      </a:rPr>
                      <m:t>𝟎</m:t>
                    </m:r>
                    <m:r>
                      <a:rPr lang="en-US" altLang="zh-CN" sz="3200" i="1">
                        <a:solidFill>
                          <a:srgbClr val="000000"/>
                        </a:solidFill>
                        <a:latin typeface="Cambria Math"/>
                        <a:ea typeface="楷体_GB2312" pitchFamily="49" charset="-122"/>
                      </a:rPr>
                      <m:t>𝟎𝟎𝟏</m:t>
                    </m:r>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i="1">
                            <a:solidFill>
                              <a:srgbClr val="000000"/>
                            </a:solidFill>
                            <a:latin typeface="Cambria Math"/>
                            <a:ea typeface="Cambria Math"/>
                          </a:rPr>
                          <m:t>−</m:t>
                        </m:r>
                        <m:r>
                          <a:rPr lang="en-US" altLang="zh-CN" sz="3200" b="1" i="1" smtClean="0">
                            <a:solidFill>
                              <a:srgbClr val="000000"/>
                            </a:solidFill>
                            <a:latin typeface="Cambria Math"/>
                            <a:ea typeface="Cambria Math"/>
                          </a:rPr>
                          <m:t>𝟑</m:t>
                        </m:r>
                      </m:sup>
                    </m:sSup>
                  </m:oMath>
                </a14:m>
                <a:r>
                  <a:rPr lang="zh-CN" altLang="en-US" sz="3200" dirty="0">
                    <a:solidFill>
                      <a:srgbClr val="000000"/>
                    </a:solidFill>
                    <a:latin typeface="楷体_GB2312" pitchFamily="49" charset="-122"/>
                    <a:ea typeface="楷体_GB2312" pitchFamily="49" charset="-122"/>
                  </a:rPr>
                  <a:t>或</a:t>
                </a:r>
                <a:endParaRPr lang="en-US" altLang="zh-CN" sz="3200" dirty="0">
                  <a:solidFill>
                    <a:srgbClr val="000000"/>
                  </a:solidFill>
                  <a:latin typeface="楷体_GB2312" pitchFamily="49" charset="-122"/>
                  <a:ea typeface="楷体_GB2312" pitchFamily="49" charset="-122"/>
                </a:endParaRPr>
              </a:p>
              <a:p>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a:ea typeface="楷体_GB2312" pitchFamily="49" charset="-122"/>
                        </a:rPr>
                        <m:t>𝟎</m:t>
                      </m:r>
                      <m:r>
                        <a:rPr lang="en-US" altLang="zh-CN" sz="3200" i="1">
                          <a:solidFill>
                            <a:srgbClr val="000000"/>
                          </a:solidFill>
                          <a:latin typeface="Cambria Math"/>
                          <a:ea typeface="楷体_GB2312" pitchFamily="49" charset="-122"/>
                        </a:rPr>
                        <m:t>.</m:t>
                      </m:r>
                      <m:r>
                        <a:rPr lang="en-US" altLang="zh-CN" sz="3200" i="1">
                          <a:solidFill>
                            <a:srgbClr val="000000"/>
                          </a:solidFill>
                          <a:latin typeface="Cambria Math"/>
                          <a:ea typeface="楷体_GB2312" pitchFamily="49" charset="-122"/>
                        </a:rPr>
                        <m:t>𝟎𝟎</m:t>
                      </m:r>
                      <m:r>
                        <a:rPr lang="en-US" altLang="zh-CN" sz="3200" b="1" i="1" smtClean="0">
                          <a:solidFill>
                            <a:srgbClr val="000000"/>
                          </a:solidFill>
                          <a:latin typeface="Cambria Math"/>
                          <a:ea typeface="楷体_GB2312" pitchFamily="49" charset="-122"/>
                        </a:rPr>
                        <m:t>𝟎𝟎</m:t>
                      </m:r>
                      <m:r>
                        <a:rPr lang="en-US" altLang="zh-CN" sz="3200" i="1">
                          <a:solidFill>
                            <a:srgbClr val="000000"/>
                          </a:solidFill>
                          <a:latin typeface="Cambria Math"/>
                          <a:ea typeface="楷体_GB2312" pitchFamily="49" charset="-122"/>
                        </a:rPr>
                        <m:t>𝟎𝟏</m:t>
                      </m:r>
                      <m:r>
                        <a:rPr lang="en-US" altLang="zh-CN" sz="3200" i="1">
                          <a:solidFill>
                            <a:srgbClr val="000000"/>
                          </a:solidFill>
                          <a:latin typeface="Cambria Math"/>
                          <a:ea typeface="Cambria Math"/>
                        </a:rPr>
                        <m:t>×</m:t>
                      </m:r>
                      <m:sSup>
                        <m:sSupPr>
                          <m:ctrlPr>
                            <a:rPr lang="en-US" altLang="zh-CN" sz="3200" i="1">
                              <a:solidFill>
                                <a:srgbClr val="000000"/>
                              </a:solidFill>
                              <a:latin typeface="Cambria Math" panose="02040503050406030204" pitchFamily="18" charset="0"/>
                              <a:ea typeface="Cambria Math"/>
                            </a:rPr>
                          </m:ctrlPr>
                        </m:sSupPr>
                        <m:e>
                          <m:r>
                            <a:rPr lang="en-US" altLang="zh-CN" sz="3200" i="1">
                              <a:solidFill>
                                <a:srgbClr val="000000"/>
                              </a:solidFill>
                              <a:latin typeface="Cambria Math"/>
                              <a:ea typeface="Cambria Math"/>
                            </a:rPr>
                            <m:t>𝟐</m:t>
                          </m:r>
                        </m:e>
                        <m:sup>
                          <m:r>
                            <a:rPr lang="en-US" altLang="zh-CN" sz="3200" i="1">
                              <a:solidFill>
                                <a:srgbClr val="000000"/>
                              </a:solidFill>
                              <a:latin typeface="Cambria Math"/>
                              <a:ea typeface="Cambria Math"/>
                            </a:rPr>
                            <m:t>−</m:t>
                          </m:r>
                          <m:r>
                            <a:rPr lang="en-US" altLang="zh-CN" sz="3200" b="1" i="1" smtClean="0">
                              <a:solidFill>
                                <a:srgbClr val="000000"/>
                              </a:solidFill>
                              <a:latin typeface="Cambria Math"/>
                              <a:ea typeface="Cambria Math"/>
                            </a:rPr>
                            <m:t>𝟐</m:t>
                          </m:r>
                        </m:sup>
                      </m:sSup>
                    </m:oMath>
                  </m:oMathPara>
                </a14:m>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mc:Choice>
        <mc:Fallback xmlns="">
          <p:sp>
            <p:nvSpPr>
              <p:cNvPr id="41987" name="Rectangle 7"/>
              <p:cNvSpPr>
                <a:spLocks noRot="1" noChangeAspect="1" noMove="1" noResize="1" noEditPoints="1" noAdjustHandles="1" noChangeArrowheads="1" noChangeShapeType="1" noTextEdit="1"/>
              </p:cNvSpPr>
              <p:nvPr/>
            </p:nvSpPr>
            <p:spPr bwMode="auto">
              <a:xfrm>
                <a:off x="463550" y="2276475"/>
                <a:ext cx="8429625" cy="4214813"/>
              </a:xfrm>
              <a:prstGeom prst="rect">
                <a:avLst/>
              </a:prstGeom>
              <a:blipFill rotWithShape="1">
                <a:blip r:embed="rId3"/>
                <a:stretch>
                  <a:fillRect l="-1808" t="-187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矩形标注 3"/>
          <p:cNvSpPr/>
          <p:nvPr/>
        </p:nvSpPr>
        <p:spPr bwMode="auto">
          <a:xfrm>
            <a:off x="0" y="4725144"/>
            <a:ext cx="2376264" cy="1323439"/>
          </a:xfrm>
          <a:prstGeom prst="wedgeRectCallout">
            <a:avLst>
              <a:gd name="adj1" fmla="val 86668"/>
              <a:gd name="adj2" fmla="val -92136"/>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r>
              <a:rPr lang="zh-CN" altLang="en-US" sz="1600" dirty="0">
                <a:solidFill>
                  <a:srgbClr val="000000"/>
                </a:solidFill>
                <a:latin typeface="楷体_GB2312" pitchFamily="49" charset="-122"/>
                <a:ea typeface="楷体_GB2312" pitchFamily="49" charset="-122"/>
              </a:rPr>
              <a:t>当阶值位于</a:t>
            </a:r>
            <a:r>
              <a:rPr lang="en-US" altLang="zh-CN" sz="1600" dirty="0">
                <a:solidFill>
                  <a:srgbClr val="000000"/>
                </a:solidFill>
                <a:latin typeface="楷体_GB2312" pitchFamily="49" charset="-122"/>
                <a:ea typeface="楷体_GB2312" pitchFamily="49" charset="-122"/>
              </a:rPr>
              <a:t>2bit</a:t>
            </a:r>
            <a:r>
              <a:rPr lang="zh-CN" altLang="en-US" sz="1600" dirty="0">
                <a:solidFill>
                  <a:srgbClr val="000000"/>
                </a:solidFill>
                <a:latin typeface="楷体_GB2312" pitchFamily="49" charset="-122"/>
                <a:ea typeface="楷体_GB2312" pitchFamily="49" charset="-122"/>
              </a:rPr>
              <a:t>所能表示的范围</a:t>
            </a:r>
            <a:r>
              <a:rPr lang="en-US" altLang="zh-CN" sz="1600" dirty="0">
                <a:solidFill>
                  <a:srgbClr val="000000"/>
                </a:solidFill>
                <a:latin typeface="楷体_GB2312" pitchFamily="49" charset="-122"/>
                <a:ea typeface="楷体_GB2312" pitchFamily="49" charset="-122"/>
              </a:rPr>
              <a:t>[-3 3]</a:t>
            </a:r>
          </a:p>
          <a:p>
            <a:r>
              <a:rPr lang="zh-CN" altLang="en-US" sz="1600" dirty="0">
                <a:solidFill>
                  <a:srgbClr val="000000"/>
                </a:solidFill>
                <a:latin typeface="楷体_GB2312" pitchFamily="49" charset="-122"/>
                <a:ea typeface="楷体_GB2312" pitchFamily="49" charset="-122"/>
              </a:rPr>
              <a:t>内之时，尾数的位数必然会超过</a:t>
            </a:r>
            <a:r>
              <a:rPr lang="en-US" altLang="zh-CN" sz="1600" dirty="0">
                <a:solidFill>
                  <a:srgbClr val="000000"/>
                </a:solidFill>
                <a:latin typeface="楷体_GB2312" pitchFamily="49" charset="-122"/>
                <a:ea typeface="楷体_GB2312" pitchFamily="49" charset="-122"/>
              </a:rPr>
              <a:t>4bit</a:t>
            </a:r>
            <a:r>
              <a:rPr lang="zh-CN" altLang="en-US" sz="1600" dirty="0">
                <a:solidFill>
                  <a:srgbClr val="000000"/>
                </a:solidFill>
                <a:latin typeface="楷体_GB2312" pitchFamily="49" charset="-122"/>
                <a:ea typeface="楷体_GB2312" pitchFamily="49" charset="-122"/>
              </a:rPr>
              <a:t>，此时叫做阶值下溢。</a:t>
            </a:r>
            <a:endParaRPr lang="zh-CN" altLang="en-US" sz="1600" dirty="0"/>
          </a:p>
        </p:txBody>
      </p:sp>
    </p:spTree>
    <p:extLst>
      <p:ext uri="{BB962C8B-B14F-4D97-AF65-F5344CB8AC3E}">
        <p14:creationId xmlns:p14="http://schemas.microsoft.com/office/powerpoint/2010/main" val="22172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44035"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可见当阶值位于</a:t>
            </a:r>
            <a:r>
              <a:rPr lang="en-US" altLang="zh-CN" sz="3200" dirty="0">
                <a:solidFill>
                  <a:srgbClr val="000000"/>
                </a:solidFill>
                <a:latin typeface="楷体_GB2312" pitchFamily="49" charset="-122"/>
                <a:ea typeface="楷体_GB2312" pitchFamily="49" charset="-122"/>
              </a:rPr>
              <a:t>2bit</a:t>
            </a:r>
            <a:r>
              <a:rPr lang="zh-CN" altLang="en-US" sz="3200" dirty="0">
                <a:solidFill>
                  <a:srgbClr val="000000"/>
                </a:solidFill>
                <a:latin typeface="楷体_GB2312" pitchFamily="49" charset="-122"/>
                <a:ea typeface="楷体_GB2312" pitchFamily="49" charset="-122"/>
              </a:rPr>
              <a:t>所能表示的范围</a:t>
            </a:r>
            <a:r>
              <a:rPr lang="en-US" altLang="zh-CN" sz="3200" dirty="0">
                <a:solidFill>
                  <a:srgbClr val="000000"/>
                </a:solidFill>
                <a:latin typeface="楷体_GB2312" pitchFamily="49" charset="-122"/>
                <a:ea typeface="楷体_GB2312" pitchFamily="49" charset="-122"/>
              </a:rPr>
              <a:t>[-3 3]</a:t>
            </a:r>
          </a:p>
          <a:p>
            <a:pPr algn="l"/>
            <a:r>
              <a:rPr lang="zh-CN" altLang="en-US" sz="3200" dirty="0">
                <a:solidFill>
                  <a:srgbClr val="000000"/>
                </a:solidFill>
                <a:latin typeface="楷体_GB2312" pitchFamily="49" charset="-122"/>
                <a:ea typeface="楷体_GB2312" pitchFamily="49" charset="-122"/>
              </a:rPr>
              <a:t>内之时，尾数的位数必然会超过</a:t>
            </a:r>
            <a:r>
              <a:rPr lang="en-US" altLang="zh-CN" sz="3200" dirty="0">
                <a:solidFill>
                  <a:srgbClr val="000000"/>
                </a:solidFill>
                <a:latin typeface="楷体_GB2312" pitchFamily="49" charset="-122"/>
                <a:ea typeface="楷体_GB2312" pitchFamily="49" charset="-122"/>
              </a:rPr>
              <a:t>4bit</a:t>
            </a:r>
            <a:r>
              <a:rPr lang="zh-CN" altLang="en-US" sz="3200" dirty="0">
                <a:solidFill>
                  <a:srgbClr val="000000"/>
                </a:solidFill>
                <a:latin typeface="楷体_GB2312" pitchFamily="49" charset="-122"/>
                <a:ea typeface="楷体_GB2312" pitchFamily="49" charset="-122"/>
              </a:rPr>
              <a:t>，这是无法表示的。</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对于比较小的浮点数可能会造成阶值下溢，因为数字一般较小，所以下溢时会把数按</a:t>
            </a:r>
            <a:r>
              <a:rPr lang="en-US" altLang="zh-CN" sz="3200" dirty="0">
                <a:solidFill>
                  <a:srgbClr val="000000"/>
                </a:solidFill>
                <a:latin typeface="楷体_GB2312" pitchFamily="49" charset="-122"/>
                <a:ea typeface="楷体_GB2312" pitchFamily="49" charset="-122"/>
              </a:rPr>
              <a:t>0</a:t>
            </a:r>
            <a:r>
              <a:rPr lang="zh-CN" altLang="en-US" sz="3200" dirty="0">
                <a:solidFill>
                  <a:srgbClr val="000000"/>
                </a:solidFill>
                <a:latin typeface="楷体_GB2312" pitchFamily="49" charset="-122"/>
                <a:ea typeface="楷体_GB2312" pitchFamily="49" charset="-122"/>
              </a:rPr>
              <a:t>处理。</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292086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45059"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上溢：当阶码的值超出机器中能表示的最大值时，称为“上溢”。</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332498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35843" name="Rectangle 7"/>
          <p:cNvSpPr>
            <a:spLocks noRot="1" noChangeAspect="1" noMove="1" noResize="1" noEditPoints="1" noAdjustHandles="1" noChangeArrowheads="1" noChangeShapeType="1" noTextEdit="1"/>
          </p:cNvSpPr>
          <p:nvPr/>
        </p:nvSpPr>
        <p:spPr bwMode="auto">
          <a:xfrm>
            <a:off x="463550" y="2276475"/>
            <a:ext cx="8429625" cy="4214813"/>
          </a:xfrm>
          <a:prstGeom prst="rect">
            <a:avLst/>
          </a:prstGeom>
          <a:blipFill rotWithShape="1">
            <a:blip r:embed="rId3"/>
            <a:stretch>
              <a:fillRect l="-1808" t="-187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4" name="矩形标注 3"/>
          <p:cNvSpPr/>
          <p:nvPr/>
        </p:nvSpPr>
        <p:spPr bwMode="auto">
          <a:xfrm>
            <a:off x="5004048" y="5229200"/>
            <a:ext cx="1800200" cy="432048"/>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5" name="矩形标注 4"/>
          <p:cNvSpPr/>
          <p:nvPr/>
        </p:nvSpPr>
        <p:spPr bwMode="auto">
          <a:xfrm>
            <a:off x="-3060848" y="-171400"/>
            <a:ext cx="914400" cy="612648"/>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6" name="矩形标注 5"/>
          <p:cNvSpPr/>
          <p:nvPr/>
        </p:nvSpPr>
        <p:spPr bwMode="auto">
          <a:xfrm>
            <a:off x="335868" y="3371508"/>
            <a:ext cx="2376264" cy="1569660"/>
          </a:xfrm>
          <a:prstGeom prst="wedgeRectCallout">
            <a:avLst>
              <a:gd name="adj1" fmla="val 61626"/>
              <a:gd name="adj2" fmla="val -34010"/>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r>
              <a:rPr lang="zh-CN" altLang="en-US" sz="1600" dirty="0">
                <a:solidFill>
                  <a:srgbClr val="000000"/>
                </a:solidFill>
                <a:latin typeface="楷体_GB2312" pitchFamily="49" charset="-122"/>
                <a:ea typeface="楷体_GB2312" pitchFamily="49" charset="-122"/>
              </a:rPr>
              <a:t>当阶值位于</a:t>
            </a:r>
            <a:r>
              <a:rPr lang="en-US" altLang="zh-CN" sz="1600" dirty="0">
                <a:solidFill>
                  <a:srgbClr val="000000"/>
                </a:solidFill>
                <a:latin typeface="楷体_GB2312" pitchFamily="49" charset="-122"/>
                <a:ea typeface="楷体_GB2312" pitchFamily="49" charset="-122"/>
              </a:rPr>
              <a:t>2bit</a:t>
            </a:r>
            <a:r>
              <a:rPr lang="zh-CN" altLang="en-US" sz="1600" dirty="0">
                <a:solidFill>
                  <a:srgbClr val="000000"/>
                </a:solidFill>
                <a:latin typeface="楷体_GB2312" pitchFamily="49" charset="-122"/>
                <a:ea typeface="楷体_GB2312" pitchFamily="49" charset="-122"/>
              </a:rPr>
              <a:t>所能表示的范围</a:t>
            </a:r>
            <a:r>
              <a:rPr lang="en-US" altLang="zh-CN" sz="1600" dirty="0">
                <a:solidFill>
                  <a:srgbClr val="000000"/>
                </a:solidFill>
                <a:latin typeface="楷体_GB2312" pitchFamily="49" charset="-122"/>
                <a:ea typeface="楷体_GB2312" pitchFamily="49" charset="-122"/>
              </a:rPr>
              <a:t>[-3 3]</a:t>
            </a:r>
          </a:p>
          <a:p>
            <a:r>
              <a:rPr lang="zh-CN" altLang="en-US" sz="1600" dirty="0">
                <a:solidFill>
                  <a:srgbClr val="000000"/>
                </a:solidFill>
                <a:latin typeface="楷体_GB2312" pitchFamily="49" charset="-122"/>
                <a:ea typeface="楷体_GB2312" pitchFamily="49" charset="-122"/>
              </a:rPr>
              <a:t>内之时，尾数</a:t>
            </a:r>
            <a:r>
              <a:rPr lang="en-US" altLang="zh-CN" sz="1600" dirty="0">
                <a:solidFill>
                  <a:srgbClr val="000000"/>
                </a:solidFill>
                <a:latin typeface="楷体_GB2312" pitchFamily="49" charset="-122"/>
                <a:ea typeface="楷体_GB2312" pitchFamily="49" charset="-122"/>
              </a:rPr>
              <a:t>(</a:t>
            </a:r>
            <a:r>
              <a:rPr lang="zh-CN" altLang="en-US" sz="1600" dirty="0">
                <a:solidFill>
                  <a:srgbClr val="000000"/>
                </a:solidFill>
                <a:latin typeface="楷体_GB2312" pitchFamily="49" charset="-122"/>
                <a:ea typeface="楷体_GB2312" pitchFamily="49" charset="-122"/>
              </a:rPr>
              <a:t>这里只取尾数的整数部分</a:t>
            </a:r>
            <a:r>
              <a:rPr lang="en-US" altLang="zh-CN" sz="1600" dirty="0">
                <a:solidFill>
                  <a:srgbClr val="000000"/>
                </a:solidFill>
                <a:latin typeface="楷体_GB2312" pitchFamily="49" charset="-122"/>
                <a:ea typeface="楷体_GB2312" pitchFamily="49" charset="-122"/>
              </a:rPr>
              <a:t>)</a:t>
            </a:r>
            <a:r>
              <a:rPr lang="zh-CN" altLang="en-US" sz="1600" dirty="0">
                <a:solidFill>
                  <a:srgbClr val="000000"/>
                </a:solidFill>
                <a:latin typeface="楷体_GB2312" pitchFamily="49" charset="-122"/>
                <a:ea typeface="楷体_GB2312" pitchFamily="49" charset="-122"/>
              </a:rPr>
              <a:t>的位数必然会超过</a:t>
            </a:r>
            <a:r>
              <a:rPr lang="en-US" altLang="zh-CN" sz="1600" dirty="0">
                <a:solidFill>
                  <a:srgbClr val="000000"/>
                </a:solidFill>
                <a:latin typeface="楷体_GB2312" pitchFamily="49" charset="-122"/>
                <a:ea typeface="楷体_GB2312" pitchFamily="49" charset="-122"/>
              </a:rPr>
              <a:t>4bit</a:t>
            </a:r>
            <a:r>
              <a:rPr lang="zh-CN" altLang="en-US" sz="1600" dirty="0">
                <a:solidFill>
                  <a:srgbClr val="000000"/>
                </a:solidFill>
                <a:latin typeface="楷体_GB2312" pitchFamily="49" charset="-122"/>
                <a:ea typeface="楷体_GB2312" pitchFamily="49" charset="-122"/>
              </a:rPr>
              <a:t>，此时出现阶值上溢。</a:t>
            </a:r>
            <a:endParaRPr lang="zh-CN" altLang="en-US" sz="1600" dirty="0"/>
          </a:p>
        </p:txBody>
      </p:sp>
    </p:spTree>
    <p:extLst>
      <p:ext uri="{BB962C8B-B14F-4D97-AF65-F5344CB8AC3E}">
        <p14:creationId xmlns:p14="http://schemas.microsoft.com/office/powerpoint/2010/main" val="15476069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2.1.1</a:t>
            </a:r>
            <a:r>
              <a:rPr kumimoji="1" lang="zh-CN" altLang="en-US" sz="2000" kern="0" dirty="0">
                <a:solidFill>
                  <a:srgbClr val="000000"/>
                </a:solidFill>
                <a:latin typeface="楷体_GB2312" pitchFamily="49" charset="-122"/>
                <a:ea typeface="楷体_GB2312" pitchFamily="49" charset="-122"/>
              </a:rPr>
              <a:t>数的定点和浮点表示</a:t>
            </a:r>
          </a:p>
        </p:txBody>
      </p:sp>
      <p:sp>
        <p:nvSpPr>
          <p:cNvPr id="47107" name="Rectangle 7"/>
          <p:cNvSpPr>
            <a:spLocks noChangeArrowheads="1"/>
          </p:cNvSpPr>
          <p:nvPr/>
        </p:nvSpPr>
        <p:spPr bwMode="auto">
          <a:xfrm>
            <a:off x="463550" y="2276475"/>
            <a:ext cx="842962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可见当阶值位于</a:t>
            </a:r>
            <a:r>
              <a:rPr lang="en-US" altLang="zh-CN" sz="3200" dirty="0">
                <a:solidFill>
                  <a:srgbClr val="000000"/>
                </a:solidFill>
                <a:latin typeface="楷体_GB2312" pitchFamily="49" charset="-122"/>
                <a:ea typeface="楷体_GB2312" pitchFamily="49" charset="-122"/>
              </a:rPr>
              <a:t>2bit</a:t>
            </a:r>
            <a:r>
              <a:rPr lang="zh-CN" altLang="en-US" sz="3200" dirty="0">
                <a:solidFill>
                  <a:srgbClr val="000000"/>
                </a:solidFill>
                <a:latin typeface="楷体_GB2312" pitchFamily="49" charset="-122"/>
                <a:ea typeface="楷体_GB2312" pitchFamily="49" charset="-122"/>
              </a:rPr>
              <a:t>所能表示的范围</a:t>
            </a:r>
            <a:r>
              <a:rPr lang="en-US" altLang="zh-CN" sz="3200" dirty="0">
                <a:solidFill>
                  <a:srgbClr val="000000"/>
                </a:solidFill>
                <a:latin typeface="楷体_GB2312" pitchFamily="49" charset="-122"/>
                <a:ea typeface="楷体_GB2312" pitchFamily="49" charset="-122"/>
              </a:rPr>
              <a:t>[-3 3]</a:t>
            </a:r>
          </a:p>
          <a:p>
            <a:pPr algn="l"/>
            <a:r>
              <a:rPr lang="zh-CN" altLang="en-US" sz="3200" dirty="0">
                <a:solidFill>
                  <a:srgbClr val="000000"/>
                </a:solidFill>
                <a:latin typeface="楷体_GB2312" pitchFamily="49" charset="-122"/>
                <a:ea typeface="楷体_GB2312" pitchFamily="49" charset="-122"/>
              </a:rPr>
              <a:t>内之时，尾数</a:t>
            </a:r>
            <a:r>
              <a:rPr lang="en-US" altLang="zh-CN" sz="3200" dirty="0">
                <a:solidFill>
                  <a:srgbClr val="000000"/>
                </a:solidFill>
                <a:latin typeface="楷体_GB2312" pitchFamily="49" charset="-122"/>
                <a:ea typeface="楷体_GB2312" pitchFamily="49" charset="-122"/>
              </a:rPr>
              <a:t>(</a:t>
            </a:r>
            <a:r>
              <a:rPr lang="zh-CN" altLang="en-US" sz="3200" dirty="0">
                <a:solidFill>
                  <a:srgbClr val="000000"/>
                </a:solidFill>
                <a:latin typeface="楷体_GB2312" pitchFamily="49" charset="-122"/>
                <a:ea typeface="楷体_GB2312" pitchFamily="49" charset="-122"/>
              </a:rPr>
              <a:t>这里只取尾数的整数部分</a:t>
            </a:r>
            <a:r>
              <a:rPr lang="en-US" altLang="zh-CN" sz="3200" dirty="0">
                <a:solidFill>
                  <a:srgbClr val="000000"/>
                </a:solidFill>
                <a:latin typeface="楷体_GB2312" pitchFamily="49" charset="-122"/>
                <a:ea typeface="楷体_GB2312" pitchFamily="49" charset="-122"/>
              </a:rPr>
              <a:t>)</a:t>
            </a:r>
            <a:r>
              <a:rPr lang="zh-CN" altLang="en-US" sz="3200" dirty="0">
                <a:solidFill>
                  <a:srgbClr val="000000"/>
                </a:solidFill>
                <a:latin typeface="楷体_GB2312" pitchFamily="49" charset="-122"/>
                <a:ea typeface="楷体_GB2312" pitchFamily="49" charset="-122"/>
              </a:rPr>
              <a:t>的位数必然会超过</a:t>
            </a:r>
            <a:r>
              <a:rPr lang="en-US" altLang="zh-CN" sz="3200" dirty="0">
                <a:solidFill>
                  <a:srgbClr val="000000"/>
                </a:solidFill>
                <a:latin typeface="楷体_GB2312" pitchFamily="49" charset="-122"/>
                <a:ea typeface="楷体_GB2312" pitchFamily="49" charset="-122"/>
              </a:rPr>
              <a:t>4bit</a:t>
            </a:r>
            <a:r>
              <a:rPr lang="zh-CN" altLang="en-US" sz="3200" dirty="0">
                <a:solidFill>
                  <a:srgbClr val="000000"/>
                </a:solidFill>
                <a:latin typeface="楷体_GB2312" pitchFamily="49" charset="-122"/>
                <a:ea typeface="楷体_GB2312" pitchFamily="49" charset="-122"/>
              </a:rPr>
              <a:t>，这是无法表示的。</a:t>
            </a:r>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对于比较大的浮点数可能会造成阶值上溢，上溢即超出了浮点数的表示范围。</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000000"/>
                </a:solidFill>
                <a:latin typeface="楷体_GB2312" pitchFamily="49" charset="-122"/>
                <a:ea typeface="楷体_GB2312" pitchFamily="49" charset="-122"/>
              </a:rPr>
              <a:t>对计算机来说，上溢是一种错误。</a:t>
            </a:r>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6890427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3" name="Rectangle 7"/>
          <p:cNvSpPr>
            <a:spLocks noChangeArrowheads="1"/>
          </p:cNvSpPr>
          <p:nvPr/>
        </p:nvSpPr>
        <p:spPr bwMode="auto">
          <a:xfrm>
            <a:off x="428625" y="1785938"/>
            <a:ext cx="8429625" cy="4214812"/>
          </a:xfrm>
          <a:prstGeom prst="rect">
            <a:avLst/>
          </a:prstGeom>
          <a:noFill/>
          <a:ln w="9525">
            <a:noFill/>
            <a:miter lim="800000"/>
            <a:headEnd/>
            <a:tailEnd/>
          </a:ln>
        </p:spPr>
        <p:txBody>
          <a:bodyPr/>
          <a:lstStyle/>
          <a:p>
            <a:pPr algn="l" eaLnBrk="0" hangingPunct="0">
              <a:defRPr/>
            </a:pPr>
            <a:r>
              <a:rPr lang="en-US" altLang="zh-CN" sz="3200" b="1" dirty="0">
                <a:solidFill>
                  <a:srgbClr val="000000"/>
                </a:solidFill>
                <a:latin typeface="楷体_GB2312" pitchFamily="49" charset="-122"/>
                <a:ea typeface="楷体_GB2312" pitchFamily="49" charset="-122"/>
              </a:rPr>
              <a:t>2.1.2</a:t>
            </a:r>
            <a:r>
              <a:rPr lang="zh-CN" altLang="en-US" sz="3200" b="1" dirty="0">
                <a:solidFill>
                  <a:srgbClr val="000000"/>
                </a:solidFill>
                <a:latin typeface="楷体_GB2312" pitchFamily="49" charset="-122"/>
                <a:ea typeface="楷体_GB2312" pitchFamily="49" charset="-122"/>
              </a:rPr>
              <a:t>机器数的编码表示</a:t>
            </a:r>
            <a:endParaRPr lang="en-US" altLang="zh-CN" sz="3200" b="1" dirty="0">
              <a:solidFill>
                <a:srgbClr val="000000"/>
              </a:solidFill>
              <a:latin typeface="楷体_GB2312" pitchFamily="49" charset="-122"/>
              <a:ea typeface="楷体_GB2312" pitchFamily="49" charset="-122"/>
            </a:endParaRPr>
          </a:p>
          <a:p>
            <a:pPr algn="l" eaLnBrk="0" hangingPunct="0">
              <a:defRPr/>
            </a:pPr>
            <a:r>
              <a:rPr lang="en-US" altLang="zh-CN" sz="3200" b="1" dirty="0">
                <a:solidFill>
                  <a:srgbClr val="000000"/>
                </a:solidFill>
                <a:latin typeface="楷体_GB2312" pitchFamily="49" charset="-122"/>
                <a:ea typeface="楷体_GB2312" pitchFamily="49" charset="-122"/>
              </a:rPr>
              <a:t>1.</a:t>
            </a:r>
            <a:r>
              <a:rPr lang="zh-CN" altLang="en-US" sz="3200" b="1" dirty="0">
                <a:solidFill>
                  <a:srgbClr val="000000"/>
                </a:solidFill>
                <a:latin typeface="楷体_GB2312" pitchFamily="49" charset="-122"/>
                <a:ea typeface="楷体_GB2312" pitchFamily="49" charset="-122"/>
              </a:rPr>
              <a:t>带符号数的表示</a:t>
            </a:r>
            <a:endParaRPr lang="en-US" altLang="zh-CN" sz="3200" b="1" dirty="0">
              <a:solidFill>
                <a:srgbClr val="000000"/>
              </a:solidFill>
              <a:latin typeface="楷体_GB2312" pitchFamily="49" charset="-122"/>
              <a:ea typeface="楷体_GB2312" pitchFamily="49" charset="-122"/>
            </a:endParaRPr>
          </a:p>
          <a:p>
            <a:pPr algn="l" eaLnBrk="0" hangingPunct="0">
              <a:defRPr/>
            </a:pPr>
            <a:r>
              <a:rPr lang="zh-CN" altLang="en-US" sz="3200" b="1" dirty="0">
                <a:solidFill>
                  <a:srgbClr val="000000"/>
                </a:solidFill>
                <a:latin typeface="楷体_GB2312" pitchFamily="49" charset="-122"/>
                <a:ea typeface="楷体_GB2312" pitchFamily="49" charset="-122"/>
              </a:rPr>
              <a:t>    一般情况下，通常用二进制数的最高位表示数的符号，把一个数及符号在机器中的表示加以数值化（二进制位来表示），这样的数称为</a:t>
            </a:r>
            <a:r>
              <a:rPr lang="zh-CN" altLang="en-US" sz="3200" b="1" dirty="0">
                <a:solidFill>
                  <a:srgbClr val="FF0000"/>
                </a:solidFill>
                <a:latin typeface="楷体_GB2312" pitchFamily="49" charset="-122"/>
                <a:ea typeface="楷体_GB2312" pitchFamily="49" charset="-122"/>
              </a:rPr>
              <a:t>机器数</a:t>
            </a:r>
            <a:r>
              <a:rPr lang="zh-CN" altLang="en-US" sz="3200" b="1" dirty="0">
                <a:solidFill>
                  <a:srgbClr val="000000"/>
                </a:solidFill>
                <a:latin typeface="楷体_GB2312" pitchFamily="49" charset="-122"/>
                <a:ea typeface="楷体_GB2312" pitchFamily="49" charset="-122"/>
              </a:rPr>
              <a:t>，而机器数所表示的数称为该机器数的真值（</a:t>
            </a:r>
            <a:r>
              <a:rPr lang="zh-CN" altLang="en-US" sz="3200" b="1" dirty="0">
                <a:solidFill>
                  <a:srgbClr val="FF0000"/>
                </a:solidFill>
                <a:latin typeface="楷体_GB2312" pitchFamily="49" charset="-122"/>
                <a:ea typeface="楷体_GB2312" pitchFamily="49" charset="-122"/>
              </a:rPr>
              <a:t>真值可以用二进制或十进制表示</a:t>
            </a:r>
            <a:r>
              <a:rPr lang="zh-CN" altLang="en-US" sz="3200" b="1" dirty="0">
                <a:solidFill>
                  <a:srgbClr val="000000"/>
                </a:solidFill>
                <a:latin typeface="楷体_GB2312" pitchFamily="49" charset="-122"/>
                <a:ea typeface="楷体_GB2312" pitchFamily="49" charset="-122"/>
              </a:rPr>
              <a:t>）。</a:t>
            </a:r>
            <a:endParaRPr lang="en-US" altLang="zh-CN" sz="3200" b="1"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706694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rgbClr val="000000"/>
                </a:solidFill>
                <a:latin typeface="黑体" pitchFamily="2" charset="-122"/>
                <a:ea typeface="黑体" pitchFamily="2" charset="-122"/>
              </a:rPr>
              <a:t>2.1</a:t>
            </a:r>
            <a:r>
              <a:rPr kumimoji="1" lang="zh-CN" altLang="en-US" sz="2800" kern="0" dirty="0">
                <a:solidFill>
                  <a:srgbClr val="000000"/>
                </a:solidFill>
                <a:latin typeface="黑体" pitchFamily="2" charset="-122"/>
                <a:ea typeface="黑体" pitchFamily="2" charset="-122"/>
              </a:rPr>
              <a:t>数据信息在机器中的表示</a:t>
            </a:r>
            <a:br>
              <a:rPr kumimoji="1" lang="en-US" altLang="zh-CN" sz="3600" b="0" kern="0" dirty="0">
                <a:solidFill>
                  <a:srgbClr val="000000"/>
                </a:solidFill>
                <a:latin typeface="黑体" pitchFamily="2" charset="-122"/>
                <a:ea typeface="黑体" pitchFamily="2" charset="-122"/>
              </a:rPr>
            </a:br>
            <a:r>
              <a:rPr kumimoji="1" lang="en-US" altLang="zh-CN" sz="2000" kern="0" dirty="0">
                <a:solidFill>
                  <a:srgbClr val="000000"/>
                </a:solidFill>
                <a:latin typeface="楷体_GB2312" pitchFamily="49" charset="-122"/>
                <a:ea typeface="楷体_GB2312" pitchFamily="49" charset="-122"/>
              </a:rPr>
              <a:t>2.1.2</a:t>
            </a:r>
            <a:r>
              <a:rPr kumimoji="1" lang="zh-CN" altLang="en-US" sz="2000" kern="0" dirty="0">
                <a:solidFill>
                  <a:srgbClr val="000000"/>
                </a:solidFill>
                <a:latin typeface="楷体_GB2312" pitchFamily="49" charset="-122"/>
                <a:ea typeface="楷体_GB2312" pitchFamily="49" charset="-122"/>
              </a:rPr>
              <a:t>机器数的编码表示</a:t>
            </a:r>
          </a:p>
        </p:txBody>
      </p:sp>
      <p:sp>
        <p:nvSpPr>
          <p:cNvPr id="49155" name="Rectangle 7"/>
          <p:cNvSpPr>
            <a:spLocks noChangeArrowheads="1"/>
          </p:cNvSpPr>
          <p:nvPr/>
        </p:nvSpPr>
        <p:spPr bwMode="auto">
          <a:xfrm>
            <a:off x="428625" y="1785938"/>
            <a:ext cx="842962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FF0000"/>
                </a:solidFill>
                <a:latin typeface="楷体_GB2312" pitchFamily="49" charset="-122"/>
                <a:ea typeface="楷体_GB2312" pitchFamily="49" charset="-122"/>
              </a:rPr>
              <a:t>真值</a:t>
            </a:r>
            <a:r>
              <a:rPr lang="zh-CN" altLang="en-US" sz="3200" dirty="0">
                <a:solidFill>
                  <a:srgbClr val="000000"/>
                </a:solidFill>
                <a:latin typeface="楷体_GB2312" pitchFamily="49" charset="-122"/>
                <a:ea typeface="楷体_GB2312" pitchFamily="49" charset="-122"/>
              </a:rPr>
              <a:t>：可能是十进制、二进制数，为真的数值</a:t>
            </a:r>
            <a:endParaRPr lang="en-US" altLang="zh-CN" sz="3200" dirty="0">
              <a:solidFill>
                <a:srgbClr val="000000"/>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a:p>
            <a:pPr algn="l"/>
            <a:r>
              <a:rPr lang="zh-CN" altLang="en-US" sz="3200" dirty="0">
                <a:solidFill>
                  <a:srgbClr val="FF0000"/>
                </a:solidFill>
                <a:latin typeface="楷体_GB2312" pitchFamily="49" charset="-122"/>
                <a:ea typeface="楷体_GB2312" pitchFamily="49" charset="-122"/>
              </a:rPr>
              <a:t>机器数</a:t>
            </a:r>
            <a:r>
              <a:rPr lang="zh-CN" altLang="en-US" sz="3200" dirty="0">
                <a:solidFill>
                  <a:srgbClr val="000000"/>
                </a:solidFill>
                <a:latin typeface="楷体_GB2312" pitchFamily="49" charset="-122"/>
                <a:ea typeface="楷体_GB2312" pitchFamily="49" charset="-122"/>
              </a:rPr>
              <a:t>：是真值在机器中的二进制表示，一般是对二进制真值的处理，有原码、反码、补码、移码等表示方式。</a:t>
            </a:r>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978483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0179"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r>
              <a:rPr lang="zh-CN" altLang="en-US" sz="3200" dirty="0">
                <a:solidFill>
                  <a:srgbClr val="000000"/>
                </a:solidFill>
                <a:latin typeface="楷体_GB2312" pitchFamily="49" charset="-122"/>
                <a:ea typeface="楷体_GB2312" pitchFamily="49" charset="-122"/>
              </a:rPr>
              <a:t>（</a:t>
            </a:r>
            <a:r>
              <a:rPr lang="en-US" altLang="zh-CN" sz="3200" dirty="0">
                <a:solidFill>
                  <a:srgbClr val="00000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）原码</a:t>
            </a:r>
            <a:endParaRPr lang="en-US" altLang="zh-CN" sz="3200" dirty="0">
              <a:solidFill>
                <a:srgbClr val="000000"/>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机器数的最高位为符号位，</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表示正数，</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表示负数，数值跟随其后，并以绝对值形式给出。这是与真值最接近的一种表示形式。</a:t>
            </a:r>
          </a:p>
          <a:p>
            <a:pPr algn="l" eaLnBrk="1" hangingPunct="1"/>
            <a:r>
              <a:rPr lang="zh-CN" altLang="en-US" sz="3200" dirty="0">
                <a:solidFill>
                  <a:schemeClr val="tx2"/>
                </a:solidFill>
                <a:latin typeface="楷体_GB2312" pitchFamily="49" charset="-122"/>
                <a:ea typeface="楷体_GB2312" pitchFamily="49" charset="-122"/>
              </a:rPr>
              <a:t>原码的定义：</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即［</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符号位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p>
          <a:p>
            <a:pPr algn="l"/>
            <a:endParaRPr lang="en-US" altLang="zh-CN" sz="3200" dirty="0">
              <a:solidFill>
                <a:srgbClr val="000000"/>
              </a:solidFill>
              <a:latin typeface="楷体_GB2312" pitchFamily="49" charset="-122"/>
              <a:ea typeface="楷体_GB2312" pitchFamily="49" charset="-122"/>
            </a:endParaRPr>
          </a:p>
        </p:txBody>
      </p:sp>
      <p:pic>
        <p:nvPicPr>
          <p:cNvPr id="50180" name="图片 4" descr="原码定义.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4286250"/>
            <a:ext cx="566737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02536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1203"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u="sng" dirty="0">
                <a:solidFill>
                  <a:schemeClr val="tx2"/>
                </a:solidFill>
                <a:latin typeface="楷体_GB2312"/>
                <a:ea typeface="楷体_GB2312"/>
                <a:cs typeface="楷体_GB2312"/>
              </a:rPr>
              <a:t>原码简记规则</a:t>
            </a:r>
            <a:r>
              <a:rPr lang="zh-CN" altLang="en-US" sz="3200" dirty="0">
                <a:solidFill>
                  <a:schemeClr val="tx2"/>
                </a:solidFill>
                <a:latin typeface="楷体_GB2312"/>
                <a:ea typeface="楷体_GB2312"/>
                <a:cs typeface="楷体_GB2312"/>
              </a:rPr>
              <a:t>，</a:t>
            </a:r>
            <a:r>
              <a:rPr lang="zh-CN" altLang="en-US" sz="3200" dirty="0">
                <a:solidFill>
                  <a:schemeClr val="tx2"/>
                </a:solidFill>
                <a:latin typeface="楷体_GB2312" pitchFamily="49" charset="-122"/>
                <a:ea typeface="楷体_GB2312" pitchFamily="49" charset="-122"/>
              </a:rPr>
              <a:t>以上规则可 简记为：</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为正，则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原码即为在</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最高位添加</a:t>
            </a:r>
            <a:r>
              <a:rPr lang="en-US" altLang="zh-CN" sz="3200" dirty="0">
                <a:solidFill>
                  <a:schemeClr val="tx2"/>
                </a:solidFill>
                <a:latin typeface="楷体_GB2312" pitchFamily="49" charset="-122"/>
                <a:ea typeface="楷体_GB2312" pitchFamily="49" charset="-122"/>
              </a:rPr>
              <a:t>0</a:t>
            </a: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为负，则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原码即为在</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最高位添加</a:t>
            </a:r>
            <a:r>
              <a:rPr lang="en-US" altLang="zh-CN" sz="3200" dirty="0">
                <a:solidFill>
                  <a:schemeClr val="tx2"/>
                </a:solidFill>
                <a:latin typeface="楷体_GB2312" pitchFamily="49" charset="-122"/>
                <a:ea typeface="楷体_GB2312" pitchFamily="49" charset="-122"/>
              </a:rPr>
              <a:t>1</a:t>
            </a:r>
          </a:p>
          <a:p>
            <a:pPr algn="l" eaLnBrk="1" hangingPunct="1"/>
            <a:r>
              <a:rPr lang="zh-CN" altLang="en-US" sz="3200" dirty="0">
                <a:solidFill>
                  <a:schemeClr val="tx2"/>
                </a:solidFill>
                <a:latin typeface="楷体_GB2312" pitchFamily="49" charset="-122"/>
                <a:ea typeface="楷体_GB2312" pitchFamily="49" charset="-122"/>
              </a:rPr>
              <a:t> </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公式表示的推导如下：</a:t>
            </a:r>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9640976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40963" name="Rectangle 7"/>
          <p:cNvSpPr>
            <a:spLocks noRot="1" noChangeAspect="1" noMove="1" noResize="1" noEditPoints="1" noAdjustHandles="1" noChangeArrowheads="1" noChangeShapeType="1" noTextEdit="1"/>
          </p:cNvSpPr>
          <p:nvPr/>
        </p:nvSpPr>
        <p:spPr bwMode="auto">
          <a:xfrm>
            <a:off x="500063" y="1714500"/>
            <a:ext cx="8429625" cy="4429125"/>
          </a:xfrm>
          <a:prstGeom prst="rect">
            <a:avLst/>
          </a:prstGeom>
          <a:blipFill rotWithShape="1">
            <a:blip r:embed="rId3"/>
            <a:stretch>
              <a:fillRect l="-1808" t="-178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extLst>
      <p:ext uri="{BB962C8B-B14F-4D97-AF65-F5344CB8AC3E}">
        <p14:creationId xmlns:p14="http://schemas.microsoft.com/office/powerpoint/2010/main" val="25720138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3251"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例：设字长 </a:t>
            </a:r>
            <a:r>
              <a:rPr lang="en-US" altLang="zh-CN" sz="3200" dirty="0">
                <a:solidFill>
                  <a:schemeClr val="tx2"/>
                </a:solidFill>
                <a:latin typeface="楷体_GB2312" pitchFamily="49" charset="-122"/>
                <a:ea typeface="楷体_GB2312" pitchFamily="49" charset="-122"/>
              </a:rPr>
              <a:t>n=8</a:t>
            </a:r>
          </a:p>
          <a:p>
            <a:pPr algn="l" eaLnBrk="1" hangingPunct="1"/>
            <a:r>
              <a:rPr lang="en-US" altLang="zh-CN" sz="3200" dirty="0">
                <a:solidFill>
                  <a:schemeClr val="tx2"/>
                </a:solidFill>
                <a:latin typeface="楷体_GB2312" pitchFamily="49" charset="-122"/>
                <a:ea typeface="楷体_GB2312" pitchFamily="49" charset="-122"/>
              </a:rPr>
              <a:t>	X=+1011000,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=01011000</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X=-1011000,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=11011000</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p>
          <a:p>
            <a:pPr algn="l" eaLnBrk="1" hangingPunct="1"/>
            <a:endParaRPr lang="zh-CN" altLang="en-US" sz="3200" dirty="0">
              <a:solidFill>
                <a:schemeClr val="tx2"/>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36304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4275"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54276" name="矩形 5"/>
          <p:cNvSpPr>
            <a:spLocks noChangeArrowheads="1"/>
          </p:cNvSpPr>
          <p:nvPr/>
        </p:nvSpPr>
        <p:spPr bwMode="auto">
          <a:xfrm>
            <a:off x="642938" y="1714500"/>
            <a:ext cx="785812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根据定义，当</a:t>
            </a:r>
            <a:r>
              <a:rPr lang="en-US" altLang="zh-CN" sz="3200" dirty="0">
                <a:solidFill>
                  <a:schemeClr val="tx2"/>
                </a:solidFill>
                <a:latin typeface="楷体_GB2312" pitchFamily="49" charset="-122"/>
                <a:ea typeface="楷体_GB2312" pitchFamily="49" charset="-122"/>
              </a:rPr>
              <a:t>X=-1011000</a:t>
            </a:r>
            <a:r>
              <a:rPr lang="zh-CN" altLang="en-US" sz="3200" dirty="0">
                <a:solidFill>
                  <a:schemeClr val="tx2"/>
                </a:solidFill>
                <a:latin typeface="楷体_GB2312" pitchFamily="49" charset="-122"/>
                <a:ea typeface="楷体_GB2312" pitchFamily="49" charset="-122"/>
              </a:rPr>
              <a:t>时，</a:t>
            </a: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a:t>
            </a:r>
            <a:r>
              <a:rPr lang="en-US" altLang="zh-CN" sz="3200" dirty="0">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n-1</a:t>
            </a:r>
            <a:r>
              <a:rPr lang="en-US" altLang="zh-CN" sz="3200" dirty="0">
                <a:solidFill>
                  <a:schemeClr val="tx2"/>
                </a:solidFill>
                <a:latin typeface="楷体_GB2312" pitchFamily="49" charset="-122"/>
                <a:ea typeface="楷体_GB2312" pitchFamily="49" charset="-122"/>
              </a:rPr>
              <a:t>+</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X</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 10000000+</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- 1011000</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 =1.1011000 </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数值零的真值有</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和</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两种表示形式，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zh-CN" altLang="en-US" sz="3200" dirty="0">
                <a:solidFill>
                  <a:schemeClr val="tx2"/>
                </a:solidFill>
                <a:latin typeface="楷体_GB2312" pitchFamily="49" charset="-122"/>
                <a:ea typeface="楷体_GB2312" pitchFamily="49" charset="-122"/>
              </a:rPr>
              <a:t>也有两种表示形式：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=00000000</a:t>
            </a: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原</a:t>
            </a:r>
            <a:r>
              <a:rPr lang="en-US" altLang="zh-CN" sz="3200" dirty="0">
                <a:solidFill>
                  <a:schemeClr val="tx2"/>
                </a:solidFill>
                <a:latin typeface="楷体_GB2312" pitchFamily="49" charset="-122"/>
                <a:ea typeface="楷体_GB2312" pitchFamily="49" charset="-122"/>
              </a:rPr>
              <a:t>=10000000</a:t>
            </a:r>
            <a:r>
              <a:rPr lang="zh-CN" altLang="en-US" sz="3200" dirty="0">
                <a:solidFill>
                  <a:schemeClr val="tx2"/>
                </a:solidFill>
                <a:latin typeface="楷体_GB2312" pitchFamily="49" charset="-122"/>
                <a:ea typeface="楷体_GB2312" pitchFamily="49" charset="-122"/>
              </a:rPr>
              <a:t>。</a:t>
            </a:r>
            <a:endParaRPr lang="zh-CN" altLang="en-US" sz="3200" dirty="0">
              <a:latin typeface="楷体_GB2312" pitchFamily="49" charset="-122"/>
              <a:ea typeface="楷体_GB2312" pitchFamily="49" charset="-122"/>
            </a:endParaRPr>
          </a:p>
        </p:txBody>
      </p:sp>
    </p:spTree>
    <p:extLst>
      <p:ext uri="{BB962C8B-B14F-4D97-AF65-F5344CB8AC3E}">
        <p14:creationId xmlns:p14="http://schemas.microsoft.com/office/powerpoint/2010/main" val="3870334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5299"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55300" name="矩形 5"/>
          <p:cNvSpPr>
            <a:spLocks noChangeArrowheads="1"/>
          </p:cNvSpPr>
          <p:nvPr/>
        </p:nvSpPr>
        <p:spPr bwMode="auto">
          <a:xfrm>
            <a:off x="642938" y="1714500"/>
            <a:ext cx="785812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）反码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反码的定义：</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例：设字长 </a:t>
            </a:r>
            <a:r>
              <a:rPr lang="en-US" altLang="zh-CN" sz="3200" dirty="0">
                <a:solidFill>
                  <a:schemeClr val="tx2"/>
                </a:solidFill>
                <a:latin typeface="楷体_GB2312" pitchFamily="49" charset="-122"/>
                <a:ea typeface="楷体_GB2312" pitchFamily="49" charset="-122"/>
              </a:rPr>
              <a:t>n=8</a:t>
            </a:r>
            <a:r>
              <a:rPr lang="zh-CN" altLang="en-US" sz="3200" dirty="0">
                <a:solidFill>
                  <a:schemeClr val="tx2"/>
                </a:solidFill>
                <a:latin typeface="楷体_GB2312" pitchFamily="49" charset="-122"/>
                <a:ea typeface="楷体_GB2312" pitchFamily="49" charset="-122"/>
              </a:rPr>
              <a:t> </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X=+1011000,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反</a:t>
            </a:r>
            <a:r>
              <a:rPr lang="en-US" altLang="zh-CN" sz="3200" dirty="0">
                <a:solidFill>
                  <a:schemeClr val="tx2"/>
                </a:solidFill>
                <a:latin typeface="楷体_GB2312" pitchFamily="49" charset="-122"/>
                <a:ea typeface="楷体_GB2312" pitchFamily="49" charset="-122"/>
              </a:rPr>
              <a:t>=01011000</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p:txBody>
      </p:sp>
      <p:pic>
        <p:nvPicPr>
          <p:cNvPr id="55301" name="图片 4" descr="反码定义.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1613" y="2824163"/>
            <a:ext cx="620077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0247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56323"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u="sng" dirty="0">
                <a:solidFill>
                  <a:schemeClr val="tx2"/>
                </a:solidFill>
                <a:latin typeface="楷体_GB2312"/>
                <a:ea typeface="楷体_GB2312"/>
                <a:cs typeface="楷体_GB2312"/>
              </a:rPr>
              <a:t>反码简记规则</a:t>
            </a:r>
            <a:r>
              <a:rPr lang="zh-CN" altLang="en-US" sz="3200" dirty="0">
                <a:solidFill>
                  <a:schemeClr val="tx2"/>
                </a:solidFill>
                <a:latin typeface="楷体_GB2312"/>
                <a:ea typeface="楷体_GB2312"/>
                <a:cs typeface="楷体_GB2312"/>
              </a:rPr>
              <a:t>，</a:t>
            </a:r>
            <a:r>
              <a:rPr lang="zh-CN" altLang="en-US" sz="3200" dirty="0">
                <a:solidFill>
                  <a:schemeClr val="tx2"/>
                </a:solidFill>
                <a:latin typeface="楷体_GB2312" pitchFamily="49" charset="-122"/>
                <a:ea typeface="楷体_GB2312" pitchFamily="49" charset="-122"/>
              </a:rPr>
              <a:t>以上规则可 简记为：</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为正，则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反码即为在</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最高位添加</a:t>
            </a:r>
            <a:r>
              <a:rPr lang="en-US" altLang="zh-CN" sz="3200" dirty="0">
                <a:solidFill>
                  <a:schemeClr val="tx2"/>
                </a:solidFill>
                <a:latin typeface="楷体_GB2312" pitchFamily="49" charset="-122"/>
                <a:ea typeface="楷体_GB2312" pitchFamily="49" charset="-122"/>
              </a:rPr>
              <a:t>0</a:t>
            </a: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为负，则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反码即为先将</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按位取反再在最高位添加</a:t>
            </a:r>
            <a:r>
              <a:rPr lang="en-US" altLang="zh-CN" sz="3200" dirty="0">
                <a:solidFill>
                  <a:schemeClr val="tx2"/>
                </a:solidFill>
                <a:latin typeface="楷体_GB2312" pitchFamily="49" charset="-122"/>
                <a:ea typeface="楷体_GB2312" pitchFamily="49" charset="-122"/>
              </a:rPr>
              <a:t>1</a:t>
            </a:r>
          </a:p>
          <a:p>
            <a:pPr algn="l" eaLnBrk="1" hangingPunct="1"/>
            <a:r>
              <a:rPr lang="zh-CN" altLang="en-US" sz="3200" dirty="0">
                <a:solidFill>
                  <a:schemeClr val="tx2"/>
                </a:solidFill>
                <a:latin typeface="楷体_GB2312" pitchFamily="49" charset="-122"/>
                <a:ea typeface="楷体_GB2312" pitchFamily="49" charset="-122"/>
              </a:rPr>
              <a:t> </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公式表示的推导如下：</a:t>
            </a:r>
          </a:p>
          <a:p>
            <a:pPr algn="l" eaLnBrk="1" hangingPunct="1"/>
            <a:endParaRPr lang="zh-CN" altLang="en-US" sz="3200" dirty="0">
              <a:solidFill>
                <a:schemeClr val="tx2"/>
              </a:solidFill>
              <a:latin typeface="楷体_GB2312" pitchFamily="49" charset="-122"/>
              <a:ea typeface="楷体_GB2312" pitchFamily="49" charset="-122"/>
            </a:endParaRPr>
          </a:p>
          <a:p>
            <a:pPr algn="l"/>
            <a:endParaRPr lang="en-US" altLang="zh-CN" sz="32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601017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40963" name="Rectangle 7"/>
          <p:cNvSpPr>
            <a:spLocks noRot="1" noChangeAspect="1" noMove="1" noResize="1" noEditPoints="1" noAdjustHandles="1" noChangeArrowheads="1" noChangeShapeType="1" noTextEdit="1"/>
          </p:cNvSpPr>
          <p:nvPr/>
        </p:nvSpPr>
        <p:spPr bwMode="auto">
          <a:xfrm>
            <a:off x="500063" y="1714500"/>
            <a:ext cx="8429625" cy="4429125"/>
          </a:xfrm>
          <a:prstGeom prst="rect">
            <a:avLst/>
          </a:prstGeom>
          <a:blipFill rotWithShape="1">
            <a:blip r:embed="rId3"/>
            <a:stretch>
              <a:fillRect l="-1808" t="-178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extLst>
      <p:ext uri="{BB962C8B-B14F-4D97-AF65-F5344CB8AC3E}">
        <p14:creationId xmlns:p14="http://schemas.microsoft.com/office/powerpoint/2010/main" val="646565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40963" name="Rectangle 7"/>
          <p:cNvSpPr>
            <a:spLocks noRot="1" noChangeAspect="1" noMove="1" noResize="1" noEditPoints="1" noAdjustHandles="1" noChangeArrowheads="1" noChangeShapeType="1" noTextEdit="1"/>
          </p:cNvSpPr>
          <p:nvPr/>
        </p:nvSpPr>
        <p:spPr bwMode="auto">
          <a:xfrm>
            <a:off x="500063" y="1714500"/>
            <a:ext cx="8429625" cy="4429125"/>
          </a:xfrm>
          <a:prstGeom prst="rect">
            <a:avLst/>
          </a:prstGeom>
          <a:blipFill rotWithShape="1">
            <a:blip r:embed="rId3"/>
            <a:stretch>
              <a:fillRect l="-180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extLst>
      <p:ext uri="{BB962C8B-B14F-4D97-AF65-F5344CB8AC3E}">
        <p14:creationId xmlns:p14="http://schemas.microsoft.com/office/powerpoint/2010/main" val="2043635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214312" y="1484784"/>
            <a:ext cx="869661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spcBef>
                <a:spcPct val="0"/>
              </a:spcBef>
              <a:buClrTx/>
              <a:buSzTx/>
              <a:buFontTx/>
              <a:buNone/>
            </a:pPr>
            <a:r>
              <a:rPr lang="zh-CN" altLang="en-US" sz="3200" dirty="0">
                <a:solidFill>
                  <a:schemeClr val="tx2"/>
                </a:solidFill>
                <a:latin typeface="楷体_GB2312"/>
                <a:ea typeface="楷体_GB2312"/>
                <a:cs typeface="楷体_GB2312"/>
              </a:rPr>
              <a:t>例如</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en-US" altLang="zh-CN" sz="3200" dirty="0">
                <a:solidFill>
                  <a:schemeClr val="tx2"/>
                </a:solidFill>
                <a:latin typeface="楷体_GB2312"/>
                <a:ea typeface="楷体_GB2312"/>
                <a:cs typeface="楷体_GB2312"/>
              </a:rPr>
              <a:t>X=-1011000,</a:t>
            </a:r>
          </a:p>
          <a:p>
            <a:pPr eaLnBrk="1" hangingPunct="1">
              <a:spcBef>
                <a:spcPct val="0"/>
              </a:spcBef>
              <a:buClrTx/>
              <a:buSzTx/>
              <a:buFontTx/>
              <a:buNone/>
            </a:pPr>
            <a:r>
              <a:rPr lang="zh-CN" altLang="en-US" sz="3200" dirty="0">
                <a:solidFill>
                  <a:schemeClr val="tx2"/>
                </a:solidFill>
                <a:latin typeface="楷体_GB2312"/>
                <a:ea typeface="楷体_GB2312"/>
                <a:cs typeface="楷体_GB2312"/>
              </a:rPr>
              <a:t>解</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：按照反码公式求解</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X</a:t>
            </a:r>
            <a:r>
              <a:rPr lang="zh-CN" altLang="en-US" sz="3200" dirty="0">
                <a:solidFill>
                  <a:schemeClr val="tx2"/>
                </a:solidFill>
                <a:latin typeface="楷体_GB2312"/>
                <a:ea typeface="楷体_GB2312"/>
                <a:cs typeface="楷体_GB2312"/>
              </a:rPr>
              <a:t>］</a:t>
            </a:r>
            <a:r>
              <a:rPr lang="zh-CN" altLang="en-US" sz="3200" baseline="-25000" dirty="0">
                <a:solidFill>
                  <a:schemeClr val="tx2"/>
                </a:solidFill>
                <a:latin typeface="楷体_GB2312"/>
                <a:ea typeface="楷体_GB2312"/>
                <a:cs typeface="楷体_GB2312"/>
              </a:rPr>
              <a:t>反</a:t>
            </a:r>
            <a:r>
              <a:rPr lang="en-US" altLang="zh-CN" sz="3200" dirty="0">
                <a:solidFill>
                  <a:schemeClr val="tx2"/>
                </a:solidFill>
                <a:latin typeface="楷体_GB2312"/>
                <a:ea typeface="楷体_GB2312"/>
                <a:cs typeface="楷体_GB2312"/>
              </a:rPr>
              <a:t>=</a:t>
            </a:r>
            <a:r>
              <a:rPr lang="zh-CN" altLang="en-US" sz="3200" dirty="0"/>
              <a:t> </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2</a:t>
            </a:r>
            <a:r>
              <a:rPr lang="en-US" altLang="zh-CN" sz="3200" baseline="30000" dirty="0">
                <a:solidFill>
                  <a:schemeClr val="tx2"/>
                </a:solidFill>
                <a:latin typeface="楷体_GB2312"/>
                <a:ea typeface="楷体_GB2312"/>
                <a:cs typeface="楷体_GB2312"/>
              </a:rPr>
              <a:t>n</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 </a:t>
            </a:r>
            <a:r>
              <a:rPr lang="en-US" altLang="zh-CN" sz="3200" dirty="0">
                <a:solidFill>
                  <a:schemeClr val="tx2"/>
                </a:solidFill>
                <a:latin typeface="宋体" pitchFamily="2" charset="-122"/>
              </a:rPr>
              <a:t>|</a:t>
            </a:r>
            <a:r>
              <a:rPr lang="en-US" altLang="zh-CN" sz="3200" dirty="0">
                <a:solidFill>
                  <a:schemeClr val="tx2"/>
                </a:solidFill>
                <a:latin typeface="楷体_GB2312"/>
                <a:ea typeface="楷体_GB2312"/>
                <a:cs typeface="楷体_GB2312"/>
              </a:rPr>
              <a:t>X</a:t>
            </a:r>
            <a:r>
              <a:rPr lang="en-US" altLang="zh-CN" sz="3200" dirty="0">
                <a:solidFill>
                  <a:schemeClr val="tx2"/>
                </a:solidFill>
                <a:latin typeface="宋体" pitchFamily="2" charset="-122"/>
              </a:rPr>
              <a:t>|</a:t>
            </a:r>
            <a:r>
              <a:rPr lang="en-US" altLang="zh-CN" sz="3200" dirty="0">
                <a:solidFill>
                  <a:schemeClr val="tx2"/>
                </a:solidFill>
                <a:latin typeface="楷体_GB2312"/>
                <a:ea typeface="楷体_GB2312"/>
                <a:cs typeface="楷体_GB2312"/>
              </a:rPr>
              <a:t>= </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2</a:t>
            </a:r>
            <a:r>
              <a:rPr lang="en-US" altLang="zh-CN" sz="3200" baseline="30000" dirty="0">
                <a:solidFill>
                  <a:schemeClr val="tx2"/>
                </a:solidFill>
                <a:latin typeface="楷体_GB2312"/>
                <a:ea typeface="楷体_GB2312"/>
                <a:cs typeface="楷体_GB2312"/>
              </a:rPr>
              <a:t>8</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a:t>
            </a:r>
            <a:r>
              <a:rPr lang="en-US" altLang="zh-CN" sz="3200" dirty="0">
                <a:solidFill>
                  <a:schemeClr val="tx2"/>
                </a:solidFill>
                <a:latin typeface="宋体" pitchFamily="2" charset="-122"/>
              </a:rPr>
              <a:t>|</a:t>
            </a:r>
            <a:r>
              <a:rPr lang="en-US" altLang="zh-CN" sz="3200" dirty="0">
                <a:solidFill>
                  <a:schemeClr val="tx2"/>
                </a:solidFill>
                <a:latin typeface="楷体_GB2312"/>
                <a:ea typeface="楷体_GB2312"/>
                <a:cs typeface="楷体_GB2312"/>
              </a:rPr>
              <a:t>-1011000</a:t>
            </a:r>
            <a:r>
              <a:rPr lang="en-US" altLang="zh-CN" sz="3200" dirty="0">
                <a:solidFill>
                  <a:schemeClr val="tx2"/>
                </a:solidFill>
                <a:latin typeface="宋体" pitchFamily="2" charset="-122"/>
              </a:rPr>
              <a:t>|</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en-US" altLang="zh-CN" sz="3200" dirty="0">
                <a:solidFill>
                  <a:schemeClr val="tx2"/>
                </a:solidFill>
                <a:latin typeface="楷体_GB2312"/>
                <a:ea typeface="楷体_GB2312"/>
                <a:cs typeface="楷体_GB2312"/>
              </a:rPr>
              <a:t>=</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100000000-1</a:t>
            </a: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-1011000=11111111-1011000</a:t>
            </a:r>
          </a:p>
          <a:p>
            <a:pPr eaLnBrk="1" hangingPunct="1">
              <a:spcBef>
                <a:spcPct val="0"/>
              </a:spcBef>
              <a:buClrTx/>
              <a:buSzTx/>
              <a:buFontTx/>
              <a:buNone/>
            </a:pPr>
            <a:r>
              <a:rPr lang="en-US" altLang="zh-CN" sz="3200" dirty="0">
                <a:solidFill>
                  <a:schemeClr val="tx2"/>
                </a:solidFill>
                <a:latin typeface="楷体_GB2312"/>
                <a:ea typeface="楷体_GB2312"/>
                <a:cs typeface="楷体_GB2312"/>
              </a:rPr>
              <a:t>=10100111</a:t>
            </a:r>
          </a:p>
          <a:p>
            <a:pPr eaLnBrk="1" hangingPunct="1">
              <a:spcBef>
                <a:spcPct val="0"/>
              </a:spcBef>
              <a:buClrTx/>
              <a:buSzTx/>
              <a:buFont typeface="Wingdings" pitchFamily="2" charset="2"/>
              <a:buNone/>
            </a:pPr>
            <a:r>
              <a:rPr lang="zh-CN" altLang="en-US" sz="3200" dirty="0">
                <a:solidFill>
                  <a:schemeClr val="tx2"/>
                </a:solidFill>
                <a:latin typeface="楷体_GB2312"/>
                <a:ea typeface="楷体_GB2312"/>
                <a:cs typeface="楷体_GB2312"/>
              </a:rPr>
              <a:t>解</a:t>
            </a:r>
            <a:r>
              <a:rPr lang="en-US" altLang="zh-CN" sz="3200" dirty="0">
                <a:solidFill>
                  <a:schemeClr val="tx2"/>
                </a:solidFill>
                <a:latin typeface="楷体_GB2312"/>
                <a:ea typeface="楷体_GB2312"/>
                <a:cs typeface="楷体_GB2312"/>
              </a:rPr>
              <a:t>2</a:t>
            </a:r>
            <a:r>
              <a:rPr lang="zh-CN" altLang="en-US" sz="3200" dirty="0">
                <a:solidFill>
                  <a:schemeClr val="tx2"/>
                </a:solidFill>
                <a:latin typeface="楷体_GB2312"/>
                <a:ea typeface="楷体_GB2312"/>
                <a:cs typeface="楷体_GB2312"/>
              </a:rPr>
              <a:t>：按照反码简记规则求解</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en-US" altLang="zh-CN" sz="3200" dirty="0">
                <a:solidFill>
                  <a:schemeClr val="tx2"/>
                </a:solidFill>
                <a:latin typeface="楷体_GB2312"/>
                <a:ea typeface="楷体_GB2312"/>
                <a:cs typeface="楷体_GB2312"/>
              </a:rPr>
              <a:t>1011000</a:t>
            </a:r>
            <a:r>
              <a:rPr lang="zh-CN" altLang="en-US" sz="3200" dirty="0">
                <a:solidFill>
                  <a:schemeClr val="tx2"/>
                </a:solidFill>
                <a:latin typeface="楷体_GB2312"/>
                <a:ea typeface="楷体_GB2312"/>
                <a:cs typeface="楷体_GB2312"/>
              </a:rPr>
              <a:t>的反为</a:t>
            </a:r>
            <a:r>
              <a:rPr lang="en-US" altLang="zh-CN" sz="3200" dirty="0">
                <a:solidFill>
                  <a:schemeClr val="tx2"/>
                </a:solidFill>
                <a:latin typeface="楷体_GB2312"/>
                <a:ea typeface="楷体_GB2312"/>
                <a:cs typeface="楷体_GB2312"/>
              </a:rPr>
              <a:t>0100111</a:t>
            </a:r>
            <a:r>
              <a:rPr lang="zh-CN" altLang="en-US" sz="3200" dirty="0">
                <a:solidFill>
                  <a:schemeClr val="tx2"/>
                </a:solidFill>
                <a:latin typeface="楷体_GB2312"/>
                <a:ea typeface="楷体_GB2312"/>
                <a:cs typeface="楷体_GB2312"/>
              </a:rPr>
              <a:t>，在</a:t>
            </a:r>
            <a:r>
              <a:rPr lang="en-US" altLang="zh-CN" sz="3200" dirty="0">
                <a:solidFill>
                  <a:schemeClr val="tx2"/>
                </a:solidFill>
                <a:latin typeface="楷体_GB2312"/>
                <a:ea typeface="楷体_GB2312"/>
                <a:cs typeface="楷体_GB2312"/>
              </a:rPr>
              <a:t>0100111</a:t>
            </a:r>
            <a:r>
              <a:rPr lang="zh-CN" altLang="en-US" sz="3200" dirty="0">
                <a:solidFill>
                  <a:schemeClr val="tx2"/>
                </a:solidFill>
                <a:latin typeface="楷体_GB2312"/>
                <a:ea typeface="楷体_GB2312"/>
                <a:cs typeface="楷体_GB2312"/>
              </a:rPr>
              <a:t>最左边添加</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zh-CN" altLang="en-US" sz="3200" dirty="0">
                <a:solidFill>
                  <a:schemeClr val="tx2"/>
                </a:solidFill>
                <a:latin typeface="楷体_GB2312"/>
                <a:ea typeface="楷体_GB2312"/>
                <a:cs typeface="楷体_GB2312"/>
              </a:rPr>
              <a:t>符号位</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，则［</a:t>
            </a:r>
            <a:r>
              <a:rPr lang="en-US" altLang="zh-CN" sz="3200" dirty="0">
                <a:solidFill>
                  <a:schemeClr val="tx2"/>
                </a:solidFill>
                <a:latin typeface="楷体_GB2312"/>
                <a:ea typeface="楷体_GB2312"/>
                <a:cs typeface="楷体_GB2312"/>
              </a:rPr>
              <a:t>X</a:t>
            </a:r>
            <a:r>
              <a:rPr lang="zh-CN" altLang="en-US" sz="3200" dirty="0">
                <a:solidFill>
                  <a:schemeClr val="tx2"/>
                </a:solidFill>
                <a:latin typeface="楷体_GB2312"/>
                <a:ea typeface="楷体_GB2312"/>
                <a:cs typeface="楷体_GB2312"/>
              </a:rPr>
              <a:t>］</a:t>
            </a:r>
            <a:r>
              <a:rPr lang="zh-CN" altLang="en-US" sz="3200" baseline="-25000" dirty="0">
                <a:solidFill>
                  <a:schemeClr val="tx2"/>
                </a:solidFill>
                <a:latin typeface="楷体_GB2312"/>
                <a:ea typeface="楷体_GB2312"/>
                <a:cs typeface="楷体_GB2312"/>
              </a:rPr>
              <a:t>反</a:t>
            </a:r>
            <a:r>
              <a:rPr lang="en-US" altLang="zh-CN" sz="3200" dirty="0">
                <a:solidFill>
                  <a:schemeClr val="tx2"/>
                </a:solidFill>
                <a:latin typeface="楷体_GB2312"/>
                <a:ea typeface="楷体_GB2312"/>
                <a:cs typeface="楷体_GB2312"/>
              </a:rPr>
              <a:t>=10100111</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Tree>
    <p:extLst>
      <p:ext uri="{BB962C8B-B14F-4D97-AF65-F5344CB8AC3E}">
        <p14:creationId xmlns:p14="http://schemas.microsoft.com/office/powerpoint/2010/main" val="874737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214312" y="1484784"/>
            <a:ext cx="831812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反码零有两种表示形式：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反</a:t>
            </a:r>
            <a:r>
              <a:rPr lang="en-US" altLang="zh-CN" sz="3200" dirty="0">
                <a:solidFill>
                  <a:schemeClr val="tx2"/>
                </a:solidFill>
                <a:latin typeface="楷体_GB2312" pitchFamily="49" charset="-122"/>
                <a:ea typeface="楷体_GB2312" pitchFamily="49" charset="-122"/>
              </a:rPr>
              <a:t>=00000000</a:t>
            </a: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反</a:t>
            </a:r>
            <a:r>
              <a:rPr lang="en-US" altLang="zh-CN" sz="3200" dirty="0">
                <a:solidFill>
                  <a:schemeClr val="tx2"/>
                </a:solidFill>
                <a:latin typeface="楷体_GB2312" pitchFamily="49" charset="-122"/>
                <a:ea typeface="楷体_GB2312" pitchFamily="49" charset="-122"/>
              </a:rPr>
              <a:t>=11111111</a:t>
            </a:r>
            <a:endParaRPr lang="zh-CN" altLang="en-US" sz="3200"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Tree>
    <p:extLst>
      <p:ext uri="{BB962C8B-B14F-4D97-AF65-F5344CB8AC3E}">
        <p14:creationId xmlns:p14="http://schemas.microsoft.com/office/powerpoint/2010/main" val="9132364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0419"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60420" name="矩形 5"/>
          <p:cNvSpPr>
            <a:spLocks noChangeArrowheads="1"/>
          </p:cNvSpPr>
          <p:nvPr/>
        </p:nvSpPr>
        <p:spPr bwMode="auto">
          <a:xfrm>
            <a:off x="642938" y="1714500"/>
            <a:ext cx="785812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）补码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补码的定义：</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例：设字长 </a:t>
            </a:r>
            <a:r>
              <a:rPr lang="en-US" altLang="zh-CN" sz="3200" dirty="0">
                <a:solidFill>
                  <a:schemeClr val="tx2"/>
                </a:solidFill>
                <a:latin typeface="楷体_GB2312" pitchFamily="49" charset="-122"/>
                <a:ea typeface="楷体_GB2312" pitchFamily="49" charset="-122"/>
              </a:rPr>
              <a:t>n=8</a:t>
            </a:r>
            <a:r>
              <a:rPr lang="zh-CN" altLang="en-US" sz="3200" dirty="0">
                <a:solidFill>
                  <a:schemeClr val="tx2"/>
                </a:solidFill>
                <a:latin typeface="楷体_GB2312" pitchFamily="49" charset="-122"/>
                <a:ea typeface="楷体_GB2312" pitchFamily="49" charset="-122"/>
              </a:rPr>
              <a:t> </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X=+1011000,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补</a:t>
            </a:r>
            <a:r>
              <a:rPr lang="en-US" altLang="zh-CN" sz="3200" dirty="0">
                <a:solidFill>
                  <a:schemeClr val="tx2"/>
                </a:solidFill>
                <a:latin typeface="楷体_GB2312" pitchFamily="49" charset="-122"/>
                <a:ea typeface="楷体_GB2312" pitchFamily="49" charset="-122"/>
              </a:rPr>
              <a:t>=01011000</a:t>
            </a:r>
            <a:r>
              <a:rPr lang="zh-CN" altLang="en-US" sz="3200" dirty="0">
                <a:solidFill>
                  <a:schemeClr val="tx2"/>
                </a:solidFill>
                <a:latin typeface="楷体_GB2312" pitchFamily="49" charset="-122"/>
                <a:ea typeface="楷体_GB2312" pitchFamily="49" charset="-122"/>
              </a:rPr>
              <a:t>；</a:t>
            </a:r>
          </a:p>
        </p:txBody>
      </p:sp>
      <p:pic>
        <p:nvPicPr>
          <p:cNvPr id="60421" name="图片 4" descr="补码定义.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2857500"/>
            <a:ext cx="583882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22847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1443"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61444" name="矩形 5"/>
          <p:cNvSpPr>
            <a:spLocks noChangeArrowheads="1"/>
          </p:cNvSpPr>
          <p:nvPr/>
        </p:nvSpPr>
        <p:spPr bwMode="auto">
          <a:xfrm>
            <a:off x="642938" y="1714500"/>
            <a:ext cx="785812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u="sng" dirty="0">
                <a:solidFill>
                  <a:schemeClr val="tx2"/>
                </a:solidFill>
                <a:latin typeface="楷体_GB2312"/>
                <a:ea typeface="楷体_GB2312"/>
                <a:cs typeface="楷体_GB2312"/>
              </a:rPr>
              <a:t>补码简记规则</a:t>
            </a:r>
            <a:r>
              <a:rPr lang="zh-CN" altLang="en-US" sz="3200" dirty="0">
                <a:solidFill>
                  <a:schemeClr val="tx2"/>
                </a:solidFill>
                <a:latin typeface="楷体_GB2312"/>
                <a:ea typeface="楷体_GB2312"/>
                <a:cs typeface="楷体_GB2312"/>
              </a:rPr>
              <a:t>：</a:t>
            </a:r>
            <a:r>
              <a:rPr lang="zh-CN" altLang="en-US" sz="3200" dirty="0">
                <a:solidFill>
                  <a:schemeClr val="tx2"/>
                </a:solidFill>
                <a:latin typeface="楷体_GB2312" pitchFamily="49" charset="-122"/>
                <a:ea typeface="楷体_GB2312" pitchFamily="49" charset="-122"/>
              </a:rPr>
              <a:t>以上规则可简记为：</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为正，则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的补码即为在</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的最高位添</a:t>
            </a:r>
            <a:r>
              <a:rPr lang="en-US" altLang="zh-CN" sz="3200" dirty="0">
                <a:solidFill>
                  <a:schemeClr val="tx2"/>
                </a:solidFill>
                <a:latin typeface="楷体_GB2312" pitchFamily="49" charset="-122"/>
                <a:ea typeface="楷体_GB2312" pitchFamily="49" charset="-122"/>
              </a:rPr>
              <a:t>0</a:t>
            </a: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若</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为负，则</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的补码即为将</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的每一位取反并加</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后在最高位添</a:t>
            </a:r>
            <a:r>
              <a:rPr lang="en-US" altLang="zh-CN" sz="3200" dirty="0">
                <a:solidFill>
                  <a:schemeClr val="tx2"/>
                </a:solidFill>
                <a:latin typeface="楷体_GB2312" pitchFamily="49" charset="-122"/>
                <a:ea typeface="楷体_GB2312" pitchFamily="49" charset="-122"/>
              </a:rPr>
              <a:t>1</a:t>
            </a: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公式表示的推导如下：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894502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2467"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54276" name="矩形 5"/>
          <p:cNvSpPr>
            <a:spLocks noRot="1" noChangeAspect="1" noMove="1" noResize="1" noEditPoints="1" noAdjustHandles="1" noChangeArrowheads="1" noChangeShapeType="1" noTextEdit="1"/>
          </p:cNvSpPr>
          <p:nvPr/>
        </p:nvSpPr>
        <p:spPr bwMode="auto">
          <a:xfrm>
            <a:off x="642938" y="1714500"/>
            <a:ext cx="7858125" cy="3776803"/>
          </a:xfrm>
          <a:prstGeom prst="rect">
            <a:avLst/>
          </a:prstGeom>
          <a:blipFill rotWithShape="1">
            <a:blip r:embed="rId3"/>
            <a:stretch>
              <a:fillRect l="-1938" t="-209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5" name="矩形 2"/>
          <p:cNvSpPr>
            <a:spLocks noChangeArrowheads="1"/>
          </p:cNvSpPr>
          <p:nvPr/>
        </p:nvSpPr>
        <p:spPr bwMode="auto">
          <a:xfrm>
            <a:off x="2030413" y="1248941"/>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85000"/>
              <a:buFont typeface="Wingdings" pitchFamily="2" charset="2"/>
              <a:buChar char="•"/>
              <a:defRPr kumimoji="1" sz="3200">
                <a:solidFill>
                  <a:schemeClr val="tx1"/>
                </a:solidFill>
                <a:latin typeface="Arial" pitchFamily="34" charset="0"/>
                <a:ea typeface="宋体" pitchFamily="2" charset="-122"/>
              </a:defRPr>
            </a:lvl1pPr>
            <a:lvl2pPr marL="742950" indent="-285750" eaLnBrk="0" hangingPunct="0">
              <a:spcBef>
                <a:spcPct val="20000"/>
              </a:spcBef>
              <a:buClr>
                <a:schemeClr val="folHlink"/>
              </a:buClr>
              <a:buSzPct val="80000"/>
              <a:buFont typeface="Wingdings" pitchFamily="2" charset="2"/>
              <a:buChar char="n"/>
              <a:defRPr kumimoji="1" sz="2800">
                <a:solidFill>
                  <a:schemeClr val="tx1"/>
                </a:solidFill>
                <a:latin typeface="Arial" pitchFamily="34" charset="0"/>
                <a:ea typeface="宋体" pitchFamily="2" charset="-122"/>
              </a:defRPr>
            </a:lvl2pPr>
            <a:lvl3pPr marL="1143000" indent="-228600" eaLnBrk="0" hangingPunct="0">
              <a:spcBef>
                <a:spcPct val="20000"/>
              </a:spcBef>
              <a:buClr>
                <a:schemeClr val="hlink"/>
              </a:buClr>
              <a:buSzPct val="70000"/>
              <a:buFont typeface="Wingdings" pitchFamily="2" charset="2"/>
              <a:buChar char="n"/>
              <a:defRPr kumimoji="1" sz="2400">
                <a:solidFill>
                  <a:schemeClr val="tx1"/>
                </a:solidFill>
                <a:latin typeface="Arial" pitchFamily="34" charset="0"/>
                <a:ea typeface="宋体" pitchFamily="2" charset="-122"/>
              </a:defRPr>
            </a:lvl3pPr>
            <a:lvl4pPr marL="1600200" indent="-228600" eaLnBrk="0" hangingPunct="0">
              <a:spcBef>
                <a:spcPct val="20000"/>
              </a:spcBef>
              <a:buChar char="–"/>
              <a:defRPr kumimoji="1" sz="2000">
                <a:solidFill>
                  <a:schemeClr val="tx1"/>
                </a:solidFill>
                <a:latin typeface="Arial" pitchFamily="34" charset="0"/>
                <a:ea typeface="宋体" pitchFamily="2" charset="-122"/>
              </a:defRPr>
            </a:lvl4pPr>
            <a:lvl5pPr marL="2057400" indent="-228600" eaLnBrk="0" hangingPunct="0">
              <a:spcBef>
                <a:spcPct val="20000"/>
              </a:spcBef>
              <a:buChar char="•"/>
              <a:defRPr kumimoji="1"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9pPr>
          </a:lstStyle>
          <a:p>
            <a:pPr eaLnBrk="1" hangingPunct="1">
              <a:spcBef>
                <a:spcPct val="0"/>
              </a:spcBef>
              <a:buClrTx/>
              <a:buSzTx/>
              <a:buFontTx/>
              <a:buNone/>
            </a:pPr>
            <a:r>
              <a:rPr kumimoji="0" lang="zh-CN" altLang="en-US" sz="2800" b="1" u="sng" dirty="0">
                <a:solidFill>
                  <a:schemeClr val="tx2"/>
                </a:solidFill>
                <a:latin typeface="楷体_GB2312"/>
                <a:ea typeface="楷体_GB2312"/>
                <a:cs typeface="楷体_GB2312"/>
              </a:rPr>
              <a:t>公式表示的推导如下：</a:t>
            </a:r>
            <a:endParaRPr kumimoji="0" lang="en-US" altLang="zh-CN" sz="2800" b="1" u="sng" dirty="0">
              <a:solidFill>
                <a:schemeClr val="tx2"/>
              </a:solidFill>
              <a:latin typeface="楷体_GB2312"/>
              <a:ea typeface="楷体_GB2312"/>
              <a:cs typeface="楷体_GB2312"/>
            </a:endParaRPr>
          </a:p>
        </p:txBody>
      </p:sp>
    </p:spTree>
    <p:extLst>
      <p:ext uri="{BB962C8B-B14F-4D97-AF65-F5344CB8AC3E}">
        <p14:creationId xmlns:p14="http://schemas.microsoft.com/office/powerpoint/2010/main" val="5922021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3491" name="Rectangle 7"/>
          <p:cNvSpPr>
            <a:spLocks noChangeArrowheads="1"/>
          </p:cNvSpPr>
          <p:nvPr/>
        </p:nvSpPr>
        <p:spPr bwMode="auto">
          <a:xfrm>
            <a:off x="500063" y="1714500"/>
            <a:ext cx="842962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a:endParaRPr lang="en-US" altLang="zh-CN" sz="3200">
              <a:solidFill>
                <a:srgbClr val="000000"/>
              </a:solidFill>
              <a:latin typeface="楷体_GB2312" pitchFamily="49" charset="-122"/>
              <a:ea typeface="楷体_GB2312" pitchFamily="49" charset="-122"/>
            </a:endParaRPr>
          </a:p>
        </p:txBody>
      </p:sp>
      <p:sp>
        <p:nvSpPr>
          <p:cNvPr id="54276" name="矩形 5"/>
          <p:cNvSpPr>
            <a:spLocks noRot="1" noChangeAspect="1" noMove="1" noResize="1" noEditPoints="1" noAdjustHandles="1" noChangeArrowheads="1" noChangeShapeType="1" noTextEdit="1"/>
          </p:cNvSpPr>
          <p:nvPr/>
        </p:nvSpPr>
        <p:spPr bwMode="auto">
          <a:xfrm>
            <a:off x="642938" y="1714500"/>
            <a:ext cx="7858125" cy="4063420"/>
          </a:xfrm>
          <a:prstGeom prst="rect">
            <a:avLst/>
          </a:prstGeom>
          <a:blipFill rotWithShape="1">
            <a:blip r:embed="rId3"/>
            <a:stretch>
              <a:fillRect l="-1938" t="-224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noFill/>
              </a:rPr>
              <a:t> </a:t>
            </a:r>
          </a:p>
        </p:txBody>
      </p:sp>
    </p:spTree>
    <p:extLst>
      <p:ext uri="{BB962C8B-B14F-4D97-AF65-F5344CB8AC3E}">
        <p14:creationId xmlns:p14="http://schemas.microsoft.com/office/powerpoint/2010/main" val="886443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4515" name="矩形 2"/>
          <p:cNvSpPr>
            <a:spLocks noChangeArrowheads="1"/>
          </p:cNvSpPr>
          <p:nvPr/>
        </p:nvSpPr>
        <p:spPr bwMode="auto">
          <a:xfrm>
            <a:off x="827584" y="1159746"/>
            <a:ext cx="80010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spcBef>
                <a:spcPct val="0"/>
              </a:spcBef>
              <a:buClrTx/>
              <a:buSzTx/>
              <a:buFontTx/>
              <a:buNone/>
            </a:pPr>
            <a:r>
              <a:rPr lang="zh-CN" altLang="en-US" sz="3200" dirty="0">
                <a:solidFill>
                  <a:schemeClr val="tx2"/>
                </a:solidFill>
                <a:latin typeface="楷体_GB2312"/>
                <a:ea typeface="楷体_GB2312"/>
                <a:cs typeface="楷体_GB2312"/>
              </a:rPr>
              <a:t>例如</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en-US" altLang="zh-CN" sz="3200" dirty="0">
                <a:solidFill>
                  <a:schemeClr val="tx2"/>
                </a:solidFill>
                <a:latin typeface="楷体_GB2312"/>
                <a:ea typeface="楷体_GB2312"/>
                <a:cs typeface="楷体_GB2312"/>
              </a:rPr>
              <a:t>X=-1011000,</a:t>
            </a:r>
          </a:p>
          <a:p>
            <a:pPr eaLnBrk="1" hangingPunct="1">
              <a:spcBef>
                <a:spcPct val="0"/>
              </a:spcBef>
              <a:buClrTx/>
              <a:buSzTx/>
              <a:buFontTx/>
              <a:buNone/>
            </a:pPr>
            <a:r>
              <a:rPr lang="zh-CN" altLang="en-US" sz="3200" dirty="0">
                <a:solidFill>
                  <a:schemeClr val="tx2"/>
                </a:solidFill>
                <a:latin typeface="楷体_GB2312"/>
                <a:ea typeface="楷体_GB2312"/>
                <a:cs typeface="楷体_GB2312"/>
              </a:rPr>
              <a:t>解</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：按补码公式求解：</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X</a:t>
            </a:r>
            <a:r>
              <a:rPr lang="zh-CN" altLang="en-US" sz="3200" dirty="0">
                <a:solidFill>
                  <a:schemeClr val="tx2"/>
                </a:solidFill>
                <a:latin typeface="楷体_GB2312"/>
                <a:ea typeface="楷体_GB2312"/>
                <a:cs typeface="楷体_GB2312"/>
              </a:rPr>
              <a:t>］</a:t>
            </a:r>
            <a:r>
              <a:rPr lang="zh-CN" altLang="en-US" sz="3200" baseline="-25000" dirty="0">
                <a:solidFill>
                  <a:schemeClr val="tx2"/>
                </a:solidFill>
                <a:latin typeface="楷体_GB2312"/>
                <a:ea typeface="楷体_GB2312"/>
                <a:cs typeface="楷体_GB2312"/>
              </a:rPr>
              <a:t>补</a:t>
            </a:r>
            <a:r>
              <a:rPr lang="en-US" altLang="zh-CN" sz="3200" dirty="0">
                <a:solidFill>
                  <a:schemeClr val="tx2"/>
                </a:solidFill>
                <a:latin typeface="楷体_GB2312"/>
                <a:ea typeface="楷体_GB2312"/>
                <a:cs typeface="楷体_GB2312"/>
              </a:rPr>
              <a:t>=</a:t>
            </a:r>
            <a:r>
              <a:rPr lang="zh-CN" altLang="en-US" sz="3200" dirty="0">
                <a:latin typeface="楷体_GB2312"/>
                <a:ea typeface="楷体_GB2312"/>
                <a:cs typeface="楷体_GB2312"/>
              </a:rPr>
              <a:t> </a:t>
            </a:r>
            <a:r>
              <a:rPr lang="en-US" altLang="zh-CN" sz="3200" dirty="0">
                <a:solidFill>
                  <a:schemeClr val="tx2"/>
                </a:solidFill>
                <a:latin typeface="楷体_GB2312"/>
                <a:ea typeface="楷体_GB2312"/>
                <a:cs typeface="楷体_GB2312"/>
              </a:rPr>
              <a:t>2</a:t>
            </a:r>
            <a:r>
              <a:rPr lang="en-US" altLang="zh-CN" sz="3200" baseline="30000" dirty="0">
                <a:solidFill>
                  <a:schemeClr val="tx2"/>
                </a:solidFill>
                <a:latin typeface="楷体_GB2312"/>
                <a:ea typeface="楷体_GB2312"/>
                <a:cs typeface="楷体_GB2312"/>
              </a:rPr>
              <a:t>n</a:t>
            </a:r>
            <a:r>
              <a:rPr lang="en-US" altLang="zh-CN" sz="3200" dirty="0">
                <a:solidFill>
                  <a:schemeClr val="tx2"/>
                </a:solidFill>
                <a:latin typeface="楷体_GB2312"/>
                <a:ea typeface="楷体_GB2312"/>
                <a:cs typeface="楷体_GB2312"/>
              </a:rPr>
              <a:t>- |X|= 2</a:t>
            </a:r>
            <a:r>
              <a:rPr lang="en-US" altLang="zh-CN" sz="3200" baseline="30000" dirty="0">
                <a:solidFill>
                  <a:schemeClr val="tx2"/>
                </a:solidFill>
                <a:latin typeface="楷体_GB2312"/>
                <a:ea typeface="楷体_GB2312"/>
                <a:cs typeface="楷体_GB2312"/>
              </a:rPr>
              <a:t>8</a:t>
            </a:r>
            <a:r>
              <a:rPr lang="en-US" altLang="zh-CN" sz="3200" dirty="0">
                <a:solidFill>
                  <a:schemeClr val="tx2"/>
                </a:solidFill>
                <a:latin typeface="楷体_GB2312"/>
                <a:ea typeface="楷体_GB2312"/>
                <a:cs typeface="楷体_GB2312"/>
              </a:rPr>
              <a:t>-|-1011000|</a:t>
            </a:r>
          </a:p>
          <a:p>
            <a:pPr eaLnBrk="1" hangingPunct="1">
              <a:spcBef>
                <a:spcPct val="0"/>
              </a:spcBef>
              <a:buClrTx/>
              <a:buSzTx/>
              <a:buFontTx/>
              <a:buNone/>
            </a:pPr>
            <a:r>
              <a:rPr lang="en-US" altLang="zh-CN" sz="3200" dirty="0">
                <a:solidFill>
                  <a:schemeClr val="tx2"/>
                </a:solidFill>
                <a:latin typeface="楷体_GB2312"/>
                <a:ea typeface="楷体_GB2312"/>
                <a:cs typeface="楷体_GB2312"/>
              </a:rPr>
              <a:t>=100000000-1011000=10101000</a:t>
            </a:r>
          </a:p>
          <a:p>
            <a:pPr eaLnBrk="1" hangingPunct="1">
              <a:spcBef>
                <a:spcPct val="0"/>
              </a:spcBef>
              <a:buClrTx/>
              <a:buSzTx/>
              <a:buFontTx/>
              <a:buNone/>
            </a:pPr>
            <a:r>
              <a:rPr lang="zh-CN" altLang="en-US" sz="3200" dirty="0">
                <a:solidFill>
                  <a:schemeClr val="tx2"/>
                </a:solidFill>
                <a:latin typeface="楷体_GB2312"/>
                <a:ea typeface="楷体_GB2312"/>
                <a:cs typeface="楷体_GB2312"/>
              </a:rPr>
              <a:t>解</a:t>
            </a:r>
            <a:r>
              <a:rPr lang="en-US" altLang="zh-CN" sz="3200" dirty="0">
                <a:solidFill>
                  <a:schemeClr val="tx2"/>
                </a:solidFill>
                <a:latin typeface="楷体_GB2312"/>
                <a:ea typeface="楷体_GB2312"/>
                <a:cs typeface="楷体_GB2312"/>
              </a:rPr>
              <a:t>2</a:t>
            </a:r>
            <a:r>
              <a:rPr lang="zh-CN" altLang="en-US" sz="3200" dirty="0">
                <a:solidFill>
                  <a:schemeClr val="tx2"/>
                </a:solidFill>
                <a:latin typeface="楷体_GB2312"/>
                <a:ea typeface="楷体_GB2312"/>
                <a:cs typeface="楷体_GB2312"/>
              </a:rPr>
              <a:t>：按补码简记规则求解：</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en-US" altLang="zh-CN" sz="3200" dirty="0">
                <a:solidFill>
                  <a:schemeClr val="tx2"/>
                </a:solidFill>
                <a:latin typeface="楷体_GB2312"/>
                <a:ea typeface="楷体_GB2312"/>
                <a:cs typeface="楷体_GB2312"/>
              </a:rPr>
              <a:t>  1011000</a:t>
            </a:r>
            <a:r>
              <a:rPr lang="zh-CN" altLang="en-US" sz="3200" dirty="0">
                <a:solidFill>
                  <a:schemeClr val="tx2"/>
                </a:solidFill>
                <a:latin typeface="楷体_GB2312"/>
                <a:ea typeface="楷体_GB2312"/>
                <a:cs typeface="楷体_GB2312"/>
              </a:rPr>
              <a:t>的反为：</a:t>
            </a:r>
            <a:r>
              <a:rPr lang="en-US" altLang="zh-CN" sz="3200" dirty="0">
                <a:solidFill>
                  <a:schemeClr val="tx2"/>
                </a:solidFill>
                <a:latin typeface="楷体_GB2312"/>
                <a:ea typeface="楷体_GB2312"/>
                <a:cs typeface="楷体_GB2312"/>
              </a:rPr>
              <a:t>0100111</a:t>
            </a:r>
            <a:r>
              <a:rPr lang="zh-CN" altLang="en-US" sz="3200" dirty="0">
                <a:solidFill>
                  <a:schemeClr val="tx2"/>
                </a:solidFill>
                <a:latin typeface="楷体_GB2312"/>
                <a:ea typeface="楷体_GB2312"/>
                <a:cs typeface="楷体_GB2312"/>
              </a:rPr>
              <a:t>；则：</a:t>
            </a:r>
            <a:r>
              <a:rPr lang="en-US" altLang="zh-CN" sz="3200" dirty="0">
                <a:solidFill>
                  <a:schemeClr val="tx2"/>
                </a:solidFill>
                <a:latin typeface="楷体_GB2312"/>
                <a:ea typeface="楷体_GB2312"/>
                <a:cs typeface="楷体_GB2312"/>
              </a:rPr>
              <a:t>0100111+0000001=0101000</a:t>
            </a:r>
            <a:r>
              <a:rPr lang="zh-CN" altLang="en-US" sz="3200" dirty="0">
                <a:solidFill>
                  <a:schemeClr val="tx2"/>
                </a:solidFill>
                <a:latin typeface="楷体_GB2312"/>
                <a:ea typeface="楷体_GB2312"/>
                <a:cs typeface="楷体_GB2312"/>
              </a:rPr>
              <a:t>；对</a:t>
            </a:r>
            <a:r>
              <a:rPr lang="en-US" altLang="zh-CN" sz="3200" dirty="0">
                <a:solidFill>
                  <a:schemeClr val="tx2"/>
                </a:solidFill>
                <a:latin typeface="楷体_GB2312"/>
                <a:ea typeface="楷体_GB2312"/>
                <a:cs typeface="楷体_GB2312"/>
              </a:rPr>
              <a:t>0101000</a:t>
            </a:r>
            <a:r>
              <a:rPr lang="zh-CN" altLang="en-US" sz="3200" dirty="0">
                <a:solidFill>
                  <a:schemeClr val="tx2"/>
                </a:solidFill>
                <a:latin typeface="楷体_GB2312"/>
                <a:ea typeface="楷体_GB2312"/>
                <a:cs typeface="楷体_GB2312"/>
              </a:rPr>
              <a:t>前面加符号位</a:t>
            </a:r>
            <a:r>
              <a:rPr lang="en-US" altLang="zh-CN" sz="3200" dirty="0">
                <a:solidFill>
                  <a:schemeClr val="tx2"/>
                </a:solidFill>
                <a:latin typeface="楷体_GB2312"/>
                <a:ea typeface="楷体_GB2312"/>
                <a:cs typeface="楷体_GB2312"/>
              </a:rPr>
              <a:t>1</a:t>
            </a:r>
            <a:r>
              <a:rPr lang="zh-CN" altLang="en-US" sz="3200" dirty="0">
                <a:solidFill>
                  <a:schemeClr val="tx2"/>
                </a:solidFill>
                <a:latin typeface="楷体_GB2312"/>
                <a:ea typeface="楷体_GB2312"/>
                <a:cs typeface="楷体_GB2312"/>
              </a:rPr>
              <a:t>为</a:t>
            </a:r>
            <a:r>
              <a:rPr lang="en-US" altLang="zh-CN" sz="3200" dirty="0">
                <a:solidFill>
                  <a:schemeClr val="tx2"/>
                </a:solidFill>
                <a:latin typeface="楷体_GB2312"/>
                <a:ea typeface="楷体_GB2312"/>
                <a:cs typeface="楷体_GB2312"/>
              </a:rPr>
              <a:t>10101000</a:t>
            </a:r>
            <a:r>
              <a:rPr lang="zh-CN" altLang="en-US" sz="3200" dirty="0">
                <a:solidFill>
                  <a:schemeClr val="tx2"/>
                </a:solidFill>
                <a:latin typeface="楷体_GB2312"/>
                <a:ea typeface="楷体_GB2312"/>
                <a:cs typeface="楷体_GB2312"/>
              </a:rPr>
              <a:t>，则得：</a:t>
            </a:r>
            <a:endParaRPr lang="en-US" altLang="zh-CN" sz="3200" dirty="0">
              <a:solidFill>
                <a:schemeClr val="tx2"/>
              </a:solidFill>
              <a:latin typeface="楷体_GB2312"/>
              <a:ea typeface="楷体_GB2312"/>
              <a:cs typeface="楷体_GB2312"/>
            </a:endParaRPr>
          </a:p>
          <a:p>
            <a:pPr eaLnBrk="1" hangingPunct="1">
              <a:spcBef>
                <a:spcPct val="0"/>
              </a:spcBef>
              <a:buClrTx/>
              <a:buSzTx/>
              <a:buFontTx/>
              <a:buNone/>
            </a:pPr>
            <a:r>
              <a:rPr lang="zh-CN" altLang="en-US" sz="3200" dirty="0">
                <a:solidFill>
                  <a:schemeClr val="tx2"/>
                </a:solidFill>
                <a:latin typeface="楷体_GB2312"/>
                <a:ea typeface="楷体_GB2312"/>
                <a:cs typeface="楷体_GB2312"/>
              </a:rPr>
              <a:t>［</a:t>
            </a:r>
            <a:r>
              <a:rPr lang="en-US" altLang="zh-CN" sz="3200" dirty="0">
                <a:solidFill>
                  <a:schemeClr val="tx2"/>
                </a:solidFill>
                <a:latin typeface="楷体_GB2312"/>
                <a:ea typeface="楷体_GB2312"/>
                <a:cs typeface="楷体_GB2312"/>
              </a:rPr>
              <a:t>X</a:t>
            </a:r>
            <a:r>
              <a:rPr lang="zh-CN" altLang="en-US" sz="3200" dirty="0">
                <a:solidFill>
                  <a:schemeClr val="tx2"/>
                </a:solidFill>
                <a:latin typeface="楷体_GB2312"/>
                <a:ea typeface="楷体_GB2312"/>
                <a:cs typeface="楷体_GB2312"/>
              </a:rPr>
              <a:t>］</a:t>
            </a:r>
            <a:r>
              <a:rPr lang="zh-CN" altLang="en-US" sz="3200" baseline="-25000" dirty="0">
                <a:solidFill>
                  <a:schemeClr val="tx2"/>
                </a:solidFill>
                <a:latin typeface="楷体_GB2312"/>
                <a:ea typeface="楷体_GB2312"/>
                <a:cs typeface="楷体_GB2312"/>
              </a:rPr>
              <a:t>补</a:t>
            </a:r>
            <a:r>
              <a:rPr lang="en-US" altLang="zh-CN" sz="3200" dirty="0">
                <a:solidFill>
                  <a:schemeClr val="tx2"/>
                </a:solidFill>
                <a:latin typeface="楷体_GB2312"/>
                <a:ea typeface="楷体_GB2312"/>
                <a:cs typeface="楷体_GB2312"/>
              </a:rPr>
              <a:t>=10101000</a:t>
            </a:r>
            <a:endParaRPr lang="en-US" altLang="zh-CN" sz="3200" baseline="-25000" dirty="0">
              <a:solidFill>
                <a:schemeClr val="tx2"/>
              </a:solidFill>
              <a:latin typeface="楷体_GB2312"/>
              <a:ea typeface="楷体_GB2312"/>
              <a:cs typeface="楷体_GB2312"/>
            </a:endParaRPr>
          </a:p>
          <a:p>
            <a:pPr algn="l" eaLnBrk="1" hangingPunct="1"/>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6830388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4515" name="矩形 2"/>
          <p:cNvSpPr>
            <a:spLocks noChangeArrowheads="1"/>
          </p:cNvSpPr>
          <p:nvPr/>
        </p:nvSpPr>
        <p:spPr bwMode="auto">
          <a:xfrm>
            <a:off x="571500" y="2000250"/>
            <a:ext cx="80010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补码零有唯一的表示形式：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补</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补</a:t>
            </a:r>
            <a:r>
              <a:rPr lang="en-US" altLang="zh-CN" sz="3200" dirty="0">
                <a:solidFill>
                  <a:schemeClr val="tx2"/>
                </a:solidFill>
                <a:latin typeface="楷体_GB2312" pitchFamily="49" charset="-122"/>
                <a:ea typeface="楷体_GB2312" pitchFamily="49" charset="-122"/>
              </a:rPr>
              <a:t>=00000000</a:t>
            </a:r>
          </a:p>
          <a:p>
            <a:pPr algn="l" eaLnBrk="1" hangingPunct="1"/>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9759364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5539" name="矩形 2"/>
          <p:cNvSpPr>
            <a:spLocks noChangeArrowheads="1"/>
          </p:cNvSpPr>
          <p:nvPr/>
        </p:nvSpPr>
        <p:spPr bwMode="auto">
          <a:xfrm>
            <a:off x="571500" y="1785938"/>
            <a:ext cx="8001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）移码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移码的定义：</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例：设字长 </a:t>
            </a:r>
            <a:r>
              <a:rPr lang="en-US" altLang="zh-CN" sz="3200" dirty="0">
                <a:solidFill>
                  <a:schemeClr val="tx2"/>
                </a:solidFill>
                <a:latin typeface="楷体_GB2312" pitchFamily="49" charset="-122"/>
                <a:ea typeface="楷体_GB2312" pitchFamily="49" charset="-122"/>
              </a:rPr>
              <a:t>n=8</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X=+1011000</a:t>
            </a: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移</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n-1</a:t>
            </a:r>
            <a:r>
              <a:rPr lang="en-US" altLang="zh-CN" sz="3200" dirty="0">
                <a:solidFill>
                  <a:schemeClr val="tx2"/>
                </a:solidFill>
                <a:latin typeface="楷体_GB2312" pitchFamily="49" charset="-122"/>
                <a:ea typeface="楷体_GB2312" pitchFamily="49" charset="-122"/>
              </a:rPr>
              <a:t>+X=10000000+1011000</a:t>
            </a: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=11011000 </a:t>
            </a:r>
            <a:endParaRPr lang="zh-CN" altLang="en-US" sz="3200" dirty="0">
              <a:solidFill>
                <a:schemeClr val="tx2"/>
              </a:solidFill>
              <a:latin typeface="楷体_GB2312" pitchFamily="49" charset="-122"/>
              <a:ea typeface="楷体_GB2312" pitchFamily="49" charset="-122"/>
            </a:endParaRPr>
          </a:p>
        </p:txBody>
      </p:sp>
      <p:pic>
        <p:nvPicPr>
          <p:cNvPr id="65540" name="图片 5" descr="移码定义.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3000375"/>
            <a:ext cx="67548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7845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6563" name="矩形 2"/>
          <p:cNvSpPr>
            <a:spLocks noChangeArrowheads="1"/>
          </p:cNvSpPr>
          <p:nvPr/>
        </p:nvSpPr>
        <p:spPr bwMode="auto">
          <a:xfrm>
            <a:off x="571500" y="1785938"/>
            <a:ext cx="80010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u="sng" dirty="0">
                <a:solidFill>
                  <a:schemeClr val="tx2"/>
                </a:solidFill>
                <a:latin typeface="楷体_GB2312"/>
                <a:ea typeface="楷体_GB2312"/>
                <a:cs typeface="楷体_GB2312"/>
              </a:rPr>
              <a:t>移码简记规则：</a:t>
            </a:r>
            <a:r>
              <a:rPr lang="zh-CN" altLang="en-US" sz="3200" dirty="0">
                <a:solidFill>
                  <a:schemeClr val="tx2"/>
                </a:solidFill>
                <a:latin typeface="楷体_GB2312" pitchFamily="49" charset="-122"/>
                <a:ea typeface="楷体_GB2312" pitchFamily="49" charset="-122"/>
              </a:rPr>
              <a:t>移码可以简记为：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移码是补码的符号位取反</a:t>
            </a:r>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因此：</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移码为正数时，符号用</a:t>
            </a:r>
            <a:r>
              <a:rPr lang="en-US" altLang="zh-CN" sz="3200" dirty="0">
                <a:solidFill>
                  <a:schemeClr val="tx2"/>
                </a:solidFill>
                <a:latin typeface="楷体_GB2312" pitchFamily="49" charset="-122"/>
                <a:ea typeface="楷体_GB2312" pitchFamily="49" charset="-122"/>
              </a:rPr>
              <a:t>“1</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表示</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移码为负数时，符号用</a:t>
            </a:r>
            <a:r>
              <a:rPr lang="en-US" altLang="zh-CN" sz="3200" dirty="0">
                <a:solidFill>
                  <a:schemeClr val="tx2"/>
                </a:solidFill>
                <a:latin typeface="楷体_GB2312" pitchFamily="49" charset="-122"/>
                <a:ea typeface="楷体_GB2312" pitchFamily="49" charset="-122"/>
              </a:rPr>
              <a:t>“0</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表示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5426117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7587" name="矩形 2"/>
          <p:cNvSpPr>
            <a:spLocks noChangeArrowheads="1"/>
          </p:cNvSpPr>
          <p:nvPr/>
        </p:nvSpPr>
        <p:spPr bwMode="auto">
          <a:xfrm>
            <a:off x="571500" y="1785938"/>
            <a:ext cx="80010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X=-1011000,</a:t>
            </a: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移</a:t>
            </a:r>
            <a:r>
              <a:rPr lang="en-US" altLang="zh-CN" sz="3200" dirty="0">
                <a:solidFill>
                  <a:schemeClr val="tx2"/>
                </a:solidFill>
                <a:latin typeface="楷体_GB2312" pitchFamily="49" charset="-122"/>
                <a:ea typeface="楷体_GB2312" pitchFamily="49" charset="-122"/>
              </a:rPr>
              <a:t>=</a:t>
            </a:r>
            <a:r>
              <a:rPr lang="zh-CN" altLang="en-US" sz="3200" dirty="0">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n-1</a:t>
            </a:r>
            <a:r>
              <a:rPr lang="en-US" altLang="zh-CN" sz="3200" dirty="0">
                <a:solidFill>
                  <a:schemeClr val="tx2"/>
                </a:solidFill>
                <a:latin typeface="楷体_GB2312" pitchFamily="49" charset="-122"/>
                <a:ea typeface="楷体_GB2312" pitchFamily="49" charset="-122"/>
              </a:rPr>
              <a:t>+X= 10000000+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-1011000</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=10000000-1011000=00101000</a:t>
            </a:r>
          </a:p>
          <a:p>
            <a:pPr eaLnBrk="1" hangingPunct="1"/>
            <a:r>
              <a:rPr lang="zh-CN" altLang="en-US" sz="3200" dirty="0">
                <a:solidFill>
                  <a:schemeClr val="tx2"/>
                </a:solidFill>
                <a:latin typeface="楷体_GB2312" pitchFamily="49" charset="-122"/>
                <a:ea typeface="楷体_GB2312" pitchFamily="49" charset="-122"/>
              </a:rPr>
              <a:t>另一种计算（移码是补码的符号位取反</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的补码是</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补</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反</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0100111+1=</a:t>
            </a:r>
            <a:r>
              <a:rPr lang="en-US" altLang="zh-CN" sz="3200" dirty="0">
                <a:solidFill>
                  <a:srgbClr val="FF000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0101000</a:t>
            </a:r>
          </a:p>
          <a:p>
            <a:pPr eaLnBrk="1" hangingPunct="1"/>
            <a:r>
              <a:rPr lang="zh-CN" altLang="en-US" sz="3200" dirty="0">
                <a:solidFill>
                  <a:schemeClr val="tx2"/>
                </a:solidFill>
                <a:latin typeface="楷体_GB2312" pitchFamily="49" charset="-122"/>
                <a:ea typeface="楷体_GB2312" pitchFamily="49" charset="-122"/>
              </a:rPr>
              <a:t>将［</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补</a:t>
            </a:r>
            <a:r>
              <a:rPr lang="zh-CN" altLang="en-US" sz="3200" dirty="0">
                <a:solidFill>
                  <a:schemeClr val="tx2"/>
                </a:solidFill>
                <a:latin typeface="楷体_GB2312" pitchFamily="49" charset="-122"/>
                <a:ea typeface="楷体_GB2312" pitchFamily="49" charset="-122"/>
              </a:rPr>
              <a:t>的符号位取反即得到</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移</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0101000</a:t>
            </a:r>
          </a:p>
        </p:txBody>
      </p:sp>
    </p:spTree>
    <p:extLst>
      <p:ext uri="{BB962C8B-B14F-4D97-AF65-F5344CB8AC3E}">
        <p14:creationId xmlns:p14="http://schemas.microsoft.com/office/powerpoint/2010/main" val="39982768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7587" name="矩形 2"/>
          <p:cNvSpPr>
            <a:spLocks noChangeArrowheads="1"/>
          </p:cNvSpPr>
          <p:nvPr/>
        </p:nvSpPr>
        <p:spPr bwMode="auto">
          <a:xfrm>
            <a:off x="571500" y="1785938"/>
            <a:ext cx="8001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移码零有唯一的表示形式：</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移</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zh-CN" altLang="en-US" sz="3200" baseline="-25000" dirty="0">
                <a:solidFill>
                  <a:schemeClr val="tx2"/>
                </a:solidFill>
                <a:latin typeface="楷体_GB2312" pitchFamily="49" charset="-122"/>
                <a:ea typeface="楷体_GB2312" pitchFamily="49" charset="-122"/>
              </a:rPr>
              <a:t>移</a:t>
            </a:r>
            <a:r>
              <a:rPr lang="en-US" altLang="zh-CN" sz="3200" dirty="0">
                <a:solidFill>
                  <a:schemeClr val="tx2"/>
                </a:solidFill>
                <a:latin typeface="楷体_GB2312" pitchFamily="49" charset="-122"/>
                <a:ea typeface="楷体_GB2312" pitchFamily="49" charset="-122"/>
              </a:rPr>
              <a:t>=10000000</a:t>
            </a: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98790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8611" name="矩形 2"/>
          <p:cNvSpPr>
            <a:spLocks noChangeArrowheads="1"/>
          </p:cNvSpPr>
          <p:nvPr/>
        </p:nvSpPr>
        <p:spPr bwMode="auto">
          <a:xfrm>
            <a:off x="571500" y="1785938"/>
            <a:ext cx="8001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(5)</a:t>
            </a:r>
            <a:r>
              <a:rPr lang="zh-CN" altLang="en-US" sz="3200" dirty="0">
                <a:solidFill>
                  <a:schemeClr val="tx2"/>
                </a:solidFill>
                <a:latin typeface="楷体_GB2312" pitchFamily="49" charset="-122"/>
                <a:ea typeface="楷体_GB2312" pitchFamily="49" charset="-122"/>
              </a:rPr>
              <a:t>浮点数常用编码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尾数（定点小数）可用原码、补码，常用补码表示。</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阶值</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定点整数</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可用原码、补码、移码，常用移码表示。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8855523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9635" name="矩形 2"/>
          <p:cNvSpPr>
            <a:spLocks noChangeArrowheads="1"/>
          </p:cNvSpPr>
          <p:nvPr/>
        </p:nvSpPr>
        <p:spPr bwMode="auto">
          <a:xfrm>
            <a:off x="571500" y="1785938"/>
            <a:ext cx="80010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sz="3200" dirty="0">
                <a:solidFill>
                  <a:schemeClr val="tx2"/>
                </a:solidFill>
                <a:latin typeface="楷体_GB2312" pitchFamily="49" charset="-122"/>
                <a:ea typeface="楷体_GB2312" pitchFamily="49" charset="-122"/>
              </a:rPr>
              <a:t>2.BCD</a:t>
            </a:r>
            <a:r>
              <a:rPr lang="zh-CN" altLang="en-US" sz="3200" dirty="0">
                <a:solidFill>
                  <a:schemeClr val="tx2"/>
                </a:solidFill>
                <a:latin typeface="楷体_GB2312" pitchFamily="49" charset="-122"/>
                <a:ea typeface="楷体_GB2312" pitchFamily="49" charset="-122"/>
              </a:rPr>
              <a:t>码（</a:t>
            </a:r>
            <a:r>
              <a:rPr lang="en-US" altLang="zh-CN" sz="3200" dirty="0">
                <a:solidFill>
                  <a:schemeClr val="tx2"/>
                </a:solidFill>
                <a:latin typeface="楷体_GB2312" pitchFamily="49" charset="-122"/>
                <a:ea typeface="楷体_GB2312" pitchFamily="49" charset="-122"/>
              </a:rPr>
              <a:t>Binary-Coded Decimal</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是一种十进制的数字编码形式。这种编码下的每个十进制数字用一串单独的二进制比特来存储表示。常见的有</a:t>
            </a:r>
            <a:r>
              <a:rPr lang="en-US" altLang="zh-CN" sz="32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位表示</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个十进制数字，如下表：</a:t>
            </a:r>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4362188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69635" name="矩形 2"/>
          <p:cNvSpPr>
            <a:spLocks noChangeArrowheads="1"/>
          </p:cNvSpPr>
          <p:nvPr/>
        </p:nvSpPr>
        <p:spPr bwMode="auto">
          <a:xfrm>
            <a:off x="571500" y="1785938"/>
            <a:ext cx="8001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用</a:t>
            </a:r>
            <a:r>
              <a:rPr lang="zh-CN" altLang="en-US" sz="3200" dirty="0">
                <a:solidFill>
                  <a:srgbClr val="FF0000"/>
                </a:solidFill>
                <a:latin typeface="楷体_GB2312" pitchFamily="49" charset="-122"/>
                <a:ea typeface="楷体_GB2312" pitchFamily="49" charset="-122"/>
              </a:rPr>
              <a:t>四位二进制表示十进制</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如十进制数</a:t>
            </a:r>
            <a:r>
              <a:rPr lang="en-US" altLang="zh-CN" sz="3200" dirty="0">
                <a:solidFill>
                  <a:schemeClr val="tx2"/>
                </a:solidFill>
                <a:latin typeface="楷体_GB2312" pitchFamily="49" charset="-122"/>
                <a:ea typeface="楷体_GB2312" pitchFamily="49" charset="-122"/>
              </a:rPr>
              <a:t>20</a:t>
            </a:r>
            <a:r>
              <a:rPr lang="zh-CN" altLang="en-US" sz="3200" dirty="0">
                <a:solidFill>
                  <a:schemeClr val="tx2"/>
                </a:solidFill>
                <a:latin typeface="楷体_GB2312" pitchFamily="49" charset="-122"/>
                <a:ea typeface="楷体_GB2312" pitchFamily="49" charset="-122"/>
              </a:rPr>
              <a:t>用</a:t>
            </a:r>
            <a:r>
              <a:rPr lang="en-US" altLang="zh-CN" sz="3200" dirty="0">
                <a:solidFill>
                  <a:schemeClr val="tx2"/>
                </a:solidFill>
                <a:latin typeface="楷体_GB2312" pitchFamily="49" charset="-122"/>
                <a:ea typeface="楷体_GB2312" pitchFamily="49" charset="-122"/>
              </a:rPr>
              <a:t>BCD</a:t>
            </a:r>
            <a:r>
              <a:rPr lang="zh-CN" altLang="en-US" sz="3200" dirty="0">
                <a:solidFill>
                  <a:schemeClr val="tx2"/>
                </a:solidFill>
                <a:latin typeface="楷体_GB2312" pitchFamily="49" charset="-122"/>
                <a:ea typeface="楷体_GB2312" pitchFamily="49" charset="-122"/>
              </a:rPr>
              <a:t>码表示为：</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00100000</a:t>
            </a:r>
            <a:r>
              <a:rPr lang="zh-CN" altLang="en-US" sz="3200" dirty="0">
                <a:solidFill>
                  <a:schemeClr val="tx2"/>
                </a:solidFill>
                <a:latin typeface="楷体_GB2312" pitchFamily="49" charset="-122"/>
                <a:ea typeface="楷体_GB2312" pitchFamily="49" charset="-122"/>
              </a:rPr>
              <a:t>其中</a:t>
            </a:r>
            <a:r>
              <a:rPr lang="en-US" altLang="zh-CN" sz="3200" dirty="0">
                <a:solidFill>
                  <a:schemeClr val="tx2"/>
                </a:solidFill>
                <a:latin typeface="楷体_GB2312" pitchFamily="49" charset="-122"/>
                <a:ea typeface="楷体_GB2312" pitchFamily="49" charset="-122"/>
              </a:rPr>
              <a:t>0010</a:t>
            </a:r>
            <a:r>
              <a:rPr lang="zh-CN" altLang="en-US" sz="3200" dirty="0">
                <a:solidFill>
                  <a:schemeClr val="tx2"/>
                </a:solidFill>
                <a:latin typeface="楷体_GB2312" pitchFamily="49" charset="-122"/>
                <a:ea typeface="楷体_GB2312" pitchFamily="49" charset="-122"/>
              </a:rPr>
              <a:t>代表</a:t>
            </a:r>
            <a:r>
              <a:rPr lang="en-US" altLang="zh-CN" sz="3200" dirty="0">
                <a:solidFill>
                  <a:schemeClr val="tx2"/>
                </a:solidFill>
                <a:latin typeface="楷体_GB2312" pitchFamily="49" charset="-122"/>
                <a:ea typeface="楷体_GB2312" pitchFamily="49" charset="-122"/>
              </a:rPr>
              <a:t>2,0000</a:t>
            </a:r>
            <a:r>
              <a:rPr lang="zh-CN" altLang="en-US" sz="3200" dirty="0">
                <a:solidFill>
                  <a:schemeClr val="tx2"/>
                </a:solidFill>
                <a:latin typeface="楷体_GB2312" pitchFamily="49" charset="-122"/>
                <a:ea typeface="楷体_GB2312" pitchFamily="49" charset="-122"/>
              </a:rPr>
              <a:t>代表</a:t>
            </a:r>
            <a:r>
              <a:rPr lang="en-US" altLang="zh-CN" sz="3200" dirty="0">
                <a:solidFill>
                  <a:schemeClr val="tx2"/>
                </a:solidFill>
                <a:latin typeface="楷体_GB2312" pitchFamily="49" charset="-122"/>
                <a:ea typeface="楷体_GB2312" pitchFamily="49" charset="-122"/>
              </a:rPr>
              <a:t>0</a:t>
            </a:r>
          </a:p>
          <a:p>
            <a:pPr algn="l" eaLnBrk="1" hangingPunct="1"/>
            <a:endParaRPr lang="en-US" altLang="zh-CN" sz="3200" dirty="0">
              <a:solidFill>
                <a:schemeClr val="tx2"/>
              </a:solidFill>
              <a:latin typeface="楷体_GB2312" pitchFamily="49" charset="-122"/>
              <a:ea typeface="楷体_GB2312" pitchFamily="49" charset="-122"/>
            </a:endParaRPr>
          </a:p>
        </p:txBody>
      </p:sp>
      <p:graphicFrame>
        <p:nvGraphicFramePr>
          <p:cNvPr id="5" name="表格 4"/>
          <p:cNvGraphicFramePr>
            <a:graphicFrameLocks noGrp="1"/>
          </p:cNvGraphicFramePr>
          <p:nvPr/>
        </p:nvGraphicFramePr>
        <p:xfrm>
          <a:off x="900113" y="2895600"/>
          <a:ext cx="5857876" cy="1828800"/>
        </p:xfrm>
        <a:graphic>
          <a:graphicData uri="http://schemas.openxmlformats.org/drawingml/2006/table">
            <a:tbl>
              <a:tblPr firstRow="1" bandRow="1">
                <a:tableStyleId>{8A107856-5554-42FB-B03E-39F5DBC370BA}</a:tableStyleId>
              </a:tblPr>
              <a:tblGrid>
                <a:gridCol w="1464469">
                  <a:extLst>
                    <a:ext uri="{9D8B030D-6E8A-4147-A177-3AD203B41FA5}">
                      <a16:colId xmlns:a16="http://schemas.microsoft.com/office/drawing/2014/main" val="20000"/>
                    </a:ext>
                  </a:extLst>
                </a:gridCol>
                <a:gridCol w="1464469">
                  <a:extLst>
                    <a:ext uri="{9D8B030D-6E8A-4147-A177-3AD203B41FA5}">
                      <a16:colId xmlns:a16="http://schemas.microsoft.com/office/drawing/2014/main" val="20001"/>
                    </a:ext>
                  </a:extLst>
                </a:gridCol>
                <a:gridCol w="1464469">
                  <a:extLst>
                    <a:ext uri="{9D8B030D-6E8A-4147-A177-3AD203B41FA5}">
                      <a16:colId xmlns:a16="http://schemas.microsoft.com/office/drawing/2014/main" val="20002"/>
                    </a:ext>
                  </a:extLst>
                </a:gridCol>
                <a:gridCol w="1464469">
                  <a:extLst>
                    <a:ext uri="{9D8B030D-6E8A-4147-A177-3AD203B41FA5}">
                      <a16:colId xmlns:a16="http://schemas.microsoft.com/office/drawing/2014/main" val="20003"/>
                    </a:ext>
                  </a:extLst>
                </a:gridCol>
              </a:tblGrid>
              <a:tr h="270827">
                <a:tc>
                  <a:txBody>
                    <a:bodyPr/>
                    <a:lstStyle/>
                    <a:p>
                      <a:pPr algn="ctr"/>
                      <a:r>
                        <a:rPr lang="en-US" altLang="zh-CN" b="1" dirty="0"/>
                        <a:t>0</a:t>
                      </a:r>
                      <a:endParaRPr lang="zh-CN" altLang="en-US" b="1" dirty="0"/>
                    </a:p>
                  </a:txBody>
                  <a:tcPr marL="91439" marR="91439"/>
                </a:tc>
                <a:tc>
                  <a:txBody>
                    <a:bodyPr/>
                    <a:lstStyle/>
                    <a:p>
                      <a:pPr algn="ctr"/>
                      <a:r>
                        <a:rPr lang="en-US" altLang="zh-CN" b="1" dirty="0"/>
                        <a:t>0000</a:t>
                      </a:r>
                      <a:endParaRPr lang="zh-CN" altLang="en-US" b="1" dirty="0"/>
                    </a:p>
                  </a:txBody>
                  <a:tcPr marL="91439" marR="91439"/>
                </a:tc>
                <a:tc>
                  <a:txBody>
                    <a:bodyPr/>
                    <a:lstStyle/>
                    <a:p>
                      <a:pPr algn="ctr"/>
                      <a:r>
                        <a:rPr lang="en-US" altLang="zh-CN" b="1" dirty="0"/>
                        <a:t>5</a:t>
                      </a:r>
                      <a:endParaRPr lang="zh-CN" altLang="en-US" b="1" dirty="0"/>
                    </a:p>
                  </a:txBody>
                  <a:tcPr marL="91439" marR="91439"/>
                </a:tc>
                <a:tc>
                  <a:txBody>
                    <a:bodyPr/>
                    <a:lstStyle/>
                    <a:p>
                      <a:pPr algn="ctr"/>
                      <a:r>
                        <a:rPr lang="en-US" altLang="zh-CN" b="1" dirty="0"/>
                        <a:t>0101</a:t>
                      </a:r>
                      <a:endParaRPr lang="zh-CN" altLang="en-US" b="1" dirty="0"/>
                    </a:p>
                  </a:txBody>
                  <a:tcPr marL="91439" marR="91439"/>
                </a:tc>
                <a:extLst>
                  <a:ext uri="{0D108BD9-81ED-4DB2-BD59-A6C34878D82A}">
                    <a16:rowId xmlns:a16="http://schemas.microsoft.com/office/drawing/2014/main" val="10000"/>
                  </a:ext>
                </a:extLst>
              </a:tr>
              <a:tr h="270827">
                <a:tc>
                  <a:txBody>
                    <a:bodyPr/>
                    <a:lstStyle/>
                    <a:p>
                      <a:pPr algn="ctr"/>
                      <a:r>
                        <a:rPr lang="en-US" altLang="zh-CN" b="1" dirty="0"/>
                        <a:t>1</a:t>
                      </a:r>
                      <a:endParaRPr lang="zh-CN" altLang="en-US" b="1" dirty="0"/>
                    </a:p>
                  </a:txBody>
                  <a:tcPr marL="91439" marR="91439"/>
                </a:tc>
                <a:tc>
                  <a:txBody>
                    <a:bodyPr/>
                    <a:lstStyle/>
                    <a:p>
                      <a:pPr algn="ctr"/>
                      <a:r>
                        <a:rPr lang="en-US" altLang="zh-CN" b="1" dirty="0"/>
                        <a:t>0001</a:t>
                      </a:r>
                      <a:endParaRPr lang="zh-CN" altLang="en-US" b="1" dirty="0"/>
                    </a:p>
                  </a:txBody>
                  <a:tcPr marL="91439" marR="91439"/>
                </a:tc>
                <a:tc>
                  <a:txBody>
                    <a:bodyPr/>
                    <a:lstStyle/>
                    <a:p>
                      <a:pPr algn="ctr"/>
                      <a:r>
                        <a:rPr lang="en-US" altLang="zh-CN" b="1" dirty="0"/>
                        <a:t>6</a:t>
                      </a:r>
                      <a:endParaRPr lang="zh-CN" altLang="en-US" b="1" dirty="0"/>
                    </a:p>
                  </a:txBody>
                  <a:tcPr marL="91439" marR="91439"/>
                </a:tc>
                <a:tc>
                  <a:txBody>
                    <a:bodyPr/>
                    <a:lstStyle/>
                    <a:p>
                      <a:pPr algn="ctr"/>
                      <a:r>
                        <a:rPr lang="en-US" altLang="zh-CN" b="1" dirty="0"/>
                        <a:t>0110</a:t>
                      </a:r>
                      <a:endParaRPr lang="zh-CN" altLang="en-US" b="1" dirty="0"/>
                    </a:p>
                  </a:txBody>
                  <a:tcPr marL="91439" marR="91439"/>
                </a:tc>
                <a:extLst>
                  <a:ext uri="{0D108BD9-81ED-4DB2-BD59-A6C34878D82A}">
                    <a16:rowId xmlns:a16="http://schemas.microsoft.com/office/drawing/2014/main" val="10001"/>
                  </a:ext>
                </a:extLst>
              </a:tr>
              <a:tr h="270827">
                <a:tc>
                  <a:txBody>
                    <a:bodyPr/>
                    <a:lstStyle/>
                    <a:p>
                      <a:pPr algn="ctr"/>
                      <a:r>
                        <a:rPr lang="en-US" altLang="zh-CN" b="1" dirty="0"/>
                        <a:t>2</a:t>
                      </a:r>
                      <a:endParaRPr lang="zh-CN" altLang="en-US" b="1" dirty="0"/>
                    </a:p>
                  </a:txBody>
                  <a:tcPr marL="91439" marR="91439"/>
                </a:tc>
                <a:tc>
                  <a:txBody>
                    <a:bodyPr/>
                    <a:lstStyle/>
                    <a:p>
                      <a:pPr algn="ctr"/>
                      <a:r>
                        <a:rPr lang="en-US" altLang="zh-CN" b="1" dirty="0"/>
                        <a:t>0010</a:t>
                      </a:r>
                      <a:endParaRPr lang="zh-CN" altLang="en-US" b="1" dirty="0"/>
                    </a:p>
                  </a:txBody>
                  <a:tcPr marL="91439" marR="91439"/>
                </a:tc>
                <a:tc>
                  <a:txBody>
                    <a:bodyPr/>
                    <a:lstStyle/>
                    <a:p>
                      <a:pPr algn="ctr"/>
                      <a:r>
                        <a:rPr lang="en-US" altLang="zh-CN" b="1" dirty="0"/>
                        <a:t>7</a:t>
                      </a:r>
                      <a:endParaRPr lang="zh-CN" altLang="en-US" b="1" dirty="0"/>
                    </a:p>
                  </a:txBody>
                  <a:tcPr marL="91439" marR="91439"/>
                </a:tc>
                <a:tc>
                  <a:txBody>
                    <a:bodyPr/>
                    <a:lstStyle/>
                    <a:p>
                      <a:pPr algn="ctr"/>
                      <a:r>
                        <a:rPr lang="en-US" altLang="zh-CN" b="1" dirty="0"/>
                        <a:t>0111</a:t>
                      </a:r>
                      <a:endParaRPr lang="zh-CN" altLang="en-US" b="1" dirty="0"/>
                    </a:p>
                  </a:txBody>
                  <a:tcPr marL="91439" marR="91439"/>
                </a:tc>
                <a:extLst>
                  <a:ext uri="{0D108BD9-81ED-4DB2-BD59-A6C34878D82A}">
                    <a16:rowId xmlns:a16="http://schemas.microsoft.com/office/drawing/2014/main" val="10002"/>
                  </a:ext>
                </a:extLst>
              </a:tr>
              <a:tr h="270827">
                <a:tc>
                  <a:txBody>
                    <a:bodyPr/>
                    <a:lstStyle/>
                    <a:p>
                      <a:pPr algn="ctr"/>
                      <a:r>
                        <a:rPr lang="en-US" altLang="zh-CN" b="1" dirty="0"/>
                        <a:t>3</a:t>
                      </a:r>
                      <a:endParaRPr lang="zh-CN" altLang="en-US" b="1" dirty="0"/>
                    </a:p>
                  </a:txBody>
                  <a:tcPr marL="91439" marR="91439"/>
                </a:tc>
                <a:tc>
                  <a:txBody>
                    <a:bodyPr/>
                    <a:lstStyle/>
                    <a:p>
                      <a:pPr algn="ctr"/>
                      <a:r>
                        <a:rPr lang="en-US" altLang="zh-CN" b="1" dirty="0"/>
                        <a:t>0011</a:t>
                      </a:r>
                      <a:endParaRPr lang="zh-CN" altLang="en-US" b="1" dirty="0"/>
                    </a:p>
                  </a:txBody>
                  <a:tcPr marL="91439" marR="91439"/>
                </a:tc>
                <a:tc>
                  <a:txBody>
                    <a:bodyPr/>
                    <a:lstStyle/>
                    <a:p>
                      <a:pPr algn="ctr"/>
                      <a:r>
                        <a:rPr lang="en-US" altLang="zh-CN" b="1" dirty="0"/>
                        <a:t>8</a:t>
                      </a:r>
                      <a:endParaRPr lang="zh-CN" altLang="en-US" b="1" dirty="0"/>
                    </a:p>
                  </a:txBody>
                  <a:tcPr marL="91439" marR="91439"/>
                </a:tc>
                <a:tc>
                  <a:txBody>
                    <a:bodyPr/>
                    <a:lstStyle/>
                    <a:p>
                      <a:pPr algn="ctr"/>
                      <a:r>
                        <a:rPr lang="en-US" altLang="zh-CN" b="1" dirty="0"/>
                        <a:t>1000</a:t>
                      </a:r>
                      <a:endParaRPr lang="zh-CN" altLang="en-US" b="1" dirty="0"/>
                    </a:p>
                  </a:txBody>
                  <a:tcPr marL="91439" marR="91439"/>
                </a:tc>
                <a:extLst>
                  <a:ext uri="{0D108BD9-81ED-4DB2-BD59-A6C34878D82A}">
                    <a16:rowId xmlns:a16="http://schemas.microsoft.com/office/drawing/2014/main" val="10003"/>
                  </a:ext>
                </a:extLst>
              </a:tr>
              <a:tr h="270827">
                <a:tc>
                  <a:txBody>
                    <a:bodyPr/>
                    <a:lstStyle/>
                    <a:p>
                      <a:pPr algn="ctr"/>
                      <a:r>
                        <a:rPr lang="en-US" altLang="zh-CN" b="1" dirty="0"/>
                        <a:t>4</a:t>
                      </a:r>
                      <a:endParaRPr lang="zh-CN" altLang="en-US" b="1" dirty="0"/>
                    </a:p>
                  </a:txBody>
                  <a:tcPr marL="91439" marR="91439"/>
                </a:tc>
                <a:tc>
                  <a:txBody>
                    <a:bodyPr/>
                    <a:lstStyle/>
                    <a:p>
                      <a:pPr algn="ctr"/>
                      <a:r>
                        <a:rPr lang="en-US" altLang="zh-CN" b="1" dirty="0"/>
                        <a:t>0100</a:t>
                      </a:r>
                      <a:endParaRPr lang="zh-CN" altLang="en-US" b="1" dirty="0"/>
                    </a:p>
                  </a:txBody>
                  <a:tcPr marL="91439" marR="91439"/>
                </a:tc>
                <a:tc>
                  <a:txBody>
                    <a:bodyPr/>
                    <a:lstStyle/>
                    <a:p>
                      <a:pPr algn="ctr"/>
                      <a:r>
                        <a:rPr lang="en-US" altLang="zh-CN" b="1" dirty="0"/>
                        <a:t>9</a:t>
                      </a:r>
                      <a:endParaRPr lang="zh-CN" altLang="en-US" b="1" dirty="0"/>
                    </a:p>
                  </a:txBody>
                  <a:tcPr marL="91439" marR="91439"/>
                </a:tc>
                <a:tc>
                  <a:txBody>
                    <a:bodyPr/>
                    <a:lstStyle/>
                    <a:p>
                      <a:pPr algn="ctr"/>
                      <a:r>
                        <a:rPr lang="en-US" altLang="zh-CN" b="1" dirty="0"/>
                        <a:t>1001</a:t>
                      </a:r>
                      <a:endParaRPr lang="zh-CN" altLang="en-US" b="1" dirty="0"/>
                    </a:p>
                  </a:txBody>
                  <a:tcPr marL="91439" marR="9143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686528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2.1.2</a:t>
            </a:r>
            <a:r>
              <a:rPr kumimoji="1" lang="zh-CN" altLang="en-US" sz="2000" kern="0" dirty="0">
                <a:solidFill>
                  <a:schemeClr val="tx2"/>
                </a:solidFill>
                <a:latin typeface="楷体_GB2312" pitchFamily="49" charset="-122"/>
                <a:ea typeface="楷体_GB2312" pitchFamily="49" charset="-122"/>
                <a:cs typeface="+mj-cs"/>
              </a:rPr>
              <a:t>机器数的编码表示</a:t>
            </a:r>
          </a:p>
        </p:txBody>
      </p:sp>
      <p:sp>
        <p:nvSpPr>
          <p:cNvPr id="70659" name="矩形 2"/>
          <p:cNvSpPr>
            <a:spLocks noChangeArrowheads="1"/>
          </p:cNvSpPr>
          <p:nvPr/>
        </p:nvSpPr>
        <p:spPr bwMode="auto">
          <a:xfrm>
            <a:off x="571500" y="1785938"/>
            <a:ext cx="80010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字符编码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字符不同于数字，字符数量有限，通常给每个字符一个唯一的数字（一般表示成二进制或十六进制）来代表某个字符。</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美国信息交换标准代码</a:t>
            </a:r>
            <a:r>
              <a:rPr lang="en-US" altLang="zh-CN" sz="3200" dirty="0">
                <a:solidFill>
                  <a:schemeClr val="tx2"/>
                </a:solidFill>
                <a:latin typeface="楷体_GB2312" pitchFamily="49" charset="-122"/>
                <a:ea typeface="楷体_GB2312" pitchFamily="49" charset="-122"/>
              </a:rPr>
              <a:t>ASCII</a:t>
            </a:r>
            <a:r>
              <a:rPr lang="zh-CN" altLang="en-US" sz="3200" dirty="0">
                <a:solidFill>
                  <a:schemeClr val="tx2"/>
                </a:solidFill>
                <a:latin typeface="楷体_GB2312" pitchFamily="49" charset="-122"/>
                <a:ea typeface="楷体_GB2312" pitchFamily="49" charset="-122"/>
              </a:rPr>
              <a:t>使用的最普遍，一般用</a:t>
            </a:r>
            <a:r>
              <a:rPr lang="en-US" altLang="zh-CN" sz="3200" dirty="0">
                <a:solidFill>
                  <a:schemeClr val="tx2"/>
                </a:solidFill>
                <a:latin typeface="楷体_GB2312" pitchFamily="49" charset="-122"/>
                <a:ea typeface="楷体_GB2312" pitchFamily="49" charset="-122"/>
              </a:rPr>
              <a:t>8</a:t>
            </a:r>
            <a:r>
              <a:rPr lang="zh-CN" altLang="en-US" sz="3200" dirty="0">
                <a:solidFill>
                  <a:schemeClr val="tx2"/>
                </a:solidFill>
                <a:latin typeface="楷体_GB2312" pitchFamily="49" charset="-122"/>
                <a:ea typeface="楷体_GB2312" pitchFamily="49" charset="-122"/>
              </a:rPr>
              <a:t>位二进制表示一个字符。</a:t>
            </a:r>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803597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3" name="矩形 2"/>
          <p:cNvSpPr/>
          <p:nvPr/>
        </p:nvSpPr>
        <p:spPr>
          <a:xfrm>
            <a:off x="571500" y="1785938"/>
            <a:ext cx="8001000" cy="3540125"/>
          </a:xfrm>
          <a:prstGeom prst="rect">
            <a:avLst/>
          </a:prstGeom>
        </p:spPr>
        <p:txBody>
          <a:bodyPr>
            <a:spAutoFit/>
          </a:bodyPr>
          <a:lstStyle/>
          <a:p>
            <a:pPr algn="l">
              <a:defRPr/>
            </a:pPr>
            <a:r>
              <a:rPr lang="en-US" altLang="zh-CN" sz="3200" b="1" dirty="0">
                <a:solidFill>
                  <a:schemeClr val="tx2"/>
                </a:solidFill>
                <a:latin typeface="楷体_GB2312" pitchFamily="49" charset="-122"/>
                <a:ea typeface="楷体_GB2312" pitchFamily="49" charset="-122"/>
              </a:rPr>
              <a:t>2.1.3</a:t>
            </a:r>
            <a:r>
              <a:rPr lang="zh-CN" altLang="en-US" sz="3200" b="1" dirty="0">
                <a:solidFill>
                  <a:schemeClr val="tx2"/>
                </a:solidFill>
                <a:latin typeface="楷体_GB2312" pitchFamily="49" charset="-122"/>
                <a:ea typeface="楷体_GB2312" pitchFamily="49" charset="-122"/>
              </a:rPr>
              <a:t>数据校验方法</a:t>
            </a:r>
            <a:endParaRPr lang="en-US" altLang="zh-CN" sz="3200" b="1" dirty="0">
              <a:solidFill>
                <a:schemeClr val="tx2"/>
              </a:solidFill>
              <a:latin typeface="楷体_GB2312" pitchFamily="49" charset="-122"/>
              <a:ea typeface="楷体_GB2312" pitchFamily="49" charset="-122"/>
            </a:endParaRPr>
          </a:p>
          <a:p>
            <a:pPr algn="l">
              <a:defRPr/>
            </a:pPr>
            <a:r>
              <a:rPr lang="zh-CN" altLang="en-US" sz="3200" b="1" dirty="0">
                <a:solidFill>
                  <a:schemeClr val="tx2"/>
                </a:solidFill>
                <a:latin typeface="楷体_GB2312" pitchFamily="49" charset="-122"/>
                <a:ea typeface="楷体_GB2312" pitchFamily="49" charset="-122"/>
              </a:rPr>
              <a:t>    计算机系统中的数据，在读写、存取和传送的过程中可能产生错误。为减少和避免这类错误，</a:t>
            </a:r>
            <a:endParaRPr lang="en-US" altLang="zh-CN" sz="3200" b="1" dirty="0">
              <a:solidFill>
                <a:schemeClr val="tx2"/>
              </a:solidFill>
              <a:latin typeface="楷体_GB2312" pitchFamily="49" charset="-122"/>
              <a:ea typeface="楷体_GB2312" pitchFamily="49" charset="-122"/>
            </a:endParaRPr>
          </a:p>
          <a:p>
            <a:pPr algn="l">
              <a:defRPr/>
            </a:pPr>
            <a:endParaRPr lang="en-US" altLang="zh-CN" sz="3200" b="1" dirty="0">
              <a:solidFill>
                <a:schemeClr val="tx2"/>
              </a:solidFill>
              <a:latin typeface="楷体_GB2312" pitchFamily="49" charset="-122"/>
              <a:ea typeface="楷体_GB2312" pitchFamily="49" charset="-122"/>
            </a:endParaRPr>
          </a:p>
          <a:p>
            <a:pPr algn="l">
              <a:defRPr/>
            </a:pPr>
            <a:r>
              <a:rPr lang="en-US" altLang="zh-CN" sz="3200" b="1" dirty="0">
                <a:solidFill>
                  <a:schemeClr val="tx2"/>
                </a:solidFill>
                <a:latin typeface="楷体_GB2312" pitchFamily="49" charset="-122"/>
                <a:ea typeface="楷体_GB2312" pitchFamily="49" charset="-122"/>
              </a:rPr>
              <a:t>	</a:t>
            </a:r>
            <a:r>
              <a:rPr lang="zh-CN" altLang="en-US" sz="3200" b="1" dirty="0">
                <a:solidFill>
                  <a:schemeClr val="tx2"/>
                </a:solidFill>
                <a:latin typeface="楷体_GB2312" pitchFamily="49" charset="-122"/>
                <a:ea typeface="楷体_GB2312" pitchFamily="49" charset="-122"/>
              </a:rPr>
              <a:t>一方面是精心设计各种电路，提高计算机硬件的可靠性。</a:t>
            </a:r>
          </a:p>
        </p:txBody>
      </p:sp>
    </p:spTree>
    <p:extLst>
      <p:ext uri="{BB962C8B-B14F-4D97-AF65-F5344CB8AC3E}">
        <p14:creationId xmlns:p14="http://schemas.microsoft.com/office/powerpoint/2010/main" val="28005255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72707" name="矩形 2"/>
          <p:cNvSpPr>
            <a:spLocks noChangeArrowheads="1"/>
          </p:cNvSpPr>
          <p:nvPr/>
        </p:nvSpPr>
        <p:spPr bwMode="auto">
          <a:xfrm>
            <a:off x="571500" y="1785938"/>
            <a:ext cx="80010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	</a:t>
            </a:r>
            <a:r>
              <a:rPr lang="zh-CN" altLang="en-US" sz="3200">
                <a:solidFill>
                  <a:schemeClr val="tx2"/>
                </a:solidFill>
                <a:latin typeface="楷体_GB2312" pitchFamily="49" charset="-122"/>
                <a:ea typeface="楷体_GB2312" pitchFamily="49" charset="-122"/>
              </a:rPr>
              <a:t>另一方面是在数据编码上找出路，即采用某种编码法，通过少量的附加电路，使之能发现某些错误，甚至能确定出错位置，进而实现自动改错的能力。</a:t>
            </a:r>
          </a:p>
        </p:txBody>
      </p:sp>
    </p:spTree>
    <p:extLst>
      <p:ext uri="{BB962C8B-B14F-4D97-AF65-F5344CB8AC3E}">
        <p14:creationId xmlns:p14="http://schemas.microsoft.com/office/powerpoint/2010/main" val="34700301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1"/>
          <p:cNvSpPr>
            <a:spLocks noChangeArrowheads="1"/>
          </p:cNvSpPr>
          <p:nvPr/>
        </p:nvSpPr>
        <p:spPr bwMode="auto">
          <a:xfrm>
            <a:off x="642938" y="1571625"/>
            <a:ext cx="81438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r>
              <a:rPr lang="zh-CN" altLang="en-US" sz="3200">
                <a:solidFill>
                  <a:srgbClr val="0070C0"/>
                </a:solidFill>
                <a:latin typeface="楷体_GB2312" pitchFamily="49" charset="-122"/>
                <a:ea typeface="楷体_GB2312" pitchFamily="49" charset="-122"/>
              </a:rPr>
              <a:t>数据校验码</a:t>
            </a:r>
            <a:r>
              <a:rPr lang="zh-CN" altLang="en-US" sz="3200">
                <a:solidFill>
                  <a:schemeClr val="tx2"/>
                </a:solidFill>
                <a:latin typeface="楷体_GB2312" pitchFamily="49" charset="-122"/>
                <a:ea typeface="楷体_GB2312" pitchFamily="49" charset="-122"/>
              </a:rPr>
              <a:t>是一种常用的带有发现某些错误或自动改错能力的数据编码方法。它的实现原理，是加进一些</a:t>
            </a:r>
            <a:r>
              <a:rPr lang="zh-CN" altLang="en-US" sz="3200">
                <a:solidFill>
                  <a:srgbClr val="FF0000"/>
                </a:solidFill>
                <a:latin typeface="楷体_GB2312" pitchFamily="49" charset="-122"/>
                <a:ea typeface="楷体_GB2312" pitchFamily="49" charset="-122"/>
              </a:rPr>
              <a:t>冗余码</a:t>
            </a:r>
            <a:r>
              <a:rPr lang="zh-CN" altLang="en-US" sz="3200">
                <a:solidFill>
                  <a:schemeClr val="tx2"/>
                </a:solidFill>
                <a:latin typeface="楷体_GB2312" pitchFamily="49" charset="-122"/>
                <a:ea typeface="楷体_GB2312" pitchFamily="49" charset="-122"/>
              </a:rPr>
              <a:t>，使合法数据编码出现某些错误时，就成为非法编码。这样，就可以通过</a:t>
            </a:r>
            <a:r>
              <a:rPr lang="zh-CN" altLang="en-US" sz="3200">
                <a:solidFill>
                  <a:srgbClr val="FF0000"/>
                </a:solidFill>
                <a:latin typeface="楷体_GB2312" pitchFamily="49" charset="-122"/>
                <a:ea typeface="楷体_GB2312" pitchFamily="49" charset="-122"/>
              </a:rPr>
              <a:t>检测编码的合法性</a:t>
            </a:r>
            <a:r>
              <a:rPr lang="zh-CN" altLang="en-US" sz="3200">
                <a:solidFill>
                  <a:schemeClr val="tx2"/>
                </a:solidFill>
                <a:latin typeface="楷体_GB2312" pitchFamily="49" charset="-122"/>
                <a:ea typeface="楷体_GB2312" pitchFamily="49" charset="-122"/>
              </a:rPr>
              <a:t>来达到发现错误的目的。合理地安排非法编码数量和编码规则，就可以提高发现错误的能力，或自动改正错误的目的。这里用到一个码距的概念。</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38115702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1"/>
          <p:cNvSpPr>
            <a:spLocks noChangeArrowheads="1"/>
          </p:cNvSpPr>
          <p:nvPr/>
        </p:nvSpPr>
        <p:spPr bwMode="auto">
          <a:xfrm>
            <a:off x="857250" y="1714500"/>
            <a:ext cx="7643813"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码距</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zh-CN" altLang="en-US" sz="3200" dirty="0">
                <a:solidFill>
                  <a:srgbClr val="0070C0"/>
                </a:solidFill>
                <a:latin typeface="楷体_GB2312" pitchFamily="49" charset="-122"/>
                <a:ea typeface="楷体_GB2312" pitchFamily="49" charset="-122"/>
              </a:rPr>
              <a:t>码距</a:t>
            </a:r>
            <a:r>
              <a:rPr lang="en-US" altLang="zh-CN" sz="3200" dirty="0">
                <a:solidFill>
                  <a:srgbClr val="0070C0"/>
                </a:solidFill>
                <a:latin typeface="宋体" pitchFamily="2" charset="-122"/>
                <a:ea typeface="宋体" pitchFamily="2" charset="-122"/>
              </a:rPr>
              <a:t>—</a:t>
            </a:r>
            <a:r>
              <a:rPr lang="zh-CN" altLang="en-US" sz="3200" dirty="0">
                <a:solidFill>
                  <a:srgbClr val="0070C0"/>
                </a:solidFill>
                <a:latin typeface="楷体_GB2312" pitchFamily="49" charset="-122"/>
                <a:ea typeface="楷体_GB2312" pitchFamily="49" charset="-122"/>
              </a:rPr>
              <a:t>是根据任意两个合法码之间</a:t>
            </a:r>
            <a:r>
              <a:rPr lang="zh-CN" altLang="en-US" sz="3200" dirty="0">
                <a:solidFill>
                  <a:srgbClr val="FF0000"/>
                </a:solidFill>
                <a:latin typeface="楷体_GB2312" pitchFamily="49" charset="-122"/>
                <a:ea typeface="楷体_GB2312" pitchFamily="49" charset="-122"/>
              </a:rPr>
              <a:t>至少</a:t>
            </a:r>
            <a:r>
              <a:rPr lang="zh-CN" altLang="en-US" sz="3200" dirty="0">
                <a:solidFill>
                  <a:srgbClr val="0070C0"/>
                </a:solidFill>
                <a:latin typeface="楷体_GB2312" pitchFamily="49" charset="-122"/>
                <a:ea typeface="楷体_GB2312" pitchFamily="49" charset="-122"/>
              </a:rPr>
              <a:t>有几个二进制位不相同而确定的，不相同的位数称为此编码的码距。</a:t>
            </a:r>
            <a:endParaRPr lang="en-US" altLang="zh-CN" sz="3200" dirty="0">
              <a:solidFill>
                <a:srgbClr val="0070C0"/>
              </a:solidFill>
              <a:latin typeface="楷体_GB2312" pitchFamily="49" charset="-122"/>
              <a:ea typeface="楷体_GB2312" pitchFamily="49" charset="-122"/>
            </a:endParaRPr>
          </a:p>
          <a:p>
            <a:pPr algn="l" eaLnBrk="1" hangingPunct="1"/>
            <a:endParaRPr lang="en-US" altLang="zh-CN" sz="3200" dirty="0">
              <a:solidFill>
                <a:srgbClr val="0070C0"/>
              </a:solidFill>
              <a:latin typeface="楷体_GB2312" pitchFamily="49" charset="-122"/>
              <a:ea typeface="楷体_GB2312" pitchFamily="49" charset="-122"/>
            </a:endParaRPr>
          </a:p>
          <a:p>
            <a:pPr algn="l" eaLnBrk="1" hangingPunct="1"/>
            <a:r>
              <a:rPr lang="en-US" altLang="zh-CN" sz="3200" dirty="0">
                <a:solidFill>
                  <a:srgbClr val="0070C0"/>
                </a:solidFill>
                <a:latin typeface="楷体_GB2312" pitchFamily="49" charset="-122"/>
                <a:ea typeface="楷体_GB2312" pitchFamily="49" charset="-122"/>
              </a:rPr>
              <a:t>	</a:t>
            </a:r>
            <a:r>
              <a:rPr lang="zh-CN" altLang="en-US" sz="3200" dirty="0">
                <a:solidFill>
                  <a:srgbClr val="0070C0"/>
                </a:solidFill>
                <a:latin typeface="楷体_GB2312" pitchFamily="49" charset="-122"/>
                <a:ea typeface="楷体_GB2312" pitchFamily="49" charset="-122"/>
              </a:rPr>
              <a:t>即在某个编码系统中，任意两个编码都会有不相同的位，如</a:t>
            </a:r>
            <a:r>
              <a:rPr lang="en-US" altLang="zh-CN" sz="3200" dirty="0">
                <a:solidFill>
                  <a:srgbClr val="0070C0"/>
                </a:solidFill>
                <a:latin typeface="楷体_GB2312" pitchFamily="49" charset="-122"/>
                <a:ea typeface="楷体_GB2312" pitchFamily="49" charset="-122"/>
              </a:rPr>
              <a:t>101</a:t>
            </a:r>
            <a:r>
              <a:rPr lang="zh-CN" altLang="en-US" sz="3200" dirty="0">
                <a:solidFill>
                  <a:srgbClr val="0070C0"/>
                </a:solidFill>
                <a:latin typeface="楷体_GB2312" pitchFamily="49" charset="-122"/>
                <a:ea typeface="楷体_GB2312" pitchFamily="49" charset="-122"/>
              </a:rPr>
              <a:t>和</a:t>
            </a:r>
            <a:r>
              <a:rPr lang="en-US" altLang="zh-CN" sz="3200" dirty="0">
                <a:solidFill>
                  <a:srgbClr val="0070C0"/>
                </a:solidFill>
                <a:latin typeface="楷体_GB2312" pitchFamily="49" charset="-122"/>
                <a:ea typeface="楷体_GB2312" pitchFamily="49" charset="-122"/>
              </a:rPr>
              <a:t>111</a:t>
            </a:r>
            <a:r>
              <a:rPr lang="zh-CN" altLang="en-US" sz="3200" dirty="0">
                <a:solidFill>
                  <a:srgbClr val="0070C0"/>
                </a:solidFill>
                <a:latin typeface="楷体_GB2312" pitchFamily="49" charset="-122"/>
                <a:ea typeface="楷体_GB2312" pitchFamily="49" charset="-122"/>
              </a:rPr>
              <a:t>不同的位个数是</a:t>
            </a:r>
            <a:r>
              <a:rPr lang="en-US" altLang="zh-CN" sz="3200" dirty="0">
                <a:solidFill>
                  <a:srgbClr val="0070C0"/>
                </a:solidFill>
                <a:latin typeface="楷体_GB2312" pitchFamily="49" charset="-122"/>
                <a:ea typeface="楷体_GB2312" pitchFamily="49" charset="-122"/>
              </a:rPr>
              <a:t>1</a:t>
            </a:r>
            <a:r>
              <a:rPr lang="zh-CN" altLang="en-US" sz="3200" dirty="0">
                <a:solidFill>
                  <a:srgbClr val="0070C0"/>
                </a:solidFill>
                <a:latin typeface="楷体_GB2312" pitchFamily="49" charset="-122"/>
                <a:ea typeface="楷体_GB2312" pitchFamily="49" charset="-122"/>
              </a:rPr>
              <a:t>个。所有编码之间不同位个数的最小值称为此编码系统的码距。</a:t>
            </a:r>
            <a:endParaRPr lang="en-US" altLang="zh-CN" sz="3200" dirty="0">
              <a:solidFill>
                <a:srgbClr val="0070C0"/>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20170555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1"/>
          <p:cNvSpPr>
            <a:spLocks noChangeArrowheads="1"/>
          </p:cNvSpPr>
          <p:nvPr/>
        </p:nvSpPr>
        <p:spPr bwMode="auto">
          <a:xfrm>
            <a:off x="857250" y="1714500"/>
            <a:ext cx="7643813"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例：四位二进制数有</a:t>
            </a:r>
            <a:r>
              <a:rPr lang="en-US" altLang="zh-CN" sz="3200">
                <a:solidFill>
                  <a:schemeClr val="tx2"/>
                </a:solidFill>
                <a:latin typeface="楷体_GB2312" pitchFamily="49" charset="-122"/>
                <a:ea typeface="楷体_GB2312" pitchFamily="49" charset="-122"/>
              </a:rPr>
              <a:t>16</a:t>
            </a:r>
            <a:r>
              <a:rPr lang="zh-CN" altLang="en-US" sz="3200">
                <a:solidFill>
                  <a:schemeClr val="tx2"/>
                </a:solidFill>
                <a:latin typeface="楷体_GB2312" pitchFamily="49" charset="-122"/>
                <a:ea typeface="楷体_GB2312" pitchFamily="49" charset="-122"/>
              </a:rPr>
              <a:t>种不同的编码，在这</a:t>
            </a:r>
            <a:r>
              <a:rPr lang="en-US" altLang="zh-CN" sz="3200">
                <a:solidFill>
                  <a:schemeClr val="tx2"/>
                </a:solidFill>
                <a:latin typeface="楷体_GB2312" pitchFamily="49" charset="-122"/>
                <a:ea typeface="楷体_GB2312" pitchFamily="49" charset="-122"/>
              </a:rPr>
              <a:t>16</a:t>
            </a:r>
            <a:r>
              <a:rPr lang="zh-CN" altLang="en-US" sz="3200">
                <a:solidFill>
                  <a:schemeClr val="tx2"/>
                </a:solidFill>
                <a:latin typeface="楷体_GB2312" pitchFamily="49" charset="-122"/>
                <a:ea typeface="楷体_GB2312" pitchFamily="49" charset="-122"/>
              </a:rPr>
              <a:t>种编码中的任意两个编码之间，仅有一位不相同，其码距为</a:t>
            </a:r>
            <a:r>
              <a:rPr lang="en-US" altLang="zh-CN" sz="3200">
                <a:solidFill>
                  <a:schemeClr val="tx2"/>
                </a:solidFill>
                <a:latin typeface="楷体_GB2312" pitchFamily="49" charset="-122"/>
                <a:ea typeface="楷体_GB2312" pitchFamily="49" charset="-122"/>
              </a:rPr>
              <a:t>1</a:t>
            </a:r>
            <a:r>
              <a:rPr lang="zh-CN" altLang="en-US" sz="3200">
                <a:solidFill>
                  <a:schemeClr val="tx2"/>
                </a:solidFill>
                <a:latin typeface="楷体_GB2312" pitchFamily="49" charset="-122"/>
                <a:ea typeface="楷体_GB2312" pitchFamily="49" charset="-122"/>
              </a:rPr>
              <a:t>。</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graphicFrame>
        <p:nvGraphicFramePr>
          <p:cNvPr id="4" name="表格 3"/>
          <p:cNvGraphicFramePr>
            <a:graphicFrameLocks noGrp="1"/>
          </p:cNvGraphicFramePr>
          <p:nvPr/>
        </p:nvGraphicFramePr>
        <p:xfrm>
          <a:off x="1071563" y="3933825"/>
          <a:ext cx="7215184" cy="741364"/>
        </p:xfrm>
        <a:graphic>
          <a:graphicData uri="http://schemas.openxmlformats.org/drawingml/2006/table">
            <a:tbl>
              <a:tblPr firstRow="1" bandRow="1">
                <a:tableStyleId>{8A107856-5554-42FB-B03E-39F5DBC370BA}</a:tableStyleId>
              </a:tblPr>
              <a:tblGrid>
                <a:gridCol w="901898">
                  <a:extLst>
                    <a:ext uri="{9D8B030D-6E8A-4147-A177-3AD203B41FA5}">
                      <a16:colId xmlns:a16="http://schemas.microsoft.com/office/drawing/2014/main" val="20000"/>
                    </a:ext>
                  </a:extLst>
                </a:gridCol>
                <a:gridCol w="901898">
                  <a:extLst>
                    <a:ext uri="{9D8B030D-6E8A-4147-A177-3AD203B41FA5}">
                      <a16:colId xmlns:a16="http://schemas.microsoft.com/office/drawing/2014/main" val="20001"/>
                    </a:ext>
                  </a:extLst>
                </a:gridCol>
                <a:gridCol w="901898">
                  <a:extLst>
                    <a:ext uri="{9D8B030D-6E8A-4147-A177-3AD203B41FA5}">
                      <a16:colId xmlns:a16="http://schemas.microsoft.com/office/drawing/2014/main" val="20002"/>
                    </a:ext>
                  </a:extLst>
                </a:gridCol>
                <a:gridCol w="901898">
                  <a:extLst>
                    <a:ext uri="{9D8B030D-6E8A-4147-A177-3AD203B41FA5}">
                      <a16:colId xmlns:a16="http://schemas.microsoft.com/office/drawing/2014/main" val="20003"/>
                    </a:ext>
                  </a:extLst>
                </a:gridCol>
                <a:gridCol w="901898">
                  <a:extLst>
                    <a:ext uri="{9D8B030D-6E8A-4147-A177-3AD203B41FA5}">
                      <a16:colId xmlns:a16="http://schemas.microsoft.com/office/drawing/2014/main" val="20004"/>
                    </a:ext>
                  </a:extLst>
                </a:gridCol>
                <a:gridCol w="901898">
                  <a:extLst>
                    <a:ext uri="{9D8B030D-6E8A-4147-A177-3AD203B41FA5}">
                      <a16:colId xmlns:a16="http://schemas.microsoft.com/office/drawing/2014/main" val="20005"/>
                    </a:ext>
                  </a:extLst>
                </a:gridCol>
                <a:gridCol w="901898">
                  <a:extLst>
                    <a:ext uri="{9D8B030D-6E8A-4147-A177-3AD203B41FA5}">
                      <a16:colId xmlns:a16="http://schemas.microsoft.com/office/drawing/2014/main" val="20006"/>
                    </a:ext>
                  </a:extLst>
                </a:gridCol>
                <a:gridCol w="901898">
                  <a:extLst>
                    <a:ext uri="{9D8B030D-6E8A-4147-A177-3AD203B41FA5}">
                      <a16:colId xmlns:a16="http://schemas.microsoft.com/office/drawing/2014/main" val="20007"/>
                    </a:ext>
                  </a:extLst>
                </a:gridCol>
              </a:tblGrid>
              <a:tr h="370682">
                <a:tc>
                  <a:txBody>
                    <a:bodyPr/>
                    <a:lstStyle/>
                    <a:p>
                      <a:pPr algn="ctr"/>
                      <a:r>
                        <a:rPr lang="en-US" altLang="zh-CN" sz="1800" b="1" dirty="0"/>
                        <a:t>0000</a:t>
                      </a:r>
                      <a:endParaRPr lang="zh-CN" altLang="en-US" sz="1800" b="1" dirty="0">
                        <a:solidFill>
                          <a:schemeClr val="tx2"/>
                        </a:solidFill>
                      </a:endParaRPr>
                    </a:p>
                  </a:txBody>
                  <a:tcPr marL="91439" marR="91439" marT="45700" marB="45700"/>
                </a:tc>
                <a:tc>
                  <a:txBody>
                    <a:bodyPr/>
                    <a:lstStyle/>
                    <a:p>
                      <a:pPr algn="ctr"/>
                      <a:r>
                        <a:rPr lang="en-US" altLang="zh-CN" sz="1800" b="1" dirty="0"/>
                        <a:t>0001</a:t>
                      </a:r>
                      <a:endParaRPr lang="zh-CN" altLang="en-US" sz="1800" b="1" dirty="0">
                        <a:solidFill>
                          <a:schemeClr val="tx2"/>
                        </a:solidFill>
                      </a:endParaRPr>
                    </a:p>
                  </a:txBody>
                  <a:tcPr marL="91439" marR="91439" marT="45700" marB="45700"/>
                </a:tc>
                <a:tc>
                  <a:txBody>
                    <a:bodyPr/>
                    <a:lstStyle/>
                    <a:p>
                      <a:pPr algn="ctr"/>
                      <a:r>
                        <a:rPr lang="en-US" altLang="zh-CN" sz="1800" b="1" dirty="0"/>
                        <a:t>0010</a:t>
                      </a:r>
                      <a:endParaRPr lang="zh-CN" altLang="en-US" sz="1800" b="1" dirty="0">
                        <a:solidFill>
                          <a:schemeClr val="tx2"/>
                        </a:solidFill>
                      </a:endParaRPr>
                    </a:p>
                  </a:txBody>
                  <a:tcPr marL="91439" marR="91439" marT="45700" marB="45700"/>
                </a:tc>
                <a:tc>
                  <a:txBody>
                    <a:bodyPr/>
                    <a:lstStyle/>
                    <a:p>
                      <a:pPr algn="ctr"/>
                      <a:r>
                        <a:rPr lang="en-US" altLang="zh-CN" sz="1800" b="1" dirty="0"/>
                        <a:t>0011</a:t>
                      </a:r>
                      <a:endParaRPr lang="zh-CN" altLang="en-US" sz="1800" b="1" dirty="0">
                        <a:solidFill>
                          <a:schemeClr val="tx2"/>
                        </a:solidFill>
                      </a:endParaRPr>
                    </a:p>
                  </a:txBody>
                  <a:tcPr marL="91439" marR="91439" marT="45700" marB="45700"/>
                </a:tc>
                <a:tc>
                  <a:txBody>
                    <a:bodyPr/>
                    <a:lstStyle/>
                    <a:p>
                      <a:pPr algn="ctr"/>
                      <a:r>
                        <a:rPr lang="en-US" altLang="zh-CN" sz="1800" b="1" dirty="0"/>
                        <a:t>0100</a:t>
                      </a:r>
                      <a:endParaRPr lang="zh-CN" altLang="en-US" sz="1800" b="1" dirty="0">
                        <a:solidFill>
                          <a:schemeClr val="tx2"/>
                        </a:solidFill>
                      </a:endParaRPr>
                    </a:p>
                  </a:txBody>
                  <a:tcPr marL="91439" marR="91439" marT="45700" marB="45700"/>
                </a:tc>
                <a:tc>
                  <a:txBody>
                    <a:bodyPr/>
                    <a:lstStyle/>
                    <a:p>
                      <a:pPr algn="ctr"/>
                      <a:r>
                        <a:rPr lang="en-US" altLang="zh-CN" sz="1800" b="1" dirty="0"/>
                        <a:t>0101</a:t>
                      </a:r>
                      <a:endParaRPr lang="zh-CN" altLang="en-US" sz="1800" b="1" dirty="0">
                        <a:solidFill>
                          <a:schemeClr val="tx2"/>
                        </a:solidFill>
                      </a:endParaRPr>
                    </a:p>
                  </a:txBody>
                  <a:tcPr marL="91439" marR="91439" marT="45700" marB="45700"/>
                </a:tc>
                <a:tc>
                  <a:txBody>
                    <a:bodyPr/>
                    <a:lstStyle/>
                    <a:p>
                      <a:pPr algn="ctr"/>
                      <a:r>
                        <a:rPr lang="en-US" altLang="zh-CN" sz="1800" b="1" dirty="0"/>
                        <a:t>0110</a:t>
                      </a:r>
                      <a:endParaRPr lang="zh-CN" altLang="en-US" sz="1800" b="1" dirty="0">
                        <a:solidFill>
                          <a:schemeClr val="tx2"/>
                        </a:solidFill>
                      </a:endParaRPr>
                    </a:p>
                  </a:txBody>
                  <a:tcPr marL="91439" marR="91439" marT="45700" marB="45700"/>
                </a:tc>
                <a:tc>
                  <a:txBody>
                    <a:bodyPr/>
                    <a:lstStyle/>
                    <a:p>
                      <a:pPr algn="ctr"/>
                      <a:r>
                        <a:rPr lang="en-US" altLang="zh-CN" sz="1800" b="1" dirty="0"/>
                        <a:t>0111</a:t>
                      </a:r>
                      <a:endParaRPr lang="zh-CN" altLang="en-US" sz="1800" b="1" dirty="0">
                        <a:solidFill>
                          <a:schemeClr val="tx2"/>
                        </a:solidFill>
                      </a:endParaRPr>
                    </a:p>
                  </a:txBody>
                  <a:tcPr marL="91439" marR="91439" marT="45700" marB="45700"/>
                </a:tc>
                <a:extLst>
                  <a:ext uri="{0D108BD9-81ED-4DB2-BD59-A6C34878D82A}">
                    <a16:rowId xmlns:a16="http://schemas.microsoft.com/office/drawing/2014/main" val="10000"/>
                  </a:ext>
                </a:extLst>
              </a:tr>
              <a:tr h="370682">
                <a:tc>
                  <a:txBody>
                    <a:bodyPr/>
                    <a:lstStyle/>
                    <a:p>
                      <a:pPr algn="ctr"/>
                      <a:r>
                        <a:rPr lang="en-US" altLang="zh-CN" sz="1800" b="1" dirty="0"/>
                        <a:t>1000</a:t>
                      </a:r>
                      <a:endParaRPr lang="zh-CN" altLang="en-US" sz="1800" b="1" dirty="0"/>
                    </a:p>
                  </a:txBody>
                  <a:tcPr marL="91439" marR="91439" marT="45700" marB="45700"/>
                </a:tc>
                <a:tc>
                  <a:txBody>
                    <a:bodyPr/>
                    <a:lstStyle/>
                    <a:p>
                      <a:pPr algn="ctr"/>
                      <a:r>
                        <a:rPr lang="en-US" altLang="zh-CN" sz="1800" b="1" dirty="0"/>
                        <a:t>1001</a:t>
                      </a:r>
                      <a:endParaRPr lang="zh-CN" altLang="en-US" sz="1800" b="1" dirty="0"/>
                    </a:p>
                  </a:txBody>
                  <a:tcPr marL="91439" marR="91439" marT="45700" marB="45700"/>
                </a:tc>
                <a:tc>
                  <a:txBody>
                    <a:bodyPr/>
                    <a:lstStyle/>
                    <a:p>
                      <a:pPr algn="ctr"/>
                      <a:r>
                        <a:rPr lang="en-US" altLang="zh-CN" sz="1800" b="1" dirty="0"/>
                        <a:t>1010</a:t>
                      </a:r>
                      <a:endParaRPr lang="zh-CN" altLang="en-US" sz="1800" b="1" dirty="0"/>
                    </a:p>
                  </a:txBody>
                  <a:tcPr marL="91439" marR="91439" marT="45700" marB="45700"/>
                </a:tc>
                <a:tc>
                  <a:txBody>
                    <a:bodyPr/>
                    <a:lstStyle/>
                    <a:p>
                      <a:pPr algn="ctr"/>
                      <a:r>
                        <a:rPr lang="en-US" altLang="zh-CN" sz="1800" b="1" dirty="0"/>
                        <a:t>1011</a:t>
                      </a:r>
                      <a:endParaRPr lang="zh-CN" altLang="en-US" sz="1800" b="1" dirty="0"/>
                    </a:p>
                  </a:txBody>
                  <a:tcPr marL="91439" marR="91439" marT="45700" marB="45700"/>
                </a:tc>
                <a:tc>
                  <a:txBody>
                    <a:bodyPr/>
                    <a:lstStyle/>
                    <a:p>
                      <a:pPr algn="ctr"/>
                      <a:r>
                        <a:rPr lang="en-US" altLang="zh-CN" sz="1800" b="1" dirty="0"/>
                        <a:t>1100</a:t>
                      </a:r>
                      <a:endParaRPr lang="zh-CN" altLang="en-US" sz="1800" b="1" dirty="0"/>
                    </a:p>
                  </a:txBody>
                  <a:tcPr marL="91439" marR="91439" marT="45700" marB="45700"/>
                </a:tc>
                <a:tc>
                  <a:txBody>
                    <a:bodyPr/>
                    <a:lstStyle/>
                    <a:p>
                      <a:pPr algn="ctr"/>
                      <a:r>
                        <a:rPr lang="en-US" altLang="zh-CN" sz="1800" b="1" dirty="0"/>
                        <a:t>1101</a:t>
                      </a:r>
                      <a:endParaRPr lang="zh-CN" altLang="en-US" sz="1800" b="1" dirty="0"/>
                    </a:p>
                  </a:txBody>
                  <a:tcPr marL="91439" marR="91439" marT="45700" marB="45700"/>
                </a:tc>
                <a:tc>
                  <a:txBody>
                    <a:bodyPr/>
                    <a:lstStyle/>
                    <a:p>
                      <a:pPr algn="ctr"/>
                      <a:r>
                        <a:rPr lang="en-US" altLang="zh-CN" sz="1800" b="1" dirty="0"/>
                        <a:t>1110</a:t>
                      </a:r>
                      <a:endParaRPr lang="zh-CN" altLang="en-US" sz="1800" b="1" dirty="0"/>
                    </a:p>
                  </a:txBody>
                  <a:tcPr marL="91439" marR="91439" marT="45700" marB="45700"/>
                </a:tc>
                <a:tc>
                  <a:txBody>
                    <a:bodyPr/>
                    <a:lstStyle/>
                    <a:p>
                      <a:pPr algn="ctr"/>
                      <a:r>
                        <a:rPr lang="en-US" altLang="zh-CN" sz="1800" b="1" dirty="0"/>
                        <a:t>1111</a:t>
                      </a:r>
                      <a:endParaRPr lang="zh-CN" altLang="en-US" sz="1800" b="1" dirty="0"/>
                    </a:p>
                  </a:txBody>
                  <a:tcPr marL="91439" marR="91439" marT="45700" marB="4570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261131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1"/>
          <p:cNvSpPr>
            <a:spLocks noChangeArrowheads="1"/>
          </p:cNvSpPr>
          <p:nvPr/>
        </p:nvSpPr>
        <p:spPr bwMode="auto">
          <a:xfrm>
            <a:off x="857250" y="1714500"/>
            <a:ext cx="7643813"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rgbClr val="FF0000"/>
                </a:solidFill>
                <a:latin typeface="楷体_GB2312" pitchFamily="49" charset="-122"/>
                <a:ea typeface="楷体_GB2312" pitchFamily="49" charset="-122"/>
              </a:rPr>
              <a:t>码距为</a:t>
            </a:r>
            <a:r>
              <a:rPr lang="en-US" altLang="zh-CN" sz="3200">
                <a:solidFill>
                  <a:srgbClr val="FF0000"/>
                </a:solidFill>
                <a:latin typeface="楷体_GB2312" pitchFamily="49" charset="-122"/>
                <a:ea typeface="楷体_GB2312" pitchFamily="49" charset="-122"/>
              </a:rPr>
              <a:t>1</a:t>
            </a:r>
            <a:r>
              <a:rPr lang="zh-CN" altLang="en-US" sz="3200">
                <a:solidFill>
                  <a:srgbClr val="FF0000"/>
                </a:solidFill>
                <a:latin typeface="楷体_GB2312" pitchFamily="49" charset="-122"/>
                <a:ea typeface="楷体_GB2312" pitchFamily="49" charset="-122"/>
              </a:rPr>
              <a:t>的编码是不能发现错误的。</a:t>
            </a:r>
            <a:r>
              <a:rPr lang="zh-CN" altLang="en-US" sz="3200">
                <a:solidFill>
                  <a:schemeClr val="tx2"/>
                </a:solidFill>
                <a:latin typeface="楷体_GB2312" pitchFamily="49" charset="-122"/>
                <a:ea typeface="楷体_GB2312" pitchFamily="49" charset="-122"/>
              </a:rPr>
              <a:t>    </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因为任意</a:t>
            </a:r>
            <a:r>
              <a:rPr lang="en-US" altLang="zh-CN" sz="3200">
                <a:solidFill>
                  <a:schemeClr val="tx2"/>
                </a:solidFill>
                <a:latin typeface="楷体_GB2312" pitchFamily="49" charset="-122"/>
                <a:ea typeface="楷体_GB2312" pitchFamily="49" charset="-122"/>
              </a:rPr>
              <a:t>1</a:t>
            </a:r>
            <a:r>
              <a:rPr lang="zh-CN" altLang="en-US" sz="3200">
                <a:solidFill>
                  <a:schemeClr val="tx2"/>
                </a:solidFill>
                <a:latin typeface="楷体_GB2312" pitchFamily="49" charset="-122"/>
                <a:ea typeface="楷体_GB2312" pitchFamily="49" charset="-122"/>
              </a:rPr>
              <a:t>位发生错误都</a:t>
            </a:r>
            <a:r>
              <a:rPr lang="zh-CN" altLang="en-US" sz="3200">
                <a:solidFill>
                  <a:srgbClr val="FF0000"/>
                </a:solidFill>
                <a:latin typeface="楷体_GB2312" pitchFamily="49" charset="-122"/>
                <a:ea typeface="楷体_GB2312" pitchFamily="49" charset="-122"/>
              </a:rPr>
              <a:t>可能</a:t>
            </a:r>
            <a:r>
              <a:rPr lang="zh-CN" altLang="en-US" sz="3200">
                <a:solidFill>
                  <a:schemeClr val="tx2"/>
                </a:solidFill>
                <a:latin typeface="楷体_GB2312" pitchFamily="49" charset="-122"/>
                <a:ea typeface="楷体_GB2312" pitchFamily="49" charset="-122"/>
              </a:rPr>
              <a:t>转化为本编码内之某合法编码。</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这样，对一个编码就不能确定其是合法编码或者是某个合法编码的</a:t>
            </a:r>
            <a:r>
              <a:rPr lang="en-US" altLang="zh-CN" sz="3200">
                <a:solidFill>
                  <a:schemeClr val="tx2"/>
                </a:solidFill>
                <a:latin typeface="楷体_GB2312" pitchFamily="49" charset="-122"/>
                <a:ea typeface="楷体_GB2312" pitchFamily="49" charset="-122"/>
              </a:rPr>
              <a:t>1</a:t>
            </a:r>
            <a:r>
              <a:rPr lang="zh-CN" altLang="en-US" sz="3200">
                <a:solidFill>
                  <a:schemeClr val="tx2"/>
                </a:solidFill>
                <a:latin typeface="楷体_GB2312" pitchFamily="49" charset="-122"/>
                <a:ea typeface="楷体_GB2312" pitchFamily="49" charset="-122"/>
              </a:rPr>
              <a:t>位出错后的编码。</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1227324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1"/>
          <p:cNvSpPr>
            <a:spLocks noChangeArrowheads="1"/>
          </p:cNvSpPr>
          <p:nvPr/>
        </p:nvSpPr>
        <p:spPr bwMode="auto">
          <a:xfrm>
            <a:off x="857250" y="1714500"/>
            <a:ext cx="7643813"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如前表中的编码规则，给定</a:t>
            </a:r>
            <a:r>
              <a:rPr lang="en-US" altLang="zh-CN" sz="3200" dirty="0">
                <a:solidFill>
                  <a:schemeClr val="tx2"/>
                </a:solidFill>
                <a:latin typeface="楷体_GB2312" pitchFamily="49" charset="-122"/>
                <a:ea typeface="楷体_GB2312" pitchFamily="49" charset="-122"/>
              </a:rPr>
              <a:t>0100</a:t>
            </a:r>
            <a:r>
              <a:rPr lang="zh-CN" altLang="en-US" sz="3200" dirty="0">
                <a:solidFill>
                  <a:schemeClr val="tx2"/>
                </a:solidFill>
                <a:latin typeface="楷体_GB2312" pitchFamily="49" charset="-122"/>
                <a:ea typeface="楷体_GB2312" pitchFamily="49" charset="-122"/>
              </a:rPr>
              <a:t>这个编码，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就不能确定其就是</a:t>
            </a:r>
            <a:r>
              <a:rPr lang="en-US" altLang="zh-CN" sz="3200" dirty="0">
                <a:solidFill>
                  <a:schemeClr val="tx2"/>
                </a:solidFill>
                <a:latin typeface="楷体_GB2312" pitchFamily="49" charset="-122"/>
                <a:ea typeface="楷体_GB2312" pitchFamily="49" charset="-122"/>
              </a:rPr>
              <a:t>0100</a:t>
            </a:r>
            <a:r>
              <a:rPr lang="zh-CN" altLang="en-US" sz="3200" dirty="0">
                <a:solidFill>
                  <a:schemeClr val="tx2"/>
                </a:solidFill>
                <a:latin typeface="楷体_GB2312" pitchFamily="49" charset="-122"/>
                <a:ea typeface="楷体_GB2312" pitchFamily="49" charset="-122"/>
              </a:rPr>
              <a:t>还是</a:t>
            </a:r>
            <a:r>
              <a:rPr lang="en-US" altLang="zh-CN" sz="3200" dirty="0">
                <a:solidFill>
                  <a:schemeClr val="tx2"/>
                </a:solidFill>
                <a:latin typeface="楷体_GB2312" pitchFamily="49" charset="-122"/>
                <a:ea typeface="楷体_GB2312" pitchFamily="49" charset="-122"/>
              </a:rPr>
              <a:t>0101</a:t>
            </a:r>
            <a:r>
              <a:rPr lang="zh-CN" altLang="en-US" sz="3200" dirty="0">
                <a:solidFill>
                  <a:schemeClr val="tx2"/>
                </a:solidFill>
                <a:latin typeface="楷体_GB2312" pitchFamily="49" charset="-122"/>
                <a:ea typeface="楷体_GB2312" pitchFamily="49" charset="-122"/>
              </a:rPr>
              <a:t>的最后一位出错（由</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变成</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）的结果。</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453554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78851" name="矩形 2"/>
          <p:cNvSpPr>
            <a:spLocks noChangeArrowheads="1"/>
          </p:cNvSpPr>
          <p:nvPr/>
        </p:nvSpPr>
        <p:spPr bwMode="auto">
          <a:xfrm>
            <a:off x="857250" y="1785938"/>
            <a:ext cx="771525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一般来说，合理地增大码距，就能提高发现错误的能力，但编码所使用的二进制位数变多，增加了数据存储的容量或数据传送的数量。下表编码的码距为</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rgbClr val="FF0000"/>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481184030"/>
              </p:ext>
            </p:extLst>
          </p:nvPr>
        </p:nvGraphicFramePr>
        <p:xfrm>
          <a:off x="1331640" y="4955382"/>
          <a:ext cx="6096000" cy="741362"/>
        </p:xfrm>
        <a:graphic>
          <a:graphicData uri="http://schemas.openxmlformats.org/drawingml/2006/table">
            <a:tbl>
              <a:tblPr firstRow="1" bandRow="1">
                <a:tableStyleId>{8A107856-5554-42FB-B03E-39F5DBC370BA}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681">
                <a:tc>
                  <a:txBody>
                    <a:bodyPr/>
                    <a:lstStyle/>
                    <a:p>
                      <a:pPr algn="ctr"/>
                      <a:r>
                        <a:rPr lang="en-US" altLang="zh-CN" sz="1800" b="1" dirty="0"/>
                        <a:t>0001</a:t>
                      </a:r>
                      <a:endParaRPr lang="zh-CN" altLang="en-US" sz="1800" b="1" dirty="0"/>
                    </a:p>
                  </a:txBody>
                  <a:tcPr marT="45700" marB="45700"/>
                </a:tc>
                <a:tc>
                  <a:txBody>
                    <a:bodyPr/>
                    <a:lstStyle/>
                    <a:p>
                      <a:pPr algn="ctr"/>
                      <a:r>
                        <a:rPr lang="en-US" altLang="zh-CN" sz="1800" b="1" dirty="0"/>
                        <a:t>0010</a:t>
                      </a:r>
                      <a:endParaRPr lang="zh-CN" altLang="en-US" sz="1800" b="1" dirty="0"/>
                    </a:p>
                  </a:txBody>
                  <a:tcPr marT="45700" marB="45700"/>
                </a:tc>
                <a:tc>
                  <a:txBody>
                    <a:bodyPr/>
                    <a:lstStyle/>
                    <a:p>
                      <a:pPr algn="ctr"/>
                      <a:r>
                        <a:rPr lang="en-US" altLang="zh-CN" sz="1800" b="1" dirty="0"/>
                        <a:t>0100</a:t>
                      </a:r>
                      <a:endParaRPr lang="zh-CN" altLang="en-US" sz="1800" b="1" dirty="0"/>
                    </a:p>
                  </a:txBody>
                  <a:tcPr marT="45700" marB="45700"/>
                </a:tc>
                <a:tc>
                  <a:txBody>
                    <a:bodyPr/>
                    <a:lstStyle/>
                    <a:p>
                      <a:pPr algn="ctr"/>
                      <a:r>
                        <a:rPr lang="en-US" altLang="zh-CN" sz="1800" b="1" dirty="0"/>
                        <a:t>0111</a:t>
                      </a:r>
                      <a:endParaRPr lang="zh-CN" altLang="en-US" sz="1800" b="1" dirty="0"/>
                    </a:p>
                  </a:txBody>
                  <a:tcPr marT="45700" marB="45700"/>
                </a:tc>
                <a:extLst>
                  <a:ext uri="{0D108BD9-81ED-4DB2-BD59-A6C34878D82A}">
                    <a16:rowId xmlns:a16="http://schemas.microsoft.com/office/drawing/2014/main" val="10000"/>
                  </a:ext>
                </a:extLst>
              </a:tr>
              <a:tr h="370681">
                <a:tc>
                  <a:txBody>
                    <a:bodyPr/>
                    <a:lstStyle/>
                    <a:p>
                      <a:pPr algn="ctr"/>
                      <a:r>
                        <a:rPr lang="en-US" altLang="zh-CN" sz="1800" b="1" dirty="0"/>
                        <a:t>1000</a:t>
                      </a:r>
                      <a:endParaRPr lang="zh-CN" altLang="en-US" sz="1800" b="1" dirty="0"/>
                    </a:p>
                  </a:txBody>
                  <a:tcPr marT="45700" marB="45700"/>
                </a:tc>
                <a:tc>
                  <a:txBody>
                    <a:bodyPr/>
                    <a:lstStyle/>
                    <a:p>
                      <a:pPr algn="ctr"/>
                      <a:r>
                        <a:rPr lang="en-US" altLang="zh-CN" sz="1800" b="1" dirty="0"/>
                        <a:t>1011</a:t>
                      </a:r>
                      <a:endParaRPr lang="zh-CN" altLang="en-US" sz="1800" b="1" dirty="0"/>
                    </a:p>
                  </a:txBody>
                  <a:tcPr marT="45700" marB="45700"/>
                </a:tc>
                <a:tc>
                  <a:txBody>
                    <a:bodyPr/>
                    <a:lstStyle/>
                    <a:p>
                      <a:pPr algn="ctr"/>
                      <a:r>
                        <a:rPr lang="en-US" altLang="zh-CN" sz="1800" b="1" dirty="0"/>
                        <a:t>1101</a:t>
                      </a:r>
                      <a:endParaRPr lang="zh-CN" altLang="en-US" sz="1800" b="1" dirty="0"/>
                    </a:p>
                  </a:txBody>
                  <a:tcPr marT="45700" marB="45700"/>
                </a:tc>
                <a:tc>
                  <a:txBody>
                    <a:bodyPr/>
                    <a:lstStyle/>
                    <a:p>
                      <a:pPr algn="ctr"/>
                      <a:r>
                        <a:rPr lang="en-US" altLang="zh-CN" sz="1800" b="1" dirty="0"/>
                        <a:t>1110</a:t>
                      </a:r>
                      <a:endParaRPr lang="zh-CN" altLang="en-US" sz="1800" b="1" dirty="0"/>
                    </a:p>
                  </a:txBody>
                  <a:tcPr marT="45700" marB="4570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295278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1"/>
          <p:cNvSpPr>
            <a:spLocks noChangeArrowheads="1"/>
          </p:cNvSpPr>
          <p:nvPr/>
        </p:nvSpPr>
        <p:spPr bwMode="auto">
          <a:xfrm>
            <a:off x="785813" y="1785938"/>
            <a:ext cx="771525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在确定与使用数据校验码的时候，通常要考虑在不过多增加硬件开销的情况下，尽可能发现或改正更多的错误。</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endParaRPr lang="zh-CN" altLang="en-US" sz="3200" dirty="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20735959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0899" name="矩形 2"/>
          <p:cNvSpPr>
            <a:spLocks noChangeArrowheads="1"/>
          </p:cNvSpPr>
          <p:nvPr/>
        </p:nvSpPr>
        <p:spPr bwMode="auto">
          <a:xfrm>
            <a:off x="714375" y="1785938"/>
            <a:ext cx="7786688"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奇偶校验</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奇偶校验码是一种开销最小，能发现数据代码中一位出错情况的编码，常用于存储器读写检查，或</a:t>
            </a:r>
            <a:r>
              <a:rPr lang="en-US" altLang="zh-CN" sz="3200" dirty="0">
                <a:solidFill>
                  <a:schemeClr val="tx2"/>
                </a:solidFill>
                <a:latin typeface="楷体_GB2312" pitchFamily="49" charset="-122"/>
                <a:ea typeface="楷体_GB2312" pitchFamily="49" charset="-122"/>
              </a:rPr>
              <a:t>ASCII</a:t>
            </a:r>
            <a:r>
              <a:rPr lang="zh-CN" altLang="en-US" sz="3200" dirty="0">
                <a:solidFill>
                  <a:schemeClr val="tx2"/>
                </a:solidFill>
                <a:latin typeface="楷体_GB2312" pitchFamily="49" charset="-122"/>
                <a:ea typeface="楷体_GB2312" pitchFamily="49" charset="-122"/>
              </a:rPr>
              <a:t>字符传送过程中的检查。它的实现原理，是使码距由</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增加到</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。若编码中有一个二进制位的值出错了，由</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变成</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，或由</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变成</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，这个码都将成为非法编码。</a:t>
            </a:r>
          </a:p>
        </p:txBody>
      </p:sp>
    </p:spTree>
    <p:extLst>
      <p:ext uri="{BB962C8B-B14F-4D97-AF65-F5344CB8AC3E}">
        <p14:creationId xmlns:p14="http://schemas.microsoft.com/office/powerpoint/2010/main" val="903951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1923" name="矩形 2"/>
          <p:cNvSpPr>
            <a:spLocks noChangeArrowheads="1"/>
          </p:cNvSpPr>
          <p:nvPr/>
        </p:nvSpPr>
        <p:spPr bwMode="auto">
          <a:xfrm>
            <a:off x="714375" y="1785938"/>
            <a:ext cx="7786688"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实现的具体方法，通常是为</a:t>
            </a:r>
            <a:r>
              <a:rPr lang="zh-CN" altLang="en-US" sz="3200" dirty="0">
                <a:solidFill>
                  <a:srgbClr val="FF0000"/>
                </a:solidFill>
                <a:latin typeface="楷体_GB2312" pitchFamily="49" charset="-122"/>
                <a:ea typeface="楷体_GB2312" pitchFamily="49" charset="-122"/>
              </a:rPr>
              <a:t>一个字节</a:t>
            </a:r>
            <a:r>
              <a:rPr lang="zh-CN" altLang="en-US" sz="3200" dirty="0">
                <a:solidFill>
                  <a:schemeClr val="tx2"/>
                </a:solidFill>
                <a:latin typeface="楷体_GB2312" pitchFamily="49" charset="-122"/>
                <a:ea typeface="楷体_GB2312" pitchFamily="49" charset="-122"/>
              </a:rPr>
              <a:t>补充</a:t>
            </a:r>
            <a:r>
              <a:rPr lang="zh-CN" altLang="en-US" sz="3200" dirty="0">
                <a:solidFill>
                  <a:srgbClr val="FF0000"/>
                </a:solidFill>
                <a:latin typeface="楷体_GB2312" pitchFamily="49" charset="-122"/>
                <a:ea typeface="楷体_GB2312" pitchFamily="49" charset="-122"/>
              </a:rPr>
              <a:t>一个二进制位</a:t>
            </a:r>
            <a:r>
              <a:rPr lang="zh-CN" altLang="en-US" sz="3200" dirty="0">
                <a:solidFill>
                  <a:schemeClr val="tx2"/>
                </a:solidFill>
                <a:latin typeface="楷体_GB2312" pitchFamily="49" charset="-122"/>
                <a:ea typeface="楷体_GB2312" pitchFamily="49" charset="-122"/>
              </a:rPr>
              <a:t>，称为</a:t>
            </a:r>
            <a:r>
              <a:rPr lang="zh-CN" altLang="en-US" sz="3200" dirty="0">
                <a:solidFill>
                  <a:srgbClr val="FF0000"/>
                </a:solidFill>
                <a:latin typeface="楷体_GB2312" pitchFamily="49" charset="-122"/>
                <a:ea typeface="楷体_GB2312" pitchFamily="49" charset="-122"/>
              </a:rPr>
              <a:t>校验位</a:t>
            </a:r>
            <a:r>
              <a:rPr lang="zh-CN" altLang="en-US" sz="3200" dirty="0">
                <a:solidFill>
                  <a:schemeClr val="tx2"/>
                </a:solidFill>
                <a:latin typeface="楷体_GB2312" pitchFamily="49" charset="-122"/>
                <a:ea typeface="楷体_GB2312" pitchFamily="49" charset="-122"/>
              </a:rPr>
              <a:t>，用设置校验位的值为</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或</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，使字节的</a:t>
            </a:r>
            <a:r>
              <a:rPr lang="en-US" altLang="zh-CN" sz="3200" dirty="0">
                <a:solidFill>
                  <a:schemeClr val="tx2"/>
                </a:solidFill>
                <a:latin typeface="楷体_GB2312" pitchFamily="49" charset="-122"/>
                <a:ea typeface="楷体_GB2312" pitchFamily="49" charset="-122"/>
              </a:rPr>
              <a:t>8</a:t>
            </a:r>
            <a:r>
              <a:rPr lang="zh-CN" altLang="en-US" sz="3200" dirty="0">
                <a:solidFill>
                  <a:schemeClr val="tx2"/>
                </a:solidFill>
                <a:latin typeface="楷体_GB2312" pitchFamily="49" charset="-122"/>
                <a:ea typeface="楷体_GB2312" pitchFamily="49" charset="-122"/>
              </a:rPr>
              <a:t>位和该校验位含有</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值的个数为奇数或偶数。在使用奇数个</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的方案进行校验时，称为奇校验，反之，则称为偶校验。</a:t>
            </a:r>
          </a:p>
        </p:txBody>
      </p:sp>
    </p:spTree>
    <p:extLst>
      <p:ext uri="{BB962C8B-B14F-4D97-AF65-F5344CB8AC3E}">
        <p14:creationId xmlns:p14="http://schemas.microsoft.com/office/powerpoint/2010/main" val="22524921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2947" name="矩形 2"/>
          <p:cNvSpPr>
            <a:spLocks noChangeArrowheads="1"/>
          </p:cNvSpPr>
          <p:nvPr/>
        </p:nvSpPr>
        <p:spPr bwMode="auto">
          <a:xfrm>
            <a:off x="726636" y="1172709"/>
            <a:ext cx="77866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例：以四位二进制编码为例。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奇校验：</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）奇校验就是在最后为添加一个校验位，</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增加的校验位和原数值位中</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的个数为奇数。</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）表中所有编码添加校验位后</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的个数都是奇数</a:t>
            </a:r>
          </a:p>
        </p:txBody>
      </p:sp>
      <p:graphicFrame>
        <p:nvGraphicFramePr>
          <p:cNvPr id="4" name="表格 3"/>
          <p:cNvGraphicFramePr>
            <a:graphicFrameLocks noGrp="1"/>
          </p:cNvGraphicFramePr>
          <p:nvPr>
            <p:extLst>
              <p:ext uri="{D42A27DB-BD31-4B8C-83A1-F6EECF244321}">
                <p14:modId xmlns:p14="http://schemas.microsoft.com/office/powerpoint/2010/main" val="3370142044"/>
              </p:ext>
            </p:extLst>
          </p:nvPr>
        </p:nvGraphicFramePr>
        <p:xfrm>
          <a:off x="1143000" y="1844824"/>
          <a:ext cx="7215192" cy="741362"/>
        </p:xfrm>
        <a:graphic>
          <a:graphicData uri="http://schemas.openxmlformats.org/drawingml/2006/table">
            <a:tbl>
              <a:tblPr firstRow="1" bandRow="1">
                <a:tableStyleId>{8A107856-5554-42FB-B03E-39F5DBC370BA}</a:tableStyleId>
              </a:tblPr>
              <a:tblGrid>
                <a:gridCol w="901899">
                  <a:extLst>
                    <a:ext uri="{9D8B030D-6E8A-4147-A177-3AD203B41FA5}">
                      <a16:colId xmlns:a16="http://schemas.microsoft.com/office/drawing/2014/main" val="20000"/>
                    </a:ext>
                  </a:extLst>
                </a:gridCol>
                <a:gridCol w="901899">
                  <a:extLst>
                    <a:ext uri="{9D8B030D-6E8A-4147-A177-3AD203B41FA5}">
                      <a16:colId xmlns:a16="http://schemas.microsoft.com/office/drawing/2014/main" val="20001"/>
                    </a:ext>
                  </a:extLst>
                </a:gridCol>
                <a:gridCol w="901899">
                  <a:extLst>
                    <a:ext uri="{9D8B030D-6E8A-4147-A177-3AD203B41FA5}">
                      <a16:colId xmlns:a16="http://schemas.microsoft.com/office/drawing/2014/main" val="20002"/>
                    </a:ext>
                  </a:extLst>
                </a:gridCol>
                <a:gridCol w="901899">
                  <a:extLst>
                    <a:ext uri="{9D8B030D-6E8A-4147-A177-3AD203B41FA5}">
                      <a16:colId xmlns:a16="http://schemas.microsoft.com/office/drawing/2014/main" val="20003"/>
                    </a:ext>
                  </a:extLst>
                </a:gridCol>
                <a:gridCol w="901899">
                  <a:extLst>
                    <a:ext uri="{9D8B030D-6E8A-4147-A177-3AD203B41FA5}">
                      <a16:colId xmlns:a16="http://schemas.microsoft.com/office/drawing/2014/main" val="20004"/>
                    </a:ext>
                  </a:extLst>
                </a:gridCol>
                <a:gridCol w="863721">
                  <a:extLst>
                    <a:ext uri="{9D8B030D-6E8A-4147-A177-3AD203B41FA5}">
                      <a16:colId xmlns:a16="http://schemas.microsoft.com/office/drawing/2014/main" val="20005"/>
                    </a:ext>
                  </a:extLst>
                </a:gridCol>
                <a:gridCol w="940077">
                  <a:extLst>
                    <a:ext uri="{9D8B030D-6E8A-4147-A177-3AD203B41FA5}">
                      <a16:colId xmlns:a16="http://schemas.microsoft.com/office/drawing/2014/main" val="20006"/>
                    </a:ext>
                  </a:extLst>
                </a:gridCol>
                <a:gridCol w="901899">
                  <a:extLst>
                    <a:ext uri="{9D8B030D-6E8A-4147-A177-3AD203B41FA5}">
                      <a16:colId xmlns:a16="http://schemas.microsoft.com/office/drawing/2014/main" val="20007"/>
                    </a:ext>
                  </a:extLst>
                </a:gridCol>
              </a:tblGrid>
              <a:tr h="370681">
                <a:tc>
                  <a:txBody>
                    <a:bodyPr/>
                    <a:lstStyle/>
                    <a:p>
                      <a:pPr algn="ctr"/>
                      <a:r>
                        <a:rPr lang="en-US" altLang="zh-CN" sz="1800" b="1" dirty="0"/>
                        <a:t>0000</a:t>
                      </a:r>
                      <a:endParaRPr lang="zh-CN" altLang="en-US" sz="1800" b="1" dirty="0">
                        <a:solidFill>
                          <a:schemeClr val="tx2"/>
                        </a:solidFill>
                      </a:endParaRPr>
                    </a:p>
                  </a:txBody>
                  <a:tcPr marL="91439" marR="91439" marT="45700" marB="45700"/>
                </a:tc>
                <a:tc>
                  <a:txBody>
                    <a:bodyPr/>
                    <a:lstStyle/>
                    <a:p>
                      <a:pPr algn="ctr"/>
                      <a:r>
                        <a:rPr lang="en-US" altLang="zh-CN" sz="1800" b="1" dirty="0"/>
                        <a:t>0001</a:t>
                      </a:r>
                      <a:endParaRPr lang="zh-CN" altLang="en-US" sz="1800" b="1" dirty="0">
                        <a:solidFill>
                          <a:schemeClr val="tx2"/>
                        </a:solidFill>
                      </a:endParaRPr>
                    </a:p>
                  </a:txBody>
                  <a:tcPr marL="91439" marR="91439" marT="45700" marB="45700"/>
                </a:tc>
                <a:tc>
                  <a:txBody>
                    <a:bodyPr/>
                    <a:lstStyle/>
                    <a:p>
                      <a:pPr algn="ctr"/>
                      <a:r>
                        <a:rPr lang="en-US" altLang="zh-CN" sz="1800" b="1" dirty="0"/>
                        <a:t>0010</a:t>
                      </a:r>
                      <a:endParaRPr lang="zh-CN" altLang="en-US" sz="1800" b="1" dirty="0">
                        <a:solidFill>
                          <a:schemeClr val="tx2"/>
                        </a:solidFill>
                      </a:endParaRPr>
                    </a:p>
                  </a:txBody>
                  <a:tcPr marL="91439" marR="91439" marT="45700" marB="45700"/>
                </a:tc>
                <a:tc>
                  <a:txBody>
                    <a:bodyPr/>
                    <a:lstStyle/>
                    <a:p>
                      <a:pPr algn="ctr"/>
                      <a:r>
                        <a:rPr lang="en-US" altLang="zh-CN" sz="1800" b="1" dirty="0"/>
                        <a:t>0011</a:t>
                      </a:r>
                      <a:endParaRPr lang="zh-CN" altLang="en-US" sz="1800" b="1" dirty="0">
                        <a:solidFill>
                          <a:schemeClr val="tx2"/>
                        </a:solidFill>
                      </a:endParaRPr>
                    </a:p>
                  </a:txBody>
                  <a:tcPr marL="91439" marR="91439" marT="45700" marB="45700"/>
                </a:tc>
                <a:tc>
                  <a:txBody>
                    <a:bodyPr/>
                    <a:lstStyle/>
                    <a:p>
                      <a:pPr algn="ctr"/>
                      <a:r>
                        <a:rPr lang="en-US" altLang="zh-CN" sz="1800" b="1" dirty="0"/>
                        <a:t>0100</a:t>
                      </a:r>
                      <a:endParaRPr lang="zh-CN" altLang="en-US" sz="1800" b="1" dirty="0">
                        <a:solidFill>
                          <a:schemeClr val="tx2"/>
                        </a:solidFill>
                      </a:endParaRPr>
                    </a:p>
                  </a:txBody>
                  <a:tcPr marL="91439" marR="91439" marT="45700" marB="45700"/>
                </a:tc>
                <a:tc>
                  <a:txBody>
                    <a:bodyPr/>
                    <a:lstStyle/>
                    <a:p>
                      <a:pPr algn="ctr"/>
                      <a:r>
                        <a:rPr lang="en-US" altLang="zh-CN" sz="1800" b="1" dirty="0"/>
                        <a:t>0101</a:t>
                      </a:r>
                      <a:endParaRPr lang="zh-CN" altLang="en-US" sz="1800" b="1" dirty="0">
                        <a:solidFill>
                          <a:schemeClr val="tx2"/>
                        </a:solidFill>
                      </a:endParaRPr>
                    </a:p>
                  </a:txBody>
                  <a:tcPr marL="91439" marR="91439" marT="45700" marB="45700"/>
                </a:tc>
                <a:tc>
                  <a:txBody>
                    <a:bodyPr/>
                    <a:lstStyle/>
                    <a:p>
                      <a:pPr algn="ctr"/>
                      <a:r>
                        <a:rPr lang="en-US" altLang="zh-CN" sz="1800" b="1" dirty="0"/>
                        <a:t>0110</a:t>
                      </a:r>
                      <a:endParaRPr lang="zh-CN" altLang="en-US" sz="1800" b="1" dirty="0">
                        <a:solidFill>
                          <a:schemeClr val="tx2"/>
                        </a:solidFill>
                      </a:endParaRPr>
                    </a:p>
                  </a:txBody>
                  <a:tcPr marL="91439" marR="91439" marT="45700" marB="45700"/>
                </a:tc>
                <a:tc>
                  <a:txBody>
                    <a:bodyPr/>
                    <a:lstStyle/>
                    <a:p>
                      <a:pPr algn="ctr"/>
                      <a:r>
                        <a:rPr lang="en-US" altLang="zh-CN" sz="1800" b="1" dirty="0"/>
                        <a:t>0111</a:t>
                      </a:r>
                      <a:endParaRPr lang="zh-CN" altLang="en-US" sz="1800" b="1" dirty="0">
                        <a:solidFill>
                          <a:schemeClr val="tx2"/>
                        </a:solidFill>
                      </a:endParaRPr>
                    </a:p>
                  </a:txBody>
                  <a:tcPr marL="91439" marR="91439" marT="45700" marB="45700"/>
                </a:tc>
                <a:extLst>
                  <a:ext uri="{0D108BD9-81ED-4DB2-BD59-A6C34878D82A}">
                    <a16:rowId xmlns:a16="http://schemas.microsoft.com/office/drawing/2014/main" val="10000"/>
                  </a:ext>
                </a:extLst>
              </a:tr>
              <a:tr h="370681">
                <a:tc>
                  <a:txBody>
                    <a:bodyPr/>
                    <a:lstStyle/>
                    <a:p>
                      <a:pPr algn="ctr"/>
                      <a:r>
                        <a:rPr lang="en-US" altLang="zh-CN" sz="1800" b="1" dirty="0"/>
                        <a:t>1000</a:t>
                      </a:r>
                      <a:endParaRPr lang="zh-CN" altLang="en-US" sz="1800" b="1" dirty="0"/>
                    </a:p>
                  </a:txBody>
                  <a:tcPr marL="91439" marR="91439" marT="45700" marB="45700"/>
                </a:tc>
                <a:tc>
                  <a:txBody>
                    <a:bodyPr/>
                    <a:lstStyle/>
                    <a:p>
                      <a:pPr algn="ctr"/>
                      <a:r>
                        <a:rPr lang="en-US" altLang="zh-CN" sz="1800" b="1" dirty="0"/>
                        <a:t>1001</a:t>
                      </a:r>
                      <a:endParaRPr lang="zh-CN" altLang="en-US" sz="1800" b="1" dirty="0"/>
                    </a:p>
                  </a:txBody>
                  <a:tcPr marL="91439" marR="91439" marT="45700" marB="45700"/>
                </a:tc>
                <a:tc>
                  <a:txBody>
                    <a:bodyPr/>
                    <a:lstStyle/>
                    <a:p>
                      <a:pPr algn="ctr"/>
                      <a:r>
                        <a:rPr lang="en-US" altLang="zh-CN" sz="1800" b="1" dirty="0"/>
                        <a:t>1010</a:t>
                      </a:r>
                      <a:endParaRPr lang="zh-CN" altLang="en-US" sz="1800" b="1" dirty="0"/>
                    </a:p>
                  </a:txBody>
                  <a:tcPr marL="91439" marR="91439" marT="45700" marB="45700"/>
                </a:tc>
                <a:tc>
                  <a:txBody>
                    <a:bodyPr/>
                    <a:lstStyle/>
                    <a:p>
                      <a:pPr algn="ctr"/>
                      <a:r>
                        <a:rPr lang="en-US" altLang="zh-CN" sz="1800" b="1" dirty="0"/>
                        <a:t>1011</a:t>
                      </a:r>
                      <a:endParaRPr lang="zh-CN" altLang="en-US" sz="1800" b="1" dirty="0"/>
                    </a:p>
                  </a:txBody>
                  <a:tcPr marL="91439" marR="91439" marT="45700" marB="45700"/>
                </a:tc>
                <a:tc>
                  <a:txBody>
                    <a:bodyPr/>
                    <a:lstStyle/>
                    <a:p>
                      <a:pPr algn="ctr"/>
                      <a:r>
                        <a:rPr lang="en-US" altLang="zh-CN" sz="1800" b="1" dirty="0"/>
                        <a:t>1100</a:t>
                      </a:r>
                      <a:endParaRPr lang="zh-CN" altLang="en-US" sz="1800" b="1" dirty="0"/>
                    </a:p>
                  </a:txBody>
                  <a:tcPr marL="91439" marR="91439" marT="45700" marB="45700"/>
                </a:tc>
                <a:tc>
                  <a:txBody>
                    <a:bodyPr/>
                    <a:lstStyle/>
                    <a:p>
                      <a:pPr algn="ctr"/>
                      <a:r>
                        <a:rPr lang="en-US" altLang="zh-CN" sz="1800" b="1" dirty="0"/>
                        <a:t>1101</a:t>
                      </a:r>
                      <a:endParaRPr lang="zh-CN" altLang="en-US" sz="1800" b="1" dirty="0"/>
                    </a:p>
                  </a:txBody>
                  <a:tcPr marL="91439" marR="91439" marT="45700" marB="45700"/>
                </a:tc>
                <a:tc>
                  <a:txBody>
                    <a:bodyPr/>
                    <a:lstStyle/>
                    <a:p>
                      <a:pPr algn="ctr"/>
                      <a:r>
                        <a:rPr lang="en-US" altLang="zh-CN" sz="1800" b="1" dirty="0"/>
                        <a:t>1110</a:t>
                      </a:r>
                      <a:endParaRPr lang="zh-CN" altLang="en-US" sz="1800" b="1" dirty="0"/>
                    </a:p>
                  </a:txBody>
                  <a:tcPr marL="91439" marR="91439" marT="45700" marB="45700"/>
                </a:tc>
                <a:tc>
                  <a:txBody>
                    <a:bodyPr/>
                    <a:lstStyle/>
                    <a:p>
                      <a:pPr algn="ctr"/>
                      <a:r>
                        <a:rPr lang="en-US" altLang="zh-CN" sz="1800" b="1" dirty="0"/>
                        <a:t>1111</a:t>
                      </a:r>
                      <a:endParaRPr lang="zh-CN" altLang="en-US" sz="1800" b="1" dirty="0"/>
                    </a:p>
                  </a:txBody>
                  <a:tcPr marL="91439" marR="91439" marT="45700" marB="45700"/>
                </a:tc>
                <a:extLst>
                  <a:ext uri="{0D108BD9-81ED-4DB2-BD59-A6C34878D82A}">
                    <a16:rowId xmlns:a16="http://schemas.microsoft.com/office/drawing/2014/main" val="10001"/>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374217270"/>
              </p:ext>
            </p:extLst>
          </p:nvPr>
        </p:nvGraphicFramePr>
        <p:xfrm>
          <a:off x="1143000" y="3284984"/>
          <a:ext cx="7215192" cy="736600"/>
        </p:xfrm>
        <a:graphic>
          <a:graphicData uri="http://schemas.openxmlformats.org/drawingml/2006/table">
            <a:tbl>
              <a:tblPr firstRow="1" bandRow="1">
                <a:tableStyleId>{8A107856-5554-42FB-B03E-39F5DBC370BA}</a:tableStyleId>
              </a:tblPr>
              <a:tblGrid>
                <a:gridCol w="901899">
                  <a:extLst>
                    <a:ext uri="{9D8B030D-6E8A-4147-A177-3AD203B41FA5}">
                      <a16:colId xmlns:a16="http://schemas.microsoft.com/office/drawing/2014/main" val="20000"/>
                    </a:ext>
                  </a:extLst>
                </a:gridCol>
                <a:gridCol w="901899">
                  <a:extLst>
                    <a:ext uri="{9D8B030D-6E8A-4147-A177-3AD203B41FA5}">
                      <a16:colId xmlns:a16="http://schemas.microsoft.com/office/drawing/2014/main" val="20001"/>
                    </a:ext>
                  </a:extLst>
                </a:gridCol>
                <a:gridCol w="901899">
                  <a:extLst>
                    <a:ext uri="{9D8B030D-6E8A-4147-A177-3AD203B41FA5}">
                      <a16:colId xmlns:a16="http://schemas.microsoft.com/office/drawing/2014/main" val="20002"/>
                    </a:ext>
                  </a:extLst>
                </a:gridCol>
                <a:gridCol w="901899">
                  <a:extLst>
                    <a:ext uri="{9D8B030D-6E8A-4147-A177-3AD203B41FA5}">
                      <a16:colId xmlns:a16="http://schemas.microsoft.com/office/drawing/2014/main" val="20003"/>
                    </a:ext>
                  </a:extLst>
                </a:gridCol>
                <a:gridCol w="901899">
                  <a:extLst>
                    <a:ext uri="{9D8B030D-6E8A-4147-A177-3AD203B41FA5}">
                      <a16:colId xmlns:a16="http://schemas.microsoft.com/office/drawing/2014/main" val="20004"/>
                    </a:ext>
                  </a:extLst>
                </a:gridCol>
                <a:gridCol w="901899">
                  <a:extLst>
                    <a:ext uri="{9D8B030D-6E8A-4147-A177-3AD203B41FA5}">
                      <a16:colId xmlns:a16="http://schemas.microsoft.com/office/drawing/2014/main" val="20005"/>
                    </a:ext>
                  </a:extLst>
                </a:gridCol>
                <a:gridCol w="901899">
                  <a:extLst>
                    <a:ext uri="{9D8B030D-6E8A-4147-A177-3AD203B41FA5}">
                      <a16:colId xmlns:a16="http://schemas.microsoft.com/office/drawing/2014/main" val="20006"/>
                    </a:ext>
                  </a:extLst>
                </a:gridCol>
                <a:gridCol w="901899">
                  <a:extLst>
                    <a:ext uri="{9D8B030D-6E8A-4147-A177-3AD203B41FA5}">
                      <a16:colId xmlns:a16="http://schemas.microsoft.com/office/drawing/2014/main" val="20007"/>
                    </a:ext>
                  </a:extLst>
                </a:gridCol>
              </a:tblGrid>
              <a:tr h="0">
                <a:tc>
                  <a:txBody>
                    <a:bodyPr/>
                    <a:lstStyle/>
                    <a:p>
                      <a:pPr algn="ctr"/>
                      <a:r>
                        <a:rPr lang="en-US" altLang="zh-CN" b="1" dirty="0"/>
                        <a:t>0000</a:t>
                      </a:r>
                      <a:r>
                        <a:rPr lang="en-US" altLang="zh-CN" b="1" dirty="0">
                          <a:solidFill>
                            <a:srgbClr val="FF0000"/>
                          </a:solidFill>
                        </a:rPr>
                        <a:t>1</a:t>
                      </a:r>
                      <a:endParaRPr lang="zh-CN" altLang="en-US" b="1" dirty="0">
                        <a:solidFill>
                          <a:srgbClr val="FF0000"/>
                        </a:solidFill>
                      </a:endParaRPr>
                    </a:p>
                  </a:txBody>
                  <a:tcPr marL="91439" marR="91439"/>
                </a:tc>
                <a:tc>
                  <a:txBody>
                    <a:bodyPr/>
                    <a:lstStyle/>
                    <a:p>
                      <a:pPr algn="ctr"/>
                      <a:r>
                        <a:rPr lang="en-US" altLang="zh-CN" b="1" dirty="0"/>
                        <a:t>0001</a:t>
                      </a:r>
                      <a:r>
                        <a:rPr lang="en-US" altLang="zh-CN" b="1" dirty="0">
                          <a:solidFill>
                            <a:srgbClr val="FF0000"/>
                          </a:solidFill>
                        </a:rPr>
                        <a:t>0</a:t>
                      </a:r>
                      <a:endParaRPr lang="zh-CN" altLang="en-US" b="1" dirty="0">
                        <a:solidFill>
                          <a:srgbClr val="FF0000"/>
                        </a:solidFill>
                      </a:endParaRPr>
                    </a:p>
                  </a:txBody>
                  <a:tcPr marL="91439" marR="91439"/>
                </a:tc>
                <a:tc>
                  <a:txBody>
                    <a:bodyPr/>
                    <a:lstStyle/>
                    <a:p>
                      <a:pPr algn="ctr"/>
                      <a:r>
                        <a:rPr lang="en-US" altLang="zh-CN" b="1" dirty="0"/>
                        <a:t>0010</a:t>
                      </a:r>
                      <a:r>
                        <a:rPr lang="en-US" altLang="zh-CN" b="1" dirty="0">
                          <a:solidFill>
                            <a:srgbClr val="FF0000"/>
                          </a:solidFill>
                        </a:rPr>
                        <a:t>0</a:t>
                      </a:r>
                      <a:endParaRPr lang="zh-CN" altLang="en-US" b="1" dirty="0">
                        <a:solidFill>
                          <a:schemeClr val="tx2"/>
                        </a:solidFill>
                      </a:endParaRPr>
                    </a:p>
                  </a:txBody>
                  <a:tcPr marL="91439" marR="91439"/>
                </a:tc>
                <a:tc>
                  <a:txBody>
                    <a:bodyPr/>
                    <a:lstStyle/>
                    <a:p>
                      <a:pPr algn="ctr"/>
                      <a:r>
                        <a:rPr lang="en-US" altLang="zh-CN" b="1" dirty="0"/>
                        <a:t>0011</a:t>
                      </a:r>
                      <a:r>
                        <a:rPr lang="en-US" altLang="zh-CN" b="1" dirty="0">
                          <a:solidFill>
                            <a:srgbClr val="FF0000"/>
                          </a:solidFill>
                        </a:rPr>
                        <a:t>1</a:t>
                      </a:r>
                      <a:endParaRPr lang="zh-CN" altLang="en-US" b="1" dirty="0">
                        <a:solidFill>
                          <a:schemeClr val="tx2"/>
                        </a:solidFill>
                      </a:endParaRPr>
                    </a:p>
                  </a:txBody>
                  <a:tcPr marL="91439" marR="91439"/>
                </a:tc>
                <a:tc>
                  <a:txBody>
                    <a:bodyPr/>
                    <a:lstStyle/>
                    <a:p>
                      <a:pPr algn="ctr"/>
                      <a:r>
                        <a:rPr lang="en-US" altLang="zh-CN" b="1" dirty="0"/>
                        <a:t>0100</a:t>
                      </a:r>
                      <a:r>
                        <a:rPr lang="en-US" altLang="zh-CN" b="1" dirty="0">
                          <a:solidFill>
                            <a:srgbClr val="FF0000"/>
                          </a:solidFill>
                        </a:rPr>
                        <a:t>0</a:t>
                      </a:r>
                      <a:endParaRPr lang="zh-CN" altLang="en-US" b="1" dirty="0">
                        <a:solidFill>
                          <a:schemeClr val="tx2"/>
                        </a:solidFill>
                      </a:endParaRPr>
                    </a:p>
                  </a:txBody>
                  <a:tcPr marL="91439" marR="91439"/>
                </a:tc>
                <a:tc>
                  <a:txBody>
                    <a:bodyPr/>
                    <a:lstStyle/>
                    <a:p>
                      <a:pPr algn="ctr"/>
                      <a:r>
                        <a:rPr lang="en-US" altLang="zh-CN" b="1" dirty="0"/>
                        <a:t>0101</a:t>
                      </a:r>
                      <a:r>
                        <a:rPr lang="en-US" altLang="zh-CN" b="1" dirty="0">
                          <a:solidFill>
                            <a:srgbClr val="FF0000"/>
                          </a:solidFill>
                        </a:rPr>
                        <a:t>1</a:t>
                      </a:r>
                      <a:endParaRPr lang="zh-CN" altLang="en-US" b="1" dirty="0">
                        <a:solidFill>
                          <a:schemeClr val="tx2"/>
                        </a:solidFill>
                      </a:endParaRPr>
                    </a:p>
                  </a:txBody>
                  <a:tcPr marL="91439" marR="91439"/>
                </a:tc>
                <a:tc>
                  <a:txBody>
                    <a:bodyPr/>
                    <a:lstStyle/>
                    <a:p>
                      <a:pPr algn="ctr"/>
                      <a:r>
                        <a:rPr lang="en-US" altLang="zh-CN" b="1" dirty="0"/>
                        <a:t>0110</a:t>
                      </a:r>
                      <a:r>
                        <a:rPr lang="en-US" altLang="zh-CN" b="1" dirty="0">
                          <a:solidFill>
                            <a:srgbClr val="FF0000"/>
                          </a:solidFill>
                        </a:rPr>
                        <a:t>1</a:t>
                      </a:r>
                      <a:endParaRPr lang="zh-CN" altLang="en-US" b="1" dirty="0">
                        <a:solidFill>
                          <a:schemeClr val="tx2"/>
                        </a:solidFill>
                      </a:endParaRPr>
                    </a:p>
                  </a:txBody>
                  <a:tcPr marL="91439" marR="91439"/>
                </a:tc>
                <a:tc>
                  <a:txBody>
                    <a:bodyPr/>
                    <a:lstStyle/>
                    <a:p>
                      <a:pPr algn="ctr"/>
                      <a:r>
                        <a:rPr lang="en-US" altLang="zh-CN" b="1" dirty="0"/>
                        <a:t>0111</a:t>
                      </a:r>
                      <a:r>
                        <a:rPr lang="en-US" altLang="zh-CN" b="1" dirty="0">
                          <a:solidFill>
                            <a:srgbClr val="FF0000"/>
                          </a:solidFill>
                        </a:rPr>
                        <a:t>0</a:t>
                      </a:r>
                      <a:endParaRPr lang="zh-CN" altLang="en-US" b="1" dirty="0">
                        <a:solidFill>
                          <a:schemeClr val="tx2"/>
                        </a:solidFill>
                      </a:endParaRPr>
                    </a:p>
                  </a:txBody>
                  <a:tcPr marL="91439" marR="91439"/>
                </a:tc>
                <a:extLst>
                  <a:ext uri="{0D108BD9-81ED-4DB2-BD59-A6C34878D82A}">
                    <a16:rowId xmlns:a16="http://schemas.microsoft.com/office/drawing/2014/main" val="10000"/>
                  </a:ext>
                </a:extLst>
              </a:tr>
              <a:tr h="370840">
                <a:tc>
                  <a:txBody>
                    <a:bodyPr/>
                    <a:lstStyle/>
                    <a:p>
                      <a:pPr algn="ctr"/>
                      <a:r>
                        <a:rPr lang="en-US" altLang="zh-CN" b="1" dirty="0"/>
                        <a:t>1000</a:t>
                      </a:r>
                      <a:r>
                        <a:rPr lang="en-US" altLang="zh-CN" b="1" dirty="0">
                          <a:solidFill>
                            <a:srgbClr val="FF0000"/>
                          </a:solidFill>
                        </a:rPr>
                        <a:t>0</a:t>
                      </a:r>
                      <a:endParaRPr lang="zh-CN" altLang="en-US" b="1" dirty="0"/>
                    </a:p>
                  </a:txBody>
                  <a:tcPr marL="91439" marR="91439"/>
                </a:tc>
                <a:tc>
                  <a:txBody>
                    <a:bodyPr/>
                    <a:lstStyle/>
                    <a:p>
                      <a:pPr algn="ctr"/>
                      <a:r>
                        <a:rPr lang="en-US" altLang="zh-CN" b="1" dirty="0"/>
                        <a:t>1001</a:t>
                      </a:r>
                      <a:r>
                        <a:rPr lang="en-US" altLang="zh-CN" b="1" dirty="0">
                          <a:solidFill>
                            <a:srgbClr val="FF0000"/>
                          </a:solidFill>
                        </a:rPr>
                        <a:t>1</a:t>
                      </a:r>
                      <a:endParaRPr lang="zh-CN" altLang="en-US" b="1" dirty="0"/>
                    </a:p>
                  </a:txBody>
                  <a:tcPr marL="91439" marR="91439"/>
                </a:tc>
                <a:tc>
                  <a:txBody>
                    <a:bodyPr/>
                    <a:lstStyle/>
                    <a:p>
                      <a:pPr algn="ctr"/>
                      <a:r>
                        <a:rPr lang="en-US" altLang="zh-CN" b="1" dirty="0"/>
                        <a:t>1010</a:t>
                      </a:r>
                      <a:r>
                        <a:rPr lang="en-US" altLang="zh-CN" b="1" dirty="0">
                          <a:solidFill>
                            <a:srgbClr val="FF0000"/>
                          </a:solidFill>
                        </a:rPr>
                        <a:t>1</a:t>
                      </a:r>
                      <a:endParaRPr lang="zh-CN" altLang="en-US" b="1" dirty="0"/>
                    </a:p>
                  </a:txBody>
                  <a:tcPr marL="91439" marR="91439"/>
                </a:tc>
                <a:tc>
                  <a:txBody>
                    <a:bodyPr/>
                    <a:lstStyle/>
                    <a:p>
                      <a:pPr algn="ctr"/>
                      <a:r>
                        <a:rPr lang="en-US" altLang="zh-CN" b="1" dirty="0"/>
                        <a:t>1011</a:t>
                      </a:r>
                      <a:r>
                        <a:rPr lang="en-US" altLang="zh-CN" b="1" dirty="0">
                          <a:solidFill>
                            <a:srgbClr val="FF0000"/>
                          </a:solidFill>
                        </a:rPr>
                        <a:t>0</a:t>
                      </a:r>
                      <a:endParaRPr lang="zh-CN" altLang="en-US" b="1" dirty="0"/>
                    </a:p>
                  </a:txBody>
                  <a:tcPr marL="91439" marR="91439"/>
                </a:tc>
                <a:tc>
                  <a:txBody>
                    <a:bodyPr/>
                    <a:lstStyle/>
                    <a:p>
                      <a:pPr algn="ctr"/>
                      <a:r>
                        <a:rPr lang="en-US" altLang="zh-CN" b="1" dirty="0"/>
                        <a:t>1100</a:t>
                      </a:r>
                      <a:r>
                        <a:rPr lang="en-US" altLang="zh-CN" b="1" dirty="0">
                          <a:solidFill>
                            <a:srgbClr val="FF0000"/>
                          </a:solidFill>
                        </a:rPr>
                        <a:t>1</a:t>
                      </a:r>
                      <a:endParaRPr lang="zh-CN" altLang="en-US" b="1" dirty="0"/>
                    </a:p>
                  </a:txBody>
                  <a:tcPr marL="91439" marR="91439"/>
                </a:tc>
                <a:tc>
                  <a:txBody>
                    <a:bodyPr/>
                    <a:lstStyle/>
                    <a:p>
                      <a:pPr algn="ctr"/>
                      <a:r>
                        <a:rPr lang="en-US" altLang="zh-CN" b="1" dirty="0"/>
                        <a:t>1101</a:t>
                      </a:r>
                      <a:r>
                        <a:rPr lang="en-US" altLang="zh-CN" b="1" dirty="0">
                          <a:solidFill>
                            <a:srgbClr val="FF0000"/>
                          </a:solidFill>
                        </a:rPr>
                        <a:t>0</a:t>
                      </a:r>
                      <a:endParaRPr lang="zh-CN" altLang="en-US" b="1" dirty="0"/>
                    </a:p>
                  </a:txBody>
                  <a:tcPr marL="91439" marR="91439"/>
                </a:tc>
                <a:tc>
                  <a:txBody>
                    <a:bodyPr/>
                    <a:lstStyle/>
                    <a:p>
                      <a:pPr algn="ctr"/>
                      <a:r>
                        <a:rPr lang="en-US" altLang="zh-CN" b="1" dirty="0"/>
                        <a:t>1110</a:t>
                      </a:r>
                      <a:r>
                        <a:rPr lang="en-US" altLang="zh-CN" b="1" dirty="0">
                          <a:solidFill>
                            <a:srgbClr val="FF0000"/>
                          </a:solidFill>
                        </a:rPr>
                        <a:t>0</a:t>
                      </a:r>
                      <a:endParaRPr lang="zh-CN" altLang="en-US" b="1" dirty="0"/>
                    </a:p>
                  </a:txBody>
                  <a:tcPr marL="91439" marR="91439"/>
                </a:tc>
                <a:tc>
                  <a:txBody>
                    <a:bodyPr/>
                    <a:lstStyle/>
                    <a:p>
                      <a:pPr algn="ctr"/>
                      <a:r>
                        <a:rPr lang="en-US" altLang="zh-CN" b="1" dirty="0"/>
                        <a:t>1111</a:t>
                      </a:r>
                      <a:r>
                        <a:rPr lang="en-US" altLang="zh-CN" b="1" dirty="0">
                          <a:solidFill>
                            <a:srgbClr val="FF0000"/>
                          </a:solidFill>
                        </a:rPr>
                        <a:t>1</a:t>
                      </a:r>
                      <a:endParaRPr lang="zh-CN" altLang="en-US" b="1" dirty="0"/>
                    </a:p>
                  </a:txBody>
                  <a:tcPr marL="91439" marR="91439"/>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997840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3971" name="矩形 2"/>
              <p:cNvSpPr>
                <a:spLocks noChangeArrowheads="1"/>
              </p:cNvSpPr>
              <p:nvPr/>
            </p:nvSpPr>
            <p:spPr bwMode="auto">
              <a:xfrm>
                <a:off x="714375" y="1785938"/>
                <a:ext cx="7786688" cy="42414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chemeClr val="tx2"/>
                    </a:solidFill>
                    <a:latin typeface="楷体_GB2312" pitchFamily="49" charset="-122"/>
                    <a:ea typeface="楷体_GB2312" pitchFamily="49" charset="-122"/>
                  </a:rPr>
                  <a:t>偶校验位值的计算：</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就是所有数值位的异或：</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D</a:t>
                </a:r>
                <a:r>
                  <a:rPr lang="zh-CN" altLang="en-US" dirty="0">
                    <a:solidFill>
                      <a:schemeClr val="tx2"/>
                    </a:solidFill>
                    <a:latin typeface="楷体_GB2312" pitchFamily="49" charset="-122"/>
                    <a:ea typeface="楷体_GB2312" pitchFamily="49" charset="-122"/>
                  </a:rPr>
                  <a:t>偶校验</a:t>
                </a:r>
                <a:r>
                  <a:rPr lang="en-US" altLang="zh-CN" sz="3200" dirty="0">
                    <a:solidFill>
                      <a:schemeClr val="tx2"/>
                    </a:solidFill>
                    <a:latin typeface="楷体_GB2312" pitchFamily="49" charset="-122"/>
                    <a:ea typeface="楷体_GB2312" pitchFamily="49" charset="-122"/>
                  </a:rPr>
                  <a:t>=b</a:t>
                </a:r>
                <a:r>
                  <a:rPr lang="en-US" altLang="zh-CN" dirty="0">
                    <a:solidFill>
                      <a:schemeClr val="tx2"/>
                    </a:solidFill>
                    <a:latin typeface="楷体_GB2312" pitchFamily="49" charset="-122"/>
                    <a:ea typeface="楷体_GB2312" pitchFamily="49" charset="-122"/>
                  </a:rPr>
                  <a:t>n</a:t>
                </a:r>
                <a:r>
                  <a:rPr lang="en-US" altLang="zh-CN" sz="3200" dirty="0">
                    <a:solidFill>
                      <a:schemeClr val="tx2"/>
                    </a:solidFill>
                    <a:latin typeface="楷体_GB2312" pitchFamily="49" charset="-122"/>
                    <a:ea typeface="楷体_GB2312" pitchFamily="49" charset="-122"/>
                  </a:rPr>
                  <a:t>⊕b</a:t>
                </a:r>
                <a:r>
                  <a:rPr lang="en-US" altLang="zh-CN" dirty="0">
                    <a:solidFill>
                      <a:schemeClr val="tx2"/>
                    </a:solidFill>
                    <a:latin typeface="楷体_GB2312" pitchFamily="49" charset="-122"/>
                    <a:ea typeface="楷体_GB2312" pitchFamily="49" charset="-122"/>
                  </a:rPr>
                  <a:t>n-1</a:t>
                </a:r>
                <a:r>
                  <a:rPr lang="en-US" altLang="zh-CN" sz="3200" dirty="0">
                    <a:solidFill>
                      <a:schemeClr val="tx2"/>
                    </a:solidFill>
                    <a:latin typeface="楷体_GB2312" pitchFamily="49" charset="-122"/>
                    <a:ea typeface="楷体_GB2312" pitchFamily="49" charset="-122"/>
                  </a:rPr>
                  <a:t>⊕…⊕b</a:t>
                </a:r>
                <a:r>
                  <a:rPr lang="en-US" altLang="zh-CN" dirty="0">
                    <a:solidFill>
                      <a:schemeClr val="tx2"/>
                    </a:solidFill>
                    <a:latin typeface="楷体_GB2312" pitchFamily="49" charset="-122"/>
                    <a:ea typeface="楷体_GB2312" pitchFamily="49" charset="-122"/>
                  </a:rPr>
                  <a:t>1</a:t>
                </a:r>
              </a:p>
              <a:p>
                <a:pPr eaLnBrk="1" hangingPunct="1"/>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奇校验位值的计算：</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就是所有数值位的异或的反：</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D</a:t>
                </a:r>
                <a:r>
                  <a:rPr lang="zh-CN" altLang="en-US" dirty="0">
                    <a:solidFill>
                      <a:schemeClr val="tx2"/>
                    </a:solidFill>
                    <a:latin typeface="楷体_GB2312" pitchFamily="49" charset="-122"/>
                    <a:ea typeface="楷体_GB2312" pitchFamily="49" charset="-122"/>
                  </a:rPr>
                  <a:t>奇校验</a:t>
                </a:r>
                <a:r>
                  <a:rPr lang="en-US" altLang="zh-CN" sz="3200" dirty="0">
                    <a:solidFill>
                      <a:schemeClr val="tx2"/>
                    </a:solidFill>
                    <a:latin typeface="楷体_GB2312" pitchFamily="49" charset="-122"/>
                    <a:ea typeface="楷体_GB2312" pitchFamily="49" charset="-122"/>
                  </a:rPr>
                  <a:t>=</a:t>
                </a:r>
                <a14:m>
                  <m:oMath xmlns:m="http://schemas.openxmlformats.org/officeDocument/2006/math">
                    <m:acc>
                      <m:accPr>
                        <m:chr m:val="⃑"/>
                        <m:ctrlPr>
                          <a:rPr lang="en-US" altLang="zh-CN" sz="3200" i="1" smtClean="0">
                            <a:solidFill>
                              <a:schemeClr val="tx2"/>
                            </a:solidFill>
                            <a:latin typeface="Cambria Math" panose="02040503050406030204" pitchFamily="18" charset="0"/>
                            <a:ea typeface="楷体_GB2312" pitchFamily="49" charset="-122"/>
                          </a:rPr>
                        </m:ctrlPr>
                      </m:accPr>
                      <m:e>
                        <m:r>
                          <m:rPr>
                            <m:nor/>
                          </m:rPr>
                          <a:rPr lang="en-US" altLang="zh-CN" sz="3200" dirty="0">
                            <a:solidFill>
                              <a:schemeClr val="tx2"/>
                            </a:solidFill>
                            <a:latin typeface="楷体_GB2312" pitchFamily="49" charset="-122"/>
                            <a:ea typeface="楷体_GB2312" pitchFamily="49" charset="-122"/>
                          </a:rPr>
                          <m:t>bn</m:t>
                        </m:r>
                        <m:r>
                          <m:rPr>
                            <m:nor/>
                          </m:rPr>
                          <a:rPr lang="en-US" altLang="zh-CN" sz="3200" dirty="0">
                            <a:solidFill>
                              <a:schemeClr val="tx2"/>
                            </a:solidFill>
                            <a:latin typeface="楷体_GB2312" pitchFamily="49" charset="-122"/>
                            <a:ea typeface="楷体_GB2312" pitchFamily="49" charset="-122"/>
                          </a:rPr>
                          <m:t>⊕</m:t>
                        </m:r>
                        <m:r>
                          <m:rPr>
                            <m:nor/>
                          </m:rPr>
                          <a:rPr lang="en-US" altLang="zh-CN" sz="3200" dirty="0">
                            <a:solidFill>
                              <a:schemeClr val="tx2"/>
                            </a:solidFill>
                            <a:latin typeface="楷体_GB2312" pitchFamily="49" charset="-122"/>
                            <a:ea typeface="楷体_GB2312" pitchFamily="49" charset="-122"/>
                          </a:rPr>
                          <m:t>bn</m:t>
                        </m:r>
                        <m:r>
                          <m:rPr>
                            <m:nor/>
                          </m:rPr>
                          <a:rPr lang="en-US" altLang="zh-CN" sz="3200" dirty="0">
                            <a:solidFill>
                              <a:schemeClr val="tx2"/>
                            </a:solidFill>
                            <a:latin typeface="楷体_GB2312" pitchFamily="49" charset="-122"/>
                            <a:ea typeface="楷体_GB2312" pitchFamily="49" charset="-122"/>
                          </a:rPr>
                          <m:t>−1⊕…⊕</m:t>
                        </m:r>
                        <m:r>
                          <m:rPr>
                            <m:nor/>
                          </m:rPr>
                          <a:rPr lang="en-US" altLang="zh-CN" sz="3200" dirty="0">
                            <a:solidFill>
                              <a:schemeClr val="tx2"/>
                            </a:solidFill>
                            <a:latin typeface="楷体_GB2312" pitchFamily="49" charset="-122"/>
                            <a:ea typeface="楷体_GB2312" pitchFamily="49" charset="-122"/>
                          </a:rPr>
                          <m:t>b</m:t>
                        </m:r>
                        <m:r>
                          <m:rPr>
                            <m:nor/>
                          </m:rPr>
                          <a:rPr lang="en-US" altLang="zh-CN" sz="3200" dirty="0">
                            <a:solidFill>
                              <a:schemeClr val="tx2"/>
                            </a:solidFill>
                            <a:latin typeface="楷体_GB2312" pitchFamily="49" charset="-122"/>
                            <a:ea typeface="楷体_GB2312" pitchFamily="49" charset="-122"/>
                          </a:rPr>
                          <m:t>1 </m:t>
                        </m:r>
                      </m:e>
                    </m:acc>
                  </m:oMath>
                </a14:m>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mc:Choice>
        <mc:Fallback xmlns="">
          <p:sp>
            <p:nvSpPr>
              <p:cNvPr id="83971" name="矩形 2"/>
              <p:cNvSpPr>
                <a:spLocks noRot="1" noChangeAspect="1" noMove="1" noResize="1" noEditPoints="1" noAdjustHandles="1" noChangeArrowheads="1" noChangeShapeType="1" noTextEdit="1"/>
              </p:cNvSpPr>
              <p:nvPr/>
            </p:nvSpPr>
            <p:spPr bwMode="auto">
              <a:xfrm>
                <a:off x="714375" y="1785938"/>
                <a:ext cx="7786688" cy="4241418"/>
              </a:xfrm>
              <a:prstGeom prst="rect">
                <a:avLst/>
              </a:prstGeom>
              <a:blipFill rotWithShape="1">
                <a:blip r:embed="rId3"/>
                <a:stretch>
                  <a:fillRect l="-1956" t="-18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9886312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5545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与门即</a:t>
                </a:r>
                <a14:m>
                  <m:oMath xmlns:m="http://schemas.openxmlformats.org/officeDocument/2006/math">
                    <m:r>
                      <a:rPr lang="en-US" altLang="zh-CN" sz="3200" b="1" i="1" smtClean="0">
                        <a:solidFill>
                          <a:schemeClr val="tx2"/>
                        </a:solidFill>
                        <a:latin typeface="Cambria Math"/>
                        <a:ea typeface="楷体_GB2312" pitchFamily="49" charset="-122"/>
                      </a:rPr>
                      <m:t>𝒀</m:t>
                    </m:r>
                    <m:r>
                      <a:rPr lang="en-US" altLang="zh-CN" sz="3200" b="1" i="1" smtClean="0">
                        <a:solidFill>
                          <a:schemeClr val="tx2"/>
                        </a:solidFill>
                        <a:latin typeface="Cambria Math"/>
                        <a:ea typeface="楷体_GB2312" pitchFamily="49" charset="-122"/>
                      </a:rPr>
                      <m:t>=</m:t>
                    </m:r>
                    <m:r>
                      <a:rPr lang="en-US" altLang="zh-CN" sz="3200" b="1" i="1" smtClean="0">
                        <a:solidFill>
                          <a:schemeClr val="tx2"/>
                        </a:solidFill>
                        <a:latin typeface="Cambria Math"/>
                        <a:ea typeface="楷体_GB2312" pitchFamily="49" charset="-122"/>
                      </a:rPr>
                      <m:t>𝑨</m:t>
                    </m:r>
                    <m:r>
                      <a:rPr lang="en-US" altLang="zh-CN" sz="3200" b="1" i="1" smtClean="0">
                        <a:solidFill>
                          <a:schemeClr val="tx2"/>
                        </a:solidFill>
                        <a:latin typeface="Cambria Math"/>
                        <a:ea typeface="楷体_GB2312" pitchFamily="49" charset="-122"/>
                      </a:rPr>
                      <m:t>&amp;</m:t>
                    </m:r>
                    <m:r>
                      <a:rPr lang="en-US" altLang="zh-CN" sz="3200" b="1" i="1" smtClean="0">
                        <a:solidFill>
                          <a:schemeClr val="tx2"/>
                        </a:solidFill>
                        <a:latin typeface="Cambria Math"/>
                        <a:ea typeface="楷体_GB2312" pitchFamily="49" charset="-122"/>
                      </a:rPr>
                      <m:t>𝑩</m:t>
                    </m:r>
                  </m:oMath>
                </a14:m>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554545"/>
              </a:xfrm>
              <a:prstGeom prst="rect">
                <a:avLst/>
              </a:prstGeom>
              <a:blipFill rotWithShape="1">
                <a:blip r:embed="rId3"/>
                <a:stretch>
                  <a:fillRect l="-1956" t="-31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6" name="Picture 2" descr="C:\Users\dell\Desktop\计算机组成原理课件\与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420888"/>
            <a:ext cx="1175792" cy="52092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格 2"/>
          <p:cNvGraphicFramePr>
            <a:graphicFrameLocks noGrp="1"/>
          </p:cNvGraphicFramePr>
          <p:nvPr>
            <p:extLst>
              <p:ext uri="{D42A27DB-BD31-4B8C-83A1-F6EECF244321}">
                <p14:modId xmlns:p14="http://schemas.microsoft.com/office/powerpoint/2010/main" val="1747760097"/>
              </p:ext>
            </p:extLst>
          </p:nvPr>
        </p:nvGraphicFramePr>
        <p:xfrm>
          <a:off x="1331640" y="3933056"/>
          <a:ext cx="6096000" cy="184912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28361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6807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与非门即</a:t>
                </a:r>
                <a14:m>
                  <m:oMath xmlns:m="http://schemas.openxmlformats.org/officeDocument/2006/math">
                    <m:r>
                      <a:rPr lang="en-US" altLang="zh-CN" sz="3200" b="1" i="1" smtClean="0">
                        <a:solidFill>
                          <a:schemeClr val="tx2"/>
                        </a:solidFill>
                        <a:latin typeface="Cambria Math"/>
                        <a:ea typeface="楷体_GB2312" pitchFamily="49" charset="-122"/>
                      </a:rPr>
                      <m:t>𝒀</m:t>
                    </m:r>
                    <m:r>
                      <a:rPr lang="en-US" altLang="zh-CN" sz="3200" b="1" i="1" smtClean="0">
                        <a:solidFill>
                          <a:schemeClr val="tx2"/>
                        </a:solidFill>
                        <a:latin typeface="Cambria Math"/>
                        <a:ea typeface="楷体_GB2312" pitchFamily="49" charset="-122"/>
                      </a:rPr>
                      <m:t>=</m:t>
                    </m:r>
                    <m:acc>
                      <m:accPr>
                        <m:chr m:val="⃑"/>
                        <m:ctrlPr>
                          <a:rPr lang="en-US" altLang="zh-CN" sz="3200" b="1" i="1" smtClean="0">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m:t>
                        </m:r>
                        <m:r>
                          <a:rPr lang="en-US" altLang="zh-CN" sz="3200" i="1">
                            <a:solidFill>
                              <a:schemeClr val="tx2"/>
                            </a:solidFill>
                            <a:latin typeface="Cambria Math"/>
                            <a:ea typeface="楷体_GB2312" pitchFamily="49" charset="-122"/>
                          </a:rPr>
                          <m:t>&amp;</m:t>
                        </m:r>
                        <m:r>
                          <a:rPr lang="en-US" altLang="zh-CN" sz="3200" i="1">
                            <a:solidFill>
                              <a:schemeClr val="tx2"/>
                            </a:solidFill>
                            <a:latin typeface="Cambria Math"/>
                            <a:ea typeface="楷体_GB2312" pitchFamily="49" charset="-122"/>
                          </a:rPr>
                          <m:t>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或表达为</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acc>
                      <m:accPr>
                        <m:chr m:val="⃑"/>
                        <m:ctrlPr>
                          <a:rPr lang="en-US" altLang="zh-CN" sz="3200" i="1">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680734"/>
              </a:xfrm>
              <a:prstGeom prst="rect">
                <a:avLst/>
              </a:prstGeom>
              <a:blipFill rotWithShape="1">
                <a:blip r:embed="rId3"/>
                <a:stretch>
                  <a:fillRect l="-1956" t="-29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3580405485"/>
              </p:ext>
            </p:extLst>
          </p:nvPr>
        </p:nvGraphicFramePr>
        <p:xfrm>
          <a:off x="1331640" y="3933056"/>
          <a:ext cx="6096000" cy="184912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pic>
        <p:nvPicPr>
          <p:cNvPr id="2050" name="Picture 2" descr="C:\Users\dell\Desktop\与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325" y="2330202"/>
            <a:ext cx="15049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0125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3046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或门即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r>
                      <a:rPr lang="en-US" altLang="zh-CN" sz="3200" i="1">
                        <a:solidFill>
                          <a:schemeClr val="tx2"/>
                        </a:solidFill>
                        <a:latin typeface="Cambria Math"/>
                        <a:ea typeface="楷体_GB2312" pitchFamily="49" charset="-122"/>
                      </a:rPr>
                      <m:t>𝑨</m:t>
                    </m:r>
                    <m:r>
                      <a:rPr lang="en-US" altLang="zh-CN" sz="3200" b="1" i="1" smtClean="0">
                        <a:solidFill>
                          <a:schemeClr val="tx2"/>
                        </a:solidFill>
                        <a:latin typeface="Cambria Math"/>
                        <a:ea typeface="楷体_GB2312" pitchFamily="49" charset="-122"/>
                      </a:rPr>
                      <m:t>|</m:t>
                    </m:r>
                    <m:r>
                      <a:rPr lang="en-US" altLang="zh-CN" sz="3200" i="1">
                        <a:solidFill>
                          <a:schemeClr val="tx2"/>
                        </a:solidFill>
                        <a:latin typeface="Cambria Math"/>
                        <a:ea typeface="楷体_GB2312" pitchFamily="49" charset="-122"/>
                      </a:rPr>
                      <m:t>𝑩</m:t>
                    </m:r>
                  </m:oMath>
                </a14:m>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3046988"/>
              </a:xfrm>
              <a:prstGeom prst="rect">
                <a:avLst/>
              </a:prstGeom>
              <a:blipFill rotWithShape="1">
                <a:blip r:embed="rId3"/>
                <a:stretch>
                  <a:fillRect l="-1956" t="-26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7" name="Picture 3" descr="C:\Users\dell\Desktop\计算机组成原理课件\或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613585"/>
            <a:ext cx="1504950" cy="6667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格 2"/>
          <p:cNvGraphicFramePr>
            <a:graphicFrameLocks noGrp="1"/>
          </p:cNvGraphicFramePr>
          <p:nvPr>
            <p:extLst>
              <p:ext uri="{D42A27DB-BD31-4B8C-83A1-F6EECF244321}">
                <p14:modId xmlns:p14="http://schemas.microsoft.com/office/powerpoint/2010/main" val="1932903259"/>
              </p:ext>
            </p:extLst>
          </p:nvPr>
        </p:nvGraphicFramePr>
        <p:xfrm>
          <a:off x="1115616" y="4293096"/>
          <a:ext cx="6096000" cy="18491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085977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6600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或非门即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acc>
                      <m:accPr>
                        <m:chr m:val="⃑"/>
                        <m:ctrlPr>
                          <a:rPr lang="en-US" altLang="zh-CN" sz="3200" i="1" smtClean="0">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m:t>
                        </m:r>
                        <m:r>
                          <a:rPr lang="en-US" altLang="zh-CN" sz="3200" i="1">
                            <a:solidFill>
                              <a:schemeClr val="tx2"/>
                            </a:solidFill>
                            <a:latin typeface="Cambria Math"/>
                            <a:ea typeface="楷体_GB2312" pitchFamily="49" charset="-122"/>
                          </a:rPr>
                          <m:t>|</m:t>
                        </m:r>
                        <m:r>
                          <a:rPr lang="en-US" altLang="zh-CN" sz="3200" i="1">
                            <a:solidFill>
                              <a:schemeClr val="tx2"/>
                            </a:solidFill>
                            <a:latin typeface="Cambria Math"/>
                            <a:ea typeface="楷体_GB2312" pitchFamily="49" charset="-122"/>
                          </a:rPr>
                          <m:t>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660087"/>
              </a:xfrm>
              <a:prstGeom prst="rect">
                <a:avLst/>
              </a:prstGeom>
              <a:blipFill rotWithShape="1">
                <a:blip r:embed="rId3"/>
                <a:stretch>
                  <a:fillRect l="-1956" t="-29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1724702851"/>
              </p:ext>
            </p:extLst>
          </p:nvPr>
        </p:nvGraphicFramePr>
        <p:xfrm>
          <a:off x="1115616" y="4293096"/>
          <a:ext cx="6096000" cy="18491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pic>
        <p:nvPicPr>
          <p:cNvPr id="1026" name="Picture 2" descr="C:\Users\dell\Desktop\或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618234"/>
            <a:ext cx="15049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7180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3046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a:t>
                </a: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非门即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r>
                      <a:rPr lang="en-US" altLang="zh-CN" sz="3200" b="1" i="1" smtClean="0">
                        <a:solidFill>
                          <a:schemeClr val="tx2"/>
                        </a:solidFill>
                        <a:latin typeface="Cambria Math"/>
                        <a:ea typeface="楷体_GB2312" pitchFamily="49" charset="-122"/>
                      </a:rPr>
                      <m:t>𝑨</m:t>
                    </m:r>
                    <m:r>
                      <a:rPr lang="en-US" altLang="zh-CN" sz="3200" b="1" i="1" smtClean="0">
                        <a:solidFill>
                          <a:schemeClr val="tx2"/>
                        </a:solidFill>
                        <a:latin typeface="Cambria Math"/>
                        <a:ea typeface="楷体_GB2312" pitchFamily="49" charset="-122"/>
                      </a:rPr>
                      <m:t>′</m:t>
                    </m:r>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3046988"/>
              </a:xfrm>
              <a:prstGeom prst="rect">
                <a:avLst/>
              </a:prstGeom>
              <a:blipFill rotWithShape="1">
                <a:blip r:embed="rId3"/>
                <a:stretch>
                  <a:fillRect l="-1956" t="-26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8" name="Picture 4" descr="C:\Users\dell\Desktop\计算机组成原理课件\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636912"/>
            <a:ext cx="1504950" cy="6667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格 3"/>
          <p:cNvGraphicFramePr>
            <a:graphicFrameLocks noGrp="1"/>
          </p:cNvGraphicFramePr>
          <p:nvPr>
            <p:extLst>
              <p:ext uri="{D42A27DB-BD31-4B8C-83A1-F6EECF244321}">
                <p14:modId xmlns:p14="http://schemas.microsoft.com/office/powerpoint/2010/main" val="1136854992"/>
              </p:ext>
            </p:extLst>
          </p:nvPr>
        </p:nvGraphicFramePr>
        <p:xfrm>
          <a:off x="1403648" y="3905826"/>
          <a:ext cx="6096000" cy="1112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altLang="zh-CN" b="1" dirty="0"/>
                        <a:t>A</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7232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45243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异或门即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r>
                      <a:rPr lang="en-US" altLang="zh-CN" sz="3200" i="1">
                        <a:solidFill>
                          <a:schemeClr val="tx2"/>
                        </a:solidFill>
                        <a:latin typeface="Cambria Math"/>
                        <a:ea typeface="楷体_GB2312" pitchFamily="49" charset="-122"/>
                      </a:rPr>
                      <m:t>𝑨</m:t>
                    </m:r>
                    <m:r>
                      <a:rPr lang="en-US" altLang="zh-CN" sz="3200" i="1">
                        <a:solidFill>
                          <a:schemeClr val="tx2"/>
                        </a:solidFill>
                        <a:latin typeface="Cambria Math"/>
                        <a:ea typeface="楷体_GB2312" pitchFamily="49" charset="-122"/>
                      </a:rPr>
                      <m:t>⊕</m:t>
                    </m:r>
                    <m:r>
                      <a:rPr lang="en-US" altLang="zh-CN" sz="3200" b="1" i="1" smtClean="0">
                        <a:solidFill>
                          <a:schemeClr val="tx2"/>
                        </a:solidFill>
                        <a:latin typeface="Cambria Math"/>
                        <a:ea typeface="楷体_GB2312" pitchFamily="49" charset="-122"/>
                      </a:rPr>
                      <m:t>𝑩</m:t>
                    </m:r>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4524315"/>
              </a:xfrm>
              <a:prstGeom prst="rect">
                <a:avLst/>
              </a:prstGeom>
              <a:blipFill rotWithShape="1">
                <a:blip r:embed="rId3"/>
                <a:stretch>
                  <a:fillRect l="-1956" t="-17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9" name="Picture 5" descr="C:\Users\dell\Desktop\计算机组成原理课件\异或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688848"/>
            <a:ext cx="1504950" cy="6667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格 2"/>
          <p:cNvGraphicFramePr>
            <a:graphicFrameLocks noGrp="1"/>
          </p:cNvGraphicFramePr>
          <p:nvPr>
            <p:extLst>
              <p:ext uri="{D42A27DB-BD31-4B8C-83A1-F6EECF244321}">
                <p14:modId xmlns:p14="http://schemas.microsoft.com/office/powerpoint/2010/main" val="518940778"/>
              </p:ext>
            </p:extLst>
          </p:nvPr>
        </p:nvGraphicFramePr>
        <p:xfrm>
          <a:off x="1331640" y="3861048"/>
          <a:ext cx="6096000" cy="185420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05472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1571625" y="1571625"/>
            <a:ext cx="5929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奇偶校验位的实现逻辑电路如下：</a:t>
            </a:r>
            <a:endParaRPr lang="zh-CN" altLang="en-US" sz="320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84996" name="图片 3" descr="图3.10.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2214563"/>
            <a:ext cx="3286125"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标注 1"/>
          <p:cNvSpPr>
            <a:spLocks noChangeArrowheads="1"/>
          </p:cNvSpPr>
          <p:nvPr/>
        </p:nvSpPr>
        <p:spPr bwMode="auto">
          <a:xfrm>
            <a:off x="19050" y="2476500"/>
            <a:ext cx="2543175" cy="2281238"/>
          </a:xfrm>
          <a:prstGeom prst="wedgeRoundRectCallout">
            <a:avLst>
              <a:gd name="adj1" fmla="val 83551"/>
              <a:gd name="adj2" fmla="val 22838"/>
              <a:gd name="adj3" fmla="val 16667"/>
            </a:avLst>
          </a:prstGeom>
          <a:solidFill>
            <a:srgbClr val="FFFF00"/>
          </a:solidFill>
          <a:ln>
            <a:noFill/>
          </a:ln>
          <a:extLs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spcBef>
                <a:spcPct val="20000"/>
              </a:spcBef>
              <a:buClr>
                <a:schemeClr val="accent2"/>
              </a:buClr>
              <a:buSzPct val="85000"/>
              <a:buFont typeface="Wingdings" pitchFamily="2" charset="2"/>
              <a:buChar char="•"/>
              <a:defRPr kumimoji="1" sz="3200">
                <a:solidFill>
                  <a:schemeClr val="tx1"/>
                </a:solidFill>
                <a:latin typeface="Arial" pitchFamily="34" charset="0"/>
                <a:ea typeface="宋体" pitchFamily="2" charset="-122"/>
              </a:defRPr>
            </a:lvl1pPr>
            <a:lvl2pPr marL="742950" indent="-285750" eaLnBrk="0" hangingPunct="0">
              <a:spcBef>
                <a:spcPct val="20000"/>
              </a:spcBef>
              <a:buClr>
                <a:schemeClr val="folHlink"/>
              </a:buClr>
              <a:buSzPct val="80000"/>
              <a:buFont typeface="Wingdings" pitchFamily="2" charset="2"/>
              <a:buChar char="n"/>
              <a:defRPr kumimoji="1" sz="2800">
                <a:solidFill>
                  <a:schemeClr val="tx1"/>
                </a:solidFill>
                <a:latin typeface="Arial" pitchFamily="34" charset="0"/>
                <a:ea typeface="宋体" pitchFamily="2" charset="-122"/>
              </a:defRPr>
            </a:lvl2pPr>
            <a:lvl3pPr marL="1143000" indent="-228600" eaLnBrk="0" hangingPunct="0">
              <a:spcBef>
                <a:spcPct val="20000"/>
              </a:spcBef>
              <a:buClr>
                <a:schemeClr val="hlink"/>
              </a:buClr>
              <a:buSzPct val="70000"/>
              <a:buFont typeface="Wingdings" pitchFamily="2" charset="2"/>
              <a:buChar char="n"/>
              <a:defRPr kumimoji="1" sz="2400">
                <a:solidFill>
                  <a:schemeClr val="tx1"/>
                </a:solidFill>
                <a:latin typeface="Arial" pitchFamily="34" charset="0"/>
                <a:ea typeface="宋体" pitchFamily="2" charset="-122"/>
              </a:defRPr>
            </a:lvl3pPr>
            <a:lvl4pPr marL="1600200" indent="-228600" eaLnBrk="0" hangingPunct="0">
              <a:spcBef>
                <a:spcPct val="20000"/>
              </a:spcBef>
              <a:buChar char="–"/>
              <a:defRPr kumimoji="1" sz="2000">
                <a:solidFill>
                  <a:schemeClr val="tx1"/>
                </a:solidFill>
                <a:latin typeface="Arial" pitchFamily="34" charset="0"/>
                <a:ea typeface="宋体" pitchFamily="2" charset="-122"/>
              </a:defRPr>
            </a:lvl4pPr>
            <a:lvl5pPr marL="2057400" indent="-228600" eaLnBrk="0" hangingPunct="0">
              <a:spcBef>
                <a:spcPct val="20000"/>
              </a:spcBef>
              <a:buChar char="•"/>
              <a:defRPr kumimoji="1"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9pPr>
          </a:lstStyle>
          <a:p>
            <a:pPr algn="r" eaLnBrk="1" hangingPunct="1">
              <a:spcBef>
                <a:spcPct val="0"/>
              </a:spcBef>
              <a:buClrTx/>
              <a:buSzTx/>
              <a:buFontTx/>
              <a:buNone/>
            </a:pPr>
            <a:r>
              <a:rPr kumimoji="0" lang="zh-CN" altLang="en-US" sz="1600">
                <a:ea typeface="华文新魏" pitchFamily="2" charset="-122"/>
              </a:rPr>
              <a:t>这个电路的作用是</a:t>
            </a:r>
            <a:r>
              <a:rPr kumimoji="0" lang="zh-CN" altLang="en-US" sz="1600">
                <a:ea typeface="华文新魏" pitchFamily="2" charset="-122"/>
                <a:sym typeface="Wingdings" pitchFamily="2" charset="2"/>
              </a:rPr>
              <a:t>（</a:t>
            </a:r>
            <a:r>
              <a:rPr kumimoji="0" lang="en-US" altLang="zh-CN" sz="1600">
                <a:ea typeface="华文新魏" pitchFamily="2" charset="-122"/>
                <a:sym typeface="Wingdings" pitchFamily="2" charset="2"/>
              </a:rPr>
              <a:t>1</a:t>
            </a:r>
            <a:r>
              <a:rPr kumimoji="0" lang="zh-CN" altLang="en-US" sz="1600">
                <a:ea typeface="华文新魏" pitchFamily="2" charset="-122"/>
                <a:sym typeface="Wingdings" pitchFamily="2" charset="2"/>
              </a:rPr>
              <a:t>）：根据一个</a:t>
            </a:r>
            <a:r>
              <a:rPr kumimoji="0" lang="en-US" altLang="zh-CN" sz="1600">
                <a:ea typeface="华文新魏" pitchFamily="2" charset="-122"/>
                <a:sym typeface="Wingdings" pitchFamily="2" charset="2"/>
              </a:rPr>
              <a:t>8</a:t>
            </a:r>
            <a:r>
              <a:rPr kumimoji="0" lang="zh-CN" altLang="en-US" sz="1600">
                <a:ea typeface="华文新魏" pitchFamily="2" charset="-122"/>
                <a:sym typeface="Wingdings" pitchFamily="2" charset="2"/>
              </a:rPr>
              <a:t>位的输入，计算出校验位的值，包括奇校验值和偶校验值；（</a:t>
            </a:r>
            <a:r>
              <a:rPr kumimoji="0" lang="en-US" altLang="zh-CN" sz="1600">
                <a:ea typeface="华文新魏" pitchFamily="2" charset="-122"/>
                <a:sym typeface="Wingdings" pitchFamily="2" charset="2"/>
              </a:rPr>
              <a:t>2</a:t>
            </a:r>
            <a:r>
              <a:rPr kumimoji="0" lang="zh-CN" altLang="en-US" sz="1600">
                <a:ea typeface="华文新魏" pitchFamily="2" charset="-122"/>
                <a:sym typeface="Wingdings" pitchFamily="2" charset="2"/>
              </a:rPr>
              <a:t>）根据其计算出的奇偶校验位的值，来判断实际校验位上的值是否正确。</a:t>
            </a:r>
            <a:endParaRPr kumimoji="0" lang="zh-CN" altLang="en-US" sz="1600">
              <a:ea typeface="华文新魏" pitchFamily="2" charset="-122"/>
            </a:endParaRPr>
          </a:p>
        </p:txBody>
      </p:sp>
    </p:spTree>
    <p:extLst>
      <p:ext uri="{BB962C8B-B14F-4D97-AF65-F5344CB8AC3E}">
        <p14:creationId xmlns:p14="http://schemas.microsoft.com/office/powerpoint/2010/main" val="397213017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43323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例如</a:t>
                </a:r>
                <a:endParaRPr lang="en-US" altLang="zh-CN" sz="3200" dirty="0">
                  <a:solidFill>
                    <a:schemeClr val="tx2"/>
                  </a:solidFill>
                  <a:latin typeface="楷体_GB2312" pitchFamily="49" charset="-122"/>
                  <a:ea typeface="楷体_GB2312" pitchFamily="49" charset="-122"/>
                </a:endParaRPr>
              </a:p>
              <a:p>
                <a:pPr algn="l" eaLnBrk="1" hangingPunct="1"/>
                <a14:m>
                  <m:oMath xmlns:m="http://schemas.openxmlformats.org/officeDocument/2006/math">
                    <m:sSub>
                      <m:sSubPr>
                        <m:ctrlPr>
                          <a:rPr lang="en-US" altLang="zh-CN" sz="3200" b="0" i="1" smtClean="0">
                            <a:solidFill>
                              <a:schemeClr val="tx2"/>
                            </a:solidFill>
                            <a:latin typeface="Cambria Math" panose="02040503050406030204" pitchFamily="18" charset="0"/>
                            <a:ea typeface="楷体_GB2312" pitchFamily="49" charset="-122"/>
                          </a:rPr>
                        </m:ctrlPr>
                      </m:sSubPr>
                      <m:e>
                        <m:r>
                          <a:rPr lang="en-US" altLang="zh-CN" sz="3200" b="0" i="1" smtClean="0">
                            <a:solidFill>
                              <a:schemeClr val="tx2"/>
                            </a:solidFill>
                            <a:latin typeface="Cambria Math"/>
                            <a:ea typeface="楷体_GB2312" pitchFamily="49" charset="-122"/>
                          </a:rPr>
                          <m:t>𝐷</m:t>
                        </m:r>
                      </m:e>
                      <m:sub>
                        <m:r>
                          <a:rPr lang="en-US" altLang="zh-CN" sz="3200" b="0" i="1" smtClean="0">
                            <a:solidFill>
                              <a:schemeClr val="tx2"/>
                            </a:solidFill>
                            <a:latin typeface="Cambria Math"/>
                            <a:ea typeface="楷体_GB2312" pitchFamily="49" charset="-122"/>
                          </a:rPr>
                          <m:t>8</m:t>
                        </m:r>
                      </m:sub>
                    </m:sSub>
                    <m:r>
                      <a:rPr lang="en-US" altLang="zh-CN" sz="3200" b="0" i="1" smtClean="0">
                        <a:solidFill>
                          <a:schemeClr val="tx2"/>
                        </a:solidFill>
                        <a:latin typeface="Cambria Math"/>
                        <a:ea typeface="楷体_GB2312" pitchFamily="49" charset="-122"/>
                      </a:rPr>
                      <m:t>~</m:t>
                    </m:r>
                    <m:sSub>
                      <m:sSubPr>
                        <m:ctrlPr>
                          <a:rPr lang="en-US" altLang="zh-CN" sz="3200" b="0" i="1" smtClean="0">
                            <a:solidFill>
                              <a:schemeClr val="tx2"/>
                            </a:solidFill>
                            <a:latin typeface="Cambria Math" panose="02040503050406030204" pitchFamily="18" charset="0"/>
                            <a:ea typeface="楷体_GB2312" pitchFamily="49" charset="-122"/>
                          </a:rPr>
                        </m:ctrlPr>
                      </m:sSubPr>
                      <m:e>
                        <m:r>
                          <a:rPr lang="en-US" altLang="zh-CN" sz="3200" b="0" i="1" smtClean="0">
                            <a:solidFill>
                              <a:schemeClr val="tx2"/>
                            </a:solidFill>
                            <a:latin typeface="Cambria Math"/>
                            <a:ea typeface="楷体_GB2312" pitchFamily="49" charset="-122"/>
                          </a:rPr>
                          <m:t>𝐷</m:t>
                        </m:r>
                      </m:e>
                      <m:sub>
                        <m:r>
                          <a:rPr lang="en-US" altLang="zh-CN" sz="3200" b="0" i="1" smtClean="0">
                            <a:solidFill>
                              <a:schemeClr val="tx2"/>
                            </a:solidFill>
                            <a:latin typeface="Cambria Math"/>
                            <a:ea typeface="楷体_GB2312" pitchFamily="49" charset="-122"/>
                          </a:rPr>
                          <m:t>1</m:t>
                        </m:r>
                      </m:sub>
                    </m:sSub>
                  </m:oMath>
                </a14:m>
                <a:r>
                  <a:rPr lang="en-US" altLang="zh-CN" sz="3200" b="0" dirty="0">
                    <a:solidFill>
                      <a:schemeClr val="tx2"/>
                    </a:solidFill>
                    <a:latin typeface="楷体_GB2312" pitchFamily="49" charset="-122"/>
                    <a:ea typeface="楷体_GB2312" pitchFamily="49" charset="-122"/>
                  </a:rPr>
                  <a:t>=10101101</a:t>
                </a:r>
                <a:r>
                  <a:rPr lang="zh-CN" altLang="en-US" sz="3200" b="0" dirty="0">
                    <a:solidFill>
                      <a:schemeClr val="tx2"/>
                    </a:solidFill>
                    <a:latin typeface="楷体_GB2312" pitchFamily="49" charset="-122"/>
                    <a:ea typeface="楷体_GB2312" pitchFamily="49" charset="-122"/>
                  </a:rPr>
                  <a:t>则数值位的异或为</a:t>
                </a:r>
                <a:endParaRPr lang="en-US" altLang="zh-CN" sz="3200" b="0" dirty="0">
                  <a:solidFill>
                    <a:schemeClr val="tx2"/>
                  </a:solidFill>
                  <a:latin typeface="楷体_GB2312" pitchFamily="49" charset="-122"/>
                  <a:ea typeface="楷体_GB2312" pitchFamily="49" charset="-122"/>
                </a:endParaRPr>
              </a:p>
              <a:p>
                <a:pPr eaLnBrk="1" hangingPunct="1"/>
                <a:r>
                  <a:rPr lang="en-US" altLang="zh-CN" sz="3200" b="0" dirty="0">
                    <a:solidFill>
                      <a:schemeClr val="tx2"/>
                    </a:solidFill>
                    <a:latin typeface="楷体_GB2312" pitchFamily="49" charset="-122"/>
                    <a:ea typeface="楷体_GB2312" pitchFamily="49" charset="-122"/>
                  </a:rPr>
                  <a:t>Y=1⊕0⊕1⊕0⊕1⊕1⊕0⊕1=1</a:t>
                </a:r>
              </a:p>
              <a:p>
                <a:pPr eaLnBrk="1" hangingPunct="1"/>
                <a:r>
                  <a:rPr lang="zh-CN" altLang="en-US" sz="3200" b="0" dirty="0">
                    <a:solidFill>
                      <a:schemeClr val="tx2"/>
                    </a:solidFill>
                    <a:latin typeface="楷体_GB2312" pitchFamily="49" charset="-122"/>
                    <a:ea typeface="楷体_GB2312" pitchFamily="49" charset="-122"/>
                  </a:rPr>
                  <a:t>若</a:t>
                </a:r>
                <a14:m>
                  <m:oMath xmlns:m="http://schemas.openxmlformats.org/officeDocument/2006/math">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a:solidFill>
                              <a:schemeClr val="tx2"/>
                            </a:solidFill>
                            <a:latin typeface="Cambria Math"/>
                            <a:ea typeface="楷体_GB2312" pitchFamily="49" charset="-122"/>
                          </a:rPr>
                          <m:t>𝐷</m:t>
                        </m:r>
                      </m:e>
                      <m:sub>
                        <m:r>
                          <a:rPr lang="zh-CN" altLang="en-US" sz="3200" b="0">
                            <a:solidFill>
                              <a:schemeClr val="tx2"/>
                            </a:solidFill>
                            <a:latin typeface="Cambria Math"/>
                            <a:ea typeface="楷体_GB2312" pitchFamily="49" charset="-122"/>
                          </a:rPr>
                          <m:t>校</m:t>
                        </m:r>
                      </m:sub>
                    </m:sSub>
                  </m:oMath>
                </a14:m>
                <a:r>
                  <a:rPr lang="en-US" altLang="zh-CN" sz="3200" b="0" dirty="0">
                    <a:solidFill>
                      <a:schemeClr val="tx2"/>
                    </a:solidFill>
                    <a:latin typeface="楷体_GB2312" pitchFamily="49" charset="-122"/>
                    <a:ea typeface="楷体_GB2312" pitchFamily="49" charset="-122"/>
                  </a:rPr>
                  <a:t>=1</a:t>
                </a:r>
                <a:r>
                  <a:rPr lang="zh-CN" altLang="en-US" sz="3200" b="0" dirty="0">
                    <a:solidFill>
                      <a:schemeClr val="tx2"/>
                    </a:solidFill>
                    <a:latin typeface="楷体_GB2312" pitchFamily="49" charset="-122"/>
                    <a:ea typeface="楷体_GB2312" pitchFamily="49" charset="-122"/>
                  </a:rPr>
                  <a:t>则</a:t>
                </a:r>
                <a:r>
                  <a:rPr lang="en-US" altLang="zh-CN" sz="3200" b="0" dirty="0">
                    <a:solidFill>
                      <a:schemeClr val="tx2"/>
                    </a:solidFill>
                    <a:latin typeface="楷体_GB2312" pitchFamily="49" charset="-122"/>
                    <a:ea typeface="楷体_GB2312" pitchFamily="49" charset="-122"/>
                  </a:rPr>
                  <a:t>R=</a:t>
                </a:r>
                <a14:m>
                  <m:oMath xmlns:m="http://schemas.openxmlformats.org/officeDocument/2006/math">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a:solidFill>
                              <a:schemeClr val="tx2"/>
                            </a:solidFill>
                            <a:latin typeface="Cambria Math"/>
                            <a:ea typeface="楷体_GB2312" pitchFamily="49" charset="-122"/>
                          </a:rPr>
                          <m:t>𝐷</m:t>
                        </m:r>
                      </m:e>
                      <m:sub>
                        <m:r>
                          <a:rPr lang="zh-CN" altLang="en-US" sz="3200" b="0">
                            <a:solidFill>
                              <a:schemeClr val="tx2"/>
                            </a:solidFill>
                            <a:latin typeface="Cambria Math"/>
                            <a:ea typeface="楷体_GB2312" pitchFamily="49" charset="-122"/>
                          </a:rPr>
                          <m:t>校</m:t>
                        </m:r>
                      </m:sub>
                    </m:sSub>
                  </m:oMath>
                </a14:m>
                <a:r>
                  <a:rPr lang="en-US" altLang="zh-CN" sz="3200" b="0" dirty="0">
                    <a:solidFill>
                      <a:schemeClr val="tx2"/>
                    </a:solidFill>
                    <a:latin typeface="楷体_GB2312" pitchFamily="49" charset="-122"/>
                    <a:ea typeface="楷体_GB2312" pitchFamily="49" charset="-122"/>
                  </a:rPr>
                  <a:t> ⊕Y=0</a:t>
                </a:r>
              </a:p>
              <a:p>
                <a:pPr algn="l" eaLnBrk="1" hangingPunct="1"/>
                <a:r>
                  <a:rPr lang="zh-CN" altLang="en-US" sz="3200" dirty="0">
                    <a:solidFill>
                      <a:schemeClr val="tx2"/>
                    </a:solidFill>
                    <a:latin typeface="楷体_GB2312" pitchFamily="49" charset="-122"/>
                    <a:ea typeface="楷体_GB2312" pitchFamily="49" charset="-122"/>
                  </a:rPr>
                  <a:t>若采用的是奇校验则在奇校验输出为</a:t>
                </a:r>
                <a:endParaRPr lang="en-US" altLang="zh-CN" sz="3200" dirty="0">
                  <a:solidFill>
                    <a:schemeClr val="tx2"/>
                  </a:solidFill>
                  <a:latin typeface="楷体_GB2312" pitchFamily="49" charset="-122"/>
                  <a:ea typeface="楷体_GB2312" pitchFamily="49" charset="-122"/>
                </a:endParaRPr>
              </a:p>
              <a:p>
                <a:pPr eaLnBrk="1" hangingPunct="1"/>
                <a14:m>
                  <m:oMath xmlns:m="http://schemas.openxmlformats.org/officeDocument/2006/math">
                    <m:acc>
                      <m:accPr>
                        <m:chr m:val="⃑"/>
                        <m:ctrlPr>
                          <a:rPr lang="zh-CN" altLang="en-US" sz="3200" i="1" smtClean="0">
                            <a:solidFill>
                              <a:schemeClr val="tx2"/>
                            </a:solidFill>
                            <a:latin typeface="Cambria Math" panose="02040503050406030204" pitchFamily="18" charset="0"/>
                            <a:ea typeface="楷体_GB2312" pitchFamily="49" charset="-122"/>
                          </a:rPr>
                        </m:ctrlPr>
                      </m:accPr>
                      <m:e>
                        <m:r>
                          <m:rPr>
                            <m:sty m:val="p"/>
                          </m:rPr>
                          <a:rPr lang="en-US" altLang="zh-CN" sz="3200" b="0" i="0" smtClean="0">
                            <a:solidFill>
                              <a:schemeClr val="tx2"/>
                            </a:solidFill>
                            <a:latin typeface="Cambria Math"/>
                            <a:ea typeface="楷体_GB2312" pitchFamily="49" charset="-122"/>
                          </a:rPr>
                          <m:t>R</m:t>
                        </m:r>
                      </m:e>
                    </m:acc>
                  </m:oMath>
                </a14:m>
                <a:r>
                  <a:rPr lang="en-US" altLang="zh-CN" sz="3200" dirty="0">
                    <a:solidFill>
                      <a:schemeClr val="tx2"/>
                    </a:solidFill>
                    <a:latin typeface="楷体_GB2312" pitchFamily="49" charset="-122"/>
                    <a:ea typeface="楷体_GB2312" pitchFamily="49" charset="-122"/>
                  </a:rPr>
                  <a:t>=</a:t>
                </a:r>
                <a:r>
                  <a:rPr lang="en-US" altLang="zh-CN" sz="3200" b="0" dirty="0">
                    <a:solidFill>
                      <a:schemeClr val="tx2"/>
                    </a:solidFill>
                    <a:latin typeface="楷体_GB2312" pitchFamily="49" charset="-122"/>
                    <a:ea typeface="楷体_GB2312" pitchFamily="49" charset="-122"/>
                  </a:rPr>
                  <a:t>1</a:t>
                </a:r>
                <a:r>
                  <a:rPr lang="zh-CN" altLang="en-US" sz="3200" b="0" dirty="0">
                    <a:solidFill>
                      <a:schemeClr val="tx2"/>
                    </a:solidFill>
                    <a:latin typeface="楷体_GB2312" pitchFamily="49" charset="-122"/>
                    <a:ea typeface="楷体_GB2312" pitchFamily="49" charset="-122"/>
                  </a:rPr>
                  <a:t>表示奇校验出错，而</a:t>
                </a:r>
                <a14:m>
                  <m:oMath xmlns:m="http://schemas.openxmlformats.org/officeDocument/2006/math">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i="1">
                            <a:solidFill>
                              <a:schemeClr val="tx2"/>
                            </a:solidFill>
                            <a:latin typeface="Cambria Math"/>
                            <a:ea typeface="楷体_GB2312" pitchFamily="49" charset="-122"/>
                          </a:rPr>
                          <m:t>𝐷</m:t>
                        </m:r>
                      </m:e>
                      <m:sub>
                        <m:r>
                          <a:rPr lang="en-US" altLang="zh-CN" sz="3200" b="0" i="1">
                            <a:solidFill>
                              <a:schemeClr val="tx2"/>
                            </a:solidFill>
                            <a:latin typeface="Cambria Math"/>
                            <a:ea typeface="楷体_GB2312" pitchFamily="49" charset="-122"/>
                          </a:rPr>
                          <m:t>8</m:t>
                        </m:r>
                      </m:sub>
                    </m:sSub>
                    <m:r>
                      <a:rPr lang="en-US" altLang="zh-CN" sz="3200" b="0" i="1">
                        <a:solidFill>
                          <a:schemeClr val="tx2"/>
                        </a:solidFill>
                        <a:latin typeface="Cambria Math"/>
                        <a:ea typeface="楷体_GB2312" pitchFamily="49" charset="-122"/>
                      </a:rPr>
                      <m:t>~</m:t>
                    </m:r>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i="1">
                            <a:solidFill>
                              <a:schemeClr val="tx2"/>
                            </a:solidFill>
                            <a:latin typeface="Cambria Math"/>
                            <a:ea typeface="楷体_GB2312" pitchFamily="49" charset="-122"/>
                          </a:rPr>
                          <m:t>𝐷</m:t>
                        </m:r>
                      </m:e>
                      <m:sub>
                        <m:r>
                          <a:rPr lang="en-US" altLang="zh-CN" sz="3200" b="0" i="1">
                            <a:solidFill>
                              <a:schemeClr val="tx2"/>
                            </a:solidFill>
                            <a:latin typeface="Cambria Math"/>
                            <a:ea typeface="楷体_GB2312" pitchFamily="49" charset="-122"/>
                          </a:rPr>
                          <m:t>1</m:t>
                        </m:r>
                      </m:sub>
                    </m:sSub>
                    <m:sSub>
                      <m:sSubPr>
                        <m:ctrlPr>
                          <a:rPr lang="en-US" altLang="zh-CN" sz="3200" b="0" i="1" smtClean="0">
                            <a:solidFill>
                              <a:schemeClr val="tx2"/>
                            </a:solidFill>
                            <a:latin typeface="Cambria Math" panose="02040503050406030204" pitchFamily="18" charset="0"/>
                            <a:ea typeface="楷体_GB2312" pitchFamily="49" charset="-122"/>
                          </a:rPr>
                        </m:ctrlPr>
                      </m:sSubPr>
                      <m:e>
                        <m:r>
                          <a:rPr lang="en-US" altLang="zh-CN" sz="3200" b="0" i="1" smtClean="0">
                            <a:solidFill>
                              <a:schemeClr val="tx2"/>
                            </a:solidFill>
                            <a:latin typeface="Cambria Math"/>
                            <a:ea typeface="楷体_GB2312" pitchFamily="49" charset="-122"/>
                          </a:rPr>
                          <m:t>𝐷</m:t>
                        </m:r>
                      </m:e>
                      <m:sub>
                        <m:r>
                          <a:rPr lang="zh-CN" altLang="en-US" sz="3200" b="0" i="1" smtClean="0">
                            <a:solidFill>
                              <a:schemeClr val="tx2"/>
                            </a:solidFill>
                            <a:latin typeface="Cambria Math"/>
                            <a:ea typeface="楷体_GB2312" pitchFamily="49" charset="-122"/>
                          </a:rPr>
                          <m:t>校</m:t>
                        </m:r>
                      </m:sub>
                    </m:sSub>
                  </m:oMath>
                </a14:m>
                <a:r>
                  <a:rPr lang="en-US" altLang="zh-CN" sz="3200" b="0" dirty="0">
                    <a:solidFill>
                      <a:schemeClr val="tx2"/>
                    </a:solidFill>
                    <a:latin typeface="楷体_GB2312" pitchFamily="49" charset="-122"/>
                    <a:ea typeface="楷体_GB2312" pitchFamily="49" charset="-122"/>
                  </a:rPr>
                  <a:t>=101011011</a:t>
                </a:r>
                <a:r>
                  <a:rPr lang="zh-CN" altLang="en-US" sz="3200" b="0" dirty="0">
                    <a:solidFill>
                      <a:schemeClr val="tx2"/>
                    </a:solidFill>
                    <a:latin typeface="楷体_GB2312" pitchFamily="49" charset="-122"/>
                    <a:ea typeface="楷体_GB2312" pitchFamily="49" charset="-122"/>
                  </a:rPr>
                  <a:t>中有偶数个</a:t>
                </a:r>
                <a:r>
                  <a:rPr lang="en-US" altLang="zh-CN" sz="3200" b="0" dirty="0">
                    <a:solidFill>
                      <a:schemeClr val="tx2"/>
                    </a:solidFill>
                    <a:latin typeface="楷体_GB2312" pitchFamily="49" charset="-122"/>
                    <a:ea typeface="楷体_GB2312" pitchFamily="49" charset="-122"/>
                  </a:rPr>
                  <a:t>1</a:t>
                </a:r>
                <a:r>
                  <a:rPr lang="zh-CN" altLang="en-US" sz="3200" b="0" dirty="0">
                    <a:solidFill>
                      <a:schemeClr val="tx2"/>
                    </a:solidFill>
                    <a:latin typeface="楷体_GB2312" pitchFamily="49" charset="-122"/>
                    <a:ea typeface="楷体_GB2312" pitchFamily="49" charset="-122"/>
                  </a:rPr>
                  <a:t>，所以校验电路可以检测出偶校验是正确的。</a:t>
                </a:r>
                <a:endParaRPr lang="en-US" altLang="zh-CN" sz="3200" b="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4332340"/>
              </a:xfrm>
              <a:prstGeom prst="rect">
                <a:avLst/>
              </a:prstGeom>
              <a:blipFill rotWithShape="1">
                <a:blip r:embed="rId3"/>
                <a:stretch>
                  <a:fillRect l="-1956" t="-1828" b="-36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3002589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24228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若采用的是偶校验则在偶校验输出为</a:t>
                </a:r>
                <a:endParaRPr lang="en-US" altLang="zh-CN" sz="3200" dirty="0">
                  <a:solidFill>
                    <a:schemeClr val="tx2"/>
                  </a:solidFill>
                  <a:latin typeface="楷体_GB2312" pitchFamily="49" charset="-122"/>
                  <a:ea typeface="楷体_GB2312" pitchFamily="49" charset="-122"/>
                </a:endParaRPr>
              </a:p>
              <a:p>
                <a:pPr eaLnBrk="1" hangingPunct="1"/>
                <a14:m>
                  <m:oMath xmlns:m="http://schemas.openxmlformats.org/officeDocument/2006/math">
                    <m:r>
                      <a:rPr lang="en-US" altLang="zh-CN" sz="3200" b="0" i="1" smtClean="0">
                        <a:solidFill>
                          <a:schemeClr val="tx2"/>
                        </a:solidFill>
                        <a:latin typeface="Cambria Math"/>
                        <a:ea typeface="楷体_GB2312" pitchFamily="49" charset="-122"/>
                      </a:rPr>
                      <m:t>𝑅</m:t>
                    </m:r>
                    <m:r>
                      <a:rPr lang="en-US" altLang="zh-CN" sz="3200" b="0" i="1" smtClean="0">
                        <a:solidFill>
                          <a:schemeClr val="tx2"/>
                        </a:solidFill>
                        <a:latin typeface="Cambria Math"/>
                        <a:ea typeface="楷体_GB2312" pitchFamily="49" charset="-122"/>
                      </a:rPr>
                      <m:t>=</m:t>
                    </m:r>
                  </m:oMath>
                </a14:m>
                <a:r>
                  <a:rPr lang="en-US" altLang="zh-CN" sz="3200" b="0" dirty="0">
                    <a:solidFill>
                      <a:schemeClr val="tx2"/>
                    </a:solidFill>
                    <a:latin typeface="楷体_GB2312" pitchFamily="49" charset="-122"/>
                    <a:ea typeface="楷体_GB2312" pitchFamily="49" charset="-122"/>
                  </a:rPr>
                  <a:t>0</a:t>
                </a:r>
                <a:r>
                  <a:rPr lang="zh-CN" altLang="en-US" sz="3200" b="0" dirty="0">
                    <a:solidFill>
                      <a:schemeClr val="tx2"/>
                    </a:solidFill>
                    <a:latin typeface="楷体_GB2312" pitchFamily="49" charset="-122"/>
                    <a:ea typeface="楷体_GB2312" pitchFamily="49" charset="-122"/>
                  </a:rPr>
                  <a:t>表示奇校验无错，而</a:t>
                </a:r>
                <a14:m>
                  <m:oMath xmlns:m="http://schemas.openxmlformats.org/officeDocument/2006/math">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i="1">
                            <a:solidFill>
                              <a:schemeClr val="tx2"/>
                            </a:solidFill>
                            <a:latin typeface="Cambria Math"/>
                            <a:ea typeface="楷体_GB2312" pitchFamily="49" charset="-122"/>
                          </a:rPr>
                          <m:t>𝐷</m:t>
                        </m:r>
                      </m:e>
                      <m:sub>
                        <m:r>
                          <a:rPr lang="en-US" altLang="zh-CN" sz="3200" b="0" i="1">
                            <a:solidFill>
                              <a:schemeClr val="tx2"/>
                            </a:solidFill>
                            <a:latin typeface="Cambria Math"/>
                            <a:ea typeface="楷体_GB2312" pitchFamily="49" charset="-122"/>
                          </a:rPr>
                          <m:t>8</m:t>
                        </m:r>
                      </m:sub>
                    </m:sSub>
                    <m:r>
                      <a:rPr lang="en-US" altLang="zh-CN" sz="3200" b="0" i="1">
                        <a:solidFill>
                          <a:schemeClr val="tx2"/>
                        </a:solidFill>
                        <a:latin typeface="Cambria Math"/>
                        <a:ea typeface="楷体_GB2312" pitchFamily="49" charset="-122"/>
                      </a:rPr>
                      <m:t>~</m:t>
                    </m:r>
                    <m:sSub>
                      <m:sSubPr>
                        <m:ctrlPr>
                          <a:rPr lang="en-US" altLang="zh-CN" sz="3200" b="0" i="1">
                            <a:solidFill>
                              <a:schemeClr val="tx2"/>
                            </a:solidFill>
                            <a:latin typeface="Cambria Math" panose="02040503050406030204" pitchFamily="18" charset="0"/>
                            <a:ea typeface="楷体_GB2312" pitchFamily="49" charset="-122"/>
                          </a:rPr>
                        </m:ctrlPr>
                      </m:sSubPr>
                      <m:e>
                        <m:r>
                          <a:rPr lang="en-US" altLang="zh-CN" sz="3200" b="0" i="1">
                            <a:solidFill>
                              <a:schemeClr val="tx2"/>
                            </a:solidFill>
                            <a:latin typeface="Cambria Math"/>
                            <a:ea typeface="楷体_GB2312" pitchFamily="49" charset="-122"/>
                          </a:rPr>
                          <m:t>𝐷</m:t>
                        </m:r>
                      </m:e>
                      <m:sub>
                        <m:r>
                          <a:rPr lang="en-US" altLang="zh-CN" sz="3200" b="0" i="1">
                            <a:solidFill>
                              <a:schemeClr val="tx2"/>
                            </a:solidFill>
                            <a:latin typeface="Cambria Math"/>
                            <a:ea typeface="楷体_GB2312" pitchFamily="49" charset="-122"/>
                          </a:rPr>
                          <m:t>1</m:t>
                        </m:r>
                      </m:sub>
                    </m:sSub>
                    <m:sSub>
                      <m:sSubPr>
                        <m:ctrlPr>
                          <a:rPr lang="en-US" altLang="zh-CN" sz="3200" b="0" i="1" smtClean="0">
                            <a:solidFill>
                              <a:schemeClr val="tx2"/>
                            </a:solidFill>
                            <a:latin typeface="Cambria Math" panose="02040503050406030204" pitchFamily="18" charset="0"/>
                            <a:ea typeface="楷体_GB2312" pitchFamily="49" charset="-122"/>
                          </a:rPr>
                        </m:ctrlPr>
                      </m:sSubPr>
                      <m:e>
                        <m:r>
                          <a:rPr lang="en-US" altLang="zh-CN" sz="3200" b="0" i="1" smtClean="0">
                            <a:solidFill>
                              <a:schemeClr val="tx2"/>
                            </a:solidFill>
                            <a:latin typeface="Cambria Math"/>
                            <a:ea typeface="楷体_GB2312" pitchFamily="49" charset="-122"/>
                          </a:rPr>
                          <m:t>𝐷</m:t>
                        </m:r>
                      </m:e>
                      <m:sub>
                        <m:r>
                          <a:rPr lang="zh-CN" altLang="en-US" sz="3200" b="0" i="1" smtClean="0">
                            <a:solidFill>
                              <a:schemeClr val="tx2"/>
                            </a:solidFill>
                            <a:latin typeface="Cambria Math"/>
                            <a:ea typeface="楷体_GB2312" pitchFamily="49" charset="-122"/>
                          </a:rPr>
                          <m:t>校</m:t>
                        </m:r>
                      </m:sub>
                    </m:sSub>
                  </m:oMath>
                </a14:m>
                <a:r>
                  <a:rPr lang="en-US" altLang="zh-CN" sz="3200" b="0" dirty="0">
                    <a:solidFill>
                      <a:schemeClr val="tx2"/>
                    </a:solidFill>
                    <a:latin typeface="楷体_GB2312" pitchFamily="49" charset="-122"/>
                    <a:ea typeface="楷体_GB2312" pitchFamily="49" charset="-122"/>
                  </a:rPr>
                  <a:t>=101011011</a:t>
                </a:r>
                <a:r>
                  <a:rPr lang="zh-CN" altLang="en-US" sz="3200" b="0" dirty="0">
                    <a:solidFill>
                      <a:schemeClr val="tx2"/>
                    </a:solidFill>
                    <a:latin typeface="楷体_GB2312" pitchFamily="49" charset="-122"/>
                    <a:ea typeface="楷体_GB2312" pitchFamily="49" charset="-122"/>
                  </a:rPr>
                  <a:t>中有偶数个</a:t>
                </a:r>
                <a:r>
                  <a:rPr lang="en-US" altLang="zh-CN" sz="3200" b="0" dirty="0">
                    <a:solidFill>
                      <a:schemeClr val="tx2"/>
                    </a:solidFill>
                    <a:latin typeface="楷体_GB2312" pitchFamily="49" charset="-122"/>
                    <a:ea typeface="楷体_GB2312" pitchFamily="49" charset="-122"/>
                  </a:rPr>
                  <a:t>1</a:t>
                </a:r>
                <a:r>
                  <a:rPr lang="zh-CN" altLang="en-US" sz="3200" b="0" dirty="0">
                    <a:solidFill>
                      <a:schemeClr val="tx2"/>
                    </a:solidFill>
                    <a:latin typeface="楷体_GB2312" pitchFamily="49" charset="-122"/>
                    <a:ea typeface="楷体_GB2312" pitchFamily="49" charset="-122"/>
                  </a:rPr>
                  <a:t>，所以校验电路的输出是正确的。</a:t>
                </a:r>
                <a:endParaRPr lang="en-US" altLang="zh-CN" sz="3200" b="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242280"/>
              </a:xfrm>
              <a:prstGeom prst="rect">
                <a:avLst/>
              </a:prstGeom>
              <a:blipFill rotWithShape="1">
                <a:blip r:embed="rId3"/>
                <a:stretch>
                  <a:fillRect l="-1956" t="-3533" b="-5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4011349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179512" y="1772816"/>
            <a:ext cx="179405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偶校验位值的计算和偶校验出错判断的实现逻辑电路如右图：</a:t>
            </a:r>
            <a:endParaRPr lang="zh-CN" altLang="en-US" sz="3200" dirty="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84996" name="图片 3" descr="图3.10.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5759" y="1484784"/>
            <a:ext cx="5460057" cy="461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195736" y="5983211"/>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7" name="TextBox 6"/>
          <p:cNvSpPr txBox="1"/>
          <p:nvPr/>
        </p:nvSpPr>
        <p:spPr>
          <a:xfrm>
            <a:off x="2555776" y="5986234"/>
            <a:ext cx="360040" cy="369332"/>
          </a:xfrm>
          <a:prstGeom prst="rect">
            <a:avLst/>
          </a:prstGeom>
          <a:solidFill>
            <a:schemeClr val="accent1"/>
          </a:solidFill>
        </p:spPr>
        <p:txBody>
          <a:bodyPr wrap="square" rtlCol="0">
            <a:spAutoFit/>
          </a:bodyPr>
          <a:lstStyle/>
          <a:p>
            <a:r>
              <a:rPr lang="en-US" altLang="zh-CN" b="1" dirty="0"/>
              <a:t>0</a:t>
            </a:r>
            <a:endParaRPr lang="zh-CN" altLang="en-US" b="1" dirty="0"/>
          </a:p>
        </p:txBody>
      </p:sp>
      <p:sp>
        <p:nvSpPr>
          <p:cNvPr id="8" name="TextBox 7"/>
          <p:cNvSpPr txBox="1"/>
          <p:nvPr/>
        </p:nvSpPr>
        <p:spPr>
          <a:xfrm>
            <a:off x="3088298" y="5975262"/>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9" name="TextBox 8"/>
          <p:cNvSpPr txBox="1"/>
          <p:nvPr/>
        </p:nvSpPr>
        <p:spPr>
          <a:xfrm>
            <a:off x="3448338" y="5990985"/>
            <a:ext cx="360040" cy="369332"/>
          </a:xfrm>
          <a:prstGeom prst="rect">
            <a:avLst/>
          </a:prstGeom>
          <a:solidFill>
            <a:schemeClr val="accent1"/>
          </a:solidFill>
        </p:spPr>
        <p:txBody>
          <a:bodyPr wrap="square" rtlCol="0">
            <a:spAutoFit/>
          </a:bodyPr>
          <a:lstStyle/>
          <a:p>
            <a:r>
              <a:rPr lang="en-US" altLang="zh-CN" b="1" dirty="0"/>
              <a:t>0</a:t>
            </a:r>
            <a:endParaRPr lang="zh-CN" altLang="en-US" b="1" dirty="0"/>
          </a:p>
        </p:txBody>
      </p:sp>
      <p:sp>
        <p:nvSpPr>
          <p:cNvPr id="10" name="TextBox 9"/>
          <p:cNvSpPr txBox="1"/>
          <p:nvPr/>
        </p:nvSpPr>
        <p:spPr>
          <a:xfrm>
            <a:off x="4005198" y="5969211"/>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1" name="TextBox 10"/>
          <p:cNvSpPr txBox="1"/>
          <p:nvPr/>
        </p:nvSpPr>
        <p:spPr>
          <a:xfrm>
            <a:off x="4365238" y="5972234"/>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2" name="TextBox 11"/>
          <p:cNvSpPr txBox="1"/>
          <p:nvPr/>
        </p:nvSpPr>
        <p:spPr>
          <a:xfrm>
            <a:off x="4897760" y="5961262"/>
            <a:ext cx="360040" cy="369332"/>
          </a:xfrm>
          <a:prstGeom prst="rect">
            <a:avLst/>
          </a:prstGeom>
          <a:solidFill>
            <a:schemeClr val="accent1"/>
          </a:solidFill>
        </p:spPr>
        <p:txBody>
          <a:bodyPr wrap="square" rtlCol="0">
            <a:spAutoFit/>
          </a:bodyPr>
          <a:lstStyle/>
          <a:p>
            <a:r>
              <a:rPr lang="en-US" altLang="zh-CN" b="1" dirty="0"/>
              <a:t>0</a:t>
            </a:r>
            <a:endParaRPr lang="zh-CN" altLang="en-US" b="1" dirty="0"/>
          </a:p>
        </p:txBody>
      </p:sp>
      <p:sp>
        <p:nvSpPr>
          <p:cNvPr id="13" name="TextBox 12"/>
          <p:cNvSpPr txBox="1"/>
          <p:nvPr/>
        </p:nvSpPr>
        <p:spPr>
          <a:xfrm>
            <a:off x="5257800" y="5976985"/>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4" name="TextBox 13"/>
          <p:cNvSpPr txBox="1"/>
          <p:nvPr/>
        </p:nvSpPr>
        <p:spPr>
          <a:xfrm>
            <a:off x="1976252" y="5030068"/>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15" name="TextBox 14"/>
          <p:cNvSpPr txBox="1"/>
          <p:nvPr/>
        </p:nvSpPr>
        <p:spPr>
          <a:xfrm>
            <a:off x="2941216" y="5025102"/>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16" name="TextBox 15"/>
          <p:cNvSpPr txBox="1"/>
          <p:nvPr/>
        </p:nvSpPr>
        <p:spPr>
          <a:xfrm>
            <a:off x="3830688" y="5040570"/>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17" name="TextBox 16"/>
          <p:cNvSpPr txBox="1"/>
          <p:nvPr/>
        </p:nvSpPr>
        <p:spPr>
          <a:xfrm>
            <a:off x="4795652" y="5035604"/>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18" name="TextBox 17"/>
          <p:cNvSpPr txBox="1"/>
          <p:nvPr/>
        </p:nvSpPr>
        <p:spPr>
          <a:xfrm>
            <a:off x="4427984" y="2348880"/>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19" name="TextBox 18"/>
          <p:cNvSpPr txBox="1"/>
          <p:nvPr/>
        </p:nvSpPr>
        <p:spPr>
          <a:xfrm>
            <a:off x="3301256" y="4072106"/>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20" name="TextBox 19"/>
          <p:cNvSpPr txBox="1"/>
          <p:nvPr/>
        </p:nvSpPr>
        <p:spPr>
          <a:xfrm>
            <a:off x="4190728" y="4087574"/>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1" name="TextBox 20"/>
          <p:cNvSpPr txBox="1"/>
          <p:nvPr/>
        </p:nvSpPr>
        <p:spPr>
          <a:xfrm>
            <a:off x="4089128" y="3174876"/>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2" name="TextBox 21"/>
          <p:cNvSpPr txBox="1"/>
          <p:nvPr/>
        </p:nvSpPr>
        <p:spPr>
          <a:xfrm>
            <a:off x="6588224" y="2360796"/>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3" name="TextBox 22"/>
          <p:cNvSpPr txBox="1"/>
          <p:nvPr/>
        </p:nvSpPr>
        <p:spPr>
          <a:xfrm>
            <a:off x="3422938" y="2378958"/>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6" name="TextBox 25"/>
          <p:cNvSpPr txBox="1"/>
          <p:nvPr/>
        </p:nvSpPr>
        <p:spPr>
          <a:xfrm>
            <a:off x="1967970" y="2348096"/>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27" name="TextBox 26"/>
          <p:cNvSpPr txBox="1"/>
          <p:nvPr/>
        </p:nvSpPr>
        <p:spPr>
          <a:xfrm>
            <a:off x="6541864" y="5989172"/>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28" name="矩形 1"/>
          <p:cNvSpPr>
            <a:spLocks noChangeArrowheads="1"/>
          </p:cNvSpPr>
          <p:nvPr/>
        </p:nvSpPr>
        <p:spPr bwMode="auto">
          <a:xfrm>
            <a:off x="6963072" y="3137515"/>
            <a:ext cx="179405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能够通过偶校验的逻辑电路：</a:t>
            </a:r>
            <a:endParaRPr lang="zh-CN" altLang="en-US" sz="3200" dirty="0"/>
          </a:p>
        </p:txBody>
      </p:sp>
    </p:spTree>
    <p:extLst>
      <p:ext uri="{BB962C8B-B14F-4D97-AF65-F5344CB8AC3E}">
        <p14:creationId xmlns:p14="http://schemas.microsoft.com/office/powerpoint/2010/main" val="26356314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179512" y="1772816"/>
            <a:ext cx="8812088"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t>针对上页图的解释：首先从内存中读取带有偶检验为一的一串二进制数字：</a:t>
            </a:r>
            <a:r>
              <a:rPr lang="en-US" altLang="zh-CN" sz="3200" dirty="0"/>
              <a:t>101011011</a:t>
            </a:r>
            <a:r>
              <a:rPr lang="zh-CN" altLang="en-US" sz="3200" dirty="0"/>
              <a:t>，注意最后一位</a:t>
            </a:r>
            <a:r>
              <a:rPr lang="en-US" altLang="zh-CN" sz="3200" dirty="0"/>
              <a:t>1</a:t>
            </a:r>
            <a:r>
              <a:rPr lang="zh-CN" altLang="en-US" sz="3200" dirty="0"/>
              <a:t>是偶校验位的值。针对上页的图：前八位</a:t>
            </a:r>
            <a:r>
              <a:rPr lang="en-US" altLang="zh-CN" sz="3200" dirty="0"/>
              <a:t>10101101</a:t>
            </a:r>
            <a:r>
              <a:rPr lang="zh-CN" altLang="en-US" sz="3200" dirty="0"/>
              <a:t>经过异或计算值为</a:t>
            </a:r>
            <a:r>
              <a:rPr lang="en-US" altLang="zh-CN" sz="3200" dirty="0"/>
              <a:t>1</a:t>
            </a:r>
            <a:r>
              <a:rPr lang="zh-CN" altLang="en-US" sz="3200" dirty="0"/>
              <a:t>，该值与偶校验位的值</a:t>
            </a:r>
            <a:r>
              <a:rPr lang="en-US" altLang="zh-CN" sz="3200" dirty="0"/>
              <a:t>1</a:t>
            </a:r>
            <a:r>
              <a:rPr lang="zh-CN" altLang="en-US" sz="3200" dirty="0"/>
              <a:t>进行异或计算后，为</a:t>
            </a:r>
            <a:r>
              <a:rPr lang="en-US" altLang="zh-CN" sz="3200" dirty="0"/>
              <a:t>0</a:t>
            </a:r>
            <a:r>
              <a:rPr lang="zh-CN" altLang="en-US" sz="3200" dirty="0"/>
              <a:t>，表示偶校验出错为假（或者奇校验出错为真），即偶校验正确。说明该串二进制数字通过偶校验，没有出错。</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29037479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179512" y="1772816"/>
            <a:ext cx="179405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偶校验位值的计算和偶校验出错判断的实现逻辑电路如右图：</a:t>
            </a:r>
            <a:endParaRPr lang="zh-CN" altLang="en-US" sz="3200" dirty="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84996" name="图片 3" descr="图3.10.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5759" y="1484784"/>
            <a:ext cx="5460057" cy="461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195736" y="5983211"/>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7" name="TextBox 6"/>
          <p:cNvSpPr txBox="1"/>
          <p:nvPr/>
        </p:nvSpPr>
        <p:spPr>
          <a:xfrm>
            <a:off x="2555776" y="5986234"/>
            <a:ext cx="360040" cy="369332"/>
          </a:xfrm>
          <a:prstGeom prst="rect">
            <a:avLst/>
          </a:prstGeom>
          <a:solidFill>
            <a:schemeClr val="accent1"/>
          </a:solidFill>
        </p:spPr>
        <p:txBody>
          <a:bodyPr wrap="square" rtlCol="0">
            <a:spAutoFit/>
          </a:bodyPr>
          <a:lstStyle/>
          <a:p>
            <a:r>
              <a:rPr lang="en-US" altLang="zh-CN" b="1" dirty="0"/>
              <a:t>0</a:t>
            </a:r>
            <a:endParaRPr lang="zh-CN" altLang="en-US" b="1" dirty="0"/>
          </a:p>
        </p:txBody>
      </p:sp>
      <p:sp>
        <p:nvSpPr>
          <p:cNvPr id="8" name="TextBox 7"/>
          <p:cNvSpPr txBox="1"/>
          <p:nvPr/>
        </p:nvSpPr>
        <p:spPr>
          <a:xfrm>
            <a:off x="3088298" y="5975262"/>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9" name="TextBox 8"/>
          <p:cNvSpPr txBox="1"/>
          <p:nvPr/>
        </p:nvSpPr>
        <p:spPr>
          <a:xfrm>
            <a:off x="3448338" y="5990985"/>
            <a:ext cx="360040" cy="369332"/>
          </a:xfrm>
          <a:prstGeom prst="rect">
            <a:avLst/>
          </a:prstGeom>
          <a:solidFill>
            <a:schemeClr val="accent1"/>
          </a:solidFill>
        </p:spPr>
        <p:txBody>
          <a:bodyPr wrap="square" rtlCol="0">
            <a:spAutoFit/>
          </a:bodyPr>
          <a:lstStyle/>
          <a:p>
            <a:r>
              <a:rPr lang="en-US" altLang="zh-CN" b="1" dirty="0">
                <a:solidFill>
                  <a:srgbClr val="FF0000"/>
                </a:solidFill>
              </a:rPr>
              <a:t>1</a:t>
            </a:r>
            <a:endParaRPr lang="zh-CN" altLang="en-US" b="1" dirty="0">
              <a:solidFill>
                <a:srgbClr val="FF0000"/>
              </a:solidFill>
            </a:endParaRPr>
          </a:p>
        </p:txBody>
      </p:sp>
      <p:sp>
        <p:nvSpPr>
          <p:cNvPr id="10" name="TextBox 9"/>
          <p:cNvSpPr txBox="1"/>
          <p:nvPr/>
        </p:nvSpPr>
        <p:spPr>
          <a:xfrm>
            <a:off x="4005198" y="5969211"/>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1" name="TextBox 10"/>
          <p:cNvSpPr txBox="1"/>
          <p:nvPr/>
        </p:nvSpPr>
        <p:spPr>
          <a:xfrm>
            <a:off x="4365238" y="5972234"/>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2" name="TextBox 11"/>
          <p:cNvSpPr txBox="1"/>
          <p:nvPr/>
        </p:nvSpPr>
        <p:spPr>
          <a:xfrm>
            <a:off x="4897760" y="5961262"/>
            <a:ext cx="360040" cy="369332"/>
          </a:xfrm>
          <a:prstGeom prst="rect">
            <a:avLst/>
          </a:prstGeom>
          <a:solidFill>
            <a:schemeClr val="accent1"/>
          </a:solidFill>
        </p:spPr>
        <p:txBody>
          <a:bodyPr wrap="square" rtlCol="0">
            <a:spAutoFit/>
          </a:bodyPr>
          <a:lstStyle/>
          <a:p>
            <a:r>
              <a:rPr lang="en-US" altLang="zh-CN" b="1" dirty="0"/>
              <a:t>0</a:t>
            </a:r>
            <a:endParaRPr lang="zh-CN" altLang="en-US" b="1" dirty="0"/>
          </a:p>
        </p:txBody>
      </p:sp>
      <p:sp>
        <p:nvSpPr>
          <p:cNvPr id="13" name="TextBox 12"/>
          <p:cNvSpPr txBox="1"/>
          <p:nvPr/>
        </p:nvSpPr>
        <p:spPr>
          <a:xfrm>
            <a:off x="5257800" y="5976985"/>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14" name="TextBox 13"/>
          <p:cNvSpPr txBox="1"/>
          <p:nvPr/>
        </p:nvSpPr>
        <p:spPr>
          <a:xfrm>
            <a:off x="1976252" y="5030068"/>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15" name="TextBox 14"/>
          <p:cNvSpPr txBox="1"/>
          <p:nvPr/>
        </p:nvSpPr>
        <p:spPr>
          <a:xfrm>
            <a:off x="2941216" y="5025102"/>
            <a:ext cx="360040" cy="369332"/>
          </a:xfrm>
          <a:prstGeom prst="rect">
            <a:avLst/>
          </a:prstGeom>
          <a:solidFill>
            <a:schemeClr val="accent1">
              <a:alpha val="0"/>
            </a:schemeClr>
          </a:solidFill>
        </p:spPr>
        <p:txBody>
          <a:bodyPr wrap="square" rtlCol="0">
            <a:spAutoFit/>
          </a:bodyPr>
          <a:lstStyle/>
          <a:p>
            <a:r>
              <a:rPr lang="en-US" altLang="zh-CN" b="1" dirty="0">
                <a:solidFill>
                  <a:srgbClr val="FF0000"/>
                </a:solidFill>
              </a:rPr>
              <a:t>0</a:t>
            </a:r>
            <a:endParaRPr lang="zh-CN" altLang="en-US" b="1" dirty="0">
              <a:solidFill>
                <a:srgbClr val="FF0000"/>
              </a:solidFill>
            </a:endParaRPr>
          </a:p>
        </p:txBody>
      </p:sp>
      <p:sp>
        <p:nvSpPr>
          <p:cNvPr id="16" name="TextBox 15"/>
          <p:cNvSpPr txBox="1"/>
          <p:nvPr/>
        </p:nvSpPr>
        <p:spPr>
          <a:xfrm>
            <a:off x="3830688" y="5040570"/>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17" name="TextBox 16"/>
          <p:cNvSpPr txBox="1"/>
          <p:nvPr/>
        </p:nvSpPr>
        <p:spPr>
          <a:xfrm>
            <a:off x="4795652" y="5035604"/>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18" name="TextBox 17"/>
          <p:cNvSpPr txBox="1"/>
          <p:nvPr/>
        </p:nvSpPr>
        <p:spPr>
          <a:xfrm>
            <a:off x="4427984" y="2348880"/>
            <a:ext cx="360040" cy="369332"/>
          </a:xfrm>
          <a:prstGeom prst="rect">
            <a:avLst/>
          </a:prstGeom>
          <a:solidFill>
            <a:schemeClr val="accent1">
              <a:alpha val="0"/>
            </a:schemeClr>
          </a:solidFill>
        </p:spPr>
        <p:txBody>
          <a:bodyPr wrap="square" rtlCol="0">
            <a:spAutoFit/>
          </a:bodyPr>
          <a:lstStyle/>
          <a:p>
            <a:r>
              <a:rPr lang="en-US" altLang="zh-CN" b="1" dirty="0">
                <a:solidFill>
                  <a:srgbClr val="FF0000"/>
                </a:solidFill>
              </a:rPr>
              <a:t>1</a:t>
            </a:r>
            <a:endParaRPr lang="zh-CN" altLang="en-US" b="1" dirty="0">
              <a:solidFill>
                <a:srgbClr val="FF0000"/>
              </a:solidFill>
            </a:endParaRPr>
          </a:p>
        </p:txBody>
      </p:sp>
      <p:sp>
        <p:nvSpPr>
          <p:cNvPr id="19" name="TextBox 18"/>
          <p:cNvSpPr txBox="1"/>
          <p:nvPr/>
        </p:nvSpPr>
        <p:spPr>
          <a:xfrm>
            <a:off x="3301256" y="4072106"/>
            <a:ext cx="360040" cy="369332"/>
          </a:xfrm>
          <a:prstGeom prst="rect">
            <a:avLst/>
          </a:prstGeom>
          <a:solidFill>
            <a:schemeClr val="accent1">
              <a:alpha val="0"/>
            </a:schemeClr>
          </a:solidFill>
        </p:spPr>
        <p:txBody>
          <a:bodyPr wrap="square" rtlCol="0">
            <a:spAutoFit/>
          </a:bodyPr>
          <a:lstStyle/>
          <a:p>
            <a:r>
              <a:rPr lang="en-US" altLang="zh-CN" b="1" dirty="0">
                <a:solidFill>
                  <a:srgbClr val="FF0000"/>
                </a:solidFill>
              </a:rPr>
              <a:t>1</a:t>
            </a:r>
            <a:endParaRPr lang="zh-CN" altLang="en-US" b="1" dirty="0">
              <a:solidFill>
                <a:srgbClr val="FF0000"/>
              </a:solidFill>
            </a:endParaRPr>
          </a:p>
        </p:txBody>
      </p:sp>
      <p:sp>
        <p:nvSpPr>
          <p:cNvPr id="20" name="TextBox 19"/>
          <p:cNvSpPr txBox="1"/>
          <p:nvPr/>
        </p:nvSpPr>
        <p:spPr>
          <a:xfrm>
            <a:off x="4190728" y="4087574"/>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1" name="TextBox 20"/>
          <p:cNvSpPr txBox="1"/>
          <p:nvPr/>
        </p:nvSpPr>
        <p:spPr>
          <a:xfrm>
            <a:off x="4089128" y="3174876"/>
            <a:ext cx="360040" cy="369332"/>
          </a:xfrm>
          <a:prstGeom prst="rect">
            <a:avLst/>
          </a:prstGeom>
          <a:solidFill>
            <a:schemeClr val="accent1">
              <a:alpha val="0"/>
            </a:schemeClr>
          </a:solidFill>
        </p:spPr>
        <p:txBody>
          <a:bodyPr wrap="square" rtlCol="0">
            <a:spAutoFit/>
          </a:bodyPr>
          <a:lstStyle/>
          <a:p>
            <a:r>
              <a:rPr lang="en-US" altLang="zh-CN" b="1" dirty="0">
                <a:solidFill>
                  <a:srgbClr val="FF0000"/>
                </a:solidFill>
              </a:rPr>
              <a:t>0</a:t>
            </a:r>
            <a:endParaRPr lang="zh-CN" altLang="en-US" b="1" dirty="0">
              <a:solidFill>
                <a:srgbClr val="FF0000"/>
              </a:solidFill>
            </a:endParaRPr>
          </a:p>
        </p:txBody>
      </p:sp>
      <p:sp>
        <p:nvSpPr>
          <p:cNvPr id="22" name="TextBox 21"/>
          <p:cNvSpPr txBox="1"/>
          <p:nvPr/>
        </p:nvSpPr>
        <p:spPr>
          <a:xfrm>
            <a:off x="6588224" y="2360796"/>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23" name="TextBox 22"/>
          <p:cNvSpPr txBox="1"/>
          <p:nvPr/>
        </p:nvSpPr>
        <p:spPr>
          <a:xfrm>
            <a:off x="3422938" y="2378958"/>
            <a:ext cx="360040" cy="369332"/>
          </a:xfrm>
          <a:prstGeom prst="rect">
            <a:avLst/>
          </a:prstGeom>
          <a:solidFill>
            <a:schemeClr val="accent1">
              <a:alpha val="0"/>
            </a:schemeClr>
          </a:solidFill>
        </p:spPr>
        <p:txBody>
          <a:bodyPr wrap="square" rtlCol="0">
            <a:spAutoFit/>
          </a:bodyPr>
          <a:lstStyle/>
          <a:p>
            <a:r>
              <a:rPr lang="en-US" altLang="zh-CN" b="1" dirty="0"/>
              <a:t>0</a:t>
            </a:r>
            <a:endParaRPr lang="zh-CN" altLang="en-US" b="1" dirty="0"/>
          </a:p>
        </p:txBody>
      </p:sp>
      <p:sp>
        <p:nvSpPr>
          <p:cNvPr id="26" name="TextBox 25"/>
          <p:cNvSpPr txBox="1"/>
          <p:nvPr/>
        </p:nvSpPr>
        <p:spPr>
          <a:xfrm>
            <a:off x="1967970" y="2348096"/>
            <a:ext cx="360040" cy="369332"/>
          </a:xfrm>
          <a:prstGeom prst="rect">
            <a:avLst/>
          </a:prstGeom>
          <a:solidFill>
            <a:schemeClr val="accent1">
              <a:alpha val="0"/>
            </a:schemeClr>
          </a:solidFill>
        </p:spPr>
        <p:txBody>
          <a:bodyPr wrap="square" rtlCol="0">
            <a:spAutoFit/>
          </a:bodyPr>
          <a:lstStyle/>
          <a:p>
            <a:r>
              <a:rPr lang="en-US" altLang="zh-CN" b="1" dirty="0"/>
              <a:t>1</a:t>
            </a:r>
            <a:endParaRPr lang="zh-CN" altLang="en-US" b="1" dirty="0"/>
          </a:p>
        </p:txBody>
      </p:sp>
      <p:sp>
        <p:nvSpPr>
          <p:cNvPr id="27" name="TextBox 26"/>
          <p:cNvSpPr txBox="1"/>
          <p:nvPr/>
        </p:nvSpPr>
        <p:spPr>
          <a:xfrm>
            <a:off x="6541864" y="5989172"/>
            <a:ext cx="360040" cy="369332"/>
          </a:xfrm>
          <a:prstGeom prst="rect">
            <a:avLst/>
          </a:prstGeom>
          <a:solidFill>
            <a:schemeClr val="accent1"/>
          </a:solidFill>
        </p:spPr>
        <p:txBody>
          <a:bodyPr wrap="square" rtlCol="0">
            <a:spAutoFit/>
          </a:bodyPr>
          <a:lstStyle/>
          <a:p>
            <a:r>
              <a:rPr lang="en-US" altLang="zh-CN" b="1" dirty="0"/>
              <a:t>1</a:t>
            </a:r>
            <a:endParaRPr lang="zh-CN" altLang="en-US" b="1" dirty="0"/>
          </a:p>
        </p:txBody>
      </p:sp>
      <p:sp>
        <p:nvSpPr>
          <p:cNvPr id="25" name="矩形 1"/>
          <p:cNvSpPr>
            <a:spLocks noChangeArrowheads="1"/>
          </p:cNvSpPr>
          <p:nvPr/>
        </p:nvSpPr>
        <p:spPr bwMode="auto">
          <a:xfrm>
            <a:off x="6963072" y="3137515"/>
            <a:ext cx="179405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没有通过偶校验的逻辑电路：</a:t>
            </a:r>
            <a:endParaRPr lang="zh-CN" altLang="en-US" sz="3200" dirty="0"/>
          </a:p>
        </p:txBody>
      </p:sp>
    </p:spTree>
    <p:extLst>
      <p:ext uri="{BB962C8B-B14F-4D97-AF65-F5344CB8AC3E}">
        <p14:creationId xmlns:p14="http://schemas.microsoft.com/office/powerpoint/2010/main" val="19512081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179512" y="1772816"/>
            <a:ext cx="881208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t>针对上页图的解释：首先从内存中读取带有偶检验为一的一串二进制数字：</a:t>
            </a:r>
            <a:r>
              <a:rPr lang="en-US" altLang="zh-CN" sz="3200" dirty="0"/>
              <a:t>101</a:t>
            </a:r>
            <a:r>
              <a:rPr lang="en-US" altLang="zh-CN" sz="3200" dirty="0">
                <a:solidFill>
                  <a:srgbClr val="FF0000"/>
                </a:solidFill>
              </a:rPr>
              <a:t>1</a:t>
            </a:r>
            <a:r>
              <a:rPr lang="en-US" altLang="zh-CN" sz="3200" dirty="0"/>
              <a:t>11011</a:t>
            </a:r>
            <a:r>
              <a:rPr lang="zh-CN" altLang="en-US" sz="3200" dirty="0"/>
              <a:t>，注意最后一位</a:t>
            </a:r>
            <a:r>
              <a:rPr lang="en-US" altLang="zh-CN" sz="3200" dirty="0"/>
              <a:t>1</a:t>
            </a:r>
            <a:r>
              <a:rPr lang="zh-CN" altLang="en-US" sz="3200" dirty="0"/>
              <a:t>是偶校验为的值，并且一位红色位出错。针对上页的图：前八位</a:t>
            </a:r>
            <a:r>
              <a:rPr lang="en-US" altLang="zh-CN" sz="3200" dirty="0"/>
              <a:t>101</a:t>
            </a:r>
            <a:r>
              <a:rPr lang="en-US" altLang="zh-CN" sz="3200" dirty="0">
                <a:solidFill>
                  <a:srgbClr val="FF0000"/>
                </a:solidFill>
              </a:rPr>
              <a:t>1</a:t>
            </a:r>
            <a:r>
              <a:rPr lang="en-US" altLang="zh-CN" sz="3200" dirty="0"/>
              <a:t>1101</a:t>
            </a:r>
            <a:r>
              <a:rPr lang="zh-CN" altLang="en-US" sz="3200" dirty="0"/>
              <a:t>经过异或计算值为</a:t>
            </a:r>
            <a:r>
              <a:rPr lang="en-US" altLang="zh-CN" sz="3200" dirty="0"/>
              <a:t>0</a:t>
            </a:r>
            <a:r>
              <a:rPr lang="zh-CN" altLang="en-US" sz="3200" dirty="0"/>
              <a:t>，该值与偶校验位的值</a:t>
            </a:r>
            <a:r>
              <a:rPr lang="en-US" altLang="zh-CN" sz="3200" dirty="0"/>
              <a:t>1</a:t>
            </a:r>
            <a:r>
              <a:rPr lang="zh-CN" altLang="en-US" sz="3200" dirty="0"/>
              <a:t>进行异或计算后，为</a:t>
            </a:r>
            <a:r>
              <a:rPr lang="en-US" altLang="zh-CN" sz="3200" dirty="0"/>
              <a:t>1</a:t>
            </a:r>
            <a:r>
              <a:rPr lang="zh-CN" altLang="en-US" sz="3200" dirty="0"/>
              <a:t>，表示偶校验出错为真（或者奇校验出错为假），即偶校验出错了。说明该串二进制数字没有通过偶校验，说明该串数字中</a:t>
            </a:r>
            <a:r>
              <a:rPr lang="zh-CN" altLang="en-US" sz="3200" u="sng" dirty="0">
                <a:solidFill>
                  <a:srgbClr val="FF0000"/>
                </a:solidFill>
              </a:rPr>
              <a:t>有一位</a:t>
            </a:r>
            <a:r>
              <a:rPr lang="zh-CN" altLang="en-US" sz="3200" dirty="0"/>
              <a:t>出错了。</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335839773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6019" name="矩形 2"/>
          <p:cNvSpPr>
            <a:spLocks noChangeArrowheads="1"/>
          </p:cNvSpPr>
          <p:nvPr/>
        </p:nvSpPr>
        <p:spPr bwMode="auto">
          <a:xfrm>
            <a:off x="714375" y="1785938"/>
            <a:ext cx="7786688"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3.</a:t>
            </a:r>
            <a:r>
              <a:rPr lang="zh-CN" altLang="en-US" sz="3200">
                <a:solidFill>
                  <a:schemeClr val="tx2"/>
                </a:solidFill>
                <a:latin typeface="楷体_GB2312" pitchFamily="49" charset="-122"/>
                <a:ea typeface="楷体_GB2312" pitchFamily="49" charset="-122"/>
              </a:rPr>
              <a:t>交叉校验</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当一次传送一个数据块时，如果不但对每一个字节设有奇偶校验位（横向校验），而且全部字节的同一位也设置一个奇偶校验位（纵向校验），对数据块的横向和纵向代码同时校验。</a:t>
            </a:r>
          </a:p>
        </p:txBody>
      </p:sp>
    </p:spTree>
    <p:extLst>
      <p:ext uri="{BB962C8B-B14F-4D97-AF65-F5344CB8AC3E}">
        <p14:creationId xmlns:p14="http://schemas.microsoft.com/office/powerpoint/2010/main" val="28642196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交叉校验.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01800" y="2571750"/>
            <a:ext cx="5942013"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7044" name="矩形 2"/>
          <p:cNvSpPr>
            <a:spLocks noChangeArrowheads="1"/>
          </p:cNvSpPr>
          <p:nvPr/>
        </p:nvSpPr>
        <p:spPr bwMode="auto">
          <a:xfrm>
            <a:off x="714375" y="1643063"/>
            <a:ext cx="77866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例：有四个字节组成的数据块，纵横向均采用奇校验。</a:t>
            </a:r>
          </a:p>
        </p:txBody>
      </p:sp>
    </p:spTree>
    <p:extLst>
      <p:ext uri="{BB962C8B-B14F-4D97-AF65-F5344CB8AC3E}">
        <p14:creationId xmlns:p14="http://schemas.microsoft.com/office/powerpoint/2010/main" val="4210038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8067" name="矩形 2"/>
          <p:cNvSpPr>
            <a:spLocks noChangeArrowheads="1"/>
          </p:cNvSpPr>
          <p:nvPr/>
        </p:nvSpPr>
        <p:spPr bwMode="auto">
          <a:xfrm>
            <a:off x="714375" y="1643063"/>
            <a:ext cx="7786688"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上图中所示：</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横向每一个数据的奇偶校验是独立的，每个数字单独做自己的校验。</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而纵向校验则是对编码的固定位来做的，故而每一个编码都要参与校验，只不过每一个编码都只是拿出自己的某一位来与其他所有编码的对应为来做奇偶校验。</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zh-CN" altLang="en-US" sz="320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5619581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89091" name="矩形 2"/>
          <p:cNvSpPr>
            <a:spLocks noChangeArrowheads="1"/>
          </p:cNvSpPr>
          <p:nvPr/>
        </p:nvSpPr>
        <p:spPr bwMode="auto">
          <a:xfrm>
            <a:off x="714375" y="1785938"/>
            <a:ext cx="778668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循环冗余校验（</a:t>
            </a:r>
            <a:r>
              <a:rPr lang="en-US" altLang="zh-CN" sz="3200" dirty="0">
                <a:solidFill>
                  <a:schemeClr val="tx2"/>
                </a:solidFill>
                <a:latin typeface="楷体_GB2312" pitchFamily="49" charset="-122"/>
                <a:ea typeface="楷体_GB2312" pitchFamily="49" charset="-122"/>
              </a:rPr>
              <a:t> CRC </a:t>
            </a:r>
            <a:r>
              <a:rPr lang="zh-CN" altLang="en-US" sz="3200" dirty="0">
                <a:solidFill>
                  <a:schemeClr val="tx2"/>
                </a:solidFill>
                <a:latin typeface="楷体_GB2312" pitchFamily="49" charset="-122"/>
                <a:ea typeface="楷体_GB2312" pitchFamily="49" charset="-122"/>
              </a:rPr>
              <a:t>）码 </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二进制信息位流沿一条线逐位在部件之间或计算机之间传送称为串行传送。</a:t>
            </a:r>
            <a:r>
              <a:rPr lang="en-US" altLang="zh-CN" sz="3200" dirty="0">
                <a:solidFill>
                  <a:schemeClr val="tx2"/>
                </a:solidFill>
                <a:latin typeface="楷体_GB2312" pitchFamily="49" charset="-122"/>
                <a:ea typeface="楷体_GB2312" pitchFamily="49" charset="-122"/>
              </a:rPr>
              <a:t>CRC(cyclic redundancy check)</a:t>
            </a:r>
            <a:r>
              <a:rPr lang="zh-CN" altLang="en-US" sz="3200" dirty="0">
                <a:solidFill>
                  <a:schemeClr val="tx2"/>
                </a:solidFill>
                <a:latin typeface="楷体_GB2312" pitchFamily="49" charset="-122"/>
                <a:ea typeface="楷体_GB2312" pitchFamily="49" charset="-122"/>
              </a:rPr>
              <a:t>码可以发现并纠正信息存储或传送过程中连续出现的多位错误，因此在磁介质存储和计算机之间通信方面得到广泛应用。 </a:t>
            </a:r>
          </a:p>
        </p:txBody>
      </p:sp>
    </p:spTree>
    <p:extLst>
      <p:ext uri="{BB962C8B-B14F-4D97-AF65-F5344CB8AC3E}">
        <p14:creationId xmlns:p14="http://schemas.microsoft.com/office/powerpoint/2010/main" val="23326893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0115" name="矩形 2"/>
          <p:cNvSpPr>
            <a:spLocks noChangeArrowheads="1"/>
          </p:cNvSpPr>
          <p:nvPr/>
        </p:nvSpPr>
        <p:spPr bwMode="auto">
          <a:xfrm>
            <a:off x="714375" y="1785938"/>
            <a:ext cx="7786688"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CRC</a:t>
            </a:r>
            <a:r>
              <a:rPr lang="zh-CN" altLang="en-US" sz="3200">
                <a:solidFill>
                  <a:schemeClr val="tx2"/>
                </a:solidFill>
                <a:latin typeface="楷体_GB2312" pitchFamily="49" charset="-122"/>
                <a:ea typeface="楷体_GB2312" pitchFamily="49" charset="-122"/>
              </a:rPr>
              <a:t>码一般是指</a:t>
            </a:r>
            <a:r>
              <a:rPr lang="en-US" altLang="zh-CN" sz="3200">
                <a:solidFill>
                  <a:schemeClr val="tx2"/>
                </a:solidFill>
                <a:latin typeface="楷体_GB2312" pitchFamily="49" charset="-122"/>
                <a:ea typeface="楷体_GB2312" pitchFamily="49" charset="-122"/>
              </a:rPr>
              <a:t>k</a:t>
            </a:r>
            <a:r>
              <a:rPr lang="zh-CN" altLang="en-US" sz="3200">
                <a:solidFill>
                  <a:schemeClr val="tx2"/>
                </a:solidFill>
                <a:latin typeface="楷体_GB2312" pitchFamily="49" charset="-122"/>
                <a:ea typeface="楷体_GB2312" pitchFamily="49" charset="-122"/>
              </a:rPr>
              <a:t>位信息码之后拼接</a:t>
            </a:r>
            <a:r>
              <a:rPr lang="en-US" altLang="zh-CN" sz="3200">
                <a:solidFill>
                  <a:schemeClr val="tx2"/>
                </a:solidFill>
                <a:latin typeface="楷体_GB2312" pitchFamily="49" charset="-122"/>
                <a:ea typeface="楷体_GB2312" pitchFamily="49" charset="-122"/>
              </a:rPr>
              <a:t>r</a:t>
            </a:r>
            <a:r>
              <a:rPr lang="zh-CN" altLang="en-US" sz="3200">
                <a:solidFill>
                  <a:schemeClr val="tx2"/>
                </a:solidFill>
                <a:latin typeface="楷体_GB2312" pitchFamily="49" charset="-122"/>
                <a:ea typeface="楷体_GB2312" pitchFamily="49" charset="-122"/>
              </a:rPr>
              <a:t>位校验码。</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应用</a:t>
            </a:r>
            <a:r>
              <a:rPr lang="en-US" altLang="zh-CN" sz="3200">
                <a:solidFill>
                  <a:schemeClr val="tx2"/>
                </a:solidFill>
                <a:latin typeface="楷体_GB2312" pitchFamily="49" charset="-122"/>
                <a:ea typeface="楷体_GB2312" pitchFamily="49" charset="-122"/>
              </a:rPr>
              <a:t>CRC</a:t>
            </a:r>
            <a:r>
              <a:rPr lang="zh-CN" altLang="en-US" sz="3200">
                <a:solidFill>
                  <a:schemeClr val="tx2"/>
                </a:solidFill>
                <a:latin typeface="楷体_GB2312" pitchFamily="49" charset="-122"/>
                <a:ea typeface="楷体_GB2312" pitchFamily="49" charset="-122"/>
              </a:rPr>
              <a:t>码的关键是如何从</a:t>
            </a:r>
            <a:r>
              <a:rPr lang="en-US" altLang="zh-CN" sz="3200">
                <a:solidFill>
                  <a:schemeClr val="tx2"/>
                </a:solidFill>
                <a:latin typeface="楷体_GB2312" pitchFamily="49" charset="-122"/>
                <a:ea typeface="楷体_GB2312" pitchFamily="49" charset="-122"/>
              </a:rPr>
              <a:t>k</a:t>
            </a:r>
            <a:r>
              <a:rPr lang="zh-CN" altLang="en-US" sz="3200">
                <a:solidFill>
                  <a:schemeClr val="tx2"/>
                </a:solidFill>
                <a:latin typeface="楷体_GB2312" pitchFamily="49" charset="-122"/>
                <a:ea typeface="楷体_GB2312" pitchFamily="49" charset="-122"/>
              </a:rPr>
              <a:t>位信息位简便地得到</a:t>
            </a:r>
            <a:r>
              <a:rPr lang="en-US" altLang="zh-CN" sz="3200">
                <a:solidFill>
                  <a:schemeClr val="tx2"/>
                </a:solidFill>
                <a:latin typeface="楷体_GB2312" pitchFamily="49" charset="-122"/>
                <a:ea typeface="楷体_GB2312" pitchFamily="49" charset="-122"/>
              </a:rPr>
              <a:t>r</a:t>
            </a:r>
            <a:r>
              <a:rPr lang="zh-CN" altLang="en-US" sz="3200">
                <a:solidFill>
                  <a:schemeClr val="tx2"/>
                </a:solidFill>
                <a:latin typeface="楷体_GB2312" pitchFamily="49" charset="-122"/>
                <a:ea typeface="楷体_GB2312" pitchFamily="49" charset="-122"/>
              </a:rPr>
              <a:t>位校验位</a:t>
            </a:r>
            <a:r>
              <a:rPr lang="en-US" altLang="zh-CN" sz="3200">
                <a:solidFill>
                  <a:schemeClr val="tx2"/>
                </a:solidFill>
                <a:latin typeface="楷体_GB2312" pitchFamily="49" charset="-122"/>
                <a:ea typeface="楷体_GB2312" pitchFamily="49" charset="-122"/>
              </a:rPr>
              <a:t>(</a:t>
            </a:r>
            <a:r>
              <a:rPr lang="zh-CN" altLang="en-US" sz="3200">
                <a:solidFill>
                  <a:schemeClr val="tx2"/>
                </a:solidFill>
                <a:latin typeface="楷体_GB2312" pitchFamily="49" charset="-122"/>
                <a:ea typeface="楷体_GB2312" pitchFamily="49" charset="-122"/>
              </a:rPr>
              <a:t>编码</a:t>
            </a:r>
            <a:r>
              <a:rPr lang="en-US" altLang="zh-CN" sz="3200">
                <a:solidFill>
                  <a:schemeClr val="tx2"/>
                </a:solidFill>
                <a:latin typeface="楷体_GB2312" pitchFamily="49" charset="-122"/>
                <a:ea typeface="楷体_GB2312" pitchFamily="49" charset="-122"/>
              </a:rPr>
              <a:t>)</a:t>
            </a:r>
            <a:r>
              <a:rPr lang="zh-CN" altLang="en-US" sz="3200">
                <a:solidFill>
                  <a:schemeClr val="tx2"/>
                </a:solidFill>
                <a:latin typeface="楷体_GB2312" pitchFamily="49" charset="-122"/>
                <a:ea typeface="楷体_GB2312" pitchFamily="49" charset="-122"/>
              </a:rPr>
              <a:t>，以及如何从</a:t>
            </a:r>
            <a:r>
              <a:rPr lang="en-US" altLang="zh-CN" sz="3200">
                <a:solidFill>
                  <a:schemeClr val="tx2"/>
                </a:solidFill>
                <a:latin typeface="楷体_GB2312" pitchFamily="49" charset="-122"/>
                <a:ea typeface="楷体_GB2312" pitchFamily="49" charset="-122"/>
              </a:rPr>
              <a:t>k+r</a:t>
            </a:r>
            <a:r>
              <a:rPr lang="zh-CN" altLang="en-US" sz="3200">
                <a:solidFill>
                  <a:schemeClr val="tx2"/>
                </a:solidFill>
                <a:latin typeface="楷体_GB2312" pitchFamily="49" charset="-122"/>
                <a:ea typeface="楷体_GB2312" pitchFamily="49" charset="-122"/>
              </a:rPr>
              <a:t>位信息码判断是否出错。</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下面仅就</a:t>
            </a:r>
            <a:r>
              <a:rPr lang="en-US" altLang="zh-CN" sz="3200">
                <a:solidFill>
                  <a:schemeClr val="tx2"/>
                </a:solidFill>
                <a:latin typeface="楷体_GB2312" pitchFamily="49" charset="-122"/>
                <a:ea typeface="楷体_GB2312" pitchFamily="49" charset="-122"/>
              </a:rPr>
              <a:t>CRC</a:t>
            </a:r>
            <a:r>
              <a:rPr lang="zh-CN" altLang="en-US" sz="3200">
                <a:solidFill>
                  <a:schemeClr val="tx2"/>
                </a:solidFill>
                <a:latin typeface="楷体_GB2312" pitchFamily="49" charset="-122"/>
                <a:ea typeface="楷体_GB2312" pitchFamily="49" charset="-122"/>
              </a:rPr>
              <a:t>码应用中的问题做简单介绍。 </a:t>
            </a:r>
          </a:p>
          <a:p>
            <a:pPr algn="l" eaLnBrk="1" hangingPunct="1"/>
            <a:endParaRPr lang="zh-CN" altLang="en-US" sz="320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3152180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1139" name="矩形 2"/>
          <p:cNvSpPr>
            <a:spLocks noChangeArrowheads="1"/>
          </p:cNvSpPr>
          <p:nvPr/>
        </p:nvSpPr>
        <p:spPr bwMode="auto">
          <a:xfrm>
            <a:off x="714375" y="1643063"/>
            <a:ext cx="7786688"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 CRC</a:t>
            </a:r>
            <a:r>
              <a:rPr lang="zh-CN" altLang="en-US" sz="3200" dirty="0">
                <a:solidFill>
                  <a:schemeClr val="tx2"/>
                </a:solidFill>
                <a:latin typeface="楷体_GB2312" pitchFamily="49" charset="-122"/>
                <a:ea typeface="楷体_GB2312" pitchFamily="49" charset="-122"/>
              </a:rPr>
              <a:t>码的编码方法 </a:t>
            </a:r>
          </a:p>
          <a:p>
            <a:pPr algn="l" eaLnBrk="1" hangingPunct="1"/>
            <a:r>
              <a:rPr lang="zh-CN" altLang="en-US" sz="3200" dirty="0">
                <a:solidFill>
                  <a:schemeClr val="tx2"/>
                </a:solidFill>
                <a:latin typeface="楷体_GB2312" pitchFamily="49" charset="-122"/>
                <a:ea typeface="楷体_GB2312" pitchFamily="49" charset="-122"/>
              </a:rPr>
              <a:t>   在</a:t>
            </a:r>
            <a:r>
              <a:rPr lang="en-US" altLang="zh-CN" sz="3200" dirty="0">
                <a:solidFill>
                  <a:schemeClr val="tx2"/>
                </a:solidFill>
                <a:latin typeface="楷体_GB2312" pitchFamily="49" charset="-122"/>
                <a:ea typeface="楷体_GB2312" pitchFamily="49" charset="-122"/>
              </a:rPr>
              <a:t>CRC</a:t>
            </a:r>
            <a:r>
              <a:rPr lang="zh-CN" altLang="en-US" sz="3200" dirty="0">
                <a:solidFill>
                  <a:schemeClr val="tx2"/>
                </a:solidFill>
                <a:latin typeface="楷体_GB2312" pitchFamily="49" charset="-122"/>
                <a:ea typeface="楷体_GB2312" pitchFamily="49" charset="-122"/>
              </a:rPr>
              <a:t>码的编码中，要用到的</a:t>
            </a:r>
            <a:r>
              <a:rPr lang="zh-CN" altLang="en-US" sz="3200" dirty="0">
                <a:solidFill>
                  <a:srgbClr val="FF0000"/>
                </a:solidFill>
                <a:latin typeface="楷体_GB2312" pitchFamily="49" charset="-122"/>
                <a:ea typeface="楷体_GB2312" pitchFamily="49" charset="-122"/>
              </a:rPr>
              <a:t>模</a:t>
            </a:r>
            <a:r>
              <a:rPr lang="en-US" altLang="zh-CN" sz="3200" dirty="0">
                <a:solidFill>
                  <a:srgbClr val="FF0000"/>
                </a:solidFill>
                <a:latin typeface="楷体_GB2312" pitchFamily="49" charset="-122"/>
                <a:ea typeface="楷体_GB2312" pitchFamily="49" charset="-122"/>
              </a:rPr>
              <a:t>2</a:t>
            </a:r>
            <a:r>
              <a:rPr lang="zh-CN" altLang="en-US" sz="3200" dirty="0">
                <a:solidFill>
                  <a:srgbClr val="FF0000"/>
                </a:solidFill>
                <a:latin typeface="楷体_GB2312" pitchFamily="49" charset="-122"/>
                <a:ea typeface="楷体_GB2312" pitchFamily="49" charset="-122"/>
              </a:rPr>
              <a:t>运算</a:t>
            </a:r>
            <a:r>
              <a:rPr lang="zh-CN" altLang="en-US" sz="3200" dirty="0">
                <a:solidFill>
                  <a:schemeClr val="tx2"/>
                </a:solidFill>
                <a:latin typeface="楷体_GB2312" pitchFamily="49" charset="-122"/>
                <a:ea typeface="楷体_GB2312" pitchFamily="49" charset="-122"/>
              </a:rPr>
              <a:t>。</a:t>
            </a:r>
          </a:p>
          <a:p>
            <a:pPr algn="l" eaLnBrk="1" hangingPunct="1"/>
            <a:r>
              <a:rPr lang="zh-CN" altLang="en-US" sz="3200" dirty="0">
                <a:solidFill>
                  <a:schemeClr val="tx2"/>
                </a:solidFill>
                <a:latin typeface="楷体_GB2312" pitchFamily="49" charset="-122"/>
                <a:ea typeface="楷体_GB2312" pitchFamily="49" charset="-122"/>
              </a:rPr>
              <a:t>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运算是指以按位模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相加为基础的四则运算，</a:t>
            </a:r>
            <a:r>
              <a:rPr lang="zh-CN" altLang="en-US" sz="3200" dirty="0">
                <a:solidFill>
                  <a:srgbClr val="FF0000"/>
                </a:solidFill>
                <a:latin typeface="楷体_GB2312" pitchFamily="49" charset="-122"/>
                <a:ea typeface="楷体_GB2312" pitchFamily="49" charset="-122"/>
              </a:rPr>
              <a:t>运算时不考虑进位和借位</a:t>
            </a:r>
            <a:r>
              <a:rPr lang="zh-CN" altLang="en-US" sz="3200" dirty="0">
                <a:solidFill>
                  <a:schemeClr val="tx2"/>
                </a:solidFill>
                <a:latin typeface="楷体_GB2312" pitchFamily="49" charset="-122"/>
                <a:ea typeface="楷体_GB2312" pitchFamily="49" charset="-122"/>
              </a:rPr>
              <a:t>。</a:t>
            </a: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FF0000"/>
                </a:solidFill>
                <a:latin typeface="楷体_GB2312" pitchFamily="49" charset="-122"/>
                <a:ea typeface="楷体_GB2312" pitchFamily="49" charset="-122"/>
              </a:rPr>
              <a:t>模</a:t>
            </a:r>
            <a:r>
              <a:rPr lang="en-US" altLang="zh-CN" sz="3200" dirty="0">
                <a:solidFill>
                  <a:srgbClr val="FF0000"/>
                </a:solidFill>
                <a:latin typeface="楷体_GB2312" pitchFamily="49" charset="-122"/>
                <a:ea typeface="楷体_GB2312" pitchFamily="49" charset="-122"/>
              </a:rPr>
              <a:t>2</a:t>
            </a:r>
            <a:r>
              <a:rPr lang="zh-CN" altLang="en-US" sz="3200" dirty="0">
                <a:solidFill>
                  <a:srgbClr val="FF0000"/>
                </a:solidFill>
                <a:latin typeface="楷体_GB2312" pitchFamily="49" charset="-122"/>
                <a:ea typeface="楷体_GB2312" pitchFamily="49" charset="-122"/>
              </a:rPr>
              <a:t>加减</a:t>
            </a:r>
            <a:r>
              <a:rPr lang="zh-CN" altLang="en-US" sz="3200" dirty="0">
                <a:solidFill>
                  <a:schemeClr val="tx2"/>
                </a:solidFill>
                <a:latin typeface="楷体_GB2312" pitchFamily="49" charset="-122"/>
                <a:ea typeface="楷体_GB2312" pitchFamily="49" charset="-122"/>
              </a:rPr>
              <a:t>：即按位加，可用</a:t>
            </a:r>
            <a:r>
              <a:rPr lang="zh-CN" altLang="en-US" sz="3200" dirty="0">
                <a:solidFill>
                  <a:srgbClr val="FF0000"/>
                </a:solidFill>
                <a:latin typeface="楷体_GB2312" pitchFamily="49" charset="-122"/>
                <a:ea typeface="楷体_GB2312" pitchFamily="49" charset="-122"/>
              </a:rPr>
              <a:t>异或逻辑</a:t>
            </a:r>
            <a:r>
              <a:rPr lang="zh-CN" altLang="en-US" sz="3200" dirty="0">
                <a:solidFill>
                  <a:schemeClr val="tx2"/>
                </a:solidFill>
                <a:latin typeface="楷体_GB2312" pitchFamily="49" charset="-122"/>
                <a:ea typeface="楷体_GB2312" pitchFamily="49" charset="-122"/>
              </a:rPr>
              <a:t>实现。模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加与模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减的结果相同，即</a:t>
            </a:r>
            <a:r>
              <a:rPr lang="en-US" altLang="zh-CN" sz="3200" dirty="0">
                <a:solidFill>
                  <a:schemeClr val="tx2"/>
                </a:solidFill>
                <a:latin typeface="楷体_GB2312" pitchFamily="49" charset="-122"/>
                <a:ea typeface="楷体_GB2312" pitchFamily="49" charset="-122"/>
              </a:rPr>
              <a:t>0±0=0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0±1=1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1±0=1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1±1=0</a:t>
            </a:r>
            <a:r>
              <a:rPr lang="zh-CN" altLang="en-US" sz="3200" dirty="0">
                <a:solidFill>
                  <a:schemeClr val="tx2"/>
                </a:solidFill>
                <a:latin typeface="楷体_GB2312" pitchFamily="49" charset="-122"/>
                <a:ea typeface="楷体_GB2312" pitchFamily="49" charset="-122"/>
              </a:rPr>
              <a:t>。两个相同的数据的模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和为</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p>
          <a:p>
            <a:pPr algn="l" eaLnBrk="1" hangingPunct="1"/>
            <a:r>
              <a:rPr lang="zh-CN" altLang="en-US" sz="3200" dirty="0">
                <a:solidFill>
                  <a:schemeClr val="tx2"/>
                </a:solidFill>
                <a:latin typeface="楷体_GB2312" pitchFamily="49" charset="-122"/>
                <a:ea typeface="楷体_GB2312" pitchFamily="49" charset="-122"/>
              </a:rPr>
              <a:t> </a:t>
            </a:r>
          </a:p>
        </p:txBody>
      </p:sp>
    </p:spTree>
    <p:extLst>
      <p:ext uri="{BB962C8B-B14F-4D97-AF65-F5344CB8AC3E}">
        <p14:creationId xmlns:p14="http://schemas.microsoft.com/office/powerpoint/2010/main" val="40110456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91139" name="矩形 2"/>
              <p:cNvSpPr>
                <a:spLocks noChangeArrowheads="1"/>
              </p:cNvSpPr>
              <p:nvPr/>
            </p:nvSpPr>
            <p:spPr bwMode="auto">
              <a:xfrm>
                <a:off x="714375" y="1643063"/>
                <a:ext cx="7786688" cy="20621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如：</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1011</a:t>
                </a:r>
              </a:p>
              <a:p>
                <a:pPr algn="l" eaLnBrk="1" hangingPunct="1"/>
                <a14:m>
                  <m:oMath xmlns:m="http://schemas.openxmlformats.org/officeDocument/2006/math">
                    <m:r>
                      <a:rPr lang="en-US" altLang="zh-CN" sz="3200" b="1" i="1" smtClean="0">
                        <a:solidFill>
                          <a:schemeClr val="tx2"/>
                        </a:solidFill>
                        <a:latin typeface="Cambria Math"/>
                        <a:ea typeface="Cambria Math"/>
                      </a:rPr>
                      <m:t>                           </m:t>
                    </m:r>
                    <m:r>
                      <a:rPr lang="en-US" altLang="zh-CN" sz="3200" i="1" smtClean="0">
                        <a:solidFill>
                          <a:schemeClr val="tx2"/>
                        </a:solidFill>
                        <a:latin typeface="Cambria Math"/>
                        <a:ea typeface="Cambria Math"/>
                      </a:rPr>
                      <m:t>±</m:t>
                    </m:r>
                  </m:oMath>
                </a14:m>
                <a:r>
                  <a:rPr lang="en-US" altLang="zh-CN" sz="3200" u="sng" dirty="0">
                    <a:solidFill>
                      <a:schemeClr val="tx2"/>
                    </a:solidFill>
                    <a:latin typeface="楷体_GB2312" pitchFamily="49" charset="-122"/>
                    <a:ea typeface="楷体_GB2312" pitchFamily="49" charset="-122"/>
                  </a:rPr>
                  <a:t>0111  </a:t>
                </a:r>
                <a:r>
                  <a:rPr lang="en-US" altLang="zh-CN" sz="3200" dirty="0">
                    <a:solidFill>
                      <a:schemeClr val="tx2"/>
                    </a:solidFill>
                    <a:latin typeface="楷体_GB2312" pitchFamily="49" charset="-122"/>
                    <a:ea typeface="楷体_GB2312" pitchFamily="49" charset="-122"/>
                  </a:rPr>
                  <a:t>  </a:t>
                </a:r>
                <a:r>
                  <a:rPr lang="en-US" altLang="zh-CN" sz="3200" u="sng" dirty="0">
                    <a:solidFill>
                      <a:schemeClr val="tx2"/>
                    </a:solidFill>
                    <a:latin typeface="楷体_GB2312" pitchFamily="49" charset="-122"/>
                    <a:ea typeface="楷体_GB2312" pitchFamily="49" charset="-122"/>
                  </a:rPr>
                  <a:t> </a:t>
                </a: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=1100</a:t>
                </a:r>
                <a:r>
                  <a:rPr lang="zh-CN" altLang="en-US" sz="3200" dirty="0">
                    <a:solidFill>
                      <a:schemeClr val="tx2"/>
                    </a:solidFill>
                    <a:latin typeface="楷体_GB2312" pitchFamily="49" charset="-122"/>
                    <a:ea typeface="楷体_GB2312" pitchFamily="49" charset="-122"/>
                  </a:rPr>
                  <a:t>  </a:t>
                </a:r>
              </a:p>
            </p:txBody>
          </p:sp>
        </mc:Choice>
        <mc:Fallback xmlns="">
          <p:sp>
            <p:nvSpPr>
              <p:cNvPr id="91139" name="矩形 2"/>
              <p:cNvSpPr>
                <a:spLocks noRot="1" noChangeAspect="1" noMove="1" noResize="1" noEditPoints="1" noAdjustHandles="1" noChangeArrowheads="1" noChangeShapeType="1" noTextEdit="1"/>
              </p:cNvSpPr>
              <p:nvPr/>
            </p:nvSpPr>
            <p:spPr bwMode="auto">
              <a:xfrm>
                <a:off x="714375" y="1643063"/>
                <a:ext cx="7786688" cy="2062103"/>
              </a:xfrm>
              <a:prstGeom prst="rect">
                <a:avLst/>
              </a:prstGeom>
              <a:blipFill rotWithShape="1">
                <a:blip r:embed="rId3"/>
                <a:stretch>
                  <a:fillRect l="-1956" t="-3846" b="-88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7581110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2163" name="矩形 2"/>
          <p:cNvSpPr>
            <a:spLocks noChangeArrowheads="1"/>
          </p:cNvSpPr>
          <p:nvPr/>
        </p:nvSpPr>
        <p:spPr bwMode="auto">
          <a:xfrm>
            <a:off x="714375" y="1643063"/>
            <a:ext cx="7786688"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rgbClr val="FF0000"/>
                </a:solidFill>
                <a:latin typeface="楷体_GB2312" pitchFamily="49" charset="-122"/>
                <a:ea typeface="楷体_GB2312" pitchFamily="49" charset="-122"/>
              </a:rPr>
              <a:t>模</a:t>
            </a:r>
            <a:r>
              <a:rPr lang="en-US" altLang="zh-CN" sz="3200">
                <a:solidFill>
                  <a:srgbClr val="FF0000"/>
                </a:solidFill>
                <a:latin typeface="楷体_GB2312" pitchFamily="49" charset="-122"/>
                <a:ea typeface="楷体_GB2312" pitchFamily="49" charset="-122"/>
              </a:rPr>
              <a:t>2</a:t>
            </a:r>
            <a:r>
              <a:rPr lang="zh-CN" altLang="en-US" sz="3200">
                <a:solidFill>
                  <a:srgbClr val="FF0000"/>
                </a:solidFill>
                <a:latin typeface="楷体_GB2312" pitchFamily="49" charset="-122"/>
                <a:ea typeface="楷体_GB2312" pitchFamily="49" charset="-122"/>
              </a:rPr>
              <a:t>乘</a:t>
            </a:r>
            <a:r>
              <a:rPr lang="en-US" altLang="zh-CN" sz="3200">
                <a:solidFill>
                  <a:schemeClr val="tx2"/>
                </a:solidFill>
                <a:latin typeface="楷体_GB2312" pitchFamily="49" charset="-122"/>
                <a:ea typeface="楷体_GB2312" pitchFamily="49" charset="-122"/>
              </a:rPr>
              <a:t>——</a:t>
            </a:r>
            <a:r>
              <a:rPr lang="zh-CN" altLang="en-US" sz="3200">
                <a:solidFill>
                  <a:schemeClr val="tx2"/>
                </a:solidFill>
                <a:latin typeface="楷体_GB2312" pitchFamily="49" charset="-122"/>
                <a:ea typeface="楷体_GB2312" pitchFamily="49" charset="-122"/>
              </a:rPr>
              <a:t>按模</a:t>
            </a:r>
            <a:r>
              <a:rPr lang="en-US" altLang="zh-CN" sz="3200">
                <a:solidFill>
                  <a:schemeClr val="tx2"/>
                </a:solidFill>
                <a:latin typeface="楷体_GB2312" pitchFamily="49" charset="-122"/>
                <a:ea typeface="楷体_GB2312" pitchFamily="49" charset="-122"/>
              </a:rPr>
              <a:t>2</a:t>
            </a:r>
            <a:r>
              <a:rPr lang="zh-CN" altLang="en-US" sz="3200">
                <a:solidFill>
                  <a:schemeClr val="tx2"/>
                </a:solidFill>
                <a:latin typeface="楷体_GB2312" pitchFamily="49" charset="-122"/>
                <a:ea typeface="楷体_GB2312" pitchFamily="49" charset="-122"/>
              </a:rPr>
              <a:t>加求部分积之和。</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二进制模</a:t>
            </a:r>
            <a:r>
              <a:rPr lang="en-US" altLang="zh-CN" sz="3200">
                <a:solidFill>
                  <a:schemeClr val="tx2"/>
                </a:solidFill>
                <a:latin typeface="楷体_GB2312" pitchFamily="49" charset="-122"/>
                <a:ea typeface="楷体_GB2312" pitchFamily="49" charset="-122"/>
              </a:rPr>
              <a:t>2</a:t>
            </a:r>
            <a:r>
              <a:rPr lang="zh-CN" altLang="en-US" sz="3200">
                <a:solidFill>
                  <a:schemeClr val="tx2"/>
                </a:solidFill>
                <a:latin typeface="楷体_GB2312" pitchFamily="49" charset="-122"/>
                <a:ea typeface="楷体_GB2312" pitchFamily="49" charset="-122"/>
              </a:rPr>
              <a:t>乘法计算过程形如十进制乘法的笔算过程。</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a:t>
            </a:r>
          </a:p>
        </p:txBody>
      </p:sp>
    </p:spTree>
    <p:extLst>
      <p:ext uri="{BB962C8B-B14F-4D97-AF65-F5344CB8AC3E}">
        <p14:creationId xmlns:p14="http://schemas.microsoft.com/office/powerpoint/2010/main" val="39657675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3187" name="矩形 2"/>
          <p:cNvSpPr>
            <a:spLocks noChangeArrowheads="1"/>
          </p:cNvSpPr>
          <p:nvPr/>
        </p:nvSpPr>
        <p:spPr bwMode="auto">
          <a:xfrm>
            <a:off x="714375" y="1785938"/>
            <a:ext cx="77866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chemeClr val="tx2"/>
                </a:solidFill>
                <a:latin typeface="楷体_GB2312" pitchFamily="49" charset="-122"/>
                <a:ea typeface="楷体_GB2312" pitchFamily="49" charset="-122"/>
              </a:rPr>
              <a:t>例：</a:t>
            </a:r>
            <a:r>
              <a:rPr lang="en-US" altLang="zh-CN" sz="3200" dirty="0">
                <a:solidFill>
                  <a:schemeClr val="tx2"/>
                </a:solidFill>
                <a:latin typeface="楷体_GB2312" pitchFamily="49" charset="-122"/>
                <a:ea typeface="楷体_GB2312" pitchFamily="49" charset="-122"/>
              </a:rPr>
              <a:t>1010</a:t>
            </a:r>
            <a:r>
              <a:rPr lang="zh-CN" altLang="en-US" sz="3200" dirty="0">
                <a:solidFill>
                  <a:schemeClr val="tx2"/>
                </a:solidFill>
                <a:latin typeface="楷体_GB2312" pitchFamily="49" charset="-122"/>
                <a:ea typeface="楷体_GB2312" pitchFamily="49" charset="-122"/>
              </a:rPr>
              <a:t>乘以</a:t>
            </a:r>
            <a:r>
              <a:rPr lang="en-US" altLang="zh-CN" sz="3200" dirty="0">
                <a:solidFill>
                  <a:schemeClr val="tx2"/>
                </a:solidFill>
                <a:latin typeface="宋体" pitchFamily="2" charset="-122"/>
                <a:ea typeface="宋体" pitchFamily="2" charset="-122"/>
              </a:rPr>
              <a:t>101</a:t>
            </a:r>
            <a:r>
              <a:rPr lang="zh-CN" altLang="en-US" sz="3200" dirty="0">
                <a:solidFill>
                  <a:schemeClr val="tx2"/>
                </a:solidFill>
                <a:latin typeface="宋体" pitchFamily="2" charset="-122"/>
                <a:ea typeface="宋体" pitchFamily="2" charset="-122"/>
              </a:rPr>
              <a:t>。（结果是</a:t>
            </a:r>
            <a:r>
              <a:rPr lang="en-US" altLang="zh-CN" sz="3200" dirty="0">
                <a:solidFill>
                  <a:schemeClr val="tx2"/>
                </a:solidFill>
                <a:latin typeface="宋体" pitchFamily="2" charset="-122"/>
                <a:ea typeface="宋体" pitchFamily="2" charset="-122"/>
              </a:rPr>
              <a:t>100010</a:t>
            </a:r>
            <a:r>
              <a:rPr lang="zh-CN" altLang="en-US"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	   	</a:t>
            </a:r>
          </a:p>
        </p:txBody>
      </p:sp>
      <p:pic>
        <p:nvPicPr>
          <p:cNvPr id="93188" name="图片 3" descr="模2乘.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86063" y="2500313"/>
            <a:ext cx="2357437" cy="359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圆角矩形标注 2"/>
              <p:cNvSpPr/>
              <p:nvPr/>
            </p:nvSpPr>
            <p:spPr bwMode="auto">
              <a:xfrm>
                <a:off x="6156175" y="3887450"/>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1010</a:t>
                </a:r>
                <a14:m>
                  <m:oMath xmlns:m="http://schemas.openxmlformats.org/officeDocument/2006/math">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m:t>
                    </m:r>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𝟏𝟎𝟏𝟎</m:t>
                    </m:r>
                  </m:oMath>
                </a14:m>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mc:Choice>
        <mc:Fallback xmlns="">
          <p:sp>
            <p:nvSpPr>
              <p:cNvPr id="3" name="圆角矩形标注 2"/>
              <p:cNvSpPr>
                <a:spLocks noRot="1" noChangeAspect="1" noMove="1" noResize="1" noEditPoints="1" noAdjustHandles="1" noChangeArrowheads="1" noChangeShapeType="1" noTextEdit="1"/>
              </p:cNvSpPr>
              <p:nvPr/>
            </p:nvSpPr>
            <p:spPr bwMode="auto">
              <a:xfrm>
                <a:off x="6156175" y="3887450"/>
                <a:ext cx="2344887" cy="374571"/>
              </a:xfrm>
              <a:prstGeom prst="wedgeRoundRectCallout">
                <a:avLst>
                  <a:gd name="adj1" fmla="val -112441"/>
                  <a:gd name="adj2" fmla="val -14998"/>
                  <a:gd name="adj3" fmla="val 16667"/>
                </a:avLst>
              </a:prstGeom>
              <a:blipFill rotWithShape="1">
                <a:blip r:embed="rId4"/>
                <a:stretch>
                  <a:fillRect b="-16393"/>
                </a:stretch>
              </a:blipFill>
              <a:ln w="9525" cap="flat" cmpd="sng" algn="ctr">
                <a:noFill/>
                <a:prstDash val="solid"/>
                <a:round/>
                <a:headEnd type="none" w="sm" len="sm"/>
                <a:tailEnd type="none" w="sm" len="sm"/>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圆角矩形标注 5"/>
              <p:cNvSpPr/>
              <p:nvPr/>
            </p:nvSpPr>
            <p:spPr bwMode="auto">
              <a:xfrm>
                <a:off x="5940152" y="4509120"/>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1010</a:t>
                </a:r>
                <a14:m>
                  <m:oMath xmlns:m="http://schemas.openxmlformats.org/officeDocument/2006/math">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𝟎</m:t>
                    </m:r>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𝟎𝟎𝟎𝟎</m:t>
                    </m:r>
                  </m:oMath>
                </a14:m>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mc:Choice>
        <mc:Fallback xmlns="">
          <p:sp>
            <p:nvSpPr>
              <p:cNvPr id="6" name="圆角矩形标注 5"/>
              <p:cNvSpPr>
                <a:spLocks noRot="1" noChangeAspect="1" noMove="1" noResize="1" noEditPoints="1" noAdjustHandles="1" noChangeArrowheads="1" noChangeShapeType="1" noTextEdit="1"/>
              </p:cNvSpPr>
              <p:nvPr/>
            </p:nvSpPr>
            <p:spPr bwMode="auto">
              <a:xfrm>
                <a:off x="5940152" y="4509120"/>
                <a:ext cx="2344887" cy="374571"/>
              </a:xfrm>
              <a:prstGeom prst="wedgeRoundRectCallout">
                <a:avLst>
                  <a:gd name="adj1" fmla="val -112441"/>
                  <a:gd name="adj2" fmla="val -14998"/>
                  <a:gd name="adj3" fmla="val 16667"/>
                </a:avLst>
              </a:prstGeom>
              <a:blipFill rotWithShape="1">
                <a:blip r:embed="rId5"/>
                <a:stretch>
                  <a:fillRect b="-16393"/>
                </a:stretch>
              </a:blipFill>
              <a:ln w="9525" cap="flat" cmpd="sng" algn="ctr">
                <a:noFill/>
                <a:prstDash val="solid"/>
                <a:round/>
                <a:headEnd type="none" w="sm" len="sm"/>
                <a:tailEnd type="none" w="sm" len="sm"/>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圆角矩形标注 6"/>
              <p:cNvSpPr/>
              <p:nvPr/>
            </p:nvSpPr>
            <p:spPr bwMode="auto">
              <a:xfrm>
                <a:off x="5724128" y="5070653"/>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1010</a:t>
                </a:r>
                <a14:m>
                  <m:oMath xmlns:m="http://schemas.openxmlformats.org/officeDocument/2006/math">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m:t>
                    </m:r>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𝟏𝟎𝟏𝟎</m:t>
                    </m:r>
                  </m:oMath>
                </a14:m>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mc:Choice>
        <mc:Fallback xmlns="">
          <p:sp>
            <p:nvSpPr>
              <p:cNvPr id="7" name="圆角矩形标注 6"/>
              <p:cNvSpPr>
                <a:spLocks noRot="1" noChangeAspect="1" noMove="1" noResize="1" noEditPoints="1" noAdjustHandles="1" noChangeArrowheads="1" noChangeShapeType="1" noTextEdit="1"/>
              </p:cNvSpPr>
              <p:nvPr/>
            </p:nvSpPr>
            <p:spPr bwMode="auto">
              <a:xfrm>
                <a:off x="5724128" y="5070653"/>
                <a:ext cx="2344887" cy="374571"/>
              </a:xfrm>
              <a:prstGeom prst="wedgeRoundRectCallout">
                <a:avLst>
                  <a:gd name="adj1" fmla="val -112441"/>
                  <a:gd name="adj2" fmla="val -14998"/>
                  <a:gd name="adj3" fmla="val 16667"/>
                </a:avLst>
              </a:prstGeom>
              <a:blipFill rotWithShape="1">
                <a:blip r:embed="rId6"/>
                <a:stretch>
                  <a:fillRect b="-16393"/>
                </a:stretch>
              </a:blipFill>
              <a:ln w="9525" cap="flat" cmpd="sng" algn="ctr">
                <a:noFill/>
                <a:prstDash val="solid"/>
                <a:round/>
                <a:headEnd type="none" w="sm" len="sm"/>
                <a:tailEnd type="none" w="sm" len="sm"/>
              </a:ln>
              <a:effectLst/>
            </p:spPr>
            <p:txBody>
              <a:bodyPr/>
              <a:lstStyle/>
              <a:p>
                <a:r>
                  <a:rPr lang="zh-CN" altLang="en-US">
                    <a:noFill/>
                  </a:rPr>
                  <a:t> </a:t>
                </a:r>
              </a:p>
            </p:txBody>
          </p:sp>
        </mc:Fallback>
      </mc:AlternateContent>
      <p:sp>
        <p:nvSpPr>
          <p:cNvPr id="8" name="圆角矩形标注 7"/>
          <p:cNvSpPr/>
          <p:nvPr/>
        </p:nvSpPr>
        <p:spPr bwMode="auto">
          <a:xfrm>
            <a:off x="6228184" y="5661248"/>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sz="1600" dirty="0">
                <a:solidFill>
                  <a:schemeClr val="tx2"/>
                </a:solidFill>
                <a:latin typeface="Arial" charset="0"/>
                <a:ea typeface="华文新魏" pitchFamily="2" charset="-122"/>
              </a:rPr>
              <a:t>模</a:t>
            </a:r>
            <a:r>
              <a:rPr lang="en-US" altLang="zh-CN" sz="1600" dirty="0">
                <a:solidFill>
                  <a:schemeClr val="tx2"/>
                </a:solidFill>
                <a:latin typeface="Arial" charset="0"/>
                <a:ea typeface="华文新魏" pitchFamily="2" charset="-122"/>
              </a:rPr>
              <a:t>2</a:t>
            </a:r>
            <a:r>
              <a:rPr lang="zh-CN" altLang="en-US" sz="1600" dirty="0">
                <a:solidFill>
                  <a:schemeClr val="tx2"/>
                </a:solidFill>
                <a:latin typeface="Arial" charset="0"/>
                <a:ea typeface="华文新魏" pitchFamily="2" charset="-122"/>
              </a:rPr>
              <a:t>加法的结果</a:t>
            </a:r>
            <a:endParaRPr kumimoji="0" lang="zh-CN" altLang="en-US" sz="1600" i="0" u="none" strike="noStrike" cap="none" normalizeH="0" baseline="0" dirty="0">
              <a:ln>
                <a:noFill/>
              </a:ln>
              <a:solidFill>
                <a:schemeClr val="tx2"/>
              </a:solidFill>
              <a:effectLst/>
              <a:latin typeface="Arial" charset="0"/>
              <a:ea typeface="华文新魏" pitchFamily="2" charset="-122"/>
            </a:endParaRPr>
          </a:p>
        </p:txBody>
      </p:sp>
    </p:spTree>
    <p:extLst>
      <p:ext uri="{BB962C8B-B14F-4D97-AF65-F5344CB8AC3E}">
        <p14:creationId xmlns:p14="http://schemas.microsoft.com/office/powerpoint/2010/main" val="15128055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矩形 1"/>
          <p:cNvSpPr>
            <a:spLocks noChangeArrowheads="1"/>
          </p:cNvSpPr>
          <p:nvPr/>
        </p:nvSpPr>
        <p:spPr bwMode="auto">
          <a:xfrm>
            <a:off x="785813" y="1714500"/>
            <a:ext cx="77152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rgbClr val="FF0000"/>
                </a:solidFill>
                <a:latin typeface="楷体_GB2312" pitchFamily="49" charset="-122"/>
                <a:ea typeface="楷体_GB2312" pitchFamily="49" charset="-122"/>
              </a:rPr>
              <a:t>模</a:t>
            </a:r>
            <a:r>
              <a:rPr lang="en-US" altLang="zh-CN" sz="3200" dirty="0">
                <a:solidFill>
                  <a:srgbClr val="FF0000"/>
                </a:solidFill>
                <a:latin typeface="楷体_GB2312" pitchFamily="49" charset="-122"/>
                <a:ea typeface="楷体_GB2312" pitchFamily="49" charset="-122"/>
              </a:rPr>
              <a:t>2</a:t>
            </a:r>
            <a:r>
              <a:rPr lang="zh-CN" altLang="en-US" sz="3200" dirty="0">
                <a:solidFill>
                  <a:srgbClr val="FF0000"/>
                </a:solidFill>
                <a:latin typeface="楷体_GB2312" pitchFamily="49" charset="-122"/>
                <a:ea typeface="楷体_GB2312" pitchFamily="49" charset="-122"/>
              </a:rPr>
              <a:t>除</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按模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减求部分余数。每求一位商应使部分余数减少一位。上商的原则是：</a:t>
            </a:r>
            <a:r>
              <a:rPr lang="zh-CN" altLang="en-US" sz="3200" dirty="0">
                <a:solidFill>
                  <a:srgbClr val="FF0000"/>
                </a:solidFill>
                <a:latin typeface="楷体_GB2312" pitchFamily="49" charset="-122"/>
                <a:ea typeface="楷体_GB2312" pitchFamily="49" charset="-122"/>
              </a:rPr>
              <a:t>当部分余数的首位为</a:t>
            </a:r>
            <a:r>
              <a:rPr lang="en-US" altLang="zh-CN" sz="3200" dirty="0">
                <a:solidFill>
                  <a:srgbClr val="FF0000"/>
                </a:solidFill>
                <a:latin typeface="楷体_GB2312" pitchFamily="49" charset="-122"/>
                <a:ea typeface="楷体_GB2312" pitchFamily="49" charset="-122"/>
              </a:rPr>
              <a:t>1</a:t>
            </a:r>
            <a:r>
              <a:rPr lang="zh-CN" altLang="en-US" sz="3200" dirty="0">
                <a:solidFill>
                  <a:srgbClr val="FF0000"/>
                </a:solidFill>
                <a:latin typeface="楷体_GB2312" pitchFamily="49" charset="-122"/>
                <a:ea typeface="楷体_GB2312" pitchFamily="49" charset="-122"/>
              </a:rPr>
              <a:t>时，商取</a:t>
            </a:r>
            <a:r>
              <a:rPr lang="en-US" altLang="zh-CN" sz="3200" dirty="0">
                <a:solidFill>
                  <a:srgbClr val="FF0000"/>
                </a:solidFill>
                <a:latin typeface="楷体_GB2312" pitchFamily="49" charset="-122"/>
                <a:ea typeface="楷体_GB2312" pitchFamily="49" charset="-122"/>
              </a:rPr>
              <a:t>1</a:t>
            </a:r>
            <a:r>
              <a:rPr lang="zh-CN" altLang="en-US" sz="3200" dirty="0">
                <a:solidFill>
                  <a:srgbClr val="FF0000"/>
                </a:solidFill>
                <a:latin typeface="楷体_GB2312" pitchFamily="49" charset="-122"/>
                <a:ea typeface="楷体_GB2312" pitchFamily="49" charset="-122"/>
              </a:rPr>
              <a:t>；当部分余数的首位为</a:t>
            </a:r>
            <a:r>
              <a:rPr lang="en-US" altLang="zh-CN" sz="3200" dirty="0">
                <a:solidFill>
                  <a:srgbClr val="FF0000"/>
                </a:solidFill>
                <a:latin typeface="楷体_GB2312" pitchFamily="49" charset="-122"/>
                <a:ea typeface="楷体_GB2312" pitchFamily="49" charset="-122"/>
              </a:rPr>
              <a:t>0</a:t>
            </a:r>
            <a:r>
              <a:rPr lang="zh-CN" altLang="en-US" sz="3200" dirty="0">
                <a:solidFill>
                  <a:srgbClr val="FF0000"/>
                </a:solidFill>
                <a:latin typeface="楷体_GB2312" pitchFamily="49" charset="-122"/>
                <a:ea typeface="楷体_GB2312" pitchFamily="49" charset="-122"/>
              </a:rPr>
              <a:t>时，商取</a:t>
            </a:r>
            <a:r>
              <a:rPr lang="en-US" altLang="zh-CN" sz="3200" dirty="0">
                <a:solidFill>
                  <a:srgbClr val="FF0000"/>
                </a:solidFill>
                <a:latin typeface="楷体_GB2312" pitchFamily="49" charset="-122"/>
                <a:ea typeface="楷体_GB2312" pitchFamily="49" charset="-122"/>
              </a:rPr>
              <a:t>0</a:t>
            </a:r>
            <a:r>
              <a:rPr lang="zh-CN" altLang="en-US" sz="3200" dirty="0">
                <a:solidFill>
                  <a:srgbClr val="FF0000"/>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当部分的余数的位数小于除数的位数时，该余数即为最后余数。</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除法的计算过程形如十进制除法的笔算过程。 </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36170125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5235" name="矩形 2"/>
          <p:cNvSpPr>
            <a:spLocks noChangeArrowheads="1"/>
          </p:cNvSpPr>
          <p:nvPr/>
        </p:nvSpPr>
        <p:spPr bwMode="auto">
          <a:xfrm>
            <a:off x="714375" y="1785938"/>
            <a:ext cx="7786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1110</a:t>
            </a:r>
            <a:r>
              <a:rPr lang="zh-CN" altLang="en-US" sz="3200" dirty="0">
                <a:solidFill>
                  <a:schemeClr val="tx2"/>
                </a:solidFill>
                <a:latin typeface="楷体_GB2312" pitchFamily="49" charset="-122"/>
                <a:ea typeface="楷体_GB2312" pitchFamily="49" charset="-122"/>
              </a:rPr>
              <a:t>除以</a:t>
            </a:r>
            <a:r>
              <a:rPr lang="en-US" altLang="zh-CN" sz="3200" dirty="0">
                <a:solidFill>
                  <a:schemeClr val="tx2"/>
                </a:solidFill>
                <a:latin typeface="宋体" pitchFamily="2" charset="-122"/>
                <a:ea typeface="宋体" pitchFamily="2" charset="-122"/>
              </a:rPr>
              <a:t>101</a:t>
            </a:r>
            <a:r>
              <a:rPr lang="zh-CN" altLang="en-US" sz="3200" dirty="0">
                <a:solidFill>
                  <a:schemeClr val="tx2"/>
                </a:solidFill>
                <a:latin typeface="宋体" pitchFamily="2" charset="-122"/>
                <a:ea typeface="宋体" pitchFamily="2" charset="-122"/>
              </a:rPr>
              <a:t>。（结果是</a:t>
            </a:r>
            <a:r>
              <a:rPr lang="en-US" altLang="zh-CN" sz="3200" dirty="0">
                <a:solidFill>
                  <a:schemeClr val="tx2"/>
                </a:solidFill>
                <a:latin typeface="宋体" pitchFamily="2" charset="-122"/>
                <a:ea typeface="宋体" pitchFamily="2" charset="-122"/>
              </a:rPr>
              <a:t>11</a:t>
            </a:r>
            <a:r>
              <a:rPr lang="zh-CN" altLang="en-US" sz="3200" dirty="0">
                <a:solidFill>
                  <a:schemeClr val="tx2"/>
                </a:solidFill>
                <a:latin typeface="宋体" pitchFamily="2" charset="-122"/>
                <a:ea typeface="宋体" pitchFamily="2" charset="-122"/>
              </a:rPr>
              <a:t>余</a:t>
            </a:r>
            <a:r>
              <a:rPr lang="en-US" altLang="zh-CN" sz="3200" dirty="0">
                <a:solidFill>
                  <a:schemeClr val="tx2"/>
                </a:solidFill>
                <a:latin typeface="宋体" pitchFamily="2" charset="-122"/>
                <a:ea typeface="宋体" pitchFamily="2" charset="-122"/>
              </a:rPr>
              <a:t>01</a:t>
            </a:r>
            <a:r>
              <a:rPr lang="zh-CN" altLang="en-US" sz="3200" dirty="0">
                <a:solidFill>
                  <a:schemeClr val="tx2"/>
                </a:solidFill>
                <a:latin typeface="宋体" pitchFamily="2" charset="-122"/>
                <a:ea typeface="宋体" pitchFamily="2" charset="-122"/>
              </a:rPr>
              <a:t>）</a:t>
            </a:r>
            <a:endParaRPr lang="zh-CN" altLang="en-US" sz="3200" dirty="0">
              <a:solidFill>
                <a:schemeClr val="tx2"/>
              </a:solidFill>
              <a:latin typeface="楷体_GB2312" pitchFamily="49" charset="-122"/>
              <a:ea typeface="楷体_GB2312" pitchFamily="49" charset="-122"/>
            </a:endParaRPr>
          </a:p>
        </p:txBody>
      </p:sp>
      <p:pic>
        <p:nvPicPr>
          <p:cNvPr id="95236" name="图片 4" descr="模2除.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370386"/>
            <a:ext cx="2643187"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圆角矩形标注 4"/>
              <p:cNvSpPr/>
              <p:nvPr/>
            </p:nvSpPr>
            <p:spPr bwMode="auto">
              <a:xfrm>
                <a:off x="5580112" y="3861048"/>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101</a:t>
                </a:r>
                <a14:m>
                  <m:oMath xmlns:m="http://schemas.openxmlformats.org/officeDocument/2006/math">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m:t>
                    </m:r>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𝟏𝟎𝟏</m:t>
                    </m:r>
                  </m:oMath>
                </a14:m>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mc:Choice>
        <mc:Fallback xmlns="">
          <p:sp>
            <p:nvSpPr>
              <p:cNvPr id="5" name="圆角矩形标注 4"/>
              <p:cNvSpPr>
                <a:spLocks noRot="1" noChangeAspect="1" noMove="1" noResize="1" noEditPoints="1" noAdjustHandles="1" noChangeArrowheads="1" noChangeShapeType="1" noTextEdit="1"/>
              </p:cNvSpPr>
              <p:nvPr/>
            </p:nvSpPr>
            <p:spPr bwMode="auto">
              <a:xfrm>
                <a:off x="5580112" y="3861048"/>
                <a:ext cx="2344887" cy="374571"/>
              </a:xfrm>
              <a:prstGeom prst="wedgeRoundRectCallout">
                <a:avLst>
                  <a:gd name="adj1" fmla="val -112441"/>
                  <a:gd name="adj2" fmla="val -14998"/>
                  <a:gd name="adj3" fmla="val 16667"/>
                </a:avLst>
              </a:prstGeom>
              <a:blipFill rotWithShape="1">
                <a:blip r:embed="rId4"/>
                <a:stretch>
                  <a:fillRect b="-16129"/>
                </a:stretch>
              </a:blipFill>
              <a:ln w="9525" cap="flat" cmpd="sng" algn="ctr">
                <a:noFill/>
                <a:prstDash val="solid"/>
                <a:round/>
                <a:headEnd type="none" w="sm" len="sm"/>
                <a:tailEnd type="none" w="sm" len="sm"/>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圆角矩形标注 5"/>
              <p:cNvSpPr/>
              <p:nvPr/>
            </p:nvSpPr>
            <p:spPr bwMode="auto">
              <a:xfrm>
                <a:off x="5652120" y="5070653"/>
                <a:ext cx="2344887" cy="374571"/>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101</a:t>
                </a:r>
                <a14:m>
                  <m:oMath xmlns:m="http://schemas.openxmlformats.org/officeDocument/2006/math">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m:t>
                    </m:r>
                    <m:r>
                      <a:rPr kumimoji="0" lang="en-US" altLang="zh-CN" sz="1600" b="1" i="1" u="none" strike="noStrike" cap="none" normalizeH="0" baseline="0" smtClean="0">
                        <a:ln>
                          <a:noFill/>
                        </a:ln>
                        <a:solidFill>
                          <a:schemeClr val="tx2"/>
                        </a:solidFill>
                        <a:effectLst/>
                        <a:latin typeface="Cambria Math"/>
                        <a:ea typeface="Cambria Math"/>
                      </a:rPr>
                      <m:t>=</m:t>
                    </m:r>
                    <m:r>
                      <a:rPr kumimoji="0" lang="en-US" altLang="zh-CN" sz="1600" b="1" i="1" u="none" strike="noStrike" cap="none" normalizeH="0" baseline="0" smtClean="0">
                        <a:ln>
                          <a:noFill/>
                        </a:ln>
                        <a:solidFill>
                          <a:schemeClr val="tx2"/>
                        </a:solidFill>
                        <a:effectLst/>
                        <a:latin typeface="Cambria Math"/>
                        <a:ea typeface="Cambria Math"/>
                      </a:rPr>
                      <m:t>𝟏𝟎𝟏</m:t>
                    </m:r>
                  </m:oMath>
                </a14:m>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mc:Choice>
        <mc:Fallback xmlns="">
          <p:sp>
            <p:nvSpPr>
              <p:cNvPr id="6" name="圆角矩形标注 5"/>
              <p:cNvSpPr>
                <a:spLocks noRot="1" noChangeAspect="1" noMove="1" noResize="1" noEditPoints="1" noAdjustHandles="1" noChangeArrowheads="1" noChangeShapeType="1" noTextEdit="1"/>
              </p:cNvSpPr>
              <p:nvPr/>
            </p:nvSpPr>
            <p:spPr bwMode="auto">
              <a:xfrm>
                <a:off x="5652120" y="5070653"/>
                <a:ext cx="2344887" cy="374571"/>
              </a:xfrm>
              <a:prstGeom prst="wedgeRoundRectCallout">
                <a:avLst>
                  <a:gd name="adj1" fmla="val -112441"/>
                  <a:gd name="adj2" fmla="val -14998"/>
                  <a:gd name="adj3" fmla="val 16667"/>
                </a:avLst>
              </a:prstGeom>
              <a:blipFill rotWithShape="1">
                <a:blip r:embed="rId5"/>
                <a:stretch>
                  <a:fillRect b="-16393"/>
                </a:stretch>
              </a:blipFill>
              <a:ln w="9525" cap="flat" cmpd="sng" algn="ctr">
                <a:noFill/>
                <a:prstDash val="solid"/>
                <a:round/>
                <a:headEnd type="none" w="sm" len="sm"/>
                <a:tailEnd type="none" w="sm" len="sm"/>
              </a:ln>
              <a:effectLst/>
            </p:spPr>
            <p:txBody>
              <a:bodyPr/>
              <a:lstStyle/>
              <a:p>
                <a:r>
                  <a:rPr lang="zh-CN" altLang="en-US">
                    <a:noFill/>
                  </a:rPr>
                  <a:t> </a:t>
                </a:r>
              </a:p>
            </p:txBody>
          </p:sp>
        </mc:Fallback>
      </mc:AlternateContent>
      <p:sp>
        <p:nvSpPr>
          <p:cNvPr id="7" name="圆角矩形标注 6"/>
          <p:cNvSpPr/>
          <p:nvPr/>
        </p:nvSpPr>
        <p:spPr bwMode="auto">
          <a:xfrm>
            <a:off x="5652120" y="4366190"/>
            <a:ext cx="2344887" cy="646986"/>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sz="1600" b="1" dirty="0">
                <a:solidFill>
                  <a:schemeClr val="tx2"/>
                </a:solidFill>
                <a:latin typeface="Arial" charset="0"/>
                <a:ea typeface="华文新魏" pitchFamily="2" charset="-122"/>
              </a:rPr>
              <a:t>模</a:t>
            </a:r>
            <a:r>
              <a:rPr lang="en-US" altLang="zh-CN" sz="1600" b="1" dirty="0">
                <a:solidFill>
                  <a:schemeClr val="tx2"/>
                </a:solidFill>
                <a:latin typeface="Arial" charset="0"/>
                <a:ea typeface="华文新魏" pitchFamily="2" charset="-122"/>
              </a:rPr>
              <a:t>2</a:t>
            </a:r>
            <a:r>
              <a:rPr lang="zh-CN" altLang="en-US" sz="1600" b="1" dirty="0">
                <a:solidFill>
                  <a:schemeClr val="tx2"/>
                </a:solidFill>
                <a:latin typeface="Arial" charset="0"/>
                <a:ea typeface="华文新魏" pitchFamily="2" charset="-122"/>
              </a:rPr>
              <a:t>减法：</a:t>
            </a:r>
            <a:endParaRPr lang="en-US" altLang="zh-CN" sz="1600" b="1" dirty="0">
              <a:solidFill>
                <a:schemeClr val="tx2"/>
              </a:solidFill>
              <a:latin typeface="Arial" charset="0"/>
              <a:ea typeface="华文新魏" pitchFamily="2" charset="-122"/>
            </a:endParaRPr>
          </a:p>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111-101=010</a:t>
            </a:r>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p:sp>
        <p:nvSpPr>
          <p:cNvPr id="8" name="圆角矩形标注 7"/>
          <p:cNvSpPr/>
          <p:nvPr/>
        </p:nvSpPr>
        <p:spPr bwMode="auto">
          <a:xfrm>
            <a:off x="5652120" y="5590326"/>
            <a:ext cx="2344887" cy="646986"/>
          </a:xfrm>
          <a:prstGeom prst="wedgeRoundRectCallout">
            <a:avLst>
              <a:gd name="adj1" fmla="val -112441"/>
              <a:gd name="adj2" fmla="val -14998"/>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sz="1600" b="1" dirty="0">
                <a:solidFill>
                  <a:schemeClr val="tx2"/>
                </a:solidFill>
                <a:latin typeface="Arial" charset="0"/>
                <a:ea typeface="华文新魏" pitchFamily="2" charset="-122"/>
              </a:rPr>
              <a:t>模</a:t>
            </a:r>
            <a:r>
              <a:rPr lang="en-US" altLang="zh-CN" sz="1600" b="1" dirty="0">
                <a:solidFill>
                  <a:schemeClr val="tx2"/>
                </a:solidFill>
                <a:latin typeface="Arial" charset="0"/>
                <a:ea typeface="华文新魏" pitchFamily="2" charset="-122"/>
              </a:rPr>
              <a:t>2</a:t>
            </a:r>
            <a:r>
              <a:rPr lang="zh-CN" altLang="en-US" sz="1600" b="1" dirty="0">
                <a:solidFill>
                  <a:schemeClr val="tx2"/>
                </a:solidFill>
                <a:latin typeface="Arial" charset="0"/>
                <a:ea typeface="华文新魏" pitchFamily="2" charset="-122"/>
              </a:rPr>
              <a:t>减法：</a:t>
            </a:r>
            <a:endParaRPr lang="en-US" altLang="zh-CN" sz="1600" b="1" dirty="0">
              <a:solidFill>
                <a:schemeClr val="tx2"/>
              </a:solidFill>
              <a:latin typeface="Arial" charset="0"/>
              <a:ea typeface="华文新魏" pitchFamily="2" charset="-122"/>
            </a:endParaRPr>
          </a:p>
          <a:p>
            <a:pPr marL="0" marR="0" indent="0" algn="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2"/>
                </a:solidFill>
                <a:effectLst/>
                <a:latin typeface="Arial" charset="0"/>
                <a:ea typeface="华文新魏" pitchFamily="2" charset="-122"/>
              </a:rPr>
              <a:t>100-101=01</a:t>
            </a:r>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p:sp>
        <p:nvSpPr>
          <p:cNvPr id="9" name="圆角矩形标注 8"/>
          <p:cNvSpPr/>
          <p:nvPr/>
        </p:nvSpPr>
        <p:spPr bwMode="auto">
          <a:xfrm>
            <a:off x="-1984" y="3861048"/>
            <a:ext cx="2344887" cy="646986"/>
          </a:xfrm>
          <a:prstGeom prst="wedgeRoundRectCallout">
            <a:avLst>
              <a:gd name="adj1" fmla="val 82537"/>
              <a:gd name="adj2" fmla="val -107180"/>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algn="r" fontAlgn="base">
              <a:spcBef>
                <a:spcPct val="0"/>
              </a:spcBef>
              <a:spcAft>
                <a:spcPct val="0"/>
              </a:spcAft>
            </a:pPr>
            <a:r>
              <a:rPr lang="zh-CN" altLang="en-US" sz="1600" b="1" dirty="0">
                <a:solidFill>
                  <a:schemeClr val="tx2"/>
                </a:solidFill>
                <a:latin typeface="Arial" charset="0"/>
                <a:ea typeface="华文新魏" pitchFamily="2" charset="-122"/>
              </a:rPr>
              <a:t>当部分余数的首位为</a:t>
            </a:r>
            <a:r>
              <a:rPr lang="en-US" altLang="zh-CN" sz="1600" b="1" dirty="0">
                <a:solidFill>
                  <a:schemeClr val="tx2"/>
                </a:solidFill>
                <a:latin typeface="Arial" charset="0"/>
                <a:ea typeface="华文新魏" pitchFamily="2" charset="-122"/>
              </a:rPr>
              <a:t>1</a:t>
            </a:r>
            <a:r>
              <a:rPr lang="zh-CN" altLang="en-US" sz="1600" b="1" dirty="0">
                <a:solidFill>
                  <a:schemeClr val="tx2"/>
                </a:solidFill>
                <a:latin typeface="Arial" charset="0"/>
                <a:ea typeface="华文新魏" pitchFamily="2" charset="-122"/>
              </a:rPr>
              <a:t>时，商取</a:t>
            </a:r>
            <a:r>
              <a:rPr lang="en-US" altLang="zh-CN" sz="1600" b="1" dirty="0">
                <a:solidFill>
                  <a:schemeClr val="tx2"/>
                </a:solidFill>
                <a:latin typeface="Arial" charset="0"/>
                <a:ea typeface="华文新魏" pitchFamily="2" charset="-122"/>
              </a:rPr>
              <a:t>1</a:t>
            </a:r>
            <a:endParaRPr lang="zh-CN" altLang="en-US" sz="1600" b="1" dirty="0">
              <a:solidFill>
                <a:schemeClr val="tx2"/>
              </a:solidFill>
              <a:latin typeface="Arial" charset="0"/>
              <a:ea typeface="华文新魏" pitchFamily="2" charset="-122"/>
            </a:endParaRPr>
          </a:p>
        </p:txBody>
      </p:sp>
      <p:sp>
        <p:nvSpPr>
          <p:cNvPr id="10" name="圆角矩形标注 9"/>
          <p:cNvSpPr/>
          <p:nvPr/>
        </p:nvSpPr>
        <p:spPr bwMode="auto">
          <a:xfrm>
            <a:off x="210889" y="5014262"/>
            <a:ext cx="2344887" cy="646986"/>
          </a:xfrm>
          <a:prstGeom prst="wedgeRoundRectCallout">
            <a:avLst>
              <a:gd name="adj1" fmla="val 82537"/>
              <a:gd name="adj2" fmla="val -107180"/>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algn="r" fontAlgn="base">
              <a:spcBef>
                <a:spcPct val="0"/>
              </a:spcBef>
              <a:spcAft>
                <a:spcPct val="0"/>
              </a:spcAft>
            </a:pPr>
            <a:r>
              <a:rPr lang="zh-CN" altLang="en-US" sz="1600" b="1" dirty="0">
                <a:solidFill>
                  <a:schemeClr val="tx2"/>
                </a:solidFill>
                <a:latin typeface="Arial" charset="0"/>
                <a:ea typeface="华文新魏" pitchFamily="2" charset="-122"/>
              </a:rPr>
              <a:t>当部分余数的首位为</a:t>
            </a:r>
            <a:r>
              <a:rPr lang="en-US" altLang="zh-CN" sz="1600" b="1" dirty="0">
                <a:solidFill>
                  <a:schemeClr val="tx2"/>
                </a:solidFill>
                <a:latin typeface="Arial" charset="0"/>
                <a:ea typeface="华文新魏" pitchFamily="2" charset="-122"/>
              </a:rPr>
              <a:t>1</a:t>
            </a:r>
            <a:r>
              <a:rPr lang="zh-CN" altLang="en-US" sz="1600" b="1" dirty="0">
                <a:solidFill>
                  <a:schemeClr val="tx2"/>
                </a:solidFill>
                <a:latin typeface="Arial" charset="0"/>
                <a:ea typeface="华文新魏" pitchFamily="2" charset="-122"/>
              </a:rPr>
              <a:t>时，商取</a:t>
            </a:r>
            <a:r>
              <a:rPr lang="en-US" altLang="zh-CN" sz="1600" b="1" dirty="0">
                <a:solidFill>
                  <a:schemeClr val="tx2"/>
                </a:solidFill>
                <a:latin typeface="楷体_GB2312" pitchFamily="49" charset="-122"/>
                <a:ea typeface="楷体_GB2312" pitchFamily="49" charset="-122"/>
              </a:rPr>
              <a:t>1</a:t>
            </a:r>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p:spTree>
    <p:extLst>
      <p:ext uri="{BB962C8B-B14F-4D97-AF65-F5344CB8AC3E}">
        <p14:creationId xmlns:p14="http://schemas.microsoft.com/office/powerpoint/2010/main" val="5581383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95235" name="矩形 2"/>
              <p:cNvSpPr>
                <a:spLocks noChangeArrowheads="1"/>
              </p:cNvSpPr>
              <p:nvPr/>
            </p:nvSpPr>
            <p:spPr bwMode="auto">
              <a:xfrm>
                <a:off x="714375" y="1785938"/>
                <a:ext cx="7786688" cy="35858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1001</a:t>
                </a:r>
                <a:r>
                  <a:rPr lang="zh-CN" altLang="en-US" sz="3200" dirty="0">
                    <a:solidFill>
                      <a:schemeClr val="tx2"/>
                    </a:solidFill>
                    <a:latin typeface="楷体_GB2312" pitchFamily="49" charset="-122"/>
                    <a:ea typeface="楷体_GB2312" pitchFamily="49" charset="-122"/>
                  </a:rPr>
                  <a:t>除以</a:t>
                </a:r>
                <a:r>
                  <a:rPr lang="en-US" altLang="zh-CN" sz="3200" dirty="0">
                    <a:solidFill>
                      <a:schemeClr val="tx2"/>
                    </a:solidFill>
                    <a:latin typeface="宋体" pitchFamily="2" charset="-122"/>
                    <a:ea typeface="宋体" pitchFamily="2" charset="-122"/>
                  </a:rPr>
                  <a:t>101</a:t>
                </a:r>
                <a:r>
                  <a:rPr lang="zh-CN" altLang="en-US" sz="3200" dirty="0">
                    <a:solidFill>
                      <a:schemeClr val="tx2"/>
                    </a:solidFill>
                    <a:latin typeface="宋体" pitchFamily="2" charset="-122"/>
                    <a:ea typeface="宋体" pitchFamily="2" charset="-122"/>
                  </a:rPr>
                  <a:t>。（结果是</a:t>
                </a:r>
                <a:r>
                  <a:rPr lang="en-US" altLang="zh-CN" sz="3200" dirty="0">
                    <a:solidFill>
                      <a:schemeClr val="tx2"/>
                    </a:solidFill>
                    <a:latin typeface="宋体" pitchFamily="2" charset="-122"/>
                    <a:ea typeface="宋体" pitchFamily="2" charset="-122"/>
                  </a:rPr>
                  <a:t>10</a:t>
                </a:r>
                <a:r>
                  <a:rPr lang="zh-CN" altLang="en-US" sz="3200" dirty="0">
                    <a:solidFill>
                      <a:schemeClr val="tx2"/>
                    </a:solidFill>
                    <a:latin typeface="宋体" pitchFamily="2" charset="-122"/>
                    <a:ea typeface="宋体" pitchFamily="2" charset="-122"/>
                  </a:rPr>
                  <a:t>余</a:t>
                </a:r>
                <a:r>
                  <a:rPr lang="en-US" altLang="zh-CN" sz="3200" dirty="0">
                    <a:solidFill>
                      <a:schemeClr val="tx2"/>
                    </a:solidFill>
                    <a:latin typeface="宋体" pitchFamily="2" charset="-122"/>
                    <a:ea typeface="宋体" pitchFamily="2" charset="-122"/>
                  </a:rPr>
                  <a:t>11</a:t>
                </a:r>
                <a:r>
                  <a:rPr lang="zh-CN" altLang="en-US" sz="3200" dirty="0">
                    <a:solidFill>
                      <a:schemeClr val="tx2"/>
                    </a:solidFill>
                    <a:latin typeface="宋体" pitchFamily="2" charset="-122"/>
                    <a:ea typeface="宋体" pitchFamily="2" charset="-122"/>
                  </a:rPr>
                  <a:t>）</a:t>
                </a:r>
                <a:endParaRPr lang="en-US" altLang="zh-CN" sz="3200" dirty="0">
                  <a:solidFill>
                    <a:schemeClr val="tx2"/>
                  </a:solidFill>
                  <a:latin typeface="宋体" pitchFamily="2" charset="-122"/>
                  <a:ea typeface="宋体" pitchFamily="2" charset="-122"/>
                </a:endParaRPr>
              </a:p>
              <a:p>
                <a:pPr algn="l" eaLnBrk="1" hangingPunct="1"/>
                <a:r>
                  <a:rPr lang="en-US" altLang="zh-CN" sz="3200" dirty="0">
                    <a:solidFill>
                      <a:schemeClr val="tx2"/>
                    </a:solidFill>
                    <a:latin typeface="宋体" pitchFamily="2" charset="-122"/>
                    <a:ea typeface="宋体" pitchFamily="2" charset="-122"/>
                  </a:rPr>
                  <a:t>                     10</a:t>
                </a:r>
              </a:p>
              <a:p>
                <a:pPr algn="ctr" eaLnBrk="1" hangingPunct="1"/>
                <a:r>
                  <a:rPr lang="en-US" altLang="zh-CN" sz="3200" b="0" dirty="0">
                    <a:solidFill>
                      <a:schemeClr val="tx2"/>
                    </a:solidFill>
                    <a:ea typeface="宋体" pitchFamily="2" charset="-122"/>
                  </a:rPr>
                  <a:t>101</a:t>
                </a:r>
                <a14:m>
                  <m:oMath xmlns:m="http://schemas.openxmlformats.org/officeDocument/2006/math">
                    <m:rad>
                      <m:radPr>
                        <m:degHide m:val="on"/>
                        <m:ctrlPr>
                          <a:rPr lang="en-US" altLang="zh-CN" sz="3200" i="1" smtClean="0">
                            <a:solidFill>
                              <a:schemeClr val="tx2"/>
                            </a:solidFill>
                            <a:latin typeface="Cambria Math" panose="02040503050406030204" pitchFamily="18" charset="0"/>
                            <a:ea typeface="宋体" pitchFamily="2" charset="-122"/>
                          </a:rPr>
                        </m:ctrlPr>
                      </m:radPr>
                      <m:deg/>
                      <m:e>
                        <m:r>
                          <a:rPr lang="en-US" altLang="zh-CN" sz="3200" b="0" i="1" smtClean="0">
                            <a:solidFill>
                              <a:schemeClr val="tx2"/>
                            </a:solidFill>
                            <a:latin typeface="Cambria Math"/>
                            <a:ea typeface="宋体" pitchFamily="2" charset="-122"/>
                          </a:rPr>
                          <m:t>1001</m:t>
                        </m:r>
                      </m:e>
                    </m:rad>
                  </m:oMath>
                </a14:m>
                <a:endParaRPr lang="en-US" altLang="zh-CN" sz="3200" dirty="0">
                  <a:solidFill>
                    <a:schemeClr val="tx2"/>
                  </a:solidFill>
                  <a:latin typeface="宋体" pitchFamily="2" charset="-122"/>
                  <a:ea typeface="宋体" pitchFamily="2" charset="-122"/>
                </a:endParaRPr>
              </a:p>
              <a:p>
                <a:pPr algn="l" eaLnBrk="1" hangingPunct="1"/>
                <a:r>
                  <a:rPr lang="en-US" altLang="zh-CN" sz="3200" dirty="0">
                    <a:solidFill>
                      <a:schemeClr val="tx2"/>
                    </a:solidFill>
                    <a:latin typeface="楷体_GB2312" pitchFamily="49" charset="-122"/>
                    <a:ea typeface="楷体_GB2312" pitchFamily="49" charset="-122"/>
                  </a:rPr>
                  <a:t>                 </a:t>
                </a:r>
                <a:r>
                  <a:rPr lang="en-US" altLang="zh-CN" sz="3200" u="sng" dirty="0">
                    <a:solidFill>
                      <a:schemeClr val="tx2"/>
                    </a:solidFill>
                    <a:latin typeface="楷体_GB2312" pitchFamily="49" charset="-122"/>
                    <a:ea typeface="楷体_GB2312" pitchFamily="49" charset="-122"/>
                  </a:rPr>
                  <a:t>  101</a:t>
                </a:r>
              </a:p>
              <a:p>
                <a:pPr algn="l" eaLnBrk="1" hangingPunct="1"/>
                <a:r>
                  <a:rPr lang="en-US" altLang="zh-CN" sz="3200" dirty="0">
                    <a:solidFill>
                      <a:schemeClr val="tx2"/>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011</a:t>
                </a:r>
              </a:p>
              <a:p>
                <a:pPr algn="l" eaLnBrk="1" hangingPunct="1"/>
                <a:r>
                  <a:rPr lang="en-US" altLang="zh-CN" sz="3200" dirty="0">
                    <a:solidFill>
                      <a:schemeClr val="tx2"/>
                    </a:solidFill>
                    <a:latin typeface="楷体_GB2312" pitchFamily="49" charset="-122"/>
                    <a:ea typeface="楷体_GB2312" pitchFamily="49" charset="-122"/>
                  </a:rPr>
                  <a:t>                 </a:t>
                </a:r>
                <a:r>
                  <a:rPr lang="en-US" altLang="zh-CN" sz="3200" u="sng" dirty="0">
                    <a:solidFill>
                      <a:schemeClr val="tx2"/>
                    </a:solidFill>
                    <a:latin typeface="楷体_GB2312" pitchFamily="49" charset="-122"/>
                    <a:ea typeface="楷体_GB2312" pitchFamily="49" charset="-122"/>
                  </a:rPr>
                  <a:t>   000</a:t>
                </a:r>
              </a:p>
              <a:p>
                <a:pPr algn="l" eaLnBrk="1" hangingPunct="1"/>
                <a:r>
                  <a:rPr lang="en-US" altLang="zh-CN" sz="3200" dirty="0">
                    <a:solidFill>
                      <a:schemeClr val="tx2"/>
                    </a:solidFill>
                    <a:latin typeface="楷体_GB2312" pitchFamily="49" charset="-122"/>
                    <a:ea typeface="楷体_GB2312" pitchFamily="49" charset="-122"/>
                  </a:rPr>
                  <a:t>                     11</a:t>
                </a:r>
                <a:endParaRPr lang="zh-CN" altLang="en-US" sz="3200" dirty="0">
                  <a:solidFill>
                    <a:schemeClr val="tx2"/>
                  </a:solidFill>
                  <a:latin typeface="楷体_GB2312" pitchFamily="49" charset="-122"/>
                  <a:ea typeface="楷体_GB2312" pitchFamily="49" charset="-122"/>
                </a:endParaRPr>
              </a:p>
            </p:txBody>
          </p:sp>
        </mc:Choice>
        <mc:Fallback xmlns="">
          <p:sp>
            <p:nvSpPr>
              <p:cNvPr id="95235" name="矩形 2"/>
              <p:cNvSpPr>
                <a:spLocks noRot="1" noChangeAspect="1" noMove="1" noResize="1" noEditPoints="1" noAdjustHandles="1" noChangeArrowheads="1" noChangeShapeType="1" noTextEdit="1"/>
              </p:cNvSpPr>
              <p:nvPr/>
            </p:nvSpPr>
            <p:spPr bwMode="auto">
              <a:xfrm>
                <a:off x="714375" y="1785938"/>
                <a:ext cx="7786688" cy="3585853"/>
              </a:xfrm>
              <a:prstGeom prst="rect">
                <a:avLst/>
              </a:prstGeom>
              <a:blipFill rotWithShape="1">
                <a:blip r:embed="rId3"/>
                <a:stretch>
                  <a:fillRect l="-1956" t="-2211" b="-45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 name="圆角矩形标注 8"/>
          <p:cNvSpPr/>
          <p:nvPr/>
        </p:nvSpPr>
        <p:spPr bwMode="auto">
          <a:xfrm>
            <a:off x="1363017" y="3718118"/>
            <a:ext cx="2344887" cy="646986"/>
          </a:xfrm>
          <a:prstGeom prst="wedgeRoundRectCallout">
            <a:avLst>
              <a:gd name="adj1" fmla="val 89964"/>
              <a:gd name="adj2" fmla="val 12126"/>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sz="1600" b="1" dirty="0">
                <a:solidFill>
                  <a:schemeClr val="tx2"/>
                </a:solidFill>
                <a:latin typeface="Arial" charset="0"/>
                <a:ea typeface="华文新魏" pitchFamily="2" charset="-122"/>
              </a:rPr>
              <a:t>注意：差的最高位不参与下步运算</a:t>
            </a:r>
            <a:endParaRPr kumimoji="0" lang="zh-CN" altLang="en-US" sz="1600" b="1" i="0" u="none" strike="noStrike" cap="none" normalizeH="0" baseline="0" dirty="0">
              <a:ln>
                <a:noFill/>
              </a:ln>
              <a:solidFill>
                <a:schemeClr val="tx2"/>
              </a:solidFill>
              <a:effectLst/>
              <a:latin typeface="Arial" charset="0"/>
              <a:ea typeface="华文新魏" pitchFamily="2" charset="-122"/>
            </a:endParaRPr>
          </a:p>
        </p:txBody>
      </p:sp>
      <p:sp>
        <p:nvSpPr>
          <p:cNvPr id="5" name="圆角矩形标注 4"/>
          <p:cNvSpPr/>
          <p:nvPr/>
        </p:nvSpPr>
        <p:spPr bwMode="auto">
          <a:xfrm>
            <a:off x="1395561" y="4723087"/>
            <a:ext cx="2344887" cy="646986"/>
          </a:xfrm>
          <a:prstGeom prst="wedgeRoundRectCallout">
            <a:avLst>
              <a:gd name="adj1" fmla="val 104201"/>
              <a:gd name="adj2" fmla="val -129614"/>
              <a:gd name="adj3" fmla="val 16667"/>
            </a:avLst>
          </a:prstGeom>
          <a:solidFill>
            <a:srgbClr val="FFFF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algn="r" fontAlgn="base">
              <a:spcBef>
                <a:spcPct val="0"/>
              </a:spcBef>
              <a:spcAft>
                <a:spcPct val="0"/>
              </a:spcAft>
            </a:pPr>
            <a:r>
              <a:rPr lang="zh-CN" altLang="en-US" sz="1600" b="1" dirty="0">
                <a:solidFill>
                  <a:schemeClr val="tx2"/>
                </a:solidFill>
                <a:latin typeface="Arial" charset="0"/>
                <a:ea typeface="华文新魏" pitchFamily="2" charset="-122"/>
              </a:rPr>
              <a:t>当部分余数的首位为</a:t>
            </a:r>
            <a:r>
              <a:rPr lang="en-US" altLang="zh-CN" sz="1600" b="1" dirty="0">
                <a:solidFill>
                  <a:schemeClr val="tx2"/>
                </a:solidFill>
                <a:latin typeface="Arial" charset="0"/>
                <a:ea typeface="华文新魏" pitchFamily="2" charset="-122"/>
              </a:rPr>
              <a:t>0</a:t>
            </a:r>
            <a:r>
              <a:rPr lang="zh-CN" altLang="en-US" sz="1600" b="1" dirty="0">
                <a:solidFill>
                  <a:schemeClr val="tx2"/>
                </a:solidFill>
                <a:latin typeface="Arial" charset="0"/>
                <a:ea typeface="华文新魏" pitchFamily="2" charset="-122"/>
              </a:rPr>
              <a:t>时，商取</a:t>
            </a:r>
            <a:r>
              <a:rPr lang="en-US" altLang="zh-CN" sz="1600" b="1" dirty="0">
                <a:solidFill>
                  <a:schemeClr val="tx2"/>
                </a:solidFill>
                <a:latin typeface="Arial" charset="0"/>
                <a:ea typeface="华文新魏" pitchFamily="2" charset="-122"/>
              </a:rPr>
              <a:t>0</a:t>
            </a:r>
            <a:endParaRPr lang="zh-CN" altLang="en-US" sz="1600" b="1" dirty="0">
              <a:solidFill>
                <a:schemeClr val="tx2"/>
              </a:solidFill>
              <a:latin typeface="Arial" charset="0"/>
              <a:ea typeface="华文新魏" pitchFamily="2" charset="-122"/>
            </a:endParaRPr>
          </a:p>
        </p:txBody>
      </p:sp>
    </p:spTree>
    <p:extLst>
      <p:ext uri="{BB962C8B-B14F-4D97-AF65-F5344CB8AC3E}">
        <p14:creationId xmlns:p14="http://schemas.microsoft.com/office/powerpoint/2010/main" val="121363039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6259" name="矩形 2"/>
          <p:cNvSpPr>
            <a:spLocks noChangeArrowheads="1"/>
          </p:cNvSpPr>
          <p:nvPr/>
        </p:nvSpPr>
        <p:spPr bwMode="auto">
          <a:xfrm>
            <a:off x="642938" y="1577975"/>
            <a:ext cx="807243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000" dirty="0">
                <a:solidFill>
                  <a:srgbClr val="0070C0"/>
                </a:solidFill>
                <a:latin typeface="楷体_GB2312" pitchFamily="49" charset="-122"/>
                <a:ea typeface="楷体_GB2312" pitchFamily="49" charset="-122"/>
              </a:rPr>
              <a:t>CRC</a:t>
            </a:r>
            <a:r>
              <a:rPr lang="zh-CN" altLang="en-US" sz="3000" dirty="0">
                <a:solidFill>
                  <a:srgbClr val="0070C0"/>
                </a:solidFill>
                <a:latin typeface="楷体_GB2312" pitchFamily="49" charset="-122"/>
                <a:ea typeface="楷体_GB2312" pitchFamily="49" charset="-122"/>
              </a:rPr>
              <a:t>码的编码方法：</a:t>
            </a:r>
            <a:r>
              <a:rPr lang="zh-CN" altLang="en-US" sz="3000" dirty="0">
                <a:solidFill>
                  <a:schemeClr val="tx2"/>
                </a:solidFill>
                <a:latin typeface="楷体_GB2312" pitchFamily="49" charset="-122"/>
                <a:ea typeface="楷体_GB2312" pitchFamily="49" charset="-122"/>
              </a:rPr>
              <a:t></a:t>
            </a:r>
          </a:p>
          <a:p>
            <a:pPr algn="l" eaLnBrk="1" hangingPunct="1"/>
            <a:r>
              <a:rPr lang="zh-CN" altLang="en-US" sz="3000" dirty="0">
                <a:solidFill>
                  <a:schemeClr val="tx2"/>
                </a:solidFill>
                <a:latin typeface="楷体_GB2312" pitchFamily="49" charset="-122"/>
                <a:ea typeface="楷体_GB2312" pitchFamily="49" charset="-122"/>
              </a:rPr>
              <a:t>设被校验数据</a:t>
            </a:r>
            <a:r>
              <a:rPr lang="en-US" altLang="zh-CN" sz="3000" dirty="0">
                <a:solidFill>
                  <a:schemeClr val="tx2"/>
                </a:solidFill>
                <a:latin typeface="楷体_GB2312" pitchFamily="49" charset="-122"/>
                <a:ea typeface="楷体_GB2312" pitchFamily="49" charset="-122"/>
              </a:rPr>
              <a:t>M(x)</a:t>
            </a:r>
            <a:r>
              <a:rPr lang="zh-CN" altLang="en-US" sz="3000" dirty="0">
                <a:solidFill>
                  <a:schemeClr val="tx2"/>
                </a:solidFill>
                <a:latin typeface="楷体_GB2312" pitchFamily="49" charset="-122"/>
                <a:ea typeface="楷体_GB2312" pitchFamily="49" charset="-122"/>
              </a:rPr>
              <a:t>是由</a:t>
            </a:r>
            <a:r>
              <a:rPr lang="en-US" altLang="zh-CN" sz="3000" dirty="0">
                <a:solidFill>
                  <a:schemeClr val="tx2"/>
                </a:solidFill>
                <a:latin typeface="楷体_GB2312" pitchFamily="49" charset="-122"/>
                <a:ea typeface="楷体_GB2312" pitchFamily="49" charset="-122"/>
              </a:rPr>
              <a:t>n</a:t>
            </a:r>
            <a:r>
              <a:rPr lang="zh-CN" altLang="en-US" sz="3000" dirty="0">
                <a:solidFill>
                  <a:schemeClr val="tx2"/>
                </a:solidFill>
                <a:latin typeface="楷体_GB2312" pitchFamily="49" charset="-122"/>
                <a:ea typeface="楷体_GB2312" pitchFamily="49" charset="-122"/>
              </a:rPr>
              <a:t>位二进制组成，</a:t>
            </a:r>
          </a:p>
          <a:p>
            <a:pPr algn="l" eaLnBrk="1" hangingPunct="1"/>
            <a:r>
              <a:rPr lang="en-US" altLang="zh-CN" sz="3000" dirty="0">
                <a:solidFill>
                  <a:schemeClr val="tx2"/>
                </a:solidFill>
                <a:latin typeface="楷体_GB2312" pitchFamily="49" charset="-122"/>
                <a:ea typeface="楷体_GB2312" pitchFamily="49" charset="-122"/>
              </a:rPr>
              <a:t>M(x)=C</a:t>
            </a:r>
            <a:r>
              <a:rPr lang="en-US" altLang="zh-CN" sz="3000" baseline="-25000" dirty="0">
                <a:solidFill>
                  <a:schemeClr val="tx2"/>
                </a:solidFill>
                <a:latin typeface="楷体_GB2312" pitchFamily="49" charset="-122"/>
                <a:ea typeface="楷体_GB2312" pitchFamily="49" charset="-122"/>
              </a:rPr>
              <a:t>n-1</a:t>
            </a:r>
            <a:r>
              <a:rPr lang="en-US" altLang="zh-CN" sz="3000" dirty="0">
                <a:solidFill>
                  <a:schemeClr val="tx2"/>
                </a:solidFill>
                <a:latin typeface="楷体_GB2312" pitchFamily="49" charset="-122"/>
                <a:ea typeface="楷体_GB2312" pitchFamily="49" charset="-122"/>
              </a:rPr>
              <a:t>x</a:t>
            </a:r>
            <a:r>
              <a:rPr lang="en-US" altLang="zh-CN" sz="3000" baseline="30000" dirty="0">
                <a:solidFill>
                  <a:schemeClr val="tx2"/>
                </a:solidFill>
                <a:latin typeface="楷体_GB2312" pitchFamily="49" charset="-122"/>
                <a:ea typeface="楷体_GB2312" pitchFamily="49" charset="-122"/>
              </a:rPr>
              <a:t>n-1</a:t>
            </a:r>
            <a:r>
              <a:rPr lang="en-US" altLang="zh-CN" sz="3000" dirty="0">
                <a:solidFill>
                  <a:schemeClr val="tx2"/>
                </a:solidFill>
                <a:latin typeface="楷体_GB2312" pitchFamily="49" charset="-122"/>
                <a:ea typeface="楷体_GB2312" pitchFamily="49" charset="-122"/>
              </a:rPr>
              <a:t>+C</a:t>
            </a:r>
            <a:r>
              <a:rPr lang="en-US" altLang="zh-CN" sz="3000" baseline="-25000" dirty="0">
                <a:solidFill>
                  <a:schemeClr val="tx2"/>
                </a:solidFill>
                <a:latin typeface="楷体_GB2312" pitchFamily="49" charset="-122"/>
                <a:ea typeface="楷体_GB2312" pitchFamily="49" charset="-122"/>
              </a:rPr>
              <a:t>n-2</a:t>
            </a:r>
            <a:r>
              <a:rPr lang="en-US" altLang="zh-CN" sz="3000" dirty="0">
                <a:solidFill>
                  <a:schemeClr val="tx2"/>
                </a:solidFill>
                <a:latin typeface="楷体_GB2312" pitchFamily="49" charset="-122"/>
                <a:ea typeface="楷体_GB2312" pitchFamily="49" charset="-122"/>
              </a:rPr>
              <a:t>x</a:t>
            </a:r>
            <a:r>
              <a:rPr lang="en-US" altLang="zh-CN" sz="3000" baseline="30000" dirty="0">
                <a:solidFill>
                  <a:schemeClr val="tx2"/>
                </a:solidFill>
                <a:latin typeface="楷体_GB2312" pitchFamily="49" charset="-122"/>
                <a:ea typeface="楷体_GB2312" pitchFamily="49" charset="-122"/>
              </a:rPr>
              <a:t>n-2</a:t>
            </a:r>
            <a:r>
              <a:rPr lang="en-US" altLang="zh-CN" sz="3000" dirty="0">
                <a:solidFill>
                  <a:schemeClr val="tx2"/>
                </a:solidFill>
                <a:latin typeface="楷体_GB2312" pitchFamily="49" charset="-122"/>
                <a:ea typeface="楷体_GB2312" pitchFamily="49" charset="-122"/>
              </a:rPr>
              <a:t>+…+</a:t>
            </a:r>
            <a:r>
              <a:rPr lang="en-US" altLang="zh-CN" sz="3000" dirty="0" err="1">
                <a:solidFill>
                  <a:schemeClr val="tx2"/>
                </a:solidFill>
                <a:latin typeface="楷体_GB2312" pitchFamily="49" charset="-122"/>
                <a:ea typeface="楷体_GB2312" pitchFamily="49" charset="-122"/>
              </a:rPr>
              <a:t>C</a:t>
            </a:r>
            <a:r>
              <a:rPr lang="en-US" altLang="zh-CN" sz="3000" baseline="-25000" dirty="0" err="1">
                <a:solidFill>
                  <a:schemeClr val="tx2"/>
                </a:solidFill>
                <a:latin typeface="楷体_GB2312" pitchFamily="49" charset="-122"/>
                <a:ea typeface="楷体_GB2312" pitchFamily="49" charset="-122"/>
              </a:rPr>
              <a:t>i</a:t>
            </a:r>
            <a:r>
              <a:rPr lang="en-US" altLang="zh-CN" sz="3000" dirty="0" err="1">
                <a:solidFill>
                  <a:schemeClr val="tx2"/>
                </a:solidFill>
                <a:latin typeface="楷体_GB2312" pitchFamily="49" charset="-122"/>
                <a:ea typeface="楷体_GB2312" pitchFamily="49" charset="-122"/>
              </a:rPr>
              <a:t>x</a:t>
            </a:r>
            <a:r>
              <a:rPr lang="en-US" altLang="zh-CN" sz="3000" baseline="30000" dirty="0" err="1">
                <a:solidFill>
                  <a:schemeClr val="tx2"/>
                </a:solidFill>
                <a:latin typeface="楷体_GB2312" pitchFamily="49" charset="-122"/>
                <a:ea typeface="楷体_GB2312" pitchFamily="49" charset="-122"/>
              </a:rPr>
              <a:t>i</a:t>
            </a:r>
            <a:r>
              <a:rPr lang="en-US" altLang="zh-CN" sz="3000" dirty="0">
                <a:solidFill>
                  <a:schemeClr val="tx2"/>
                </a:solidFill>
                <a:latin typeface="楷体_GB2312" pitchFamily="49" charset="-122"/>
                <a:ea typeface="楷体_GB2312" pitchFamily="49" charset="-122"/>
              </a:rPr>
              <a:t>+…+C</a:t>
            </a:r>
            <a:r>
              <a:rPr lang="en-US" altLang="zh-CN" sz="3000" baseline="-25000" dirty="0">
                <a:solidFill>
                  <a:schemeClr val="tx2"/>
                </a:solidFill>
                <a:latin typeface="楷体_GB2312" pitchFamily="49" charset="-122"/>
                <a:ea typeface="楷体_GB2312" pitchFamily="49" charset="-122"/>
              </a:rPr>
              <a:t>1</a:t>
            </a:r>
            <a:r>
              <a:rPr lang="en-US" altLang="zh-CN" sz="3000" dirty="0">
                <a:solidFill>
                  <a:schemeClr val="tx2"/>
                </a:solidFill>
                <a:latin typeface="楷体_GB2312" pitchFamily="49" charset="-122"/>
                <a:ea typeface="楷体_GB2312" pitchFamily="49" charset="-122"/>
              </a:rPr>
              <a:t>x+C</a:t>
            </a:r>
            <a:r>
              <a:rPr lang="en-US" altLang="zh-CN" sz="3000" baseline="-25000" dirty="0">
                <a:solidFill>
                  <a:schemeClr val="tx2"/>
                </a:solidFill>
                <a:latin typeface="楷体_GB2312" pitchFamily="49" charset="-122"/>
                <a:ea typeface="楷体_GB2312" pitchFamily="49" charset="-122"/>
              </a:rPr>
              <a:t>0</a:t>
            </a:r>
          </a:p>
          <a:p>
            <a:pPr algn="l" eaLnBrk="1" hangingPunct="1"/>
            <a:r>
              <a:rPr lang="zh-CN" altLang="en-US" sz="3000" dirty="0">
                <a:solidFill>
                  <a:schemeClr val="tx2"/>
                </a:solidFill>
                <a:latin typeface="楷体_GB2312" pitchFamily="49" charset="-122"/>
                <a:ea typeface="楷体_GB2312" pitchFamily="49" charset="-122"/>
              </a:rPr>
              <a:t>式中</a:t>
            </a:r>
            <a:r>
              <a:rPr lang="en-US" altLang="zh-CN" sz="3000" dirty="0" err="1">
                <a:solidFill>
                  <a:schemeClr val="tx2"/>
                </a:solidFill>
                <a:latin typeface="楷体_GB2312" pitchFamily="49" charset="-122"/>
                <a:ea typeface="楷体_GB2312" pitchFamily="49" charset="-122"/>
              </a:rPr>
              <a:t>C</a:t>
            </a:r>
            <a:r>
              <a:rPr lang="en-US" altLang="zh-CN" sz="3000" baseline="-25000" dirty="0" err="1">
                <a:solidFill>
                  <a:schemeClr val="tx2"/>
                </a:solidFill>
                <a:latin typeface="楷体_GB2312" pitchFamily="49" charset="-122"/>
                <a:ea typeface="楷体_GB2312" pitchFamily="49" charset="-122"/>
              </a:rPr>
              <a:t>i</a:t>
            </a:r>
            <a:r>
              <a:rPr lang="zh-CN" altLang="en-US" sz="3000" dirty="0">
                <a:solidFill>
                  <a:schemeClr val="tx2"/>
                </a:solidFill>
                <a:latin typeface="楷体_GB2312" pitchFamily="49" charset="-122"/>
                <a:ea typeface="楷体_GB2312" pitchFamily="49" charset="-122"/>
              </a:rPr>
              <a:t>为</a:t>
            </a:r>
            <a:r>
              <a:rPr lang="en-US" altLang="zh-CN" sz="3000" dirty="0">
                <a:solidFill>
                  <a:schemeClr val="tx2"/>
                </a:solidFill>
                <a:latin typeface="楷体_GB2312" pitchFamily="49" charset="-122"/>
                <a:ea typeface="楷体_GB2312" pitchFamily="49" charset="-122"/>
              </a:rPr>
              <a:t>0</a:t>
            </a:r>
            <a:r>
              <a:rPr lang="zh-CN" altLang="en-US" sz="3000" dirty="0">
                <a:solidFill>
                  <a:schemeClr val="tx2"/>
                </a:solidFill>
                <a:latin typeface="楷体_GB2312" pitchFamily="49" charset="-122"/>
                <a:ea typeface="楷体_GB2312" pitchFamily="49" charset="-122"/>
              </a:rPr>
              <a:t>或</a:t>
            </a:r>
            <a:r>
              <a:rPr lang="en-US" altLang="zh-CN" sz="3000" dirty="0">
                <a:solidFill>
                  <a:schemeClr val="tx2"/>
                </a:solidFill>
                <a:latin typeface="楷体_GB2312" pitchFamily="49" charset="-122"/>
                <a:ea typeface="楷体_GB2312" pitchFamily="49" charset="-122"/>
              </a:rPr>
              <a:t>1</a:t>
            </a:r>
            <a:r>
              <a:rPr lang="zh-CN" altLang="en-US" sz="3000" dirty="0">
                <a:solidFill>
                  <a:schemeClr val="tx2"/>
                </a:solidFill>
                <a:latin typeface="楷体_GB2312" pitchFamily="49" charset="-122"/>
                <a:ea typeface="楷体_GB2312" pitchFamily="49" charset="-122"/>
              </a:rPr>
              <a:t>。 </a:t>
            </a:r>
          </a:p>
          <a:p>
            <a:pPr algn="l" eaLnBrk="1" hangingPunct="1"/>
            <a:r>
              <a:rPr lang="zh-CN" altLang="en-US" sz="3000" dirty="0">
                <a:solidFill>
                  <a:schemeClr val="tx2"/>
                </a:solidFill>
                <a:latin typeface="楷体_GB2312" pitchFamily="49" charset="-122"/>
                <a:ea typeface="楷体_GB2312" pitchFamily="49" charset="-122"/>
              </a:rPr>
              <a:t>将</a:t>
            </a:r>
            <a:r>
              <a:rPr lang="en-US" altLang="zh-CN" sz="3000" dirty="0">
                <a:solidFill>
                  <a:schemeClr val="tx2"/>
                </a:solidFill>
                <a:latin typeface="楷体_GB2312" pitchFamily="49" charset="-122"/>
                <a:ea typeface="楷体_GB2312" pitchFamily="49" charset="-122"/>
              </a:rPr>
              <a:t>M(x)</a:t>
            </a:r>
            <a:r>
              <a:rPr lang="zh-CN" altLang="en-US" sz="3000" dirty="0">
                <a:solidFill>
                  <a:schemeClr val="tx2"/>
                </a:solidFill>
                <a:latin typeface="楷体_GB2312" pitchFamily="49" charset="-122"/>
                <a:ea typeface="楷体_GB2312" pitchFamily="49" charset="-122"/>
              </a:rPr>
              <a:t>信息位</a:t>
            </a:r>
            <a:r>
              <a:rPr lang="zh-CN" altLang="en-US" sz="3000" dirty="0">
                <a:solidFill>
                  <a:srgbClr val="FF0000"/>
                </a:solidFill>
                <a:latin typeface="楷体_GB2312" pitchFamily="49" charset="-122"/>
                <a:ea typeface="楷体_GB2312" pitchFamily="49" charset="-122"/>
              </a:rPr>
              <a:t>左移</a:t>
            </a:r>
            <a:r>
              <a:rPr lang="en-US" altLang="zh-CN" sz="3000" dirty="0">
                <a:solidFill>
                  <a:srgbClr val="FF0000"/>
                </a:solidFill>
                <a:latin typeface="楷体_GB2312" pitchFamily="49" charset="-122"/>
                <a:ea typeface="楷体_GB2312" pitchFamily="49" charset="-122"/>
              </a:rPr>
              <a:t>k</a:t>
            </a:r>
            <a:r>
              <a:rPr lang="zh-CN" altLang="en-US" sz="3000" dirty="0">
                <a:solidFill>
                  <a:srgbClr val="FF0000"/>
                </a:solidFill>
                <a:latin typeface="楷体_GB2312" pitchFamily="49" charset="-122"/>
                <a:ea typeface="楷体_GB2312" pitchFamily="49" charset="-122"/>
              </a:rPr>
              <a:t>位</a:t>
            </a:r>
            <a:r>
              <a:rPr lang="zh-CN" altLang="en-US" sz="3000" dirty="0">
                <a:solidFill>
                  <a:schemeClr val="tx2"/>
                </a:solidFill>
                <a:latin typeface="楷体_GB2312" pitchFamily="49" charset="-122"/>
                <a:ea typeface="楷体_GB2312" pitchFamily="49" charset="-122"/>
              </a:rPr>
              <a:t>后，被一个</a:t>
            </a:r>
            <a:r>
              <a:rPr lang="zh-CN" altLang="en-US" sz="3000" dirty="0">
                <a:solidFill>
                  <a:srgbClr val="FF0000"/>
                </a:solidFill>
                <a:latin typeface="楷体_GB2312" pitchFamily="49" charset="-122"/>
                <a:ea typeface="楷体_GB2312" pitchFamily="49" charset="-122"/>
              </a:rPr>
              <a:t>约定的</a:t>
            </a:r>
            <a:r>
              <a:rPr lang="zh-CN" altLang="en-US" sz="3000" dirty="0">
                <a:solidFill>
                  <a:schemeClr val="tx2"/>
                </a:solidFill>
                <a:latin typeface="楷体_GB2312" pitchFamily="49" charset="-122"/>
                <a:ea typeface="楷体_GB2312" pitchFamily="49" charset="-122"/>
              </a:rPr>
              <a:t>生成多项式</a:t>
            </a:r>
            <a:r>
              <a:rPr lang="en-US" altLang="zh-CN" sz="3000" dirty="0">
                <a:solidFill>
                  <a:schemeClr val="tx2"/>
                </a:solidFill>
                <a:latin typeface="楷体_GB2312" pitchFamily="49" charset="-122"/>
                <a:ea typeface="楷体_GB2312" pitchFamily="49" charset="-122"/>
              </a:rPr>
              <a:t>G(x)</a:t>
            </a:r>
            <a:r>
              <a:rPr lang="zh-CN" altLang="en-US" sz="3000" dirty="0">
                <a:solidFill>
                  <a:schemeClr val="tx2"/>
                </a:solidFill>
                <a:latin typeface="楷体_GB2312" pitchFamily="49" charset="-122"/>
                <a:ea typeface="楷体_GB2312" pitchFamily="49" charset="-122"/>
              </a:rPr>
              <a:t>模</a:t>
            </a:r>
            <a:r>
              <a:rPr lang="en-US" altLang="zh-CN" sz="3000" dirty="0">
                <a:solidFill>
                  <a:schemeClr val="tx2"/>
                </a:solidFill>
                <a:latin typeface="楷体_GB2312" pitchFamily="49" charset="-122"/>
                <a:ea typeface="楷体_GB2312" pitchFamily="49" charset="-122"/>
              </a:rPr>
              <a:t>2</a:t>
            </a:r>
            <a:r>
              <a:rPr lang="zh-CN" altLang="en-US" sz="3000" dirty="0">
                <a:solidFill>
                  <a:schemeClr val="tx2"/>
                </a:solidFill>
                <a:latin typeface="楷体_GB2312" pitchFamily="49" charset="-122"/>
                <a:ea typeface="楷体_GB2312" pitchFamily="49" charset="-122"/>
              </a:rPr>
              <a:t>相除，</a:t>
            </a:r>
            <a:r>
              <a:rPr lang="en-US" altLang="zh-CN" sz="3000" dirty="0">
                <a:solidFill>
                  <a:schemeClr val="tx2"/>
                </a:solidFill>
                <a:latin typeface="楷体_GB2312" pitchFamily="49" charset="-122"/>
                <a:ea typeface="楷体_GB2312" pitchFamily="49" charset="-122"/>
              </a:rPr>
              <a:t>G(x)</a:t>
            </a:r>
            <a:r>
              <a:rPr lang="zh-CN" altLang="en-US" sz="3000" dirty="0">
                <a:solidFill>
                  <a:schemeClr val="tx2"/>
                </a:solidFill>
                <a:latin typeface="楷体_GB2312" pitchFamily="49" charset="-122"/>
                <a:ea typeface="楷体_GB2312" pitchFamily="49" charset="-122"/>
              </a:rPr>
              <a:t>必须是</a:t>
            </a:r>
            <a:r>
              <a:rPr lang="en-US" altLang="zh-CN" sz="3000" dirty="0">
                <a:solidFill>
                  <a:srgbClr val="FF0000"/>
                </a:solidFill>
                <a:latin typeface="楷体_GB2312" pitchFamily="49" charset="-122"/>
                <a:ea typeface="楷体_GB2312" pitchFamily="49" charset="-122"/>
              </a:rPr>
              <a:t>k+1</a:t>
            </a:r>
            <a:r>
              <a:rPr lang="zh-CN" altLang="en-US" sz="3000" dirty="0">
                <a:solidFill>
                  <a:srgbClr val="FF0000"/>
                </a:solidFill>
                <a:latin typeface="楷体_GB2312" pitchFamily="49" charset="-122"/>
                <a:ea typeface="楷体_GB2312" pitchFamily="49" charset="-122"/>
              </a:rPr>
              <a:t>位</a:t>
            </a:r>
            <a:r>
              <a:rPr lang="zh-CN" altLang="en-US" sz="3000" dirty="0">
                <a:solidFill>
                  <a:schemeClr val="tx2"/>
                </a:solidFill>
                <a:latin typeface="楷体_GB2312" pitchFamily="49" charset="-122"/>
                <a:ea typeface="楷体_GB2312" pitchFamily="49" charset="-122"/>
              </a:rPr>
              <a:t>二进制组成，模</a:t>
            </a:r>
            <a:r>
              <a:rPr lang="en-US" altLang="zh-CN" sz="3000" dirty="0">
                <a:solidFill>
                  <a:schemeClr val="tx2"/>
                </a:solidFill>
                <a:latin typeface="楷体_GB2312" pitchFamily="49" charset="-122"/>
                <a:ea typeface="楷体_GB2312" pitchFamily="49" charset="-122"/>
              </a:rPr>
              <a:t>2</a:t>
            </a:r>
            <a:r>
              <a:rPr lang="zh-CN" altLang="en-US" sz="3000" dirty="0">
                <a:solidFill>
                  <a:schemeClr val="tx2"/>
                </a:solidFill>
                <a:latin typeface="楷体_GB2312" pitchFamily="49" charset="-122"/>
                <a:ea typeface="楷体_GB2312" pitchFamily="49" charset="-122"/>
              </a:rPr>
              <a:t>相除后得到</a:t>
            </a:r>
            <a:r>
              <a:rPr lang="en-US" altLang="zh-CN" sz="3000" dirty="0">
                <a:solidFill>
                  <a:srgbClr val="FF0000"/>
                </a:solidFill>
                <a:latin typeface="楷体_GB2312" pitchFamily="49" charset="-122"/>
                <a:ea typeface="楷体_GB2312" pitchFamily="49" charset="-122"/>
              </a:rPr>
              <a:t>k</a:t>
            </a:r>
            <a:r>
              <a:rPr lang="zh-CN" altLang="en-US" sz="3000" dirty="0">
                <a:solidFill>
                  <a:srgbClr val="FF0000"/>
                </a:solidFill>
                <a:latin typeface="楷体_GB2312" pitchFamily="49" charset="-122"/>
                <a:ea typeface="楷体_GB2312" pitchFamily="49" charset="-122"/>
              </a:rPr>
              <a:t>位余数</a:t>
            </a:r>
            <a:r>
              <a:rPr lang="zh-CN" altLang="en-US" sz="3000" dirty="0">
                <a:solidFill>
                  <a:schemeClr val="tx2"/>
                </a:solidFill>
                <a:latin typeface="楷体_GB2312" pitchFamily="49" charset="-122"/>
                <a:ea typeface="楷体_GB2312" pitchFamily="49" charset="-122"/>
              </a:rPr>
              <a:t>就是校验位。将</a:t>
            </a:r>
            <a:r>
              <a:rPr lang="en-US" altLang="zh-CN" sz="3000" dirty="0">
                <a:solidFill>
                  <a:schemeClr val="tx2"/>
                </a:solidFill>
                <a:latin typeface="楷体_GB2312" pitchFamily="49" charset="-122"/>
                <a:ea typeface="楷体_GB2312" pitchFamily="49" charset="-122"/>
              </a:rPr>
              <a:t>k</a:t>
            </a:r>
            <a:r>
              <a:rPr lang="zh-CN" altLang="en-US" sz="3000" dirty="0">
                <a:solidFill>
                  <a:schemeClr val="tx2"/>
                </a:solidFill>
                <a:latin typeface="楷体_GB2312" pitchFamily="49" charset="-122"/>
                <a:ea typeface="楷体_GB2312" pitchFamily="49" charset="-122"/>
              </a:rPr>
              <a:t>位余数拼接到</a:t>
            </a:r>
            <a:r>
              <a:rPr lang="en-US" altLang="zh-CN" sz="3000" dirty="0">
                <a:solidFill>
                  <a:schemeClr val="tx2"/>
                </a:solidFill>
                <a:latin typeface="楷体_GB2312" pitchFamily="49" charset="-122"/>
                <a:ea typeface="楷体_GB2312" pitchFamily="49" charset="-122"/>
              </a:rPr>
              <a:t>n</a:t>
            </a:r>
            <a:r>
              <a:rPr lang="zh-CN" altLang="en-US" sz="3000" dirty="0">
                <a:solidFill>
                  <a:schemeClr val="tx2"/>
                </a:solidFill>
                <a:latin typeface="楷体_GB2312" pitchFamily="49" charset="-122"/>
                <a:ea typeface="楷体_GB2312" pitchFamily="49" charset="-122"/>
              </a:rPr>
              <a:t>位的</a:t>
            </a:r>
            <a:r>
              <a:rPr lang="en-US" altLang="zh-CN" sz="3000" dirty="0">
                <a:solidFill>
                  <a:schemeClr val="tx2"/>
                </a:solidFill>
                <a:latin typeface="楷体_GB2312" pitchFamily="49" charset="-122"/>
                <a:ea typeface="楷体_GB2312" pitchFamily="49" charset="-122"/>
              </a:rPr>
              <a:t>M(x)</a:t>
            </a:r>
            <a:r>
              <a:rPr lang="zh-CN" altLang="en-US" sz="3000" dirty="0">
                <a:solidFill>
                  <a:schemeClr val="tx2"/>
                </a:solidFill>
                <a:latin typeface="楷体_GB2312" pitchFamily="49" charset="-122"/>
                <a:ea typeface="楷体_GB2312" pitchFamily="49" charset="-122"/>
              </a:rPr>
              <a:t>后面</a:t>
            </a:r>
            <a:r>
              <a:rPr lang="en-US" altLang="zh-CN" sz="3000" dirty="0">
                <a:solidFill>
                  <a:schemeClr val="tx2"/>
                </a:solidFill>
                <a:latin typeface="楷体_GB2312" pitchFamily="49" charset="-122"/>
                <a:ea typeface="楷体_GB2312" pitchFamily="49" charset="-122"/>
              </a:rPr>
              <a:t>,</a:t>
            </a:r>
            <a:r>
              <a:rPr lang="zh-CN" altLang="en-US" sz="3000" dirty="0">
                <a:solidFill>
                  <a:schemeClr val="tx2"/>
                </a:solidFill>
                <a:latin typeface="楷体_GB2312" pitchFamily="49" charset="-122"/>
                <a:ea typeface="楷体_GB2312" pitchFamily="49" charset="-122"/>
              </a:rPr>
              <a:t>即形成</a:t>
            </a:r>
            <a:r>
              <a:rPr lang="en-US" altLang="zh-CN" sz="3000" dirty="0" err="1">
                <a:solidFill>
                  <a:schemeClr val="tx2"/>
                </a:solidFill>
                <a:latin typeface="楷体_GB2312" pitchFamily="49" charset="-122"/>
                <a:ea typeface="楷体_GB2312" pitchFamily="49" charset="-122"/>
              </a:rPr>
              <a:t>n+k</a:t>
            </a:r>
            <a:r>
              <a:rPr lang="zh-CN" altLang="en-US" sz="3000" dirty="0">
                <a:solidFill>
                  <a:schemeClr val="tx2"/>
                </a:solidFill>
                <a:latin typeface="楷体_GB2312" pitchFamily="49" charset="-122"/>
                <a:ea typeface="楷体_GB2312" pitchFamily="49" charset="-122"/>
              </a:rPr>
              <a:t>位长的循环冗余校验码，称为（</a:t>
            </a:r>
            <a:r>
              <a:rPr lang="en-US" altLang="zh-CN" sz="3000" dirty="0" err="1">
                <a:solidFill>
                  <a:schemeClr val="tx2"/>
                </a:solidFill>
                <a:latin typeface="楷体_GB2312" pitchFamily="49" charset="-122"/>
                <a:ea typeface="楷体_GB2312" pitchFamily="49" charset="-122"/>
              </a:rPr>
              <a:t>n+k,n</a:t>
            </a:r>
            <a:r>
              <a:rPr lang="en-US" altLang="zh-CN" sz="3000" dirty="0">
                <a:solidFill>
                  <a:schemeClr val="tx2"/>
                </a:solidFill>
                <a:latin typeface="楷体_GB2312" pitchFamily="49" charset="-122"/>
                <a:ea typeface="楷体_GB2312" pitchFamily="49" charset="-122"/>
              </a:rPr>
              <a:t>)</a:t>
            </a:r>
            <a:r>
              <a:rPr lang="zh-CN" altLang="en-US" sz="3000" dirty="0">
                <a:solidFill>
                  <a:schemeClr val="tx2"/>
                </a:solidFill>
                <a:latin typeface="楷体_GB2312" pitchFamily="49" charset="-122"/>
                <a:ea typeface="楷体_GB2312" pitchFamily="49" charset="-122"/>
              </a:rPr>
              <a:t>码，</a:t>
            </a:r>
            <a:r>
              <a:rPr lang="zh-CN" altLang="en-US" sz="3000" dirty="0">
                <a:solidFill>
                  <a:srgbClr val="FF0000"/>
                </a:solidFill>
                <a:latin typeface="楷体_GB2312" pitchFamily="49" charset="-122"/>
                <a:ea typeface="楷体_GB2312" pitchFamily="49" charset="-122"/>
              </a:rPr>
              <a:t>因此所得</a:t>
            </a:r>
            <a:r>
              <a:rPr lang="en-US" altLang="zh-CN" sz="3000" dirty="0">
                <a:solidFill>
                  <a:srgbClr val="FF0000"/>
                </a:solidFill>
                <a:latin typeface="楷体_GB2312" pitchFamily="49" charset="-122"/>
                <a:ea typeface="楷体_GB2312" pitchFamily="49" charset="-122"/>
              </a:rPr>
              <a:t>CRC</a:t>
            </a:r>
            <a:r>
              <a:rPr lang="zh-CN" altLang="en-US" sz="3000" dirty="0">
                <a:solidFill>
                  <a:srgbClr val="FF0000"/>
                </a:solidFill>
                <a:latin typeface="楷体_GB2312" pitchFamily="49" charset="-122"/>
                <a:ea typeface="楷体_GB2312" pitchFamily="49" charset="-122"/>
              </a:rPr>
              <a:t>码可被</a:t>
            </a:r>
            <a:r>
              <a:rPr lang="en-US" altLang="zh-CN" sz="3000" dirty="0">
                <a:solidFill>
                  <a:srgbClr val="FF0000"/>
                </a:solidFill>
                <a:latin typeface="楷体_GB2312" pitchFamily="49" charset="-122"/>
                <a:ea typeface="楷体_GB2312" pitchFamily="49" charset="-122"/>
              </a:rPr>
              <a:t>G(x)</a:t>
            </a:r>
            <a:r>
              <a:rPr lang="zh-CN" altLang="en-US" sz="3000" dirty="0">
                <a:solidFill>
                  <a:srgbClr val="FF0000"/>
                </a:solidFill>
                <a:latin typeface="楷体_GB2312" pitchFamily="49" charset="-122"/>
                <a:ea typeface="楷体_GB2312" pitchFamily="49" charset="-122"/>
              </a:rPr>
              <a:t>表示的数码除尽。</a:t>
            </a:r>
          </a:p>
        </p:txBody>
      </p:sp>
    </p:spTree>
    <p:extLst>
      <p:ext uri="{BB962C8B-B14F-4D97-AF65-F5344CB8AC3E}">
        <p14:creationId xmlns:p14="http://schemas.microsoft.com/office/powerpoint/2010/main" val="29548545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7283" name="矩形 2"/>
          <p:cNvSpPr>
            <a:spLocks noChangeArrowheads="1"/>
          </p:cNvSpPr>
          <p:nvPr/>
        </p:nvSpPr>
        <p:spPr bwMode="auto">
          <a:xfrm>
            <a:off x="714375" y="1785938"/>
            <a:ext cx="778668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例</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对</a:t>
            </a:r>
            <a:r>
              <a:rPr lang="en-US" altLang="zh-CN" sz="32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位有效信息</a:t>
            </a:r>
            <a:r>
              <a:rPr lang="en-US" altLang="zh-CN" sz="3200" dirty="0">
                <a:solidFill>
                  <a:schemeClr val="tx2"/>
                </a:solidFill>
                <a:latin typeface="楷体_GB2312" pitchFamily="49" charset="-122"/>
                <a:ea typeface="楷体_GB2312" pitchFamily="49" charset="-122"/>
              </a:rPr>
              <a:t>M(x)=1100,</a:t>
            </a:r>
            <a:r>
              <a:rPr lang="zh-CN" altLang="en-US" sz="3200" dirty="0">
                <a:solidFill>
                  <a:schemeClr val="tx2"/>
                </a:solidFill>
                <a:latin typeface="楷体_GB2312" pitchFamily="49" charset="-122"/>
                <a:ea typeface="楷体_GB2312" pitchFamily="49" charset="-122"/>
              </a:rPr>
              <a:t>求循环校验编码，选择生成多项式</a:t>
            </a:r>
            <a:r>
              <a:rPr lang="en-US" altLang="zh-CN" sz="3200" dirty="0">
                <a:solidFill>
                  <a:schemeClr val="tx2"/>
                </a:solidFill>
                <a:latin typeface="楷体_GB2312" pitchFamily="49" charset="-122"/>
                <a:ea typeface="楷体_GB2312" pitchFamily="49" charset="-122"/>
              </a:rPr>
              <a:t>G(x)=1011</a:t>
            </a:r>
            <a:r>
              <a:rPr lang="zh-CN" altLang="en-US" sz="3200" dirty="0">
                <a:solidFill>
                  <a:schemeClr val="tx2"/>
                </a:solidFill>
                <a:latin typeface="楷体_GB2312" pitchFamily="49" charset="-122"/>
                <a:ea typeface="楷体_GB2312" pitchFamily="49" charset="-122"/>
              </a:rPr>
              <a:t>。</a:t>
            </a:r>
          </a:p>
          <a:p>
            <a:pPr eaLnBrk="1" hangingPunct="1"/>
            <a:r>
              <a:rPr lang="zh-CN" altLang="en-US" sz="3200" dirty="0">
                <a:solidFill>
                  <a:schemeClr val="tx2"/>
                </a:solidFill>
                <a:latin typeface="楷体_GB2312" pitchFamily="49" charset="-122"/>
                <a:ea typeface="楷体_GB2312" pitchFamily="49" charset="-122"/>
              </a:rPr>
              <a:t>解：被校验数据</a:t>
            </a:r>
            <a:r>
              <a:rPr lang="en-US" altLang="zh-CN" sz="3200" dirty="0">
                <a:solidFill>
                  <a:schemeClr val="tx2"/>
                </a:solidFill>
                <a:latin typeface="楷体_GB2312" pitchFamily="49" charset="-122"/>
                <a:ea typeface="楷体_GB2312" pitchFamily="49" charset="-122"/>
              </a:rPr>
              <a:t>M(x)=1100</a:t>
            </a:r>
            <a:r>
              <a:rPr lang="zh-CN" altLang="en-US" sz="3200" dirty="0">
                <a:solidFill>
                  <a:schemeClr val="tx2"/>
                </a:solidFill>
                <a:latin typeface="楷体_GB2312" pitchFamily="49" charset="-122"/>
                <a:ea typeface="楷体_GB2312" pitchFamily="49" charset="-122"/>
              </a:rPr>
              <a:t>，位数</a:t>
            </a:r>
            <a:r>
              <a:rPr lang="en-US" altLang="zh-CN" sz="3200" dirty="0">
                <a:solidFill>
                  <a:schemeClr val="tx2"/>
                </a:solidFill>
                <a:latin typeface="楷体_GB2312" pitchFamily="49" charset="-122"/>
                <a:ea typeface="楷体_GB2312" pitchFamily="49" charset="-122"/>
              </a:rPr>
              <a:t>n=4</a:t>
            </a:r>
            <a:r>
              <a:rPr lang="zh-CN" altLang="en-US" sz="3200" dirty="0">
                <a:solidFill>
                  <a:schemeClr val="tx2"/>
                </a:solidFill>
                <a:latin typeface="楷体_GB2312" pitchFamily="49" charset="-122"/>
                <a:ea typeface="楷体_GB2312" pitchFamily="49" charset="-122"/>
              </a:rPr>
              <a:t>，则校验位为</a:t>
            </a:r>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位，则把</a:t>
            </a:r>
            <a:r>
              <a:rPr lang="en-US" altLang="zh-CN" sz="3200" dirty="0">
                <a:solidFill>
                  <a:schemeClr val="tx2"/>
                </a:solidFill>
                <a:latin typeface="楷体_GB2312" pitchFamily="49" charset="-122"/>
                <a:ea typeface="楷体_GB2312" pitchFamily="49" charset="-122"/>
              </a:rPr>
              <a:t>M(x)</a:t>
            </a:r>
            <a:r>
              <a:rPr lang="zh-CN" altLang="en-US" sz="3200" dirty="0">
                <a:solidFill>
                  <a:schemeClr val="tx2"/>
                </a:solidFill>
                <a:latin typeface="楷体_GB2312" pitchFamily="49" charset="-122"/>
                <a:ea typeface="楷体_GB2312" pitchFamily="49" charset="-122"/>
              </a:rPr>
              <a:t>左移</a:t>
            </a:r>
            <a:r>
              <a:rPr lang="en-US" altLang="zh-CN" sz="3200" dirty="0">
                <a:solidFill>
                  <a:schemeClr val="tx2"/>
                </a:solidFill>
                <a:latin typeface="楷体_GB2312" pitchFamily="49" charset="-122"/>
                <a:ea typeface="楷体_GB2312" pitchFamily="49" charset="-122"/>
              </a:rPr>
              <a:t>k=3</a:t>
            </a:r>
            <a:r>
              <a:rPr lang="zh-CN" altLang="en-US" sz="3200" dirty="0">
                <a:solidFill>
                  <a:schemeClr val="tx2"/>
                </a:solidFill>
                <a:latin typeface="楷体_GB2312" pitchFamily="49" charset="-122"/>
                <a:ea typeface="楷体_GB2312" pitchFamily="49" charset="-122"/>
              </a:rPr>
              <a:t>位后为：  </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M(x)·x</a:t>
            </a:r>
            <a:r>
              <a:rPr lang="en-US" altLang="zh-CN" sz="3200" baseline="30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=1100</a:t>
            </a:r>
            <a:r>
              <a:rPr lang="en-US" altLang="zh-CN" sz="3200" dirty="0">
                <a:solidFill>
                  <a:srgbClr val="FF0000"/>
                </a:solidFill>
                <a:latin typeface="楷体_GB2312" pitchFamily="49" charset="-122"/>
                <a:ea typeface="楷体_GB2312" pitchFamily="49" charset="-122"/>
              </a:rPr>
              <a:t>000</a:t>
            </a:r>
            <a:r>
              <a:rPr lang="zh-CN" altLang="en-US" sz="3200" dirty="0">
                <a:solidFill>
                  <a:schemeClr val="tx2"/>
                </a:solidFill>
                <a:latin typeface="楷体_GB2312" pitchFamily="49" charset="-122"/>
                <a:ea typeface="楷体_GB2312" pitchFamily="49" charset="-122"/>
              </a:rPr>
              <a:t>，则</a:t>
            </a:r>
            <a:r>
              <a:rPr lang="en-US" altLang="zh-CN" sz="3200" dirty="0">
                <a:solidFill>
                  <a:schemeClr val="tx2"/>
                </a:solidFill>
                <a:latin typeface="楷体_GB2312" pitchFamily="49" charset="-122"/>
                <a:ea typeface="楷体_GB2312" pitchFamily="49" charset="-122"/>
              </a:rPr>
              <a:t>G(x)</a:t>
            </a:r>
            <a:r>
              <a:rPr lang="zh-CN" altLang="en-US" sz="3200" dirty="0">
                <a:solidFill>
                  <a:schemeClr val="tx2"/>
                </a:solidFill>
                <a:latin typeface="楷体_GB2312" pitchFamily="49" charset="-122"/>
                <a:ea typeface="楷体_GB2312" pitchFamily="49" charset="-122"/>
              </a:rPr>
              <a:t>为</a:t>
            </a:r>
            <a:r>
              <a:rPr lang="en-US" altLang="zh-CN" sz="3200" dirty="0">
                <a:solidFill>
                  <a:schemeClr val="tx2"/>
                </a:solidFill>
                <a:latin typeface="楷体_GB2312" pitchFamily="49" charset="-122"/>
                <a:ea typeface="楷体_GB2312" pitchFamily="49" charset="-122"/>
              </a:rPr>
              <a:t>k+1=4</a:t>
            </a:r>
            <a:r>
              <a:rPr lang="zh-CN" altLang="en-US" sz="3200" dirty="0">
                <a:solidFill>
                  <a:schemeClr val="tx2"/>
                </a:solidFill>
                <a:latin typeface="楷体_GB2312" pitchFamily="49" charset="-122"/>
                <a:ea typeface="楷体_GB2312" pitchFamily="49" charset="-122"/>
              </a:rPr>
              <a:t>位</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选择</a:t>
            </a:r>
            <a:r>
              <a:rPr lang="en-US" altLang="zh-CN" sz="3200" dirty="0">
                <a:solidFill>
                  <a:schemeClr val="tx2"/>
                </a:solidFill>
                <a:latin typeface="楷体_GB2312" pitchFamily="49" charset="-122"/>
                <a:ea typeface="楷体_GB2312" pitchFamily="49" charset="-122"/>
              </a:rPr>
              <a:t>G(x)=1011 (G(x)</a:t>
            </a:r>
            <a:r>
              <a:rPr lang="zh-CN" altLang="en-US" sz="3200" dirty="0">
                <a:solidFill>
                  <a:schemeClr val="tx2"/>
                </a:solidFill>
                <a:latin typeface="楷体_GB2312" pitchFamily="49" charset="-122"/>
                <a:ea typeface="楷体_GB2312" pitchFamily="49" charset="-122"/>
              </a:rPr>
              <a:t>不能随便指定</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，则：</a:t>
            </a:r>
            <a:r>
              <a:rPr lang="en-US" altLang="zh-CN" sz="3200" dirty="0">
                <a:solidFill>
                  <a:schemeClr val="tx2"/>
                </a:solidFill>
                <a:latin typeface="楷体_GB2312" pitchFamily="49" charset="-122"/>
                <a:ea typeface="楷体_GB2312" pitchFamily="49" charset="-122"/>
              </a:rPr>
              <a:t>M(x)·x</a:t>
            </a:r>
            <a:r>
              <a:rPr lang="en-US" altLang="zh-CN" sz="3200" baseline="30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/G(x)=1100000/1011(</a:t>
            </a:r>
            <a:r>
              <a:rPr lang="zh-CN" altLang="en-US" sz="3200" dirty="0">
                <a:solidFill>
                  <a:srgbClr val="FF0000"/>
                </a:solidFill>
                <a:latin typeface="楷体_GB2312" pitchFamily="49" charset="-122"/>
                <a:ea typeface="楷体_GB2312" pitchFamily="49" charset="-122"/>
              </a:rPr>
              <a:t>模</a:t>
            </a:r>
            <a:r>
              <a:rPr lang="en-US" altLang="zh-CN" sz="3200" dirty="0">
                <a:solidFill>
                  <a:srgbClr val="FF0000"/>
                </a:solidFill>
                <a:latin typeface="楷体_GB2312" pitchFamily="49" charset="-122"/>
                <a:ea typeface="楷体_GB2312" pitchFamily="49" charset="-122"/>
              </a:rPr>
              <a:t>2</a:t>
            </a:r>
            <a:r>
              <a:rPr lang="zh-CN" altLang="en-US" sz="3200" dirty="0">
                <a:solidFill>
                  <a:srgbClr val="FF0000"/>
                </a:solidFill>
                <a:latin typeface="楷体_GB2312" pitchFamily="49" charset="-122"/>
                <a:ea typeface="楷体_GB2312" pitchFamily="49" charset="-122"/>
              </a:rPr>
              <a:t>除</a:t>
            </a:r>
            <a:r>
              <a:rPr lang="en-US" altLang="zh-CN" sz="3200" dirty="0">
                <a:solidFill>
                  <a:schemeClr val="tx2"/>
                </a:solidFill>
                <a:latin typeface="楷体_GB2312" pitchFamily="49" charset="-122"/>
                <a:ea typeface="楷体_GB2312" pitchFamily="49" charset="-122"/>
              </a:rPr>
              <a:t>)</a:t>
            </a:r>
          </a:p>
          <a:p>
            <a:pPr algn="l" eaLnBrk="1" hangingPunct="1"/>
            <a:r>
              <a:rPr lang="zh-CN" altLang="en-US" sz="3200" dirty="0">
                <a:solidFill>
                  <a:schemeClr val="tx2"/>
                </a:solidFill>
                <a:latin typeface="楷体_GB2312" pitchFamily="49" charset="-122"/>
                <a:ea typeface="楷体_GB2312" pitchFamily="49" charset="-122"/>
              </a:rPr>
              <a:t>结果：余数</a:t>
            </a:r>
            <a:r>
              <a:rPr lang="en-US" altLang="zh-CN" sz="3200" dirty="0">
                <a:solidFill>
                  <a:schemeClr val="tx2"/>
                </a:solidFill>
                <a:latin typeface="楷体_GB2312" pitchFamily="49" charset="-122"/>
                <a:ea typeface="楷体_GB2312" pitchFamily="49" charset="-122"/>
              </a:rPr>
              <a:t>=010</a:t>
            </a:r>
            <a:r>
              <a:rPr lang="zh-CN" altLang="en-US" sz="3200" dirty="0">
                <a:solidFill>
                  <a:schemeClr val="tx2"/>
                </a:solidFill>
                <a:latin typeface="楷体_GB2312" pitchFamily="49" charset="-122"/>
                <a:ea typeface="楷体_GB2312" pitchFamily="49" charset="-122"/>
              </a:rPr>
              <a:t>，商</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1110	</a:t>
            </a:r>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1076228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1"/>
          <p:cNvSpPr>
            <a:spLocks noChangeArrowheads="1"/>
          </p:cNvSpPr>
          <p:nvPr/>
        </p:nvSpPr>
        <p:spPr bwMode="auto">
          <a:xfrm>
            <a:off x="785812" y="1268760"/>
            <a:ext cx="8205787"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将余数</a:t>
            </a:r>
            <a:r>
              <a:rPr lang="en-US" altLang="zh-CN" sz="3200" dirty="0">
                <a:solidFill>
                  <a:schemeClr val="tx2"/>
                </a:solidFill>
                <a:latin typeface="楷体_GB2312" pitchFamily="49" charset="-122"/>
                <a:ea typeface="楷体_GB2312" pitchFamily="49" charset="-122"/>
              </a:rPr>
              <a:t>010</a:t>
            </a:r>
            <a:r>
              <a:rPr lang="zh-CN" altLang="en-US" sz="3200" dirty="0">
                <a:solidFill>
                  <a:schemeClr val="tx2"/>
                </a:solidFill>
                <a:latin typeface="楷体_GB2312" pitchFamily="49" charset="-122"/>
                <a:ea typeface="楷体_GB2312" pitchFamily="49" charset="-122"/>
              </a:rPr>
              <a:t>拼接到</a:t>
            </a:r>
            <a:r>
              <a:rPr lang="en-US" altLang="zh-CN" sz="3200" dirty="0">
                <a:solidFill>
                  <a:schemeClr val="tx2"/>
                </a:solidFill>
                <a:latin typeface="楷体_GB2312" pitchFamily="49" charset="-122"/>
                <a:ea typeface="楷体_GB2312" pitchFamily="49" charset="-122"/>
              </a:rPr>
              <a:t>M(x)</a:t>
            </a:r>
            <a:r>
              <a:rPr lang="zh-CN" altLang="en-US" sz="3200" dirty="0">
                <a:solidFill>
                  <a:schemeClr val="tx2"/>
                </a:solidFill>
                <a:latin typeface="楷体_GB2312" pitchFamily="49" charset="-122"/>
                <a:ea typeface="楷体_GB2312" pitchFamily="49" charset="-122"/>
              </a:rPr>
              <a:t>后面，即得到</a:t>
            </a:r>
            <a:r>
              <a:rPr lang="en-US" altLang="zh-CN" sz="3200" dirty="0">
                <a:solidFill>
                  <a:schemeClr val="tx2"/>
                </a:solidFill>
                <a:latin typeface="楷体_GB2312" pitchFamily="49" charset="-122"/>
                <a:ea typeface="楷体_GB2312" pitchFamily="49" charset="-122"/>
              </a:rPr>
              <a:t>CRC</a:t>
            </a:r>
            <a:r>
              <a:rPr lang="zh-CN" altLang="en-US" sz="3200" dirty="0">
                <a:solidFill>
                  <a:schemeClr val="tx2"/>
                </a:solidFill>
                <a:latin typeface="楷体_GB2312" pitchFamily="49" charset="-122"/>
                <a:ea typeface="楷体_GB2312" pitchFamily="49" charset="-122"/>
              </a:rPr>
              <a:t>校验码。</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x)</a:t>
            </a:r>
            <a:r>
              <a:rPr lang="zh-CN" altLang="en-US" sz="3200" dirty="0">
                <a:solidFill>
                  <a:schemeClr val="tx2"/>
                </a:solidFill>
                <a:latin typeface="楷体_GB2312" pitchFamily="49" charset="-122"/>
                <a:ea typeface="楷体_GB2312" pitchFamily="49" charset="-122"/>
              </a:rPr>
              <a:t>的</a:t>
            </a:r>
            <a:r>
              <a:rPr lang="en-US" altLang="zh-CN" sz="3200" dirty="0">
                <a:solidFill>
                  <a:schemeClr val="tx2"/>
                </a:solidFill>
                <a:latin typeface="楷体_GB2312" pitchFamily="49" charset="-122"/>
                <a:ea typeface="楷体_GB2312" pitchFamily="49" charset="-122"/>
              </a:rPr>
              <a:t>CRC</a:t>
            </a:r>
            <a:r>
              <a:rPr lang="zh-CN" altLang="en-US" sz="3200" dirty="0">
                <a:solidFill>
                  <a:schemeClr val="tx2"/>
                </a:solidFill>
                <a:latin typeface="楷体_GB2312" pitchFamily="49" charset="-122"/>
                <a:ea typeface="楷体_GB2312" pitchFamily="49" charset="-122"/>
              </a:rPr>
              <a:t>校验码：</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CRC</a:t>
            </a:r>
            <a:r>
              <a:rPr lang="zh-CN" altLang="en-US" sz="3200" dirty="0">
                <a:solidFill>
                  <a:schemeClr val="tx2"/>
                </a:solidFill>
                <a:latin typeface="楷体_GB2312" pitchFamily="49" charset="-122"/>
                <a:ea typeface="楷体_GB2312" pitchFamily="49" charset="-122"/>
              </a:rPr>
              <a:t>校验码</a:t>
            </a:r>
            <a:r>
              <a:rPr lang="en-US" altLang="zh-CN" sz="3200" dirty="0">
                <a:solidFill>
                  <a:schemeClr val="tx2"/>
                </a:solidFill>
                <a:latin typeface="楷体_GB2312" pitchFamily="49" charset="-122"/>
                <a:ea typeface="楷体_GB2312" pitchFamily="49" charset="-122"/>
              </a:rPr>
              <a:t>=1100000+010=1100010	      (</a:t>
            </a:r>
            <a:r>
              <a:rPr lang="zh-CN" altLang="en-US" sz="3200" dirty="0">
                <a:solidFill>
                  <a:schemeClr val="tx2"/>
                </a:solidFill>
                <a:latin typeface="楷体_GB2312" pitchFamily="49" charset="-122"/>
                <a:ea typeface="楷体_GB2312" pitchFamily="49" charset="-122"/>
              </a:rPr>
              <a:t>模</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加</a:t>
            </a:r>
            <a:r>
              <a:rPr lang="en-US" altLang="zh-CN" sz="3200" dirty="0">
                <a:solidFill>
                  <a:schemeClr val="tx2"/>
                </a:solidFill>
                <a:latin typeface="楷体_GB2312" pitchFamily="49" charset="-122"/>
                <a:ea typeface="楷体_GB2312" pitchFamily="49" charset="-122"/>
              </a:rPr>
              <a:t>)</a:t>
            </a:r>
          </a:p>
          <a:p>
            <a:pPr algn="l" eaLnBrk="1" hangingPunct="1"/>
            <a:r>
              <a:rPr lang="zh-CN" altLang="en-US" sz="3200" dirty="0">
                <a:solidFill>
                  <a:schemeClr val="tx2"/>
                </a:solidFill>
                <a:latin typeface="楷体_GB2312" pitchFamily="49" charset="-122"/>
                <a:ea typeface="楷体_GB2312" pitchFamily="49" charset="-122"/>
              </a:rPr>
              <a:t>将编好的循环校验码称为</a:t>
            </a:r>
            <a:r>
              <a:rPr lang="en-US" altLang="zh-CN" sz="3200" dirty="0">
                <a:solidFill>
                  <a:schemeClr val="tx2"/>
                </a:solidFill>
                <a:latin typeface="楷体_GB2312" pitchFamily="49" charset="-122"/>
                <a:ea typeface="楷体_GB2312" pitchFamily="49" charset="-122"/>
              </a:rPr>
              <a:t>(7</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码，即</a:t>
            </a:r>
            <a:r>
              <a:rPr lang="en-US" altLang="zh-CN" sz="3200" dirty="0" err="1">
                <a:solidFill>
                  <a:schemeClr val="tx2"/>
                </a:solidFill>
                <a:latin typeface="楷体_GB2312" pitchFamily="49" charset="-122"/>
                <a:ea typeface="楷体_GB2312" pitchFamily="49" charset="-122"/>
              </a:rPr>
              <a:t>n+k</a:t>
            </a:r>
            <a:r>
              <a:rPr lang="en-US" altLang="zh-CN" sz="3200" dirty="0">
                <a:solidFill>
                  <a:schemeClr val="tx2"/>
                </a:solidFill>
                <a:latin typeface="楷体_GB2312" pitchFamily="49" charset="-122"/>
                <a:ea typeface="楷体_GB2312" pitchFamily="49" charset="-122"/>
              </a:rPr>
              <a:t>=7,k=4</a:t>
            </a:r>
            <a:r>
              <a:rPr lang="zh-CN" altLang="en-US" sz="3200" dirty="0">
                <a:solidFill>
                  <a:schemeClr val="tx2"/>
                </a:solidFill>
                <a:latin typeface="楷体_GB2312" pitchFamily="49" charset="-122"/>
                <a:ea typeface="楷体_GB2312" pitchFamily="49" charset="-122"/>
              </a:rPr>
              <a:t>。解释：</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u="sng" dirty="0">
                <a:solidFill>
                  <a:srgbClr val="FF0000"/>
                </a:solidFill>
                <a:latin typeface="隶书" panose="02010509060101010101" pitchFamily="49" charset="-122"/>
                <a:ea typeface="隶书" panose="02010509060101010101" pitchFamily="49" charset="-122"/>
              </a:rPr>
              <a:t>要传输的数据是</a:t>
            </a:r>
            <a:r>
              <a:rPr lang="en-US" altLang="zh-CN" sz="3200" u="sng" dirty="0">
                <a:solidFill>
                  <a:srgbClr val="FF0000"/>
                </a:solidFill>
                <a:latin typeface="隶书" panose="02010509060101010101" pitchFamily="49" charset="-122"/>
                <a:ea typeface="隶书" panose="02010509060101010101" pitchFamily="49" charset="-122"/>
              </a:rPr>
              <a:t>1100</a:t>
            </a:r>
            <a:r>
              <a:rPr lang="zh-CN" altLang="en-US" sz="3200" u="sng" dirty="0">
                <a:solidFill>
                  <a:srgbClr val="FF0000"/>
                </a:solidFill>
                <a:latin typeface="隶书" panose="02010509060101010101" pitchFamily="49" charset="-122"/>
                <a:ea typeface="隶书" panose="02010509060101010101" pitchFamily="49" charset="-122"/>
              </a:rPr>
              <a:t>，经过（</a:t>
            </a:r>
            <a:r>
              <a:rPr lang="en-US" altLang="zh-CN" sz="3200" u="sng" dirty="0">
                <a:solidFill>
                  <a:srgbClr val="FF0000"/>
                </a:solidFill>
                <a:latin typeface="隶书" panose="02010509060101010101" pitchFamily="49" charset="-122"/>
                <a:ea typeface="隶书" panose="02010509060101010101" pitchFamily="49" charset="-122"/>
              </a:rPr>
              <a:t>7,4</a:t>
            </a:r>
            <a:r>
              <a:rPr lang="zh-CN" altLang="en-US" sz="3200" u="sng" dirty="0">
                <a:solidFill>
                  <a:srgbClr val="FF0000"/>
                </a:solidFill>
                <a:latin typeface="隶书" panose="02010509060101010101" pitchFamily="49" charset="-122"/>
                <a:ea typeface="隶书" panose="02010509060101010101" pitchFamily="49" charset="-122"/>
              </a:rPr>
              <a:t>）码校验方式计算后增加</a:t>
            </a:r>
            <a:r>
              <a:rPr lang="en-US" altLang="zh-CN" sz="3200" u="sng" dirty="0">
                <a:solidFill>
                  <a:srgbClr val="FF0000"/>
                </a:solidFill>
                <a:latin typeface="隶书" panose="02010509060101010101" pitchFamily="49" charset="-122"/>
                <a:ea typeface="隶书" panose="02010509060101010101" pitchFamily="49" charset="-122"/>
              </a:rPr>
              <a:t>010</a:t>
            </a:r>
            <a:r>
              <a:rPr lang="zh-CN" altLang="en-US" sz="3200" u="sng" dirty="0">
                <a:solidFill>
                  <a:srgbClr val="FF0000"/>
                </a:solidFill>
                <a:latin typeface="隶书" panose="02010509060101010101" pitchFamily="49" charset="-122"/>
                <a:ea typeface="隶书" panose="02010509060101010101" pitchFamily="49" charset="-122"/>
              </a:rPr>
              <a:t>校验码，得到完整的</a:t>
            </a:r>
            <a:r>
              <a:rPr lang="en-US" altLang="zh-CN" sz="3200" u="sng" dirty="0">
                <a:solidFill>
                  <a:srgbClr val="FF0000"/>
                </a:solidFill>
                <a:latin typeface="隶书" panose="02010509060101010101" pitchFamily="49" charset="-122"/>
                <a:ea typeface="隶书" panose="02010509060101010101" pitchFamily="49" charset="-122"/>
              </a:rPr>
              <a:t>CRC</a:t>
            </a:r>
            <a:r>
              <a:rPr lang="zh-CN" altLang="en-US" sz="3200" u="sng" dirty="0">
                <a:solidFill>
                  <a:srgbClr val="FF0000"/>
                </a:solidFill>
                <a:latin typeface="隶书" panose="02010509060101010101" pitchFamily="49" charset="-122"/>
                <a:ea typeface="隶书" panose="02010509060101010101" pitchFamily="49" charset="-122"/>
              </a:rPr>
              <a:t>循环校验码为</a:t>
            </a:r>
            <a:r>
              <a:rPr lang="en-US" altLang="zh-CN" sz="3200" u="sng" dirty="0">
                <a:solidFill>
                  <a:srgbClr val="FF0000"/>
                </a:solidFill>
                <a:latin typeface="隶书" panose="02010509060101010101" pitchFamily="49" charset="-122"/>
                <a:ea typeface="隶书" panose="02010509060101010101" pitchFamily="49" charset="-122"/>
              </a:rPr>
              <a:t>1100010</a:t>
            </a:r>
            <a:r>
              <a:rPr lang="zh-CN" altLang="en-US" sz="3200" u="sng" dirty="0">
                <a:solidFill>
                  <a:srgbClr val="FF0000"/>
                </a:solidFill>
                <a:latin typeface="隶书" panose="02010509060101010101" pitchFamily="49" charset="-122"/>
                <a:ea typeface="隶书" panose="02010509060101010101" pitchFamily="49" charset="-122"/>
              </a:rPr>
              <a:t>，进行传输。</a:t>
            </a:r>
            <a:endParaRPr lang="en-US" altLang="zh-CN" sz="3200" u="sng" dirty="0">
              <a:solidFill>
                <a:srgbClr val="FF0000"/>
              </a:solidFill>
              <a:latin typeface="隶书" panose="02010509060101010101" pitchFamily="49" charset="-122"/>
              <a:ea typeface="隶书" panose="02010509060101010101"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p>
          <a:p>
            <a:pPr algn="l" eaLnBrk="1" hangingPunct="1"/>
            <a:endParaRPr lang="zh-CN" altLang="en-US"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34737889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99331" name="矩形 2"/>
          <p:cNvSpPr>
            <a:spLocks noChangeArrowheads="1"/>
          </p:cNvSpPr>
          <p:nvPr/>
        </p:nvSpPr>
        <p:spPr bwMode="auto">
          <a:xfrm>
            <a:off x="642938" y="1714500"/>
            <a:ext cx="7786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p>
        </p:txBody>
      </p:sp>
      <p:sp>
        <p:nvSpPr>
          <p:cNvPr id="99332" name="矩形 3"/>
          <p:cNvSpPr>
            <a:spLocks noChangeArrowheads="1"/>
          </p:cNvSpPr>
          <p:nvPr/>
        </p:nvSpPr>
        <p:spPr bwMode="auto">
          <a:xfrm>
            <a:off x="714375" y="1739900"/>
            <a:ext cx="778668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a:t>
            </a:r>
            <a:r>
              <a:rPr lang="en-US" altLang="zh-CN" sz="3200">
                <a:solidFill>
                  <a:schemeClr val="tx2"/>
                </a:solidFill>
                <a:latin typeface="楷体_GB2312" pitchFamily="49" charset="-122"/>
                <a:ea typeface="楷体_GB2312" pitchFamily="49" charset="-122"/>
              </a:rPr>
              <a:t>2</a:t>
            </a:r>
            <a:r>
              <a:rPr lang="zh-CN" altLang="en-US" sz="3200">
                <a:solidFill>
                  <a:schemeClr val="tx2"/>
                </a:solidFill>
                <a:latin typeface="楷体_GB2312" pitchFamily="49" charset="-122"/>
                <a:ea typeface="楷体_GB2312" pitchFamily="49" charset="-122"/>
              </a:rPr>
              <a:t>）</a:t>
            </a:r>
            <a:r>
              <a:rPr lang="en-US" altLang="zh-CN" sz="3200">
                <a:solidFill>
                  <a:schemeClr val="tx2"/>
                </a:solidFill>
                <a:latin typeface="楷体_GB2312" pitchFamily="49" charset="-122"/>
                <a:ea typeface="楷体_GB2312" pitchFamily="49" charset="-122"/>
              </a:rPr>
              <a:t>CRC</a:t>
            </a:r>
            <a:r>
              <a:rPr lang="zh-CN" altLang="en-US" sz="3200">
                <a:solidFill>
                  <a:schemeClr val="tx2"/>
                </a:solidFill>
                <a:latin typeface="楷体_GB2312" pitchFamily="49" charset="-122"/>
                <a:ea typeface="楷体_GB2312" pitchFamily="49" charset="-122"/>
              </a:rPr>
              <a:t>的纠错原理</a:t>
            </a:r>
          </a:p>
          <a:p>
            <a:pPr algn="l" eaLnBrk="1" hangingPunct="1"/>
            <a:r>
              <a:rPr lang="zh-CN" altLang="en-US" sz="3200">
                <a:solidFill>
                  <a:schemeClr val="tx2"/>
                </a:solidFill>
                <a:latin typeface="楷体_GB2312" pitchFamily="49" charset="-122"/>
                <a:ea typeface="楷体_GB2312" pitchFamily="49" charset="-122"/>
              </a:rPr>
              <a:t>    </a:t>
            </a:r>
            <a:r>
              <a:rPr lang="zh-CN" altLang="en-US" sz="3200">
                <a:solidFill>
                  <a:srgbClr val="FF0000"/>
                </a:solidFill>
                <a:latin typeface="楷体_GB2312" pitchFamily="49" charset="-122"/>
                <a:ea typeface="楷体_GB2312" pitchFamily="49" charset="-122"/>
              </a:rPr>
              <a:t>将收到的循环校验码用约定的生成多项式</a:t>
            </a:r>
            <a:r>
              <a:rPr lang="en-US" altLang="zh-CN" sz="3200">
                <a:solidFill>
                  <a:srgbClr val="FF0000"/>
                </a:solidFill>
                <a:latin typeface="楷体_GB2312" pitchFamily="49" charset="-122"/>
                <a:ea typeface="楷体_GB2312" pitchFamily="49" charset="-122"/>
              </a:rPr>
              <a:t>G(x)</a:t>
            </a:r>
            <a:r>
              <a:rPr lang="zh-CN" altLang="en-US" sz="3200">
                <a:solidFill>
                  <a:srgbClr val="FF0000"/>
                </a:solidFill>
                <a:latin typeface="楷体_GB2312" pitchFamily="49" charset="-122"/>
                <a:ea typeface="楷体_GB2312" pitchFamily="49" charset="-122"/>
              </a:rPr>
              <a:t>去除</a:t>
            </a:r>
            <a:r>
              <a:rPr lang="zh-CN" altLang="en-US" sz="3200">
                <a:solidFill>
                  <a:schemeClr val="tx2"/>
                </a:solidFill>
                <a:latin typeface="楷体_GB2312" pitchFamily="49" charset="-122"/>
                <a:ea typeface="楷体_GB2312" pitchFamily="49" charset="-122"/>
              </a:rPr>
              <a:t>，如果循环校验码无误则余数应为</a:t>
            </a:r>
            <a:r>
              <a:rPr lang="en-US" altLang="zh-CN" sz="3200">
                <a:solidFill>
                  <a:schemeClr val="tx2"/>
                </a:solidFill>
                <a:latin typeface="楷体_GB2312" pitchFamily="49" charset="-122"/>
                <a:ea typeface="楷体_GB2312" pitchFamily="49" charset="-122"/>
              </a:rPr>
              <a:t>0</a:t>
            </a:r>
            <a:r>
              <a:rPr lang="zh-CN" altLang="en-US" sz="3200">
                <a:solidFill>
                  <a:schemeClr val="tx2"/>
                </a:solidFill>
                <a:latin typeface="楷体_GB2312" pitchFamily="49" charset="-122"/>
                <a:ea typeface="楷体_GB2312" pitchFamily="49" charset="-122"/>
              </a:rPr>
              <a:t>，如有某一位出错，则余数不为</a:t>
            </a:r>
            <a:r>
              <a:rPr lang="en-US" altLang="zh-CN" sz="3200">
                <a:solidFill>
                  <a:schemeClr val="tx2"/>
                </a:solidFill>
                <a:latin typeface="楷体_GB2312" pitchFamily="49" charset="-122"/>
                <a:ea typeface="楷体_GB2312" pitchFamily="49" charset="-122"/>
              </a:rPr>
              <a:t>0</a:t>
            </a:r>
            <a:r>
              <a:rPr lang="zh-CN" altLang="en-US" sz="3200">
                <a:solidFill>
                  <a:schemeClr val="tx2"/>
                </a:solidFill>
                <a:latin typeface="楷体_GB2312" pitchFamily="49" charset="-122"/>
                <a:ea typeface="楷体_GB2312" pitchFamily="49" charset="-122"/>
              </a:rPr>
              <a:t>，不同位数出错余数不同。如下表给出的关系可作为</a:t>
            </a:r>
            <a:r>
              <a:rPr lang="en-US" altLang="zh-CN" sz="3200">
                <a:solidFill>
                  <a:schemeClr val="tx2"/>
                </a:solidFill>
                <a:latin typeface="楷体_GB2312" pitchFamily="49" charset="-122"/>
                <a:ea typeface="楷体_GB2312" pitchFamily="49" charset="-122"/>
              </a:rPr>
              <a:t>(7</a:t>
            </a:r>
            <a:r>
              <a:rPr lang="zh-CN" altLang="en-US" sz="3200">
                <a:solidFill>
                  <a:schemeClr val="tx2"/>
                </a:solidFill>
                <a:latin typeface="楷体_GB2312" pitchFamily="49" charset="-122"/>
                <a:ea typeface="楷体_GB2312" pitchFamily="49" charset="-122"/>
              </a:rPr>
              <a:t>，</a:t>
            </a:r>
            <a:r>
              <a:rPr lang="en-US" altLang="zh-CN" sz="3200">
                <a:solidFill>
                  <a:schemeClr val="tx2"/>
                </a:solidFill>
                <a:latin typeface="楷体_GB2312" pitchFamily="49" charset="-122"/>
                <a:ea typeface="楷体_GB2312" pitchFamily="49" charset="-122"/>
              </a:rPr>
              <a:t>4)</a:t>
            </a:r>
            <a:r>
              <a:rPr lang="zh-CN" altLang="en-US" sz="3200">
                <a:solidFill>
                  <a:schemeClr val="tx2"/>
                </a:solidFill>
                <a:latin typeface="楷体_GB2312" pitchFamily="49" charset="-122"/>
                <a:ea typeface="楷体_GB2312" pitchFamily="49" charset="-122"/>
              </a:rPr>
              <a:t>码的判别依据。</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ea typeface="楷体_GB2312" pitchFamily="49" charset="-122"/>
              </a:rPr>
              <a:t>注意：下表中数字位号从右至左递增。</a:t>
            </a:r>
            <a:endParaRPr lang="zh-CN" altLang="en-US" sz="3200"/>
          </a:p>
        </p:txBody>
      </p:sp>
    </p:spTree>
    <p:extLst>
      <p:ext uri="{BB962C8B-B14F-4D97-AF65-F5344CB8AC3E}">
        <p14:creationId xmlns:p14="http://schemas.microsoft.com/office/powerpoint/2010/main" val="16667848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00355" name="矩形 2"/>
          <p:cNvSpPr>
            <a:spLocks noChangeArrowheads="1"/>
          </p:cNvSpPr>
          <p:nvPr/>
        </p:nvSpPr>
        <p:spPr bwMode="auto">
          <a:xfrm>
            <a:off x="714375" y="1643063"/>
            <a:ext cx="7786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p>
        </p:txBody>
      </p:sp>
      <p:sp>
        <p:nvSpPr>
          <p:cNvPr id="100356" name="矩形 3"/>
          <p:cNvSpPr>
            <a:spLocks noChangeArrowheads="1"/>
          </p:cNvSpPr>
          <p:nvPr/>
        </p:nvSpPr>
        <p:spPr bwMode="auto">
          <a:xfrm>
            <a:off x="357188" y="1690688"/>
            <a:ext cx="81438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2800" dirty="0">
                <a:solidFill>
                  <a:schemeClr val="tx2"/>
                </a:solidFill>
                <a:latin typeface="楷体_GB2312" pitchFamily="49" charset="-122"/>
                <a:ea typeface="楷体_GB2312" pitchFamily="49" charset="-122"/>
              </a:rPr>
              <a:t>(7</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4)</a:t>
            </a:r>
            <a:r>
              <a:rPr lang="zh-CN" altLang="en-US" sz="2800" dirty="0">
                <a:solidFill>
                  <a:schemeClr val="tx2"/>
                </a:solidFill>
                <a:latin typeface="楷体_GB2312" pitchFamily="49" charset="-122"/>
                <a:ea typeface="楷体_GB2312" pitchFamily="49" charset="-122"/>
              </a:rPr>
              <a:t>循环码的出错模式</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生成多项式</a:t>
            </a:r>
            <a:r>
              <a:rPr lang="en-US" altLang="zh-CN" sz="2800" dirty="0">
                <a:solidFill>
                  <a:schemeClr val="tx2"/>
                </a:solidFill>
                <a:latin typeface="楷体_GB2312" pitchFamily="49" charset="-122"/>
                <a:ea typeface="楷体_GB2312" pitchFamily="49" charset="-122"/>
              </a:rPr>
              <a:t>G(x)=1011)</a:t>
            </a:r>
          </a:p>
          <a:p>
            <a:pPr algn="ctr" eaLnBrk="1" hangingPunct="1"/>
            <a:r>
              <a:rPr lang="zh-CN" altLang="en-US" sz="2800" dirty="0">
                <a:solidFill>
                  <a:schemeClr val="tx2"/>
                </a:solidFill>
                <a:latin typeface="楷体_GB2312" pitchFamily="49" charset="-122"/>
                <a:ea typeface="楷体_GB2312" pitchFamily="49" charset="-122"/>
              </a:rPr>
              <a:t>表</a:t>
            </a:r>
            <a:r>
              <a:rPr lang="en-US" altLang="zh-CN" sz="2800" dirty="0">
                <a:solidFill>
                  <a:schemeClr val="tx2"/>
                </a:solidFill>
                <a:latin typeface="楷体_GB2312" pitchFamily="49" charset="-122"/>
                <a:ea typeface="楷体_GB2312" pitchFamily="49" charset="-122"/>
              </a:rPr>
              <a:t>2.1.1:</a:t>
            </a:r>
            <a:r>
              <a:rPr lang="zh-CN" altLang="en-US" sz="2800" dirty="0">
                <a:solidFill>
                  <a:schemeClr val="tx2"/>
                </a:solidFill>
                <a:latin typeface="楷体_GB2312" pitchFamily="49" charset="-122"/>
                <a:ea typeface="楷体_GB2312" pitchFamily="49" charset="-122"/>
              </a:rPr>
              <a:t>余数和出错位对应表</a:t>
            </a:r>
            <a:endParaRPr lang="en-US" altLang="zh-CN" sz="2800" dirty="0">
              <a:solidFill>
                <a:schemeClr val="tx2"/>
              </a:solidFill>
              <a:latin typeface="楷体_GB2312" pitchFamily="49" charset="-122"/>
              <a:ea typeface="楷体_GB2312" pitchFamily="49" charset="-122"/>
            </a:endParaRPr>
          </a:p>
        </p:txBody>
      </p:sp>
      <p:graphicFrame>
        <p:nvGraphicFramePr>
          <p:cNvPr id="5" name="Group 663"/>
          <p:cNvGraphicFramePr>
            <a:graphicFrameLocks noGrp="1"/>
          </p:cNvGraphicFramePr>
          <p:nvPr>
            <p:extLst>
              <p:ext uri="{D42A27DB-BD31-4B8C-83A1-F6EECF244321}">
                <p14:modId xmlns:p14="http://schemas.microsoft.com/office/powerpoint/2010/main" val="46365400"/>
              </p:ext>
            </p:extLst>
          </p:nvPr>
        </p:nvGraphicFramePr>
        <p:xfrm>
          <a:off x="500063" y="2671764"/>
          <a:ext cx="8215312" cy="3565548"/>
        </p:xfrm>
        <a:graphic>
          <a:graphicData uri="http://schemas.openxmlformats.org/drawingml/2006/table">
            <a:tbl>
              <a:tblPr/>
              <a:tblGrid>
                <a:gridCol w="773112">
                  <a:extLst>
                    <a:ext uri="{9D8B030D-6E8A-4147-A177-3AD203B41FA5}">
                      <a16:colId xmlns:a16="http://schemas.microsoft.com/office/drawing/2014/main" val="20000"/>
                    </a:ext>
                  </a:extLst>
                </a:gridCol>
                <a:gridCol w="773113">
                  <a:extLst>
                    <a:ext uri="{9D8B030D-6E8A-4147-A177-3AD203B41FA5}">
                      <a16:colId xmlns:a16="http://schemas.microsoft.com/office/drawing/2014/main" val="20001"/>
                    </a:ext>
                  </a:extLst>
                </a:gridCol>
                <a:gridCol w="773112">
                  <a:extLst>
                    <a:ext uri="{9D8B030D-6E8A-4147-A177-3AD203B41FA5}">
                      <a16:colId xmlns:a16="http://schemas.microsoft.com/office/drawing/2014/main" val="20002"/>
                    </a:ext>
                  </a:extLst>
                </a:gridCol>
                <a:gridCol w="773113">
                  <a:extLst>
                    <a:ext uri="{9D8B030D-6E8A-4147-A177-3AD203B41FA5}">
                      <a16:colId xmlns:a16="http://schemas.microsoft.com/office/drawing/2014/main" val="20003"/>
                    </a:ext>
                  </a:extLst>
                </a:gridCol>
                <a:gridCol w="771525">
                  <a:extLst>
                    <a:ext uri="{9D8B030D-6E8A-4147-A177-3AD203B41FA5}">
                      <a16:colId xmlns:a16="http://schemas.microsoft.com/office/drawing/2014/main" val="20004"/>
                    </a:ext>
                  </a:extLst>
                </a:gridCol>
                <a:gridCol w="774700">
                  <a:extLst>
                    <a:ext uri="{9D8B030D-6E8A-4147-A177-3AD203B41FA5}">
                      <a16:colId xmlns:a16="http://schemas.microsoft.com/office/drawing/2014/main" val="20005"/>
                    </a:ext>
                  </a:extLst>
                </a:gridCol>
                <a:gridCol w="773112">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gridCol w="987425">
                  <a:extLst>
                    <a:ext uri="{9D8B030D-6E8A-4147-A177-3AD203B41FA5}">
                      <a16:colId xmlns:a16="http://schemas.microsoft.com/office/drawing/2014/main" val="20008"/>
                    </a:ext>
                  </a:extLst>
                </a:gridCol>
                <a:gridCol w="1044575">
                  <a:extLst>
                    <a:ext uri="{9D8B030D-6E8A-4147-A177-3AD203B41FA5}">
                      <a16:colId xmlns:a16="http://schemas.microsoft.com/office/drawing/2014/main" val="20009"/>
                    </a:ext>
                  </a:extLst>
                </a:gridCol>
              </a:tblGrid>
              <a:tr h="3961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endParaRP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6</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余数</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出错位</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正 确</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0 0 0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无</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169">
                <a:tc rowSpan="7">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错 误</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B050"/>
                          </a:solidFill>
                          <a:effectLst/>
                          <a:latin typeface="Times New Roman" pitchFamily="18" charset="0"/>
                          <a:ea typeface="宋体" pitchFamily="2" charset="-122"/>
                          <a:cs typeface="Times New Roman" pitchFamily="18" charset="0"/>
                        </a:rPr>
                        <a:t>0 0 1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70C0"/>
                          </a:solidFill>
                          <a:effectLst/>
                          <a:latin typeface="Times New Roman" pitchFamily="18" charset="0"/>
                          <a:ea typeface="宋体" pitchFamily="2" charset="-122"/>
                          <a:cs typeface="Times New Roman" pitchFamily="18" charset="0"/>
                        </a:rPr>
                        <a:t>0 1 0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1 0 0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0 1 1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1 1 0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endPar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1 1 1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16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1 0 1</a:t>
                      </a:r>
                    </a:p>
                  </a:txBody>
                  <a:tcPr marT="45686" marB="456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6</a:t>
                      </a:r>
                    </a:p>
                  </a:txBody>
                  <a:tcPr marT="45686" marB="45686"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8487723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00355" name="矩形 2"/>
          <p:cNvSpPr>
            <a:spLocks noChangeArrowheads="1"/>
          </p:cNvSpPr>
          <p:nvPr/>
        </p:nvSpPr>
        <p:spPr bwMode="auto">
          <a:xfrm>
            <a:off x="714375" y="1643063"/>
            <a:ext cx="7786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p>
        </p:txBody>
      </p:sp>
      <p:sp>
        <p:nvSpPr>
          <p:cNvPr id="100356" name="矩形 3"/>
          <p:cNvSpPr>
            <a:spLocks noChangeArrowheads="1"/>
          </p:cNvSpPr>
          <p:nvPr/>
        </p:nvSpPr>
        <p:spPr bwMode="auto">
          <a:xfrm>
            <a:off x="357188" y="1690688"/>
            <a:ext cx="81438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en-US" altLang="zh-CN" sz="2800" dirty="0">
              <a:solidFill>
                <a:schemeClr val="tx2"/>
              </a:solidFill>
              <a:latin typeface="楷体_GB2312" pitchFamily="49" charset="-122"/>
              <a:ea typeface="楷体_GB2312" pitchFamily="49" charset="-122"/>
            </a:endParaRPr>
          </a:p>
          <a:p>
            <a:pPr eaLnBrk="1" hangingPunct="1"/>
            <a:r>
              <a:rPr lang="zh-CN" altLang="en-US" sz="2800" dirty="0">
                <a:solidFill>
                  <a:schemeClr val="tx2"/>
                </a:solidFill>
                <a:latin typeface="楷体_GB2312" pitchFamily="49" charset="-122"/>
                <a:ea typeface="楷体_GB2312" pitchFamily="49" charset="-122"/>
              </a:rPr>
              <a:t>表</a:t>
            </a:r>
            <a:r>
              <a:rPr lang="en-US" altLang="zh-CN" sz="2800" dirty="0">
                <a:solidFill>
                  <a:schemeClr val="tx2"/>
                </a:solidFill>
                <a:latin typeface="楷体_GB2312" pitchFamily="49" charset="-122"/>
                <a:ea typeface="楷体_GB2312" pitchFamily="49" charset="-122"/>
              </a:rPr>
              <a:t>2.1.1</a:t>
            </a:r>
            <a:r>
              <a:rPr lang="zh-CN" altLang="en-US" sz="2800" dirty="0">
                <a:solidFill>
                  <a:schemeClr val="tx2"/>
                </a:solidFill>
                <a:latin typeface="楷体_GB2312" pitchFamily="49" charset="-122"/>
                <a:ea typeface="楷体_GB2312" pitchFamily="49" charset="-122"/>
              </a:rPr>
              <a:t>中每个出错的编码除以</a:t>
            </a:r>
            <a:r>
              <a:rPr lang="en-US" altLang="zh-CN" sz="2800" dirty="0">
                <a:solidFill>
                  <a:schemeClr val="tx2"/>
                </a:solidFill>
                <a:latin typeface="楷体_GB2312" pitchFamily="49" charset="-122"/>
                <a:ea typeface="楷体_GB2312" pitchFamily="49" charset="-122"/>
              </a:rPr>
              <a:t>G(x)</a:t>
            </a:r>
            <a:r>
              <a:rPr lang="zh-CN" altLang="en-US" sz="2800" dirty="0">
                <a:solidFill>
                  <a:schemeClr val="tx2"/>
                </a:solidFill>
                <a:latin typeface="楷体_GB2312" pitchFamily="49" charset="-122"/>
                <a:ea typeface="楷体_GB2312" pitchFamily="49" charset="-122"/>
              </a:rPr>
              <a:t>都可以求得一个余数</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不同出错位所得到的的余数不同，每一个余数都指示了某一出错位置，因此。对于某个</a:t>
            </a:r>
            <a:r>
              <a:rPr lang="en-US" altLang="zh-CN" sz="2800" dirty="0">
                <a:solidFill>
                  <a:schemeClr val="tx2"/>
                </a:solidFill>
                <a:latin typeface="楷体_GB2312" pitchFamily="49" charset="-122"/>
                <a:ea typeface="楷体_GB2312" pitchFamily="49" charset="-122"/>
              </a:rPr>
              <a:t>G(x)</a:t>
            </a:r>
            <a:r>
              <a:rPr lang="zh-CN" altLang="en-US" sz="2800" dirty="0">
                <a:solidFill>
                  <a:schemeClr val="tx2"/>
                </a:solidFill>
                <a:latin typeface="楷体_GB2312" pitchFamily="49" charset="-122"/>
                <a:ea typeface="楷体_GB2312" pitchFamily="49" charset="-122"/>
              </a:rPr>
              <a:t>可以求得其余数与出错位置的对应表，查此表即可知道传递的编码中哪一位出错。</a:t>
            </a:r>
            <a:endParaRPr lang="en-US" altLang="zh-CN" sz="2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6453372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矩形 3"/>
          <p:cNvSpPr>
            <a:spLocks noChangeArrowheads="1"/>
          </p:cNvSpPr>
          <p:nvPr/>
        </p:nvSpPr>
        <p:spPr bwMode="auto">
          <a:xfrm>
            <a:off x="785813" y="1785938"/>
            <a:ext cx="7572375"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更换不同的待测码字可以证明：</a:t>
            </a:r>
            <a:r>
              <a:rPr lang="zh-CN" altLang="en-US" sz="3200" dirty="0">
                <a:solidFill>
                  <a:srgbClr val="FF0000"/>
                </a:solidFill>
                <a:latin typeface="楷体_GB2312" pitchFamily="49" charset="-122"/>
                <a:ea typeface="楷体_GB2312" pitchFamily="49" charset="-122"/>
              </a:rPr>
              <a:t>余数与出错位的对应关系是不变的，余数只与码制和生成多项式</a:t>
            </a:r>
            <a:r>
              <a:rPr lang="en-US" altLang="zh-CN" sz="3200" dirty="0">
                <a:solidFill>
                  <a:srgbClr val="FF0000"/>
                </a:solidFill>
                <a:latin typeface="楷体_GB2312" pitchFamily="49" charset="-122"/>
                <a:ea typeface="楷体_GB2312" pitchFamily="49" charset="-122"/>
              </a:rPr>
              <a:t>G(x)</a:t>
            </a:r>
            <a:r>
              <a:rPr lang="zh-CN" altLang="en-US" sz="3200" dirty="0">
                <a:solidFill>
                  <a:srgbClr val="FF0000"/>
                </a:solidFill>
                <a:latin typeface="楷体_GB2312" pitchFamily="49" charset="-122"/>
                <a:ea typeface="楷体_GB2312" pitchFamily="49" charset="-122"/>
              </a:rPr>
              <a:t>有关。</a:t>
            </a:r>
            <a:endParaRPr lang="en-US" altLang="zh-CN" sz="3200" dirty="0">
              <a:solidFill>
                <a:srgbClr val="FF0000"/>
              </a:solidFill>
              <a:latin typeface="楷体_GB2312" pitchFamily="49" charset="-122"/>
              <a:ea typeface="楷体_GB2312" pitchFamily="49" charset="-122"/>
            </a:endParaRPr>
          </a:p>
          <a:p>
            <a:pPr algn="l" eaLnBrk="1" hangingPunct="1"/>
            <a:endParaRPr lang="zh-CN" altLang="en-US" sz="3200" dirty="0">
              <a:solidFill>
                <a:srgbClr val="FF0000"/>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对于其他码制或选用其他生成多项式，出错模式将发生变化。 </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026249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85813" y="1714500"/>
            <a:ext cx="7572375" cy="4032250"/>
          </a:xfrm>
          <a:prstGeom prst="rect">
            <a:avLst/>
          </a:prstGeom>
        </p:spPr>
        <p:txBody>
          <a:bodyPr>
            <a:spAutoFit/>
          </a:bodyPr>
          <a:lstStyle/>
          <a:p>
            <a:pPr algn="l">
              <a:defRPr/>
            </a:pP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）生成多项式</a:t>
            </a:r>
            <a:r>
              <a:rPr lang="en-US" altLang="zh-CN" sz="3200" b="1" dirty="0">
                <a:solidFill>
                  <a:schemeClr val="tx2"/>
                </a:solidFill>
                <a:latin typeface="楷体_GB2312" pitchFamily="49" charset="-122"/>
                <a:ea typeface="楷体_GB2312" pitchFamily="49" charset="-122"/>
              </a:rPr>
              <a:t>G(x)</a:t>
            </a:r>
            <a:r>
              <a:rPr lang="zh-CN" altLang="en-US" sz="3200" b="1" dirty="0">
                <a:solidFill>
                  <a:schemeClr val="tx2"/>
                </a:solidFill>
                <a:latin typeface="楷体_GB2312" pitchFamily="49" charset="-122"/>
                <a:ea typeface="楷体_GB2312" pitchFamily="49" charset="-122"/>
              </a:rPr>
              <a:t></a:t>
            </a:r>
          </a:p>
          <a:p>
            <a:pPr algn="l">
              <a:defRPr/>
            </a:pPr>
            <a:r>
              <a:rPr lang="zh-CN" altLang="en-US" sz="3200" b="1" dirty="0">
                <a:solidFill>
                  <a:schemeClr val="tx2"/>
                </a:solidFill>
                <a:latin typeface="楷体_GB2312" pitchFamily="49" charset="-122"/>
                <a:ea typeface="楷体_GB2312" pitchFamily="49" charset="-122"/>
              </a:rPr>
              <a:t>    并不是任何一个</a:t>
            </a:r>
            <a:r>
              <a:rPr lang="en-US" altLang="zh-CN" sz="3200" b="1" dirty="0">
                <a:solidFill>
                  <a:schemeClr val="tx2"/>
                </a:solidFill>
                <a:latin typeface="楷体_GB2312" pitchFamily="49" charset="-122"/>
                <a:ea typeface="楷体_GB2312" pitchFamily="49" charset="-122"/>
              </a:rPr>
              <a:t>(k+1)</a:t>
            </a:r>
            <a:r>
              <a:rPr lang="zh-CN" altLang="en-US" sz="3200" b="1" dirty="0">
                <a:solidFill>
                  <a:schemeClr val="tx2"/>
                </a:solidFill>
                <a:latin typeface="楷体_GB2312" pitchFamily="49" charset="-122"/>
                <a:ea typeface="楷体_GB2312" pitchFamily="49" charset="-122"/>
              </a:rPr>
              <a:t>位多项式都可以作为生成多项式的。从检错及纠错的要求出发，生成多项式应能满足下列要求：</a:t>
            </a:r>
          </a:p>
          <a:p>
            <a:pPr marL="514350" indent="-514350" algn="l">
              <a:buFont typeface="+mj-ea"/>
              <a:buAutoNum type="circleNumDbPlain"/>
              <a:defRPr/>
            </a:pPr>
            <a:r>
              <a:rPr lang="zh-CN" altLang="en-US" sz="3200" b="1" dirty="0">
                <a:solidFill>
                  <a:schemeClr val="tx2"/>
                </a:solidFill>
                <a:latin typeface="楷体_GB2312" pitchFamily="49" charset="-122"/>
                <a:ea typeface="楷体_GB2312" pitchFamily="49" charset="-122"/>
              </a:rPr>
              <a:t>任何一位发生错误都应使余数不为</a:t>
            </a:r>
            <a:r>
              <a:rPr lang="en-US" altLang="zh-CN" sz="3200" b="1"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a:t>
            </a:r>
          </a:p>
          <a:p>
            <a:pPr marL="514350" indent="-514350" algn="l">
              <a:buFont typeface="+mj-ea"/>
              <a:buAutoNum type="circleNumDbPlain"/>
              <a:defRPr/>
            </a:pPr>
            <a:r>
              <a:rPr lang="zh-CN" altLang="en-US" sz="3200" b="1" dirty="0">
                <a:solidFill>
                  <a:schemeClr val="tx2"/>
                </a:solidFill>
                <a:latin typeface="楷体_GB2312" pitchFamily="49" charset="-122"/>
                <a:ea typeface="楷体_GB2312" pitchFamily="49" charset="-122"/>
              </a:rPr>
              <a:t>不同位发生错误应当使余数不同。</a:t>
            </a:r>
          </a:p>
          <a:p>
            <a:pPr marL="514350" indent="-514350" algn="l">
              <a:buFont typeface="+mj-ea"/>
              <a:buAutoNum type="circleNumDbPlain"/>
              <a:defRPr/>
            </a:pPr>
            <a:r>
              <a:rPr lang="zh-CN" altLang="en-US" sz="3200" b="1" dirty="0">
                <a:solidFill>
                  <a:schemeClr val="tx2"/>
                </a:solidFill>
                <a:latin typeface="楷体_GB2312" pitchFamily="49" charset="-122"/>
                <a:ea typeface="楷体_GB2312" pitchFamily="49" charset="-122"/>
              </a:rPr>
              <a:t>对余数继续作模</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除，应使</a:t>
            </a:r>
            <a:r>
              <a:rPr lang="zh-CN" altLang="en-US" sz="3200" b="1" dirty="0">
                <a:solidFill>
                  <a:srgbClr val="FF0000"/>
                </a:solidFill>
                <a:latin typeface="楷体_GB2312" pitchFamily="49" charset="-122"/>
                <a:ea typeface="楷体_GB2312" pitchFamily="49" charset="-122"/>
              </a:rPr>
              <a:t>余数循环</a:t>
            </a:r>
            <a:r>
              <a:rPr lang="zh-CN" altLang="en-US" sz="3200" dirty="0">
                <a:solidFill>
                  <a:schemeClr val="tx2"/>
                </a:solidFill>
                <a:latin typeface="楷体_GB2312" pitchFamily="49" charset="-122"/>
                <a:ea typeface="楷体_GB2312" pitchFamily="49" charset="-122"/>
              </a:rPr>
              <a:t>。</a:t>
            </a: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9398716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85813" y="1714500"/>
            <a:ext cx="7572375" cy="4031873"/>
          </a:xfrm>
          <a:prstGeom prst="rect">
            <a:avLst/>
          </a:prstGeom>
        </p:spPr>
        <p:txBody>
          <a:bodyPr>
            <a:spAutoFit/>
          </a:bodyPr>
          <a:lstStyle/>
          <a:p>
            <a:pPr algn="l">
              <a:defRPr/>
            </a:pPr>
            <a:r>
              <a:rPr lang="zh-CN" altLang="en-US" sz="3200" b="1" dirty="0">
                <a:solidFill>
                  <a:schemeClr val="tx2"/>
                </a:solidFill>
                <a:latin typeface="楷体_GB2312" pitchFamily="49" charset="-122"/>
                <a:ea typeface="楷体_GB2312" pitchFamily="49" charset="-122"/>
              </a:rPr>
              <a:t>所谓余数循环就是对某个余数</a:t>
            </a:r>
            <a:r>
              <a:rPr lang="en-US" altLang="zh-CN" sz="3200" b="1" dirty="0">
                <a:solidFill>
                  <a:schemeClr val="tx2"/>
                </a:solidFill>
                <a:latin typeface="楷体_GB2312" pitchFamily="49" charset="-122"/>
                <a:ea typeface="楷体_GB2312" pitchFamily="49" charset="-122"/>
              </a:rPr>
              <a:t>a</a:t>
            </a:r>
            <a:r>
              <a:rPr lang="zh-CN" altLang="en-US" sz="3200" b="1" dirty="0">
                <a:solidFill>
                  <a:schemeClr val="tx2"/>
                </a:solidFill>
                <a:latin typeface="楷体_GB2312" pitchFamily="49" charset="-122"/>
                <a:ea typeface="楷体_GB2312" pitchFamily="49" charset="-122"/>
              </a:rPr>
              <a:t>尾部补</a:t>
            </a:r>
            <a:r>
              <a:rPr lang="en-US" altLang="zh-CN" sz="3200" b="1"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后继续模</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除以</a:t>
            </a:r>
            <a:r>
              <a:rPr lang="en-US" altLang="zh-CN" sz="3200" b="1" dirty="0">
                <a:solidFill>
                  <a:schemeClr val="tx2"/>
                </a:solidFill>
                <a:latin typeface="楷体_GB2312" pitchFamily="49" charset="-122"/>
                <a:ea typeface="楷体_GB2312" pitchFamily="49" charset="-122"/>
              </a:rPr>
              <a:t>G(x),</a:t>
            </a:r>
            <a:r>
              <a:rPr lang="zh-CN" altLang="en-US" sz="3200" b="1" dirty="0">
                <a:solidFill>
                  <a:schemeClr val="tx2"/>
                </a:solidFill>
                <a:latin typeface="楷体_GB2312" pitchFamily="49" charset="-122"/>
                <a:ea typeface="楷体_GB2312" pitchFamily="49" charset="-122"/>
              </a:rPr>
              <a:t>所得到的新的余数</a:t>
            </a:r>
            <a:r>
              <a:rPr lang="en-US" altLang="zh-CN" sz="3200" b="1" dirty="0">
                <a:solidFill>
                  <a:schemeClr val="tx2"/>
                </a:solidFill>
                <a:latin typeface="楷体_GB2312" pitchFamily="49" charset="-122"/>
                <a:ea typeface="楷体_GB2312" pitchFamily="49" charset="-122"/>
              </a:rPr>
              <a:t>b</a:t>
            </a:r>
            <a:r>
              <a:rPr lang="zh-CN" altLang="en-US" sz="3200" b="1" dirty="0">
                <a:solidFill>
                  <a:schemeClr val="tx2"/>
                </a:solidFill>
                <a:latin typeface="楷体_GB2312" pitchFamily="49" charset="-122"/>
                <a:ea typeface="楷体_GB2312" pitchFamily="49" charset="-122"/>
              </a:rPr>
              <a:t>也出现在表（如表</a:t>
            </a:r>
            <a:r>
              <a:rPr lang="en-US" altLang="zh-CN" sz="3200" b="1" dirty="0">
                <a:solidFill>
                  <a:schemeClr val="tx2"/>
                </a:solidFill>
                <a:latin typeface="楷体_GB2312" pitchFamily="49" charset="-122"/>
                <a:ea typeface="楷体_GB2312" pitchFamily="49" charset="-122"/>
              </a:rPr>
              <a:t>2.1.1</a:t>
            </a:r>
            <a:r>
              <a:rPr lang="zh-CN" altLang="en-US" sz="3200" b="1" dirty="0">
                <a:solidFill>
                  <a:schemeClr val="tx2"/>
                </a:solidFill>
                <a:latin typeface="楷体_GB2312" pitchFamily="49" charset="-122"/>
                <a:ea typeface="楷体_GB2312" pitchFamily="49" charset="-122"/>
              </a:rPr>
              <a:t>）中，且</a:t>
            </a:r>
            <a:r>
              <a:rPr lang="en-US" altLang="zh-CN" sz="3200" b="1" dirty="0">
                <a:solidFill>
                  <a:schemeClr val="tx2"/>
                </a:solidFill>
                <a:latin typeface="楷体_GB2312" pitchFamily="49" charset="-122"/>
                <a:ea typeface="楷体_GB2312" pitchFamily="49" charset="-122"/>
              </a:rPr>
              <a:t>b</a:t>
            </a:r>
            <a:r>
              <a:rPr lang="zh-CN" altLang="en-US" sz="3200" b="1" dirty="0">
                <a:solidFill>
                  <a:schemeClr val="tx2"/>
                </a:solidFill>
                <a:latin typeface="楷体_GB2312" pitchFamily="49" charset="-122"/>
                <a:ea typeface="楷体_GB2312" pitchFamily="49" charset="-122"/>
              </a:rPr>
              <a:t>在表中紧接着排在</a:t>
            </a:r>
            <a:r>
              <a:rPr lang="en-US" altLang="zh-CN" sz="3200" b="1" dirty="0">
                <a:solidFill>
                  <a:schemeClr val="tx2"/>
                </a:solidFill>
                <a:latin typeface="楷体_GB2312" pitchFamily="49" charset="-122"/>
                <a:ea typeface="楷体_GB2312" pitchFamily="49" charset="-122"/>
              </a:rPr>
              <a:t>a</a:t>
            </a:r>
            <a:r>
              <a:rPr lang="zh-CN" altLang="en-US" sz="3200" b="1" dirty="0">
                <a:solidFill>
                  <a:schemeClr val="tx2"/>
                </a:solidFill>
                <a:latin typeface="楷体_GB2312" pitchFamily="49" charset="-122"/>
                <a:ea typeface="楷体_GB2312" pitchFamily="49" charset="-122"/>
              </a:rPr>
              <a:t>的下面。</a:t>
            </a:r>
            <a:endParaRPr lang="en-US" altLang="zh-CN" sz="3200" b="1" dirty="0">
              <a:solidFill>
                <a:schemeClr val="tx2"/>
              </a:solidFill>
              <a:latin typeface="楷体_GB2312" pitchFamily="49" charset="-122"/>
              <a:ea typeface="楷体_GB2312" pitchFamily="49" charset="-122"/>
            </a:endParaRPr>
          </a:p>
          <a:p>
            <a:pPr algn="l">
              <a:defRPr/>
            </a:pPr>
            <a:r>
              <a:rPr lang="zh-CN" altLang="en-US" sz="3200" b="1" dirty="0">
                <a:solidFill>
                  <a:schemeClr val="tx2"/>
                </a:solidFill>
                <a:latin typeface="楷体_GB2312" pitchFamily="49" charset="-122"/>
                <a:ea typeface="楷体_GB2312" pitchFamily="49" charset="-122"/>
              </a:rPr>
              <a:t>如表</a:t>
            </a:r>
            <a:r>
              <a:rPr lang="en-US" altLang="zh-CN" sz="3200" b="1" dirty="0">
                <a:solidFill>
                  <a:schemeClr val="tx2"/>
                </a:solidFill>
                <a:latin typeface="楷体_GB2312" pitchFamily="49" charset="-122"/>
                <a:ea typeface="楷体_GB2312" pitchFamily="49" charset="-122"/>
              </a:rPr>
              <a:t>2.1.1</a:t>
            </a:r>
            <a:r>
              <a:rPr lang="zh-CN" altLang="en-US" sz="3200" b="1" dirty="0">
                <a:solidFill>
                  <a:schemeClr val="tx2"/>
                </a:solidFill>
                <a:latin typeface="楷体_GB2312" pitchFamily="49" charset="-122"/>
                <a:ea typeface="楷体_GB2312" pitchFamily="49" charset="-122"/>
              </a:rPr>
              <a:t>中 </a:t>
            </a:r>
            <a:r>
              <a:rPr lang="en-US" altLang="zh-CN" sz="3200" b="1" dirty="0">
                <a:solidFill>
                  <a:srgbClr val="00B050"/>
                </a:solidFill>
                <a:latin typeface="楷体_GB2312" pitchFamily="49" charset="-122"/>
                <a:ea typeface="楷体_GB2312" pitchFamily="49" charset="-122"/>
              </a:rPr>
              <a:t>001</a:t>
            </a:r>
            <a:r>
              <a:rPr lang="zh-CN" altLang="en-US" sz="3200" b="1" dirty="0">
                <a:solidFill>
                  <a:schemeClr val="tx2"/>
                </a:solidFill>
                <a:latin typeface="楷体_GB2312" pitchFamily="49" charset="-122"/>
                <a:ea typeface="楷体_GB2312" pitchFamily="49" charset="-122"/>
              </a:rPr>
              <a:t>代表第</a:t>
            </a:r>
            <a:r>
              <a:rPr lang="en-US" altLang="zh-CN" sz="3200" b="1" dirty="0">
                <a:solidFill>
                  <a:schemeClr val="tx2"/>
                </a:solidFill>
                <a:latin typeface="楷体_GB2312" pitchFamily="49" charset="-122"/>
                <a:ea typeface="楷体_GB2312" pitchFamily="49" charset="-122"/>
              </a:rPr>
              <a:t>D</a:t>
            </a:r>
            <a:r>
              <a:rPr lang="en-US" altLang="zh-CN" sz="2800" b="1"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位出错，</a:t>
            </a:r>
            <a:r>
              <a:rPr lang="en-US" altLang="zh-CN" sz="3200" b="1" dirty="0">
                <a:solidFill>
                  <a:schemeClr val="tx2"/>
                </a:solidFill>
                <a:latin typeface="楷体_GB2312" pitchFamily="49" charset="-122"/>
                <a:ea typeface="楷体_GB2312" pitchFamily="49" charset="-122"/>
              </a:rPr>
              <a:t>001</a:t>
            </a:r>
            <a:r>
              <a:rPr lang="zh-CN" altLang="en-US" sz="3200" b="1" dirty="0">
                <a:solidFill>
                  <a:schemeClr val="tx2"/>
                </a:solidFill>
                <a:latin typeface="楷体_GB2312" pitchFamily="49" charset="-122"/>
                <a:ea typeface="楷体_GB2312" pitchFamily="49" charset="-122"/>
              </a:rPr>
              <a:t>尾部补</a:t>
            </a:r>
            <a:r>
              <a:rPr lang="en-US" altLang="zh-CN" sz="3200" b="1"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后为</a:t>
            </a:r>
            <a:r>
              <a:rPr lang="en-US" altLang="zh-CN" sz="3200" b="1" dirty="0">
                <a:solidFill>
                  <a:schemeClr val="tx2"/>
                </a:solidFill>
                <a:latin typeface="楷体_GB2312" pitchFamily="49" charset="-122"/>
                <a:ea typeface="楷体_GB2312" pitchFamily="49" charset="-122"/>
              </a:rPr>
              <a:t>0010</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0010</a:t>
            </a:r>
            <a:r>
              <a:rPr lang="zh-CN" altLang="en-US" sz="3200" b="1" dirty="0">
                <a:solidFill>
                  <a:schemeClr val="tx2"/>
                </a:solidFill>
                <a:latin typeface="楷体_GB2312" pitchFamily="49" charset="-122"/>
                <a:ea typeface="楷体_GB2312" pitchFamily="49" charset="-122"/>
              </a:rPr>
              <a:t>模</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除以</a:t>
            </a:r>
            <a:r>
              <a:rPr lang="en-US" altLang="zh-CN" sz="3200" b="1" dirty="0">
                <a:solidFill>
                  <a:schemeClr val="tx2"/>
                </a:solidFill>
                <a:latin typeface="楷体_GB2312" pitchFamily="49" charset="-122"/>
                <a:ea typeface="楷体_GB2312" pitchFamily="49" charset="-122"/>
              </a:rPr>
              <a:t>G(x)=1011</a:t>
            </a:r>
            <a:r>
              <a:rPr lang="zh-CN" altLang="en-US" sz="3200" b="1" dirty="0">
                <a:solidFill>
                  <a:schemeClr val="tx2"/>
                </a:solidFill>
                <a:latin typeface="楷体_GB2312" pitchFamily="49" charset="-122"/>
                <a:ea typeface="楷体_GB2312" pitchFamily="49" charset="-122"/>
              </a:rPr>
              <a:t>所得余数为</a:t>
            </a:r>
            <a:r>
              <a:rPr lang="en-US" altLang="zh-CN" sz="3200" b="1" dirty="0">
                <a:solidFill>
                  <a:srgbClr val="0070C0"/>
                </a:solidFill>
                <a:latin typeface="楷体_GB2312" pitchFamily="49" charset="-122"/>
                <a:ea typeface="楷体_GB2312" pitchFamily="49" charset="-122"/>
              </a:rPr>
              <a:t>010</a:t>
            </a:r>
            <a:r>
              <a:rPr lang="zh-CN" altLang="en-US" sz="3200" b="1" dirty="0">
                <a:solidFill>
                  <a:schemeClr val="tx2"/>
                </a:solidFill>
                <a:latin typeface="楷体_GB2312" pitchFamily="49" charset="-122"/>
                <a:ea typeface="楷体_GB2312" pitchFamily="49" charset="-122"/>
              </a:rPr>
              <a:t>，而</a:t>
            </a:r>
            <a:r>
              <a:rPr lang="en-US" altLang="zh-CN" sz="3200" b="1" dirty="0">
                <a:solidFill>
                  <a:srgbClr val="0070C0"/>
                </a:solidFill>
                <a:latin typeface="楷体_GB2312" pitchFamily="49" charset="-122"/>
                <a:ea typeface="楷体_GB2312" pitchFamily="49" charset="-122"/>
              </a:rPr>
              <a:t>010</a:t>
            </a:r>
            <a:r>
              <a:rPr lang="zh-CN" altLang="en-US" sz="3200" b="1" dirty="0">
                <a:solidFill>
                  <a:schemeClr val="tx2"/>
                </a:solidFill>
                <a:latin typeface="楷体_GB2312" pitchFamily="49" charset="-122"/>
                <a:ea typeface="楷体_GB2312" pitchFamily="49" charset="-122"/>
              </a:rPr>
              <a:t>紧接着出现在</a:t>
            </a:r>
            <a:r>
              <a:rPr lang="en-US" altLang="zh-CN" sz="3200" b="1" dirty="0">
                <a:solidFill>
                  <a:srgbClr val="00B050"/>
                </a:solidFill>
                <a:latin typeface="楷体_GB2312" pitchFamily="49" charset="-122"/>
                <a:ea typeface="楷体_GB2312" pitchFamily="49" charset="-122"/>
              </a:rPr>
              <a:t>001</a:t>
            </a:r>
            <a:r>
              <a:rPr lang="zh-CN" altLang="en-US" sz="3200" b="1" dirty="0">
                <a:solidFill>
                  <a:schemeClr val="tx2"/>
                </a:solidFill>
                <a:latin typeface="楷体_GB2312" pitchFamily="49" charset="-122"/>
                <a:ea typeface="楷体_GB2312" pitchFamily="49" charset="-122"/>
              </a:rPr>
              <a:t>的下面。</a:t>
            </a: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24703622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矩形 3"/>
          <p:cNvSpPr>
            <a:spLocks noChangeArrowheads="1"/>
          </p:cNvSpPr>
          <p:nvPr/>
        </p:nvSpPr>
        <p:spPr bwMode="auto">
          <a:xfrm>
            <a:off x="1285875" y="1571625"/>
            <a:ext cx="7572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chemeClr val="tx2"/>
                </a:solidFill>
                <a:latin typeface="楷体_GB2312" pitchFamily="49" charset="-122"/>
                <a:ea typeface="楷体_GB2312" pitchFamily="49" charset="-122"/>
              </a:rPr>
              <a:t>常用</a:t>
            </a:r>
            <a:r>
              <a:rPr lang="en-US" altLang="zh-CN" sz="3200" dirty="0">
                <a:solidFill>
                  <a:schemeClr val="tx2"/>
                </a:solidFill>
                <a:latin typeface="楷体_GB2312" pitchFamily="49" charset="-122"/>
                <a:ea typeface="楷体_GB2312" pitchFamily="49" charset="-122"/>
              </a:rPr>
              <a:t>CRC</a:t>
            </a:r>
            <a:r>
              <a:rPr lang="zh-CN" altLang="en-US" sz="3200" dirty="0">
                <a:solidFill>
                  <a:schemeClr val="tx2"/>
                </a:solidFill>
                <a:latin typeface="楷体_GB2312" pitchFamily="49" charset="-122"/>
                <a:ea typeface="楷体_GB2312" pitchFamily="49" charset="-122"/>
              </a:rPr>
              <a:t>生成多项式</a:t>
            </a:r>
            <a:r>
              <a:rPr lang="en-US" altLang="zh-CN" sz="3200" dirty="0">
                <a:solidFill>
                  <a:schemeClr val="tx2"/>
                </a:solidFill>
                <a:latin typeface="楷体_GB2312" pitchFamily="49" charset="-122"/>
                <a:ea typeface="楷体_GB2312" pitchFamily="49" charset="-122"/>
              </a:rPr>
              <a:t>G(x):</a:t>
            </a:r>
            <a:r>
              <a:rPr lang="zh-CN" altLang="en-US" sz="3200" dirty="0">
                <a:solidFill>
                  <a:schemeClr val="tx2"/>
                </a:solidFill>
                <a:latin typeface="楷体_GB2312" pitchFamily="49" charset="-122"/>
                <a:ea typeface="楷体_GB2312" pitchFamily="49" charset="-122"/>
              </a:rPr>
              <a:t> </a:t>
            </a: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graphicFrame>
        <p:nvGraphicFramePr>
          <p:cNvPr id="8" name="表格 7"/>
          <p:cNvGraphicFramePr>
            <a:graphicFrameLocks noGrp="1"/>
          </p:cNvGraphicFramePr>
          <p:nvPr/>
        </p:nvGraphicFramePr>
        <p:xfrm>
          <a:off x="500063" y="2225675"/>
          <a:ext cx="8358187" cy="3775074"/>
        </p:xfrm>
        <a:graphic>
          <a:graphicData uri="http://schemas.openxmlformats.org/drawingml/2006/table">
            <a:tbl>
              <a:tblPr firstRow="1" bandRow="1">
                <a:tableStyleId>{8A107856-5554-42FB-B03E-39F5DBC370BA}</a:tableStyleId>
              </a:tblPr>
              <a:tblGrid>
                <a:gridCol w="1779985">
                  <a:extLst>
                    <a:ext uri="{9D8B030D-6E8A-4147-A177-3AD203B41FA5}">
                      <a16:colId xmlns:a16="http://schemas.microsoft.com/office/drawing/2014/main" val="20000"/>
                    </a:ext>
                  </a:extLst>
                </a:gridCol>
                <a:gridCol w="4024312">
                  <a:extLst>
                    <a:ext uri="{9D8B030D-6E8A-4147-A177-3AD203B41FA5}">
                      <a16:colId xmlns:a16="http://schemas.microsoft.com/office/drawing/2014/main" val="20001"/>
                    </a:ext>
                  </a:extLst>
                </a:gridCol>
                <a:gridCol w="2553890">
                  <a:extLst>
                    <a:ext uri="{9D8B030D-6E8A-4147-A177-3AD203B41FA5}">
                      <a16:colId xmlns:a16="http://schemas.microsoft.com/office/drawing/2014/main" val="20002"/>
                    </a:ext>
                  </a:extLst>
                </a:gridCol>
              </a:tblGrid>
              <a:tr h="370902">
                <a:tc>
                  <a:txBody>
                    <a:bodyPr/>
                    <a:lstStyle/>
                    <a:p>
                      <a:pPr algn="ctr"/>
                      <a:r>
                        <a:rPr lang="zh-CN" altLang="en-US" sz="1800" dirty="0"/>
                        <a:t>名称</a:t>
                      </a:r>
                    </a:p>
                  </a:txBody>
                  <a:tcPr marL="91439" marR="91439" marT="45728" marB="45728" anchor="ctr"/>
                </a:tc>
                <a:tc>
                  <a:txBody>
                    <a:bodyPr/>
                    <a:lstStyle/>
                    <a:p>
                      <a:pPr algn="ctr"/>
                      <a:r>
                        <a:rPr lang="en-US" altLang="zh-CN" sz="1800" dirty="0"/>
                        <a:t>G(x)</a:t>
                      </a:r>
                      <a:r>
                        <a:rPr lang="zh-CN" altLang="en-US" sz="1800" dirty="0"/>
                        <a:t>多项式</a:t>
                      </a:r>
                    </a:p>
                  </a:txBody>
                  <a:tcPr marL="91439" marR="91439" marT="45728" marB="457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G(x)</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二进制码</a:t>
                      </a:r>
                      <a:endParaRPr lang="zh-CN" altLang="en-US" sz="1800" dirty="0"/>
                    </a:p>
                  </a:txBody>
                  <a:tcPr marL="91439" marR="91439" marT="45728" marB="45728"/>
                </a:tc>
                <a:extLst>
                  <a:ext uri="{0D108BD9-81ED-4DB2-BD59-A6C34878D82A}">
                    <a16:rowId xmlns:a16="http://schemas.microsoft.com/office/drawing/2014/main" val="10000"/>
                  </a:ext>
                </a:extLst>
              </a:tr>
              <a:tr h="370902">
                <a:tc>
                  <a:txBody>
                    <a:bodyPr/>
                    <a:lstStyle/>
                    <a:p>
                      <a:pPr algn="l"/>
                      <a:r>
                        <a:rPr lang="en-US" sz="1800" dirty="0"/>
                        <a:t>CRC-5-USB</a:t>
                      </a:r>
                    </a:p>
                  </a:txBody>
                  <a:tcPr marL="91439" marR="91439" marT="45728" marB="45728" anchor="ctr"/>
                </a:tc>
                <a:tc>
                  <a:txBody>
                    <a:bodyPr/>
                    <a:lstStyle/>
                    <a:p>
                      <a:pPr algn="l"/>
                      <a:r>
                        <a:rPr lang="en-US" sz="1800" i="1" dirty="0"/>
                        <a:t>x</a:t>
                      </a:r>
                      <a:r>
                        <a:rPr lang="en-US" sz="1800" baseline="30000" dirty="0"/>
                        <a:t>5</a:t>
                      </a:r>
                      <a:r>
                        <a:rPr lang="en-US" sz="1800" dirty="0"/>
                        <a:t> + </a:t>
                      </a:r>
                      <a:r>
                        <a:rPr lang="en-US" sz="1800" i="1" dirty="0"/>
                        <a:t>x</a:t>
                      </a:r>
                      <a:r>
                        <a:rPr lang="en-US" sz="1800" baseline="30000" dirty="0"/>
                        <a:t>2</a:t>
                      </a:r>
                      <a:r>
                        <a:rPr lang="en-US" sz="1800" dirty="0"/>
                        <a:t> + 1 (</a:t>
                      </a:r>
                      <a:r>
                        <a:rPr lang="zh-CN" altLang="en-US" sz="1800" dirty="0"/>
                        <a:t>用途：</a:t>
                      </a:r>
                      <a:r>
                        <a:rPr lang="en-US" sz="1800" dirty="0">
                          <a:hlinkClick r:id="rId3" action="ppaction://hlinkfile" tooltip="USB"/>
                        </a:rPr>
                        <a:t>USB</a:t>
                      </a:r>
                      <a:r>
                        <a:rPr lang="en-US" sz="1800" dirty="0"/>
                        <a:t> </a:t>
                      </a:r>
                      <a:r>
                        <a:rPr lang="zh-CN" altLang="en-US" sz="1800" dirty="0"/>
                        <a:t>信令包</a:t>
                      </a:r>
                      <a:r>
                        <a:rPr lang="en-US" altLang="zh-CN" sz="1800" dirty="0"/>
                        <a:t>)</a:t>
                      </a:r>
                    </a:p>
                  </a:txBody>
                  <a:tcPr marL="91439" marR="91439" marT="45728" marB="45728" anchor="ctr"/>
                </a:tc>
                <a:tc>
                  <a:txBody>
                    <a:bodyPr/>
                    <a:lstStyle/>
                    <a:p>
                      <a:pPr algn="ctr"/>
                      <a:r>
                        <a:rPr lang="en-US" altLang="zh-CN" sz="1800" dirty="0"/>
                        <a:t>100101</a:t>
                      </a:r>
                      <a:endParaRPr lang="zh-CN" altLang="en-US" sz="1800" dirty="0"/>
                    </a:p>
                  </a:txBody>
                  <a:tcPr marL="91439" marR="91439" marT="45728" marB="45728"/>
                </a:tc>
                <a:extLst>
                  <a:ext uri="{0D108BD9-81ED-4DB2-BD59-A6C34878D82A}">
                    <a16:rowId xmlns:a16="http://schemas.microsoft.com/office/drawing/2014/main" val="10001"/>
                  </a:ext>
                </a:extLst>
              </a:tr>
              <a:tr h="370902">
                <a:tc>
                  <a:txBody>
                    <a:bodyPr/>
                    <a:lstStyle/>
                    <a:p>
                      <a:r>
                        <a:rPr lang="en-US" sz="1800" dirty="0"/>
                        <a:t>CRC-7</a:t>
                      </a:r>
                    </a:p>
                  </a:txBody>
                  <a:tcPr marL="91439" marR="91439" marT="45728" marB="45728" anchor="ctr"/>
                </a:tc>
                <a:tc>
                  <a:txBody>
                    <a:bodyPr/>
                    <a:lstStyle/>
                    <a:p>
                      <a:r>
                        <a:rPr lang="en-US" altLang="zh-CN" sz="1800" i="1" dirty="0"/>
                        <a:t>x</a:t>
                      </a:r>
                      <a:r>
                        <a:rPr lang="en-US" altLang="zh-CN" sz="1800" baseline="30000" dirty="0"/>
                        <a:t>7</a:t>
                      </a:r>
                      <a:r>
                        <a:rPr lang="zh-CN" altLang="en-US" sz="1800" dirty="0"/>
                        <a:t> </a:t>
                      </a:r>
                      <a:r>
                        <a:rPr lang="en-US" altLang="zh-CN" sz="1800" dirty="0"/>
                        <a:t>+ </a:t>
                      </a:r>
                      <a:r>
                        <a:rPr lang="en-US" altLang="zh-CN" sz="1800" i="1" dirty="0"/>
                        <a:t>x</a:t>
                      </a:r>
                      <a:r>
                        <a:rPr lang="en-US" altLang="zh-CN" sz="1800" baseline="30000" dirty="0"/>
                        <a:t>3</a:t>
                      </a:r>
                      <a:r>
                        <a:rPr lang="zh-CN" altLang="en-US" sz="1800" dirty="0"/>
                        <a:t> </a:t>
                      </a:r>
                      <a:r>
                        <a:rPr lang="en-US" altLang="zh-CN" sz="1800" dirty="0"/>
                        <a:t>+ 1 (</a:t>
                      </a:r>
                      <a:r>
                        <a:rPr lang="zh-CN" altLang="en-US" sz="1800" dirty="0"/>
                        <a:t>用途：通信系统</a:t>
                      </a:r>
                      <a:r>
                        <a:rPr lang="en-US" altLang="zh-CN" sz="1800" dirty="0"/>
                        <a:t>)</a:t>
                      </a:r>
                    </a:p>
                  </a:txBody>
                  <a:tcPr marL="91439" marR="91439" marT="45728" marB="45728" anchor="ctr"/>
                </a:tc>
                <a:tc>
                  <a:txBody>
                    <a:bodyPr/>
                    <a:lstStyle/>
                    <a:p>
                      <a:pPr algn="ctr"/>
                      <a:r>
                        <a:rPr lang="en-US" altLang="zh-CN" sz="1800" dirty="0"/>
                        <a:t>10001001</a:t>
                      </a:r>
                      <a:endParaRPr lang="zh-CN" altLang="en-US" sz="1800" dirty="0"/>
                    </a:p>
                  </a:txBody>
                  <a:tcPr marL="91439" marR="91439" marT="45728" marB="45728"/>
                </a:tc>
                <a:extLst>
                  <a:ext uri="{0D108BD9-81ED-4DB2-BD59-A6C34878D82A}">
                    <a16:rowId xmlns:a16="http://schemas.microsoft.com/office/drawing/2014/main" val="10002"/>
                  </a:ext>
                </a:extLst>
              </a:tr>
              <a:tr h="370902">
                <a:tc>
                  <a:txBody>
                    <a:bodyPr/>
                    <a:lstStyle/>
                    <a:p>
                      <a:r>
                        <a:rPr lang="en-US" sz="1800" dirty="0"/>
                        <a:t>CRC-8-ATM</a:t>
                      </a:r>
                    </a:p>
                  </a:txBody>
                  <a:tcPr marL="91439" marR="91439" marT="45728" marB="45728" anchor="ctr"/>
                </a:tc>
                <a:tc>
                  <a:txBody>
                    <a:bodyPr/>
                    <a:lstStyle/>
                    <a:p>
                      <a:r>
                        <a:rPr lang="en-US" sz="1800" i="1" dirty="0"/>
                        <a:t>x</a:t>
                      </a:r>
                      <a:r>
                        <a:rPr lang="en-US" sz="1800" baseline="30000" dirty="0"/>
                        <a:t>8</a:t>
                      </a:r>
                      <a:r>
                        <a:rPr lang="en-US" sz="1800" dirty="0"/>
                        <a:t> + </a:t>
                      </a:r>
                      <a:r>
                        <a:rPr lang="en-US" sz="1800" i="1" dirty="0"/>
                        <a:t>x</a:t>
                      </a:r>
                      <a:r>
                        <a:rPr lang="en-US" sz="1800" baseline="30000" dirty="0"/>
                        <a:t>2</a:t>
                      </a:r>
                      <a:r>
                        <a:rPr lang="en-US" sz="1800" dirty="0"/>
                        <a:t> + </a:t>
                      </a:r>
                      <a:r>
                        <a:rPr lang="en-US" sz="1800" i="1" dirty="0"/>
                        <a:t>x</a:t>
                      </a:r>
                      <a:r>
                        <a:rPr lang="en-US" sz="1800" dirty="0"/>
                        <a:t> + 1 (</a:t>
                      </a:r>
                      <a:r>
                        <a:rPr lang="zh-CN" altLang="en-US" sz="1800" dirty="0"/>
                        <a:t>用途：</a:t>
                      </a:r>
                      <a:r>
                        <a:rPr lang="en-US" sz="1800" dirty="0"/>
                        <a:t>ATM HEC)</a:t>
                      </a:r>
                    </a:p>
                  </a:txBody>
                  <a:tcPr marL="91439" marR="91439" marT="45728" marB="45728" anchor="ctr"/>
                </a:tc>
                <a:tc>
                  <a:txBody>
                    <a:bodyPr/>
                    <a:lstStyle/>
                    <a:p>
                      <a:pPr algn="ctr"/>
                      <a:r>
                        <a:rPr lang="en-US" altLang="zh-CN" sz="1800" dirty="0"/>
                        <a:t>100000111</a:t>
                      </a:r>
                      <a:endParaRPr lang="zh-CN" altLang="en-US" sz="1800" dirty="0"/>
                    </a:p>
                  </a:txBody>
                  <a:tcPr marL="91439" marR="91439" marT="45728" marB="45728"/>
                </a:tc>
                <a:extLst>
                  <a:ext uri="{0D108BD9-81ED-4DB2-BD59-A6C34878D82A}">
                    <a16:rowId xmlns:a16="http://schemas.microsoft.com/office/drawing/2014/main" val="10003"/>
                  </a:ext>
                </a:extLst>
              </a:tr>
              <a:tr h="640188">
                <a:tc>
                  <a:txBody>
                    <a:bodyPr/>
                    <a:lstStyle/>
                    <a:p>
                      <a:r>
                        <a:rPr lang="en-US" sz="1800" dirty="0"/>
                        <a:t>CRC-12</a:t>
                      </a:r>
                    </a:p>
                  </a:txBody>
                  <a:tcPr marL="91439" marR="91439" marT="45728" marB="45728" anchor="ctr"/>
                </a:tc>
                <a:tc>
                  <a:txBody>
                    <a:bodyPr/>
                    <a:lstStyle/>
                    <a:p>
                      <a:r>
                        <a:rPr lang="en-US" altLang="zh-CN" sz="1800" i="1" dirty="0"/>
                        <a:t>x</a:t>
                      </a:r>
                      <a:r>
                        <a:rPr lang="en-US" altLang="zh-CN" sz="1800" baseline="30000" dirty="0"/>
                        <a:t>12</a:t>
                      </a:r>
                      <a:r>
                        <a:rPr lang="zh-CN" altLang="en-US" sz="1800" dirty="0"/>
                        <a:t> </a:t>
                      </a:r>
                      <a:r>
                        <a:rPr lang="en-US" altLang="zh-CN" sz="1800" dirty="0"/>
                        <a:t>+ </a:t>
                      </a:r>
                      <a:r>
                        <a:rPr lang="en-US" altLang="zh-CN" sz="1800" i="1" dirty="0"/>
                        <a:t>x</a:t>
                      </a:r>
                      <a:r>
                        <a:rPr lang="en-US" altLang="zh-CN" sz="1800" baseline="30000" dirty="0"/>
                        <a:t>11</a:t>
                      </a:r>
                      <a:r>
                        <a:rPr lang="zh-CN" altLang="en-US" sz="1800" dirty="0"/>
                        <a:t> </a:t>
                      </a:r>
                      <a:r>
                        <a:rPr lang="en-US" altLang="zh-CN" sz="1800" dirty="0"/>
                        <a:t>+ </a:t>
                      </a:r>
                      <a:r>
                        <a:rPr lang="en-US" altLang="zh-CN" sz="1800" i="1" dirty="0"/>
                        <a:t>x</a:t>
                      </a:r>
                      <a:r>
                        <a:rPr lang="en-US" altLang="zh-CN" sz="1800" baseline="30000" dirty="0"/>
                        <a:t>3</a:t>
                      </a:r>
                      <a:r>
                        <a:rPr lang="zh-CN" altLang="en-US" sz="1800" dirty="0"/>
                        <a:t> </a:t>
                      </a:r>
                      <a:r>
                        <a:rPr lang="en-US" altLang="zh-CN" sz="1800" dirty="0"/>
                        <a:t>+ </a:t>
                      </a:r>
                      <a:r>
                        <a:rPr lang="en-US" altLang="zh-CN" sz="1800" i="1" dirty="0"/>
                        <a:t>x</a:t>
                      </a:r>
                      <a:r>
                        <a:rPr lang="en-US" altLang="zh-CN" sz="1800" baseline="30000" dirty="0"/>
                        <a:t>2</a:t>
                      </a:r>
                      <a:r>
                        <a:rPr lang="zh-CN" altLang="en-US" sz="1800" dirty="0"/>
                        <a:t> </a:t>
                      </a:r>
                      <a:r>
                        <a:rPr lang="en-US" altLang="zh-CN" sz="1800" dirty="0"/>
                        <a:t>+ </a:t>
                      </a:r>
                      <a:r>
                        <a:rPr lang="en-US" altLang="zh-CN" sz="1800" i="1" dirty="0"/>
                        <a:t>x</a:t>
                      </a:r>
                      <a:r>
                        <a:rPr lang="zh-CN" altLang="en-US" sz="1800" dirty="0"/>
                        <a:t> </a:t>
                      </a:r>
                      <a:r>
                        <a:rPr lang="en-US" altLang="zh-CN" sz="1800" dirty="0"/>
                        <a:t>+ 1</a:t>
                      </a:r>
                      <a:br>
                        <a:rPr lang="en-US" altLang="zh-CN" sz="1800" dirty="0"/>
                      </a:br>
                      <a:r>
                        <a:rPr lang="en-US" altLang="zh-CN" sz="1800" dirty="0"/>
                        <a:t>(</a:t>
                      </a:r>
                      <a:r>
                        <a:rPr lang="zh-CN" altLang="en-US" sz="1800" dirty="0"/>
                        <a:t>用途：通信系统</a:t>
                      </a:r>
                      <a:r>
                        <a:rPr lang="en-US" altLang="zh-CN" sz="1800" dirty="0"/>
                        <a:t>)</a:t>
                      </a:r>
                    </a:p>
                  </a:txBody>
                  <a:tcPr marL="91439" marR="91439" marT="45728" marB="45728" anchor="ctr"/>
                </a:tc>
                <a:tc>
                  <a:txBody>
                    <a:bodyPr/>
                    <a:lstStyle/>
                    <a:p>
                      <a:pPr algn="ctr"/>
                      <a:r>
                        <a:rPr lang="en-US" altLang="zh-CN" sz="1800" dirty="0"/>
                        <a:t>1100000001111</a:t>
                      </a:r>
                      <a:endParaRPr lang="zh-CN" altLang="en-US" sz="1800" dirty="0"/>
                    </a:p>
                  </a:txBody>
                  <a:tcPr marL="91439" marR="91439" marT="45728" marB="45728" anchor="ctr"/>
                </a:tc>
                <a:extLst>
                  <a:ext uri="{0D108BD9-81ED-4DB2-BD59-A6C34878D82A}">
                    <a16:rowId xmlns:a16="http://schemas.microsoft.com/office/drawing/2014/main" val="10004"/>
                  </a:ext>
                </a:extLst>
              </a:tr>
              <a:tr h="640188">
                <a:tc>
                  <a:txBody>
                    <a:bodyPr/>
                    <a:lstStyle/>
                    <a:p>
                      <a:r>
                        <a:rPr lang="en-US" sz="1800" dirty="0"/>
                        <a:t>CRC-16-CCITT</a:t>
                      </a:r>
                    </a:p>
                  </a:txBody>
                  <a:tcPr marL="91439" marR="91439" marT="45728" marB="45728" anchor="ctr"/>
                </a:tc>
                <a:tc>
                  <a:txBody>
                    <a:bodyPr/>
                    <a:lstStyle/>
                    <a:p>
                      <a:r>
                        <a:rPr lang="en-US" sz="1800" i="1" dirty="0"/>
                        <a:t>x</a:t>
                      </a:r>
                      <a:r>
                        <a:rPr lang="en-US" sz="1800" baseline="30000" dirty="0"/>
                        <a:t>16</a:t>
                      </a:r>
                      <a:r>
                        <a:rPr lang="en-US" sz="1800" dirty="0"/>
                        <a:t> + </a:t>
                      </a:r>
                      <a:r>
                        <a:rPr lang="en-US" sz="1800" i="1" dirty="0"/>
                        <a:t>x</a:t>
                      </a:r>
                      <a:r>
                        <a:rPr lang="en-US" sz="1800" baseline="30000" dirty="0"/>
                        <a:t>12</a:t>
                      </a:r>
                      <a:r>
                        <a:rPr lang="en-US" sz="1800" dirty="0"/>
                        <a:t> + </a:t>
                      </a:r>
                      <a:r>
                        <a:rPr lang="en-US" sz="1800" i="1" dirty="0"/>
                        <a:t>x</a:t>
                      </a:r>
                      <a:r>
                        <a:rPr lang="en-US" sz="1800" baseline="30000" dirty="0"/>
                        <a:t>5</a:t>
                      </a:r>
                      <a:r>
                        <a:rPr lang="en-US" sz="1800" dirty="0"/>
                        <a:t> + 1 (</a:t>
                      </a:r>
                      <a:r>
                        <a:rPr lang="en-US" sz="1800" dirty="0">
                          <a:hlinkClick r:id="rId4" action="ppaction://hlinkfile" tooltip="X25"/>
                        </a:rPr>
                        <a:t>X25</a:t>
                      </a:r>
                      <a:r>
                        <a:rPr lang="en-US" sz="1800" dirty="0"/>
                        <a:t>, </a:t>
                      </a:r>
                      <a:r>
                        <a:rPr lang="en-US" sz="1800" dirty="0">
                          <a:hlinkClick r:id="rId5" action="ppaction://hlinkfile" tooltip="V.41"/>
                        </a:rPr>
                        <a:t>V.41</a:t>
                      </a:r>
                      <a:r>
                        <a:rPr lang="en-US" sz="1800" dirty="0"/>
                        <a:t>, </a:t>
                      </a:r>
                      <a:r>
                        <a:rPr lang="en-US" sz="1800" dirty="0">
                          <a:hlinkClick r:id="rId6" action="ppaction://hlinkfile" tooltip="Bluetooth"/>
                        </a:rPr>
                        <a:t>Bluetooth</a:t>
                      </a:r>
                      <a:r>
                        <a:rPr lang="en-US" sz="1800" dirty="0"/>
                        <a:t>, </a:t>
                      </a:r>
                      <a:r>
                        <a:rPr lang="en-US" sz="1800" dirty="0">
                          <a:hlinkClick r:id="rId7" action="ppaction://hlinkfile" tooltip="PPP"/>
                        </a:rPr>
                        <a:t>PPP</a:t>
                      </a:r>
                      <a:r>
                        <a:rPr lang="en-US" sz="1800" dirty="0"/>
                        <a:t>, </a:t>
                      </a:r>
                      <a:r>
                        <a:rPr lang="en-US" sz="1800" dirty="0">
                          <a:hlinkClick r:id="rId8" action="ppaction://hlinkfile" tooltip="IrDA"/>
                        </a:rPr>
                        <a:t>IrDA</a:t>
                      </a:r>
                      <a:r>
                        <a:rPr lang="en-US" sz="1800" dirty="0"/>
                        <a:t>)</a:t>
                      </a:r>
                    </a:p>
                  </a:txBody>
                  <a:tcPr marL="91439" marR="91439" marT="45728" marB="45728" anchor="ctr"/>
                </a:tc>
                <a:tc>
                  <a:txBody>
                    <a:bodyPr/>
                    <a:lstStyle/>
                    <a:p>
                      <a:pPr algn="ctr"/>
                      <a:r>
                        <a:rPr lang="en-US" altLang="zh-CN" sz="1800" dirty="0"/>
                        <a:t>10001000000100001</a:t>
                      </a:r>
                      <a:endParaRPr lang="zh-CN" altLang="en-US" sz="1800" dirty="0"/>
                    </a:p>
                  </a:txBody>
                  <a:tcPr marL="91439" marR="91439" marT="45728" marB="45728" anchor="ctr"/>
                </a:tc>
                <a:extLst>
                  <a:ext uri="{0D108BD9-81ED-4DB2-BD59-A6C34878D82A}">
                    <a16:rowId xmlns:a16="http://schemas.microsoft.com/office/drawing/2014/main" val="10005"/>
                  </a:ext>
                </a:extLst>
              </a:tr>
              <a:tr h="370902">
                <a:tc>
                  <a:txBody>
                    <a:bodyPr/>
                    <a:lstStyle/>
                    <a:p>
                      <a:r>
                        <a:rPr lang="en-US" sz="1800" dirty="0"/>
                        <a:t>CRC-16-</a:t>
                      </a:r>
                      <a:r>
                        <a:rPr lang="en-US" sz="1800" dirty="0">
                          <a:hlinkClick r:id="rId9" action="ppaction://hlinkfile" tooltip="IBM"/>
                        </a:rPr>
                        <a:t>IBM</a:t>
                      </a:r>
                      <a:endParaRPr lang="en-US" sz="1800" dirty="0"/>
                    </a:p>
                  </a:txBody>
                  <a:tcPr marL="91439" marR="91439" marT="45728" marB="45728" anchor="ctr"/>
                </a:tc>
                <a:tc>
                  <a:txBody>
                    <a:bodyPr/>
                    <a:lstStyle/>
                    <a:p>
                      <a:r>
                        <a:rPr lang="en-US" sz="1800" i="1" dirty="0"/>
                        <a:t>x</a:t>
                      </a:r>
                      <a:r>
                        <a:rPr lang="en-US" sz="1800" baseline="30000" dirty="0"/>
                        <a:t>16</a:t>
                      </a:r>
                      <a:r>
                        <a:rPr lang="en-US" sz="1800" dirty="0"/>
                        <a:t> +</a:t>
                      </a:r>
                      <a:r>
                        <a:rPr lang="en-US" sz="1800" i="1" dirty="0"/>
                        <a:t>x</a:t>
                      </a:r>
                      <a:r>
                        <a:rPr lang="en-US" sz="1800" baseline="30000" dirty="0"/>
                        <a:t>15</a:t>
                      </a:r>
                      <a:r>
                        <a:rPr lang="en-US" sz="1800" dirty="0"/>
                        <a:t> + </a:t>
                      </a:r>
                      <a:r>
                        <a:rPr lang="en-US" sz="1800" i="1" dirty="0"/>
                        <a:t>x</a:t>
                      </a:r>
                      <a:r>
                        <a:rPr lang="en-US" sz="1800" baseline="30000" dirty="0"/>
                        <a:t>2</a:t>
                      </a:r>
                      <a:r>
                        <a:rPr lang="en-US" sz="1800" dirty="0"/>
                        <a:t> + 1</a:t>
                      </a:r>
                    </a:p>
                  </a:txBody>
                  <a:tcPr marL="91439" marR="91439" marT="45728" marB="45728" anchor="ctr"/>
                </a:tc>
                <a:tc>
                  <a:txBody>
                    <a:bodyPr/>
                    <a:lstStyle/>
                    <a:p>
                      <a:pPr algn="ctr"/>
                      <a:r>
                        <a:rPr lang="en-US" altLang="zh-CN" sz="1800" dirty="0"/>
                        <a:t>11000000000000101</a:t>
                      </a:r>
                      <a:endParaRPr lang="zh-CN" altLang="en-US" sz="1800" dirty="0"/>
                    </a:p>
                  </a:txBody>
                  <a:tcPr marL="91439" marR="91439" marT="45728" marB="45728"/>
                </a:tc>
                <a:extLst>
                  <a:ext uri="{0D108BD9-81ED-4DB2-BD59-A6C34878D82A}">
                    <a16:rowId xmlns:a16="http://schemas.microsoft.com/office/drawing/2014/main" val="10006"/>
                  </a:ext>
                </a:extLst>
              </a:tr>
              <a:tr h="640188">
                <a:tc>
                  <a:txBody>
                    <a:bodyPr/>
                    <a:lstStyle/>
                    <a:p>
                      <a:r>
                        <a:rPr lang="en-US" sz="1800" dirty="0"/>
                        <a:t>CRC-32-</a:t>
                      </a:r>
                      <a:r>
                        <a:rPr lang="en-US" sz="1800" dirty="0">
                          <a:hlinkClick r:id="rId10" action="ppaction://hlinkfile" tooltip="IEEE 802.3"/>
                        </a:rPr>
                        <a:t>IEEE 802.3</a:t>
                      </a:r>
                      <a:endParaRPr lang="en-US" sz="1800" dirty="0"/>
                    </a:p>
                  </a:txBody>
                  <a:tcPr marL="91439" marR="91439" marT="45728" marB="45728" anchor="ctr"/>
                </a:tc>
                <a:tc>
                  <a:txBody>
                    <a:bodyPr/>
                    <a:lstStyle/>
                    <a:p>
                      <a:r>
                        <a:rPr lang="en-US" sz="1800" i="1" dirty="0"/>
                        <a:t>x</a:t>
                      </a:r>
                      <a:r>
                        <a:rPr lang="en-US" sz="1800" baseline="30000" dirty="0"/>
                        <a:t>32</a:t>
                      </a:r>
                      <a:r>
                        <a:rPr lang="en-US" sz="1800" dirty="0"/>
                        <a:t> + </a:t>
                      </a:r>
                      <a:r>
                        <a:rPr lang="en-US" sz="1800" i="1" dirty="0"/>
                        <a:t>x</a:t>
                      </a:r>
                      <a:r>
                        <a:rPr lang="en-US" sz="1800" baseline="30000" dirty="0"/>
                        <a:t>26</a:t>
                      </a:r>
                      <a:r>
                        <a:rPr lang="en-US" sz="1800" dirty="0"/>
                        <a:t> + </a:t>
                      </a:r>
                      <a:r>
                        <a:rPr lang="en-US" sz="1800" i="1" dirty="0"/>
                        <a:t>x</a:t>
                      </a:r>
                      <a:r>
                        <a:rPr lang="en-US" sz="1800" baseline="30000" dirty="0"/>
                        <a:t>23</a:t>
                      </a:r>
                      <a:r>
                        <a:rPr lang="en-US" sz="1800" dirty="0"/>
                        <a:t> + </a:t>
                      </a:r>
                      <a:r>
                        <a:rPr lang="en-US" sz="1800" i="1" dirty="0"/>
                        <a:t>x</a:t>
                      </a:r>
                      <a:r>
                        <a:rPr lang="en-US" sz="1800" baseline="30000" dirty="0"/>
                        <a:t>22</a:t>
                      </a:r>
                      <a:r>
                        <a:rPr lang="en-US" sz="1800" dirty="0"/>
                        <a:t> + </a:t>
                      </a:r>
                      <a:r>
                        <a:rPr lang="en-US" sz="1800" i="1" dirty="0"/>
                        <a:t>x</a:t>
                      </a:r>
                      <a:r>
                        <a:rPr lang="en-US" sz="1800" baseline="30000" dirty="0"/>
                        <a:t>16</a:t>
                      </a:r>
                      <a:r>
                        <a:rPr lang="en-US" sz="1800" dirty="0"/>
                        <a:t> + </a:t>
                      </a:r>
                      <a:r>
                        <a:rPr lang="en-US" sz="1800" i="1" dirty="0"/>
                        <a:t>x</a:t>
                      </a:r>
                      <a:r>
                        <a:rPr lang="en-US" sz="1800" baseline="30000" dirty="0"/>
                        <a:t>12</a:t>
                      </a:r>
                      <a:r>
                        <a:rPr lang="en-US" sz="1800" dirty="0"/>
                        <a:t> + </a:t>
                      </a:r>
                      <a:r>
                        <a:rPr lang="en-US" sz="1800" i="1" dirty="0"/>
                        <a:t>x</a:t>
                      </a:r>
                      <a:r>
                        <a:rPr lang="en-US" sz="1800" baseline="30000" dirty="0"/>
                        <a:t>11</a:t>
                      </a:r>
                      <a:r>
                        <a:rPr lang="en-US" sz="1800" dirty="0"/>
                        <a:t> + </a:t>
                      </a:r>
                      <a:r>
                        <a:rPr lang="en-US" sz="1800" i="1" dirty="0"/>
                        <a:t>x</a:t>
                      </a:r>
                      <a:r>
                        <a:rPr lang="en-US" sz="1800" baseline="30000" dirty="0"/>
                        <a:t>10</a:t>
                      </a:r>
                      <a:r>
                        <a:rPr lang="en-US" sz="1800" dirty="0"/>
                        <a:t> + </a:t>
                      </a:r>
                      <a:r>
                        <a:rPr lang="en-US" sz="1800" i="1" dirty="0"/>
                        <a:t>x</a:t>
                      </a:r>
                      <a:r>
                        <a:rPr lang="en-US" sz="1800" baseline="30000" dirty="0"/>
                        <a:t>8</a:t>
                      </a:r>
                      <a:r>
                        <a:rPr lang="en-US" sz="1800" dirty="0"/>
                        <a:t> + </a:t>
                      </a:r>
                      <a:r>
                        <a:rPr lang="en-US" sz="1800" i="1" dirty="0"/>
                        <a:t>x</a:t>
                      </a:r>
                      <a:r>
                        <a:rPr lang="en-US" sz="1800" baseline="30000" dirty="0"/>
                        <a:t>7</a:t>
                      </a:r>
                      <a:r>
                        <a:rPr lang="en-US" sz="1800" dirty="0"/>
                        <a:t> + </a:t>
                      </a:r>
                      <a:r>
                        <a:rPr lang="en-US" sz="1800" i="1" dirty="0"/>
                        <a:t>x</a:t>
                      </a:r>
                      <a:r>
                        <a:rPr lang="en-US" sz="1800" baseline="30000" dirty="0"/>
                        <a:t>5</a:t>
                      </a:r>
                      <a:r>
                        <a:rPr lang="en-US" sz="1800" dirty="0"/>
                        <a:t> + </a:t>
                      </a:r>
                      <a:r>
                        <a:rPr lang="en-US" sz="1800" i="1" dirty="0"/>
                        <a:t>x</a:t>
                      </a:r>
                      <a:r>
                        <a:rPr lang="en-US" sz="1800" baseline="30000" dirty="0"/>
                        <a:t>4</a:t>
                      </a:r>
                      <a:r>
                        <a:rPr lang="en-US" sz="1800" dirty="0"/>
                        <a:t> + </a:t>
                      </a:r>
                      <a:r>
                        <a:rPr lang="en-US" sz="1800" i="1" dirty="0"/>
                        <a:t>x</a:t>
                      </a:r>
                      <a:r>
                        <a:rPr lang="en-US" sz="1800" baseline="30000" dirty="0"/>
                        <a:t>2</a:t>
                      </a:r>
                      <a:r>
                        <a:rPr lang="en-US" sz="1800" dirty="0"/>
                        <a:t> + </a:t>
                      </a:r>
                      <a:r>
                        <a:rPr lang="en-US" sz="1800" i="1" dirty="0"/>
                        <a:t>x</a:t>
                      </a:r>
                      <a:r>
                        <a:rPr lang="en-US" sz="1800" dirty="0"/>
                        <a:t> + 1</a:t>
                      </a:r>
                    </a:p>
                  </a:txBody>
                  <a:tcPr marL="91439" marR="91439" marT="45728" marB="45728" anchor="ctr"/>
                </a:tc>
                <a:tc>
                  <a:txBody>
                    <a:bodyPr/>
                    <a:lstStyle/>
                    <a:p>
                      <a:pPr algn="l"/>
                      <a:r>
                        <a:rPr lang="en-US" altLang="zh-CN" sz="1800" dirty="0"/>
                        <a:t>100000100110000010001110110110111</a:t>
                      </a:r>
                      <a:endParaRPr lang="zh-CN" altLang="en-US" sz="1800" dirty="0"/>
                    </a:p>
                  </a:txBody>
                  <a:tcPr marL="91439" marR="91439" marT="45728" marB="45728"/>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182789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05475" name="矩形 2"/>
          <p:cNvSpPr>
            <a:spLocks noChangeArrowheads="1"/>
          </p:cNvSpPr>
          <p:nvPr/>
        </p:nvSpPr>
        <p:spPr bwMode="auto">
          <a:xfrm>
            <a:off x="428625" y="1571625"/>
            <a:ext cx="84296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５</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海明校验码</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这是由</a:t>
            </a:r>
            <a:r>
              <a:rPr lang="en-US" altLang="zh-CN" sz="3200" dirty="0">
                <a:solidFill>
                  <a:schemeClr val="tx2"/>
                </a:solidFill>
                <a:latin typeface="楷体_GB2312" pitchFamily="49" charset="-122"/>
                <a:ea typeface="楷体_GB2312" pitchFamily="49" charset="-122"/>
              </a:rPr>
              <a:t>Richard Hamming</a:t>
            </a:r>
            <a:r>
              <a:rPr lang="zh-CN" altLang="en-US" sz="3200" dirty="0">
                <a:solidFill>
                  <a:schemeClr val="tx2"/>
                </a:solidFill>
                <a:latin typeface="楷体_GB2312" pitchFamily="49" charset="-122"/>
                <a:ea typeface="楷体_GB2312" pitchFamily="49" charset="-122"/>
              </a:rPr>
              <a:t>于</a:t>
            </a:r>
            <a:r>
              <a:rPr lang="en-US" altLang="zh-CN" sz="3200" dirty="0">
                <a:solidFill>
                  <a:schemeClr val="tx2"/>
                </a:solidFill>
                <a:latin typeface="楷体_GB2312" pitchFamily="49" charset="-122"/>
                <a:ea typeface="楷体_GB2312" pitchFamily="49" charset="-122"/>
              </a:rPr>
              <a:t>1950</a:t>
            </a:r>
            <a:r>
              <a:rPr lang="zh-CN" altLang="en-US" sz="3200" dirty="0">
                <a:solidFill>
                  <a:schemeClr val="tx2"/>
                </a:solidFill>
                <a:latin typeface="楷体_GB2312" pitchFamily="49" charset="-122"/>
                <a:ea typeface="楷体_GB2312" pitchFamily="49" charset="-122"/>
              </a:rPr>
              <a:t>年提出的、目前还被广泛采用。</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实现原理</a:t>
            </a:r>
            <a:r>
              <a:rPr lang="en-US" altLang="zh-CN" sz="3200" dirty="0">
                <a:solidFill>
                  <a:schemeClr val="tx2"/>
                </a:solidFill>
                <a:latin typeface="楷体_GB2312" pitchFamily="49" charset="-122"/>
                <a:ea typeface="楷体_GB2312" pitchFamily="49" charset="-122"/>
              </a:rPr>
              <a:t>:</a:t>
            </a:r>
          </a:p>
          <a:p>
            <a:pPr algn="l" eaLnBrk="1" hangingPunct="1"/>
            <a:r>
              <a:rPr lang="zh-CN" altLang="en-US" sz="3200" dirty="0">
                <a:solidFill>
                  <a:schemeClr val="tx2"/>
                </a:solidFill>
                <a:latin typeface="楷体_GB2312" pitchFamily="49" charset="-122"/>
                <a:ea typeface="楷体_GB2312" pitchFamily="49" charset="-122"/>
              </a:rPr>
              <a:t>    是在数据中加入几个校验位，并把数据的每一个二进制位分配在几个</a:t>
            </a:r>
            <a:r>
              <a:rPr lang="zh-CN" altLang="en-US" sz="3200" dirty="0">
                <a:solidFill>
                  <a:srgbClr val="FF0000"/>
                </a:solidFill>
                <a:latin typeface="楷体_GB2312" pitchFamily="49" charset="-122"/>
                <a:ea typeface="楷体_GB2312" pitchFamily="49" charset="-122"/>
              </a:rPr>
              <a:t>奇偶校验组</a:t>
            </a:r>
            <a:r>
              <a:rPr lang="zh-CN" altLang="en-US" sz="3200" dirty="0">
                <a:solidFill>
                  <a:schemeClr val="tx2"/>
                </a:solidFill>
                <a:latin typeface="楷体_GB2312" pitchFamily="49" charset="-122"/>
                <a:ea typeface="楷体_GB2312" pitchFamily="49" charset="-122"/>
              </a:rPr>
              <a:t>中。当某一位出错后，就会引起有关的几个校验组的值发生变化，这不但可以发现出错，还能指出是哪一位出错，为自动纠错提供了依据。</a:t>
            </a:r>
          </a:p>
        </p:txBody>
      </p:sp>
    </p:spTree>
    <p:extLst>
      <p:ext uri="{BB962C8B-B14F-4D97-AF65-F5344CB8AC3E}">
        <p14:creationId xmlns:p14="http://schemas.microsoft.com/office/powerpoint/2010/main" val="42227602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矩形 2"/>
          <p:cNvSpPr>
            <a:spLocks noChangeArrowheads="1"/>
          </p:cNvSpPr>
          <p:nvPr/>
        </p:nvSpPr>
        <p:spPr bwMode="auto">
          <a:xfrm>
            <a:off x="785813" y="5643563"/>
            <a:ext cx="7572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 4          3          2         1</a:t>
            </a:r>
            <a:endParaRPr lang="zh-CN" altLang="en-US" sz="3200" baseline="30000">
              <a:solidFill>
                <a:schemeClr val="tx2"/>
              </a:solidFill>
              <a:latin typeface="楷体_GB2312" pitchFamily="49" charset="-122"/>
              <a:ea typeface="楷体_GB2312" pitchFamily="49" charset="-122"/>
            </a:endParaRPr>
          </a:p>
        </p:txBody>
      </p:sp>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 name="矩形 2"/>
          <p:cNvSpPr>
            <a:spLocks noChangeArrowheads="1"/>
          </p:cNvSpPr>
          <p:nvPr/>
        </p:nvSpPr>
        <p:spPr bwMode="auto">
          <a:xfrm>
            <a:off x="714375" y="5643563"/>
            <a:ext cx="7572375"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 2</a:t>
            </a:r>
            <a:r>
              <a:rPr lang="en-US" altLang="zh-CN" sz="3200" baseline="30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         2</a:t>
            </a:r>
            <a:r>
              <a:rPr lang="en-US" altLang="zh-CN" sz="3200" baseline="30000">
                <a:solidFill>
                  <a:schemeClr val="tx2"/>
                </a:solidFill>
                <a:latin typeface="楷体_GB2312" pitchFamily="49" charset="-122"/>
                <a:ea typeface="楷体_GB2312" pitchFamily="49" charset="-122"/>
              </a:rPr>
              <a:t>2</a:t>
            </a:r>
            <a:r>
              <a:rPr lang="en-US" altLang="zh-CN" sz="3200">
                <a:solidFill>
                  <a:schemeClr val="tx2"/>
                </a:solidFill>
                <a:latin typeface="楷体_GB2312" pitchFamily="49" charset="-122"/>
                <a:ea typeface="楷体_GB2312" pitchFamily="49" charset="-122"/>
              </a:rPr>
              <a:t>         2</a:t>
            </a:r>
            <a:r>
              <a:rPr lang="en-US" altLang="zh-CN" sz="3200" baseline="30000">
                <a:solidFill>
                  <a:schemeClr val="tx2"/>
                </a:solidFill>
                <a:latin typeface="楷体_GB2312" pitchFamily="49" charset="-122"/>
                <a:ea typeface="楷体_GB2312" pitchFamily="49" charset="-122"/>
              </a:rPr>
              <a:t>1</a:t>
            </a:r>
            <a:r>
              <a:rPr lang="en-US" altLang="zh-CN" sz="3200">
                <a:solidFill>
                  <a:schemeClr val="tx2"/>
                </a:solidFill>
                <a:latin typeface="楷体_GB2312" pitchFamily="49" charset="-122"/>
                <a:ea typeface="楷体_GB2312" pitchFamily="49" charset="-122"/>
              </a:rPr>
              <a:t>         2</a:t>
            </a:r>
            <a:r>
              <a:rPr lang="en-US" altLang="zh-CN" sz="3200" baseline="30000">
                <a:solidFill>
                  <a:schemeClr val="tx2"/>
                </a:solidFill>
                <a:latin typeface="楷体_GB2312" pitchFamily="49" charset="-122"/>
                <a:ea typeface="楷体_GB2312" pitchFamily="49" charset="-122"/>
              </a:rPr>
              <a:t>0</a:t>
            </a:r>
            <a:endParaRPr lang="zh-CN" altLang="en-US" sz="3200" baseline="30000">
              <a:solidFill>
                <a:schemeClr val="tx2"/>
              </a:solidFill>
              <a:latin typeface="楷体_GB2312" pitchFamily="49" charset="-122"/>
              <a:ea typeface="楷体_GB2312" pitchFamily="49" charset="-122"/>
            </a:endParaRPr>
          </a:p>
        </p:txBody>
      </p:sp>
      <p:pic>
        <p:nvPicPr>
          <p:cNvPr id="106501" name="图片 6" descr="海明码原理举例.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785938"/>
            <a:ext cx="8215313" cy="385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568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07523" name="矩形 2"/>
          <p:cNvSpPr>
            <a:spLocks noChangeArrowheads="1"/>
          </p:cNvSpPr>
          <p:nvPr/>
        </p:nvSpPr>
        <p:spPr bwMode="auto">
          <a:xfrm>
            <a:off x="428625" y="1571625"/>
            <a:ext cx="842962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chemeClr val="tx2"/>
                </a:solidFill>
                <a:latin typeface="楷体_GB2312" pitchFamily="49" charset="-122"/>
                <a:ea typeface="楷体_GB2312" pitchFamily="49" charset="-122"/>
              </a:rPr>
              <a:t>    假设校验位的个数为</a:t>
            </a:r>
            <a:r>
              <a:rPr lang="en-US" altLang="zh-CN" sz="3200" dirty="0">
                <a:solidFill>
                  <a:schemeClr val="tx2"/>
                </a:solidFill>
                <a:latin typeface="楷体_GB2312" pitchFamily="49" charset="-122"/>
                <a:ea typeface="楷体_GB2312" pitchFamily="49" charset="-122"/>
              </a:rPr>
              <a:t>r</a:t>
            </a:r>
            <a:r>
              <a:rPr lang="zh-CN" altLang="en-US" sz="3200" dirty="0">
                <a:solidFill>
                  <a:schemeClr val="tx2"/>
                </a:solidFill>
                <a:latin typeface="楷体_GB2312" pitchFamily="49" charset="-122"/>
                <a:ea typeface="楷体_GB2312" pitchFamily="49" charset="-122"/>
              </a:rPr>
              <a:t>，则它能表示</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r</a:t>
            </a:r>
            <a:r>
              <a:rPr lang="zh-CN" altLang="en-US" sz="3200" dirty="0">
                <a:solidFill>
                  <a:schemeClr val="tx2"/>
                </a:solidFill>
                <a:latin typeface="楷体_GB2312" pitchFamily="49" charset="-122"/>
                <a:ea typeface="楷体_GB2312" pitchFamily="49" charset="-122"/>
              </a:rPr>
              <a:t>个信息</a:t>
            </a:r>
            <a:r>
              <a:rPr lang="en-US" altLang="zh-CN" sz="3200" dirty="0">
                <a:solidFill>
                  <a:schemeClr val="tx2"/>
                </a:solidFill>
                <a:latin typeface="楷体_GB2312" pitchFamily="49" charset="-122"/>
                <a:ea typeface="楷体_GB2312" pitchFamily="49" charset="-122"/>
              </a:rPr>
              <a:t>(2</a:t>
            </a:r>
            <a:r>
              <a:rPr lang="en-US" altLang="zh-CN" sz="3600" baseline="30000" dirty="0">
                <a:solidFill>
                  <a:schemeClr val="tx2"/>
                </a:solidFill>
                <a:latin typeface="楷体_GB2312" pitchFamily="49" charset="-122"/>
                <a:ea typeface="楷体_GB2312" pitchFamily="49" charset="-122"/>
              </a:rPr>
              <a:t>r </a:t>
            </a:r>
            <a:r>
              <a:rPr lang="zh-CN" altLang="en-US" sz="3200" dirty="0">
                <a:solidFill>
                  <a:schemeClr val="tx2"/>
                </a:solidFill>
                <a:latin typeface="楷体_GB2312" pitchFamily="49" charset="-122"/>
                <a:ea typeface="楷体_GB2312" pitchFamily="49" charset="-122"/>
              </a:rPr>
              <a:t>编码），用其中的一个信息（编码）指出“没有错误”，其余的</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r</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个信息（编码）指出错误发生在哪一位。然而错误也可能发生在校验位，因此只有</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r</a:t>
            </a:r>
            <a:r>
              <a:rPr lang="en-US" altLang="zh-CN" sz="3200" dirty="0">
                <a:solidFill>
                  <a:schemeClr val="tx2"/>
                </a:solidFill>
                <a:latin typeface="楷体_GB2312" pitchFamily="49" charset="-122"/>
                <a:ea typeface="楷体_GB2312" pitchFamily="49" charset="-122"/>
              </a:rPr>
              <a:t>-1-r</a:t>
            </a:r>
            <a:r>
              <a:rPr lang="zh-CN" altLang="en-US" sz="3200" dirty="0">
                <a:solidFill>
                  <a:schemeClr val="tx2"/>
                </a:solidFill>
                <a:latin typeface="楷体_GB2312" pitchFamily="49" charset="-122"/>
                <a:ea typeface="楷体_GB2312" pitchFamily="49" charset="-122"/>
              </a:rPr>
              <a:t>个信息能用于纠正被传送数据</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假设有</a:t>
            </a:r>
            <a:r>
              <a:rPr lang="en-US" altLang="zh-CN" sz="3200" dirty="0">
                <a:solidFill>
                  <a:schemeClr val="tx2"/>
                </a:solidFill>
                <a:latin typeface="楷体_GB2312" pitchFamily="49" charset="-122"/>
                <a:ea typeface="楷体_GB2312" pitchFamily="49" charset="-122"/>
              </a:rPr>
              <a:t>k</a:t>
            </a:r>
            <a:r>
              <a:rPr lang="zh-CN" altLang="en-US" sz="3200" dirty="0">
                <a:solidFill>
                  <a:schemeClr val="tx2"/>
                </a:solidFill>
                <a:latin typeface="楷体_GB2312" pitchFamily="49" charset="-122"/>
                <a:ea typeface="楷体_GB2312" pitchFamily="49" charset="-122"/>
              </a:rPr>
              <a:t>位</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的位数，也就是说要满足关系：</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r</a:t>
            </a:r>
            <a:r>
              <a:rPr lang="en-US" altLang="zh-CN" sz="3200" dirty="0">
                <a:solidFill>
                  <a:schemeClr val="tx2"/>
                </a:solidFill>
                <a:latin typeface="楷体_GB2312" pitchFamily="49" charset="-122"/>
                <a:ea typeface="楷体_GB2312" pitchFamily="49" charset="-122"/>
              </a:rPr>
              <a:t>-1-r ≥k</a:t>
            </a:r>
            <a:r>
              <a:rPr lang="zh-CN" altLang="en-US" sz="3200" dirty="0">
                <a:solidFill>
                  <a:schemeClr val="tx2"/>
                </a:solidFill>
              </a:rPr>
              <a:t>，</a:t>
            </a:r>
            <a:r>
              <a:rPr lang="zh-CN" altLang="en-US" sz="3200" dirty="0">
                <a:solidFill>
                  <a:schemeClr val="tx2"/>
                </a:solidFill>
                <a:latin typeface="楷体_GB2312" pitchFamily="49" charset="-122"/>
                <a:ea typeface="楷体_GB2312" pitchFamily="49" charset="-122"/>
              </a:rPr>
              <a:t>即 </a:t>
            </a:r>
            <a:r>
              <a:rPr lang="en-US" altLang="zh-CN" sz="3200" dirty="0">
                <a:solidFill>
                  <a:schemeClr val="tx2"/>
                </a:solidFill>
                <a:latin typeface="楷体_GB2312" pitchFamily="49" charset="-122"/>
                <a:ea typeface="楷体_GB2312" pitchFamily="49" charset="-122"/>
              </a:rPr>
              <a:t>2</a:t>
            </a:r>
            <a:r>
              <a:rPr lang="en-US" altLang="zh-CN" sz="3200" baseline="30000" dirty="0">
                <a:solidFill>
                  <a:schemeClr val="tx2"/>
                </a:solidFill>
                <a:latin typeface="楷体_GB2312" pitchFamily="49" charset="-122"/>
                <a:ea typeface="楷体_GB2312" pitchFamily="49" charset="-122"/>
              </a:rPr>
              <a:t>r</a:t>
            </a:r>
            <a:r>
              <a:rPr lang="en-US" altLang="zh-CN" sz="3200" dirty="0">
                <a:solidFill>
                  <a:schemeClr val="tx2"/>
                </a:solidFill>
                <a:latin typeface="楷体_GB2312" pitchFamily="49" charset="-122"/>
                <a:ea typeface="楷体_GB2312" pitchFamily="49" charset="-122"/>
              </a:rPr>
              <a:t>≥k+r+1</a:t>
            </a:r>
            <a:r>
              <a:rPr lang="zh-CN" altLang="en-US" sz="3200" dirty="0">
                <a:solidFill>
                  <a:schemeClr val="tx2"/>
                </a:solidFill>
              </a:rPr>
              <a:t>。</a:t>
            </a:r>
            <a:endParaRPr lang="en-US" altLang="zh-CN" sz="3200" dirty="0">
              <a:solidFill>
                <a:schemeClr val="tx2"/>
              </a:solidFill>
            </a:endParaRPr>
          </a:p>
        </p:txBody>
      </p:sp>
      <p:sp>
        <p:nvSpPr>
          <p:cNvPr id="4" name="TextBox 3"/>
          <p:cNvSpPr txBox="1">
            <a:spLocks noChangeArrowheads="1"/>
          </p:cNvSpPr>
          <p:nvPr/>
        </p:nvSpPr>
        <p:spPr bwMode="auto">
          <a:xfrm>
            <a:off x="607218" y="5111055"/>
            <a:ext cx="80724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rgbClr val="0070C0"/>
                </a:solidFill>
                <a:latin typeface="楷体_GB2312" pitchFamily="49" charset="-122"/>
                <a:ea typeface="楷体_GB2312" pitchFamily="49" charset="-122"/>
              </a:rPr>
              <a:t>例：假如校验位</a:t>
            </a:r>
            <a:r>
              <a:rPr lang="en-US" altLang="zh-CN" sz="3200" dirty="0">
                <a:solidFill>
                  <a:srgbClr val="0070C0"/>
                </a:solidFill>
                <a:latin typeface="楷体_GB2312" pitchFamily="49" charset="-122"/>
                <a:ea typeface="楷体_GB2312" pitchFamily="49" charset="-122"/>
              </a:rPr>
              <a:t>r</a:t>
            </a:r>
            <a:r>
              <a:rPr lang="zh-CN" altLang="en-US" sz="3200" dirty="0">
                <a:solidFill>
                  <a:srgbClr val="0070C0"/>
                </a:solidFill>
                <a:latin typeface="楷体_GB2312" pitchFamily="49" charset="-122"/>
                <a:ea typeface="楷体_GB2312" pitchFamily="49" charset="-122"/>
              </a:rPr>
              <a:t>有</a:t>
            </a:r>
            <a:r>
              <a:rPr lang="en-US" altLang="zh-CN" sz="3200" dirty="0">
                <a:solidFill>
                  <a:srgbClr val="0070C0"/>
                </a:solidFill>
                <a:latin typeface="楷体_GB2312" pitchFamily="49" charset="-122"/>
                <a:ea typeface="楷体_GB2312" pitchFamily="49" charset="-122"/>
              </a:rPr>
              <a:t>4</a:t>
            </a:r>
            <a:r>
              <a:rPr lang="zh-CN" altLang="en-US" sz="3200" dirty="0">
                <a:solidFill>
                  <a:srgbClr val="0070C0"/>
                </a:solidFill>
                <a:latin typeface="楷体_GB2312" pitchFamily="49" charset="-122"/>
                <a:ea typeface="楷体_GB2312" pitchFamily="49" charset="-122"/>
              </a:rPr>
              <a:t>位，求数据位</a:t>
            </a:r>
            <a:r>
              <a:rPr lang="en-US" altLang="zh-CN" sz="3200" dirty="0">
                <a:solidFill>
                  <a:srgbClr val="0070C0"/>
                </a:solidFill>
                <a:latin typeface="楷体_GB2312" pitchFamily="49" charset="-122"/>
                <a:ea typeface="楷体_GB2312" pitchFamily="49" charset="-122"/>
              </a:rPr>
              <a:t>k</a:t>
            </a:r>
            <a:r>
              <a:rPr lang="zh-CN" altLang="en-US" sz="3200" dirty="0">
                <a:solidFill>
                  <a:srgbClr val="0070C0"/>
                </a:solidFill>
                <a:latin typeface="楷体_GB2312" pitchFamily="49" charset="-122"/>
                <a:ea typeface="楷体_GB2312" pitchFamily="49" charset="-122"/>
              </a:rPr>
              <a:t>的范围：则</a:t>
            </a:r>
            <a:r>
              <a:rPr lang="en-US" altLang="zh-CN" sz="3200" dirty="0">
                <a:solidFill>
                  <a:srgbClr val="0070C0"/>
                </a:solidFill>
                <a:latin typeface="楷体_GB2312" pitchFamily="49" charset="-122"/>
                <a:ea typeface="楷体_GB2312" pitchFamily="49" charset="-122"/>
              </a:rPr>
              <a:t>2</a:t>
            </a:r>
            <a:r>
              <a:rPr lang="en-US" altLang="zh-CN" sz="3200" baseline="30000" dirty="0">
                <a:solidFill>
                  <a:srgbClr val="0070C0"/>
                </a:solidFill>
                <a:latin typeface="楷体_GB2312" pitchFamily="49" charset="-122"/>
                <a:ea typeface="楷体_GB2312" pitchFamily="49" charset="-122"/>
              </a:rPr>
              <a:t>4</a:t>
            </a:r>
            <a:r>
              <a:rPr lang="en-US" altLang="zh-CN" sz="3200" dirty="0">
                <a:solidFill>
                  <a:srgbClr val="0070C0"/>
                </a:solidFill>
                <a:latin typeface="楷体_GB2312" pitchFamily="49" charset="-122"/>
                <a:ea typeface="楷体_GB2312" pitchFamily="49" charset="-122"/>
              </a:rPr>
              <a:t>-1-4</a:t>
            </a:r>
            <a:r>
              <a:rPr lang="en-US" altLang="zh-CN" sz="3200" dirty="0">
                <a:solidFill>
                  <a:schemeClr val="tx2"/>
                </a:solidFill>
                <a:latin typeface="楷体_GB2312" pitchFamily="49" charset="-122"/>
                <a:ea typeface="楷体_GB2312" pitchFamily="49" charset="-122"/>
              </a:rPr>
              <a:t> </a:t>
            </a:r>
            <a:r>
              <a:rPr lang="en-US" altLang="zh-CN" sz="3200" dirty="0">
                <a:solidFill>
                  <a:srgbClr val="0070C0"/>
                </a:solidFill>
                <a:latin typeface="楷体_GB2312" pitchFamily="49" charset="-122"/>
                <a:ea typeface="楷体_GB2312" pitchFamily="49" charset="-122"/>
              </a:rPr>
              <a:t>=11≥ k,</a:t>
            </a:r>
            <a:r>
              <a:rPr lang="zh-CN" altLang="en-US" sz="3200" dirty="0">
                <a:solidFill>
                  <a:srgbClr val="0070C0"/>
                </a:solidFill>
                <a:latin typeface="楷体_GB2312" pitchFamily="49" charset="-122"/>
                <a:ea typeface="楷体_GB2312" pitchFamily="49" charset="-122"/>
              </a:rPr>
              <a:t>即</a:t>
            </a:r>
            <a:r>
              <a:rPr lang="en-US" altLang="zh-CN" sz="3200" dirty="0">
                <a:solidFill>
                  <a:srgbClr val="0070C0"/>
                </a:solidFill>
                <a:latin typeface="楷体_GB2312" pitchFamily="49" charset="-122"/>
                <a:ea typeface="楷体_GB2312" pitchFamily="49" charset="-122"/>
              </a:rPr>
              <a:t>r=4</a:t>
            </a:r>
            <a:r>
              <a:rPr lang="zh-CN" altLang="en-US" sz="3200" dirty="0">
                <a:solidFill>
                  <a:srgbClr val="0070C0"/>
                </a:solidFill>
                <a:latin typeface="楷体_GB2312" pitchFamily="49" charset="-122"/>
                <a:ea typeface="楷体_GB2312" pitchFamily="49" charset="-122"/>
              </a:rPr>
              <a:t>时</a:t>
            </a:r>
            <a:r>
              <a:rPr lang="en-US" altLang="zh-CN" sz="3200" dirty="0">
                <a:solidFill>
                  <a:srgbClr val="0070C0"/>
                </a:solidFill>
                <a:latin typeface="楷体_GB2312" pitchFamily="49" charset="-122"/>
                <a:ea typeface="楷体_GB2312" pitchFamily="49" charset="-122"/>
              </a:rPr>
              <a:t>k</a:t>
            </a:r>
            <a:r>
              <a:rPr lang="en-US" altLang="zh-CN" sz="3200" dirty="0">
                <a:solidFill>
                  <a:srgbClr val="0070C0"/>
                </a:solidFill>
                <a:latin typeface="Cambria Math"/>
                <a:ea typeface="Cambria Math"/>
              </a:rPr>
              <a:t>≤11.</a:t>
            </a:r>
            <a:endParaRPr lang="zh-CN" altLang="en-US" sz="3200" dirty="0">
              <a:solidFill>
                <a:srgbClr val="0070C0"/>
              </a:solidFill>
              <a:latin typeface="楷体_GB2312" pitchFamily="49" charset="-122"/>
              <a:ea typeface="楷体_GB2312" pitchFamily="49" charset="-122"/>
            </a:endParaRPr>
          </a:p>
        </p:txBody>
      </p:sp>
    </p:spTree>
    <p:extLst>
      <p:ext uri="{BB962C8B-B14F-4D97-AF65-F5344CB8AC3E}">
        <p14:creationId xmlns:p14="http://schemas.microsoft.com/office/powerpoint/2010/main" val="657358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08547" name="矩形 2"/>
          <p:cNvSpPr>
            <a:spLocks noChangeArrowheads="1"/>
          </p:cNvSpPr>
          <p:nvPr/>
        </p:nvSpPr>
        <p:spPr bwMode="auto">
          <a:xfrm>
            <a:off x="785813" y="1500188"/>
            <a:ext cx="7572375"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如要能检测与自动校正一位错，并发现两位错，此时校验位的位数</a:t>
            </a:r>
            <a:r>
              <a:rPr lang="en-US" altLang="zh-CN" sz="3200" dirty="0">
                <a:solidFill>
                  <a:schemeClr val="tx2"/>
                </a:solidFill>
                <a:latin typeface="楷体_GB2312" pitchFamily="49" charset="-122"/>
                <a:ea typeface="楷体_GB2312" pitchFamily="49" charset="-122"/>
              </a:rPr>
              <a:t>r</a:t>
            </a:r>
            <a:r>
              <a:rPr lang="zh-CN" altLang="en-US" sz="3200" dirty="0">
                <a:solidFill>
                  <a:schemeClr val="tx2"/>
                </a:solidFill>
                <a:latin typeface="楷体_GB2312" pitchFamily="49" charset="-122"/>
                <a:ea typeface="楷体_GB2312" pitchFamily="49" charset="-122"/>
              </a:rPr>
              <a:t>和数据位的位数</a:t>
            </a:r>
            <a:r>
              <a:rPr lang="en-US" altLang="zh-CN" sz="3200" dirty="0">
                <a:solidFill>
                  <a:schemeClr val="tx2"/>
                </a:solidFill>
                <a:latin typeface="楷体_GB2312" pitchFamily="49" charset="-122"/>
                <a:ea typeface="楷体_GB2312" pitchFamily="49" charset="-122"/>
              </a:rPr>
              <a:t>k</a:t>
            </a:r>
            <a:r>
              <a:rPr lang="zh-CN" altLang="en-US" sz="3200" dirty="0">
                <a:solidFill>
                  <a:schemeClr val="tx2"/>
                </a:solidFill>
                <a:latin typeface="楷体_GB2312" pitchFamily="49" charset="-122"/>
                <a:ea typeface="楷体_GB2312" pitchFamily="49" charset="-122"/>
              </a:rPr>
              <a:t>应满足下述关系</a:t>
            </a:r>
            <a:r>
              <a:rPr lang="zh-CN" altLang="en-US" sz="3200" dirty="0">
                <a:solidFill>
                  <a:srgbClr val="FF0000"/>
                </a:solidFill>
                <a:latin typeface="楷体_GB2312" pitchFamily="49" charset="-122"/>
                <a:ea typeface="楷体_GB2312" pitchFamily="49" charset="-122"/>
              </a:rPr>
              <a:t>：</a:t>
            </a:r>
            <a:r>
              <a:rPr lang="en-US" altLang="zh-CN" sz="3200" dirty="0">
                <a:solidFill>
                  <a:srgbClr val="FF0000"/>
                </a:solidFill>
              </a:rPr>
              <a:t> </a:t>
            </a:r>
            <a:r>
              <a:rPr lang="en-US" altLang="zh-CN" sz="3200" dirty="0">
                <a:solidFill>
                  <a:srgbClr val="FF0000"/>
                </a:solidFill>
                <a:latin typeface="楷体_GB2312" pitchFamily="49" charset="-122"/>
                <a:ea typeface="楷体_GB2312" pitchFamily="49" charset="-122"/>
              </a:rPr>
              <a:t>2</a:t>
            </a:r>
            <a:r>
              <a:rPr lang="en-US" altLang="zh-CN" sz="3200" baseline="30000" dirty="0">
                <a:solidFill>
                  <a:srgbClr val="FF0000"/>
                </a:solidFill>
                <a:latin typeface="楷体_GB2312" pitchFamily="49" charset="-122"/>
                <a:ea typeface="楷体_GB2312" pitchFamily="49" charset="-122"/>
              </a:rPr>
              <a:t>r</a:t>
            </a:r>
            <a:r>
              <a:rPr lang="en-US" altLang="zh-CN" sz="3200" dirty="0">
                <a:solidFill>
                  <a:srgbClr val="FF0000"/>
                </a:solidFill>
                <a:latin typeface="楷体_GB2312" pitchFamily="49" charset="-122"/>
                <a:ea typeface="楷体_GB2312" pitchFamily="49" charset="-122"/>
              </a:rPr>
              <a:t>-1≥k+r</a:t>
            </a:r>
          </a:p>
          <a:p>
            <a:pPr algn="l" eaLnBrk="1" hangingPunct="1"/>
            <a:r>
              <a:rPr lang="zh-CN" altLang="en-US" sz="3200" dirty="0">
                <a:solidFill>
                  <a:schemeClr val="tx2"/>
                </a:solidFill>
                <a:latin typeface="楷体_GB2312" pitchFamily="49" charset="-122"/>
                <a:ea typeface="楷体_GB2312" pitchFamily="49" charset="-122"/>
              </a:rPr>
              <a:t>数据位</a:t>
            </a:r>
            <a:r>
              <a:rPr lang="en-US" altLang="zh-CN" sz="3200" dirty="0">
                <a:solidFill>
                  <a:schemeClr val="tx2"/>
                </a:solidFill>
                <a:latin typeface="楷体_GB2312" pitchFamily="49" charset="-122"/>
                <a:ea typeface="楷体_GB2312" pitchFamily="49" charset="-122"/>
              </a:rPr>
              <a:t>k</a:t>
            </a:r>
            <a:r>
              <a:rPr lang="zh-CN" altLang="en-US" sz="3200" dirty="0">
                <a:solidFill>
                  <a:schemeClr val="tx2"/>
                </a:solidFill>
                <a:latin typeface="楷体_GB2312" pitchFamily="49" charset="-122"/>
                <a:ea typeface="楷体_GB2312" pitchFamily="49" charset="-122"/>
              </a:rPr>
              <a:t>与校验位</a:t>
            </a:r>
            <a:r>
              <a:rPr lang="en-US" altLang="zh-CN" sz="3200" dirty="0">
                <a:solidFill>
                  <a:schemeClr val="tx2"/>
                </a:solidFill>
                <a:latin typeface="楷体_GB2312" pitchFamily="49" charset="-122"/>
                <a:ea typeface="楷体_GB2312" pitchFamily="49" charset="-122"/>
              </a:rPr>
              <a:t>r</a:t>
            </a:r>
            <a:r>
              <a:rPr lang="zh-CN" altLang="en-US" sz="3200" dirty="0">
                <a:solidFill>
                  <a:schemeClr val="tx2"/>
                </a:solidFill>
                <a:latin typeface="楷体_GB2312" pitchFamily="49" charset="-122"/>
                <a:ea typeface="楷体_GB2312" pitchFamily="49" charset="-122"/>
              </a:rPr>
              <a:t>的对应关系如表：</a:t>
            </a:r>
          </a:p>
        </p:txBody>
      </p:sp>
      <p:graphicFrame>
        <p:nvGraphicFramePr>
          <p:cNvPr id="4" name="Group 107"/>
          <p:cNvGraphicFramePr>
            <a:graphicFrameLocks noGrp="1"/>
          </p:cNvGraphicFramePr>
          <p:nvPr>
            <p:extLst>
              <p:ext uri="{D42A27DB-BD31-4B8C-83A1-F6EECF244321}">
                <p14:modId xmlns:p14="http://schemas.microsoft.com/office/powerpoint/2010/main" val="3546511190"/>
              </p:ext>
            </p:extLst>
          </p:nvPr>
        </p:nvGraphicFramePr>
        <p:xfrm>
          <a:off x="1285875" y="3643313"/>
          <a:ext cx="6769100" cy="2378076"/>
        </p:xfrm>
        <a:graphic>
          <a:graphicData uri="http://schemas.openxmlformats.org/drawingml/2006/table">
            <a:tbl>
              <a:tblPr/>
              <a:tblGrid>
                <a:gridCol w="338455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 </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值（数据位）</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最 小 的 </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值（校验位）</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5~11</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12~26</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27~57</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58~120</a:t>
                      </a:r>
                    </a:p>
                  </a:txBody>
                  <a:tcPr marT="45732" marB="45732"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a:t>
                      </a:r>
                    </a:p>
                  </a:txBody>
                  <a:tcPr marT="45732" marB="45732"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173801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0419" name="矩形 2"/>
          <p:cNvSpPr>
            <a:spLocks noChangeArrowheads="1"/>
          </p:cNvSpPr>
          <p:nvPr/>
        </p:nvSpPr>
        <p:spPr bwMode="auto">
          <a:xfrm>
            <a:off x="428625" y="1571625"/>
            <a:ext cx="8429625" cy="4032250"/>
          </a:xfrm>
          <a:prstGeom prst="rect">
            <a:avLst/>
          </a:prstGeom>
          <a:noFill/>
          <a:ln w="9525">
            <a:noFill/>
            <a:miter lim="800000"/>
            <a:headEnd/>
            <a:tailEnd/>
          </a:ln>
        </p:spPr>
        <p:txBody>
          <a:bodyPr>
            <a:spAutoFit/>
          </a:bodyPr>
          <a:lstStyle/>
          <a:p>
            <a:pPr algn="l">
              <a:defRPr/>
            </a:pP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）海明码编码规则</a:t>
            </a:r>
            <a:endParaRPr lang="en-US" altLang="zh-CN" sz="3200" b="1" dirty="0">
              <a:solidFill>
                <a:schemeClr val="tx2"/>
              </a:solidFill>
              <a:latin typeface="楷体_GB2312" pitchFamily="49" charset="-122"/>
              <a:ea typeface="楷体_GB2312" pitchFamily="49" charset="-122"/>
            </a:endParaRPr>
          </a:p>
          <a:p>
            <a:pPr algn="l">
              <a:defRPr/>
            </a:pPr>
            <a:r>
              <a:rPr lang="zh-CN" altLang="en-US" sz="3200" b="1" dirty="0">
                <a:solidFill>
                  <a:schemeClr val="tx2"/>
                </a:solidFill>
                <a:latin typeface="楷体_GB2312" pitchFamily="49" charset="-122"/>
                <a:ea typeface="楷体_GB2312" pitchFamily="49" charset="-122"/>
              </a:rPr>
              <a:t>    若海明码的最高位号为</a:t>
            </a:r>
            <a:r>
              <a:rPr lang="en-US" altLang="zh-CN" sz="3200" b="1" dirty="0">
                <a:solidFill>
                  <a:schemeClr val="tx2"/>
                </a:solidFill>
                <a:latin typeface="楷体_GB2312" pitchFamily="49" charset="-122"/>
                <a:ea typeface="楷体_GB2312" pitchFamily="49" charset="-122"/>
              </a:rPr>
              <a:t>m</a:t>
            </a:r>
            <a:r>
              <a:rPr lang="zh-CN" altLang="en-US" sz="3200" b="1" dirty="0">
                <a:solidFill>
                  <a:schemeClr val="tx2"/>
                </a:solidFill>
                <a:latin typeface="楷体_GB2312" pitchFamily="49" charset="-122"/>
                <a:ea typeface="楷体_GB2312" pitchFamily="49" charset="-122"/>
              </a:rPr>
              <a:t>，最低位号为</a:t>
            </a:r>
            <a:r>
              <a:rPr lang="en-US" altLang="zh-CN" sz="3200" b="1"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 即</a:t>
            </a:r>
            <a:r>
              <a:rPr lang="en-US" altLang="zh-CN" sz="3200" b="1" dirty="0">
                <a:solidFill>
                  <a:schemeClr val="tx2"/>
                </a:solidFill>
                <a:latin typeface="楷体_GB2312" pitchFamily="49" charset="-122"/>
                <a:ea typeface="楷体_GB2312" pitchFamily="49" charset="-122"/>
              </a:rPr>
              <a:t>H</a:t>
            </a:r>
            <a:r>
              <a:rPr lang="en-US" altLang="zh-CN" sz="3200" b="1" baseline="-25000" dirty="0">
                <a:solidFill>
                  <a:schemeClr val="tx2"/>
                </a:solidFill>
                <a:latin typeface="楷体_GB2312" pitchFamily="49" charset="-122"/>
                <a:ea typeface="楷体_GB2312" pitchFamily="49" charset="-122"/>
              </a:rPr>
              <a:t>m</a:t>
            </a:r>
            <a:r>
              <a:rPr lang="en-US" altLang="zh-CN" sz="3200" b="1" dirty="0">
                <a:solidFill>
                  <a:schemeClr val="tx2"/>
                </a:solidFill>
                <a:latin typeface="楷体_GB2312" pitchFamily="49" charset="-122"/>
                <a:ea typeface="楷体_GB2312" pitchFamily="49" charset="-122"/>
              </a:rPr>
              <a:t>H</a:t>
            </a:r>
            <a:r>
              <a:rPr lang="en-US" altLang="zh-CN" sz="3200" b="1" baseline="-25000" dirty="0">
                <a:solidFill>
                  <a:schemeClr val="tx2"/>
                </a:solidFill>
                <a:latin typeface="楷体_GB2312" pitchFamily="49" charset="-122"/>
                <a:ea typeface="楷体_GB2312" pitchFamily="49" charset="-122"/>
              </a:rPr>
              <a:t>m-1</a:t>
            </a:r>
            <a:r>
              <a:rPr lang="en-US" altLang="zh-CN" sz="3200" b="1" dirty="0">
                <a:solidFill>
                  <a:schemeClr val="tx2"/>
                </a:solidFill>
                <a:latin typeface="楷体_GB2312" pitchFamily="49" charset="-122"/>
                <a:ea typeface="楷体_GB2312" pitchFamily="49" charset="-122"/>
              </a:rPr>
              <a:t>…H</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H</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，则此海明码的编码规律通常是：</a:t>
            </a:r>
          </a:p>
          <a:p>
            <a:pPr marL="514350" indent="-514350" algn="l">
              <a:buFont typeface="+mj-ea"/>
              <a:buAutoNum type="circleNumDbPlain"/>
              <a:defRPr/>
            </a:pPr>
            <a:r>
              <a:rPr lang="zh-CN" altLang="en-US" sz="3200" b="1" dirty="0">
                <a:solidFill>
                  <a:schemeClr val="tx2"/>
                </a:solidFill>
                <a:latin typeface="楷体_GB2312" pitchFamily="49" charset="-122"/>
                <a:ea typeface="楷体_GB2312" pitchFamily="49" charset="-122"/>
              </a:rPr>
              <a:t>校验位与数据位之和为</a:t>
            </a:r>
            <a:r>
              <a:rPr lang="en-US" altLang="zh-CN" sz="3200" b="1" dirty="0">
                <a:solidFill>
                  <a:schemeClr val="tx2"/>
                </a:solidFill>
                <a:latin typeface="楷体_GB2312" pitchFamily="49" charset="-122"/>
                <a:ea typeface="楷体_GB2312" pitchFamily="49" charset="-122"/>
              </a:rPr>
              <a:t>m</a:t>
            </a:r>
            <a:r>
              <a:rPr lang="zh-CN" altLang="en-US" sz="3200" b="1" dirty="0">
                <a:solidFill>
                  <a:schemeClr val="tx2"/>
                </a:solidFill>
                <a:latin typeface="楷体_GB2312" pitchFamily="49" charset="-122"/>
                <a:ea typeface="楷体_GB2312" pitchFamily="49" charset="-122"/>
              </a:rPr>
              <a:t>，每个校验位</a:t>
            </a:r>
            <a:r>
              <a:rPr lang="en-US" altLang="zh-CN" sz="3200" b="1" dirty="0">
                <a:solidFill>
                  <a:schemeClr val="tx2"/>
                </a:solidFill>
                <a:latin typeface="楷体_GB2312" pitchFamily="49" charset="-122"/>
                <a:ea typeface="楷体_GB2312" pitchFamily="49" charset="-122"/>
              </a:rPr>
              <a:t>Pi</a:t>
            </a:r>
            <a:r>
              <a:rPr lang="zh-CN" altLang="en-US" sz="3200" b="1" dirty="0">
                <a:solidFill>
                  <a:schemeClr val="tx2"/>
                </a:solidFill>
                <a:latin typeface="楷体_GB2312" pitchFamily="49" charset="-122"/>
                <a:ea typeface="楷体_GB2312" pitchFamily="49" charset="-122"/>
              </a:rPr>
              <a:t>在海明码中被分在位号</a:t>
            </a:r>
            <a:r>
              <a:rPr lang="en-US" altLang="zh-CN" sz="3200" b="1" dirty="0">
                <a:solidFill>
                  <a:schemeClr val="tx2"/>
                </a:solidFill>
                <a:latin typeface="楷体_GB2312" pitchFamily="49" charset="-122"/>
                <a:ea typeface="楷体_GB2312" pitchFamily="49" charset="-122"/>
              </a:rPr>
              <a:t>2</a:t>
            </a:r>
            <a:r>
              <a:rPr lang="en-US" altLang="zh-CN" sz="3200" b="1" baseline="30000" dirty="0">
                <a:solidFill>
                  <a:schemeClr val="tx2"/>
                </a:solidFill>
                <a:latin typeface="楷体_GB2312" pitchFamily="49" charset="-122"/>
                <a:ea typeface="楷体_GB2312" pitchFamily="49" charset="-122"/>
              </a:rPr>
              <a:t>i-1</a:t>
            </a:r>
            <a:r>
              <a:rPr lang="zh-CN" altLang="en-US" sz="3200" b="1" dirty="0">
                <a:solidFill>
                  <a:schemeClr val="tx2"/>
                </a:solidFill>
                <a:latin typeface="楷体_GB2312" pitchFamily="49" charset="-122"/>
                <a:ea typeface="楷体_GB2312" pitchFamily="49" charset="-122"/>
              </a:rPr>
              <a:t>的位置，其余各位为数据位，并按从低向高逐位依次排列的关系分配各数据位。</a:t>
            </a:r>
          </a:p>
          <a:p>
            <a:pPr algn="l">
              <a:defRPr/>
            </a:pPr>
            <a:endParaRPr lang="zh-CN" altLang="en-US" sz="3200" dirty="0"/>
          </a:p>
        </p:txBody>
      </p:sp>
    </p:spTree>
    <p:extLst>
      <p:ext uri="{BB962C8B-B14F-4D97-AF65-F5344CB8AC3E}">
        <p14:creationId xmlns:p14="http://schemas.microsoft.com/office/powerpoint/2010/main" val="9534286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642938" y="1581150"/>
            <a:ext cx="8072437"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buFont typeface="宋体" pitchFamily="2" charset="-122"/>
              <a:buAutoNum type="circleNumDbPlain" startAt="2"/>
            </a:pPr>
            <a:r>
              <a:rPr lang="zh-CN" altLang="en-US" sz="3200">
                <a:solidFill>
                  <a:schemeClr val="tx2"/>
                </a:solidFill>
                <a:latin typeface="楷体_GB2312" pitchFamily="49" charset="-122"/>
                <a:ea typeface="楷体_GB2312" pitchFamily="49" charset="-122"/>
              </a:rPr>
              <a:t>海明码的每一位码</a:t>
            </a:r>
            <a:r>
              <a:rPr lang="en-US" altLang="zh-CN" sz="3200">
                <a:solidFill>
                  <a:schemeClr val="tx2"/>
                </a:solidFill>
                <a:latin typeface="楷体_GB2312" pitchFamily="49" charset="-122"/>
                <a:ea typeface="楷体_GB2312" pitchFamily="49" charset="-122"/>
              </a:rPr>
              <a:t>H</a:t>
            </a:r>
            <a:r>
              <a:rPr lang="en-US" altLang="zh-CN" sz="3200" baseline="-25000">
                <a:solidFill>
                  <a:schemeClr val="tx2"/>
                </a:solidFill>
                <a:latin typeface="楷体_GB2312" pitchFamily="49" charset="-122"/>
                <a:ea typeface="楷体_GB2312" pitchFamily="49" charset="-122"/>
              </a:rPr>
              <a:t>i</a:t>
            </a:r>
            <a:r>
              <a:rPr lang="en-US" altLang="zh-CN" sz="3200">
                <a:solidFill>
                  <a:schemeClr val="tx2"/>
                </a:solidFill>
                <a:latin typeface="楷体_GB2312" pitchFamily="49" charset="-122"/>
                <a:ea typeface="楷体_GB2312" pitchFamily="49" charset="-122"/>
              </a:rPr>
              <a:t>(</a:t>
            </a:r>
            <a:r>
              <a:rPr lang="zh-CN" altLang="en-US" sz="3200">
                <a:solidFill>
                  <a:schemeClr val="tx2"/>
                </a:solidFill>
                <a:latin typeface="楷体_GB2312" pitchFamily="49" charset="-122"/>
                <a:ea typeface="楷体_GB2312" pitchFamily="49" charset="-122"/>
              </a:rPr>
              <a:t>包括数据位和校验位本身</a:t>
            </a:r>
            <a:r>
              <a:rPr lang="en-US" altLang="zh-CN" sz="3200">
                <a:solidFill>
                  <a:schemeClr val="tx2"/>
                </a:solidFill>
                <a:latin typeface="楷体_GB2312" pitchFamily="49" charset="-122"/>
                <a:ea typeface="楷体_GB2312" pitchFamily="49" charset="-122"/>
              </a:rPr>
              <a:t>)</a:t>
            </a:r>
            <a:r>
              <a:rPr lang="zh-CN" altLang="en-US" sz="3200">
                <a:solidFill>
                  <a:schemeClr val="tx2"/>
                </a:solidFill>
                <a:latin typeface="楷体_GB2312" pitchFamily="49" charset="-122"/>
                <a:ea typeface="楷体_GB2312" pitchFamily="49" charset="-122"/>
              </a:rPr>
              <a:t>由多个校验位校验，其关系是被校验的每一位位号要等于校验它的</a:t>
            </a:r>
            <a:r>
              <a:rPr lang="zh-CN" altLang="en-US" sz="3200">
                <a:solidFill>
                  <a:srgbClr val="FF0000"/>
                </a:solidFill>
                <a:latin typeface="楷体_GB2312" pitchFamily="49" charset="-122"/>
                <a:ea typeface="楷体_GB2312" pitchFamily="49" charset="-122"/>
              </a:rPr>
              <a:t>各校验位</a:t>
            </a:r>
            <a:r>
              <a:rPr lang="zh-CN" altLang="en-US" sz="3200">
                <a:solidFill>
                  <a:schemeClr val="tx2"/>
                </a:solidFill>
                <a:latin typeface="楷体_GB2312" pitchFamily="49" charset="-122"/>
                <a:ea typeface="楷体_GB2312" pitchFamily="49" charset="-122"/>
              </a:rPr>
              <a:t>的位号之和。</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4" name="TextBox 3"/>
          <p:cNvSpPr txBox="1">
            <a:spLocks noChangeArrowheads="1"/>
          </p:cNvSpPr>
          <p:nvPr/>
        </p:nvSpPr>
        <p:spPr bwMode="auto">
          <a:xfrm>
            <a:off x="785813" y="3500438"/>
            <a:ext cx="8001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000" dirty="0">
                <a:solidFill>
                  <a:srgbClr val="0070C0"/>
                </a:solidFill>
                <a:latin typeface="楷体_GB2312" pitchFamily="49" charset="-122"/>
                <a:ea typeface="楷体_GB2312" pitchFamily="49" charset="-122"/>
              </a:rPr>
              <a:t>例：设校验位为</a:t>
            </a:r>
            <a:r>
              <a:rPr lang="en-US" altLang="zh-CN" sz="3000" dirty="0">
                <a:solidFill>
                  <a:srgbClr val="0070C0"/>
                </a:solidFill>
                <a:latin typeface="楷体_GB2312" pitchFamily="49" charset="-122"/>
                <a:ea typeface="楷体_GB2312" pitchFamily="49" charset="-122"/>
              </a:rPr>
              <a:t>4</a:t>
            </a:r>
            <a:r>
              <a:rPr lang="zh-CN" altLang="en-US" sz="3000" dirty="0">
                <a:solidFill>
                  <a:srgbClr val="0070C0"/>
                </a:solidFill>
                <a:latin typeface="楷体_GB2312" pitchFamily="49" charset="-122"/>
                <a:ea typeface="楷体_GB2312" pitchFamily="49" charset="-122"/>
              </a:rPr>
              <a:t>位，</a:t>
            </a:r>
            <a:r>
              <a:rPr lang="en-US" altLang="zh-CN" sz="3000" dirty="0">
                <a:solidFill>
                  <a:srgbClr val="0070C0"/>
                </a:solidFill>
                <a:latin typeface="楷体_GB2312" pitchFamily="49" charset="-122"/>
                <a:ea typeface="楷体_GB2312" pitchFamily="49" charset="-122"/>
              </a:rPr>
              <a:t>P</a:t>
            </a:r>
            <a:r>
              <a:rPr lang="en-US" altLang="zh-CN" sz="3000" baseline="-25000" dirty="0">
                <a:solidFill>
                  <a:srgbClr val="0070C0"/>
                </a:solidFill>
                <a:latin typeface="楷体_GB2312" pitchFamily="49" charset="-122"/>
                <a:ea typeface="楷体_GB2312" pitchFamily="49" charset="-122"/>
              </a:rPr>
              <a:t>4</a:t>
            </a:r>
            <a:r>
              <a:rPr lang="en-US" altLang="zh-CN" sz="3000" dirty="0">
                <a:solidFill>
                  <a:srgbClr val="0070C0"/>
                </a:solidFill>
                <a:latin typeface="楷体_GB2312" pitchFamily="49" charset="-122"/>
                <a:ea typeface="楷体_GB2312" pitchFamily="49" charset="-122"/>
              </a:rPr>
              <a:t>P</a:t>
            </a:r>
            <a:r>
              <a:rPr lang="en-US" altLang="zh-CN" sz="3000" baseline="-25000" dirty="0">
                <a:solidFill>
                  <a:srgbClr val="0070C0"/>
                </a:solidFill>
                <a:latin typeface="楷体_GB2312" pitchFamily="49" charset="-122"/>
                <a:ea typeface="楷体_GB2312" pitchFamily="49" charset="-122"/>
              </a:rPr>
              <a:t>3</a:t>
            </a:r>
            <a:r>
              <a:rPr lang="en-US" altLang="zh-CN" sz="3000" dirty="0">
                <a:solidFill>
                  <a:srgbClr val="0070C0"/>
                </a:solidFill>
                <a:latin typeface="楷体_GB2312" pitchFamily="49" charset="-122"/>
                <a:ea typeface="楷体_GB2312" pitchFamily="49" charset="-122"/>
              </a:rPr>
              <a:t>P</a:t>
            </a:r>
            <a:r>
              <a:rPr lang="en-US" altLang="zh-CN" sz="3000" baseline="-25000" dirty="0">
                <a:solidFill>
                  <a:srgbClr val="0070C0"/>
                </a:solidFill>
                <a:latin typeface="楷体_GB2312" pitchFamily="49" charset="-122"/>
                <a:ea typeface="楷体_GB2312" pitchFamily="49" charset="-122"/>
              </a:rPr>
              <a:t>2</a:t>
            </a:r>
            <a:r>
              <a:rPr lang="en-US" altLang="zh-CN" sz="3000" dirty="0">
                <a:solidFill>
                  <a:srgbClr val="0070C0"/>
                </a:solidFill>
                <a:latin typeface="楷体_GB2312" pitchFamily="49" charset="-122"/>
                <a:ea typeface="楷体_GB2312" pitchFamily="49" charset="-122"/>
              </a:rPr>
              <a:t>P</a:t>
            </a:r>
            <a:r>
              <a:rPr lang="en-US" altLang="zh-CN" sz="3000" baseline="-25000" dirty="0">
                <a:solidFill>
                  <a:srgbClr val="0070C0"/>
                </a:solidFill>
                <a:latin typeface="楷体_GB2312" pitchFamily="49" charset="-122"/>
                <a:ea typeface="楷体_GB2312" pitchFamily="49" charset="-122"/>
              </a:rPr>
              <a:t>1</a:t>
            </a:r>
            <a:r>
              <a:rPr lang="zh-CN" altLang="en-US" sz="3000" dirty="0">
                <a:solidFill>
                  <a:srgbClr val="0070C0"/>
                </a:solidFill>
                <a:latin typeface="楷体_GB2312" pitchFamily="49" charset="-122"/>
                <a:ea typeface="楷体_GB2312" pitchFamily="49" charset="-122"/>
              </a:rPr>
              <a:t>，被校验的数据位是</a:t>
            </a:r>
            <a:r>
              <a:rPr lang="en-US" altLang="zh-CN" sz="3000" dirty="0">
                <a:solidFill>
                  <a:srgbClr val="0070C0"/>
                </a:solidFill>
                <a:latin typeface="楷体_GB2312" pitchFamily="49" charset="-122"/>
                <a:ea typeface="楷体_GB2312" pitchFamily="49" charset="-122"/>
              </a:rPr>
              <a:t>11</a:t>
            </a:r>
            <a:r>
              <a:rPr lang="zh-CN" altLang="en-US" sz="3000" dirty="0">
                <a:solidFill>
                  <a:srgbClr val="0070C0"/>
                </a:solidFill>
                <a:latin typeface="楷体_GB2312" pitchFamily="49" charset="-122"/>
                <a:ea typeface="楷体_GB2312" pitchFamily="49" charset="-122"/>
              </a:rPr>
              <a:t>位，</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10</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9</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8</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7</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6</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5</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4</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3</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2</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1</a:t>
            </a:r>
            <a:r>
              <a:rPr lang="en-US" altLang="zh-CN" sz="3000" dirty="0">
                <a:solidFill>
                  <a:srgbClr val="0070C0"/>
                </a:solidFill>
                <a:latin typeface="楷体_GB2312" pitchFamily="49" charset="-122"/>
                <a:ea typeface="楷体_GB2312" pitchFamily="49" charset="-122"/>
              </a:rPr>
              <a:t>D</a:t>
            </a:r>
            <a:r>
              <a:rPr lang="en-US" altLang="zh-CN" sz="3000" baseline="-25000" dirty="0">
                <a:solidFill>
                  <a:srgbClr val="0070C0"/>
                </a:solidFill>
                <a:latin typeface="楷体_GB2312" pitchFamily="49" charset="-122"/>
                <a:ea typeface="楷体_GB2312" pitchFamily="49" charset="-122"/>
              </a:rPr>
              <a:t>0</a:t>
            </a:r>
            <a:r>
              <a:rPr lang="en-US" altLang="zh-CN" sz="3000" dirty="0">
                <a:solidFill>
                  <a:srgbClr val="0070C0"/>
                </a:solidFill>
                <a:latin typeface="楷体_GB2312" pitchFamily="49" charset="-122"/>
                <a:ea typeface="楷体_GB2312" pitchFamily="49" charset="-122"/>
              </a:rPr>
              <a:t>,</a:t>
            </a:r>
            <a:r>
              <a:rPr lang="zh-CN" altLang="en-US" sz="3000" dirty="0">
                <a:solidFill>
                  <a:srgbClr val="0070C0"/>
                </a:solidFill>
                <a:latin typeface="楷体_GB2312" pitchFamily="49" charset="-122"/>
                <a:ea typeface="楷体_GB2312" pitchFamily="49" charset="-122"/>
              </a:rPr>
              <a:t>生成海明码。</a:t>
            </a:r>
          </a:p>
        </p:txBody>
      </p:sp>
      <p:sp>
        <p:nvSpPr>
          <p:cNvPr id="5" name="TextBox 4"/>
          <p:cNvSpPr txBox="1">
            <a:spLocks noChangeArrowheads="1"/>
          </p:cNvSpPr>
          <p:nvPr/>
        </p:nvSpPr>
        <p:spPr bwMode="auto">
          <a:xfrm>
            <a:off x="107504" y="4500563"/>
            <a:ext cx="85364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000" dirty="0">
                <a:solidFill>
                  <a:schemeClr val="tx2"/>
                </a:solidFill>
                <a:latin typeface="楷体_GB2312" pitchFamily="49" charset="-122"/>
                <a:ea typeface="楷体_GB2312" pitchFamily="49" charset="-122"/>
              </a:rPr>
              <a:t>生成的海明码</a:t>
            </a:r>
            <a:r>
              <a:rPr lang="zh-CN" altLang="en-US" sz="3000" dirty="0">
                <a:solidFill>
                  <a:schemeClr val="tx2"/>
                </a:solidFill>
                <a:latin typeface="楷体_GB2312" pitchFamily="49" charset="-122"/>
                <a:ea typeface="楷体_GB2312" pitchFamily="49" charset="-122"/>
                <a:sym typeface="Wingdings" panose="05000000000000000000" pitchFamily="2" charset="2"/>
              </a:rPr>
              <a:t>（校验位的位数由公式</a:t>
            </a:r>
            <a:r>
              <a:rPr lang="en-US" altLang="zh-CN" sz="3000" dirty="0">
                <a:solidFill>
                  <a:schemeClr val="tx2"/>
                </a:solidFill>
                <a:latin typeface="楷体_GB2312" pitchFamily="49" charset="-122"/>
                <a:ea typeface="楷体_GB2312" pitchFamily="49" charset="-122"/>
                <a:sym typeface="Wingdings" panose="05000000000000000000" pitchFamily="2" charset="2"/>
              </a:rPr>
              <a:t>pi=</a:t>
            </a:r>
            <a:r>
              <a:rPr lang="en-US" altLang="zh-CN" sz="2800" dirty="0">
                <a:solidFill>
                  <a:schemeClr val="tx2"/>
                </a:solidFill>
                <a:latin typeface="楷体_GB2312" pitchFamily="49" charset="-122"/>
                <a:ea typeface="楷体_GB2312" pitchFamily="49" charset="-122"/>
              </a:rPr>
              <a:t> 2</a:t>
            </a:r>
            <a:r>
              <a:rPr lang="en-US" altLang="zh-CN" sz="2800" baseline="30000" dirty="0">
                <a:solidFill>
                  <a:schemeClr val="tx2"/>
                </a:solidFill>
                <a:latin typeface="楷体_GB2312" pitchFamily="49" charset="-122"/>
                <a:ea typeface="楷体_GB2312" pitchFamily="49" charset="-122"/>
              </a:rPr>
              <a:t>i-1</a:t>
            </a:r>
            <a:r>
              <a:rPr lang="zh-CN" altLang="en-US" sz="2800" dirty="0">
                <a:solidFill>
                  <a:schemeClr val="tx2"/>
                </a:solidFill>
                <a:latin typeface="楷体_GB2312" pitchFamily="49" charset="-122"/>
                <a:ea typeface="楷体_GB2312" pitchFamily="49" charset="-122"/>
              </a:rPr>
              <a:t>决定</a:t>
            </a:r>
            <a:r>
              <a:rPr lang="zh-CN" altLang="en-US" sz="3000" dirty="0">
                <a:solidFill>
                  <a:schemeClr val="tx2"/>
                </a:solidFill>
                <a:latin typeface="楷体_GB2312" pitchFamily="49" charset="-122"/>
                <a:ea typeface="楷体_GB2312" pitchFamily="49" charset="-122"/>
                <a:sym typeface="Wingdings" panose="05000000000000000000" pitchFamily="2" charset="2"/>
              </a:rPr>
              <a:t>）</a:t>
            </a:r>
            <a:endParaRPr lang="en-US" altLang="zh-CN" sz="3000" dirty="0">
              <a:solidFill>
                <a:schemeClr val="tx2"/>
              </a:solidFill>
              <a:latin typeface="楷体_GB2312" pitchFamily="49" charset="-122"/>
              <a:ea typeface="楷体_GB2312" pitchFamily="49" charset="-122"/>
            </a:endParaRPr>
          </a:p>
        </p:txBody>
      </p:sp>
      <p:pic>
        <p:nvPicPr>
          <p:cNvPr id="6" name="图片 5" descr="海明码编码.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8688" y="5072063"/>
            <a:ext cx="757237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3444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42875" y="107950"/>
          <a:ext cx="8929688" cy="6605595"/>
        </p:xfrm>
        <a:graphic>
          <a:graphicData uri="http://schemas.openxmlformats.org/drawingml/2006/table">
            <a:tbl>
              <a:tblPr/>
              <a:tblGrid>
                <a:gridCol w="2232025">
                  <a:extLst>
                    <a:ext uri="{9D8B030D-6E8A-4147-A177-3AD203B41FA5}">
                      <a16:colId xmlns:a16="http://schemas.microsoft.com/office/drawing/2014/main" val="20000"/>
                    </a:ext>
                  </a:extLst>
                </a:gridCol>
                <a:gridCol w="2233613">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gridCol w="2232025">
                  <a:extLst>
                    <a:ext uri="{9D8B030D-6E8A-4147-A177-3AD203B41FA5}">
                      <a16:colId xmlns:a16="http://schemas.microsoft.com/office/drawing/2014/main" val="20003"/>
                    </a:ext>
                  </a:extLst>
                </a:gridCol>
              </a:tblGrid>
              <a:tr h="9143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海明码位号</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rPr>
                        <a:t>数</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据位</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校验位</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参与校验的校验位位号</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被校验位的海明码位号</a:t>
                      </a:r>
                      <a:r>
                        <a:rPr kumimoji="0" lang="en-GB"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参与校验位位号之和</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0"/>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2"/>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3=1+2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4"/>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5</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endParaRPr kumimoji="0" lang="pt-BR"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5=1+4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5"/>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6</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6=2+4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6"/>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7</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7=1+2+4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7"/>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8"/>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9</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9=1+8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9"/>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10</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0"/>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6</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11=1+2+8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1"/>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7</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12=4+8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2"/>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8</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pt-BR"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13=1</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+4+8</a:t>
                      </a:r>
                      <a:endPar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3"/>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9</a:t>
                      </a:r>
                      <a:endParaRPr kumimoji="0" lang="zh-CN" altLang="en-US" sz="1800" b="0" i="0" u="none" strike="noStrike" cap="none" normalizeH="0" baseline="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zh-CN" altLang="en-US"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14=2+4+8</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4"/>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endParaRPr kumimoji="0" lang="zh-CN" altLang="en-US" sz="1800" b="0" i="0" u="none" strike="noStrike" cap="none" normalizeH="0" baseline="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10</a:t>
                      </a:r>
                      <a:endParaRPr kumimoji="0" lang="zh-CN" altLang="en-US" sz="1800" b="0" i="0" u="none" strike="noStrike" cap="none" normalizeH="0" baseline="0" dirty="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2</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zh-CN" altLang="en-US"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15=1+2+4+8</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5437710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12643" name="TextBox 3"/>
          <p:cNvSpPr txBox="1">
            <a:spLocks noChangeArrowheads="1"/>
          </p:cNvSpPr>
          <p:nvPr/>
        </p:nvSpPr>
        <p:spPr bwMode="auto">
          <a:xfrm>
            <a:off x="714375" y="1714500"/>
            <a:ext cx="80010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buFont typeface="宋体" pitchFamily="2" charset="-122"/>
              <a:buAutoNum type="circleNumDbPlain" startAt="3"/>
            </a:pPr>
            <a:r>
              <a:rPr lang="zh-CN" altLang="en-US" sz="3200" dirty="0">
                <a:solidFill>
                  <a:schemeClr val="tx2"/>
                </a:solidFill>
                <a:latin typeface="楷体_GB2312" pitchFamily="49" charset="-122"/>
                <a:ea typeface="楷体_GB2312" pitchFamily="49" charset="-122"/>
              </a:rPr>
              <a:t>校验位</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1</a:t>
            </a:r>
            <a:r>
              <a:rPr lang="zh-CN" altLang="en-US" sz="3000" dirty="0">
                <a:solidFill>
                  <a:schemeClr val="tx2"/>
                </a:solidFill>
                <a:latin typeface="楷体_GB2312" pitchFamily="49" charset="-122"/>
                <a:ea typeface="楷体_GB2312" pitchFamily="49" charset="-122"/>
              </a:rPr>
              <a:t>值得确定。</a:t>
            </a:r>
            <a:endParaRPr lang="en-US" altLang="zh-CN" sz="3000" dirty="0">
              <a:solidFill>
                <a:schemeClr val="tx2"/>
              </a:solidFill>
              <a:latin typeface="楷体_GB2312" pitchFamily="49" charset="-122"/>
              <a:ea typeface="楷体_GB2312" pitchFamily="49" charset="-122"/>
            </a:endParaRPr>
          </a:p>
          <a:p>
            <a:pPr algn="l" eaLnBrk="1" hangingPunct="1"/>
            <a:r>
              <a:rPr lang="zh-CN" altLang="en-US" sz="3000" dirty="0">
                <a:solidFill>
                  <a:schemeClr val="tx2"/>
                </a:solidFill>
                <a:latin typeface="楷体_GB2312" pitchFamily="49" charset="-122"/>
                <a:ea typeface="楷体_GB2312" pitchFamily="49" charset="-122"/>
              </a:rPr>
              <a:t>   校验位</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i</a:t>
            </a:r>
            <a:r>
              <a:rPr lang="zh-CN" altLang="en-US" sz="3000" dirty="0">
                <a:solidFill>
                  <a:schemeClr val="tx2"/>
                </a:solidFill>
                <a:latin typeface="楷体_GB2312" pitchFamily="49" charset="-122"/>
                <a:ea typeface="楷体_GB2312" pitchFamily="49" charset="-122"/>
              </a:rPr>
              <a:t>的取值就是该校验位所校验的数据位的</a:t>
            </a:r>
            <a:r>
              <a:rPr lang="zh-CN" altLang="en-US" sz="3000" dirty="0">
                <a:solidFill>
                  <a:srgbClr val="FF0000"/>
                </a:solidFill>
                <a:latin typeface="楷体_GB2312" pitchFamily="49" charset="-122"/>
                <a:ea typeface="楷体_GB2312" pitchFamily="49" charset="-122"/>
              </a:rPr>
              <a:t>异或</a:t>
            </a:r>
            <a:r>
              <a:rPr lang="zh-CN" altLang="en-US" sz="3000" dirty="0">
                <a:solidFill>
                  <a:schemeClr val="tx2"/>
                </a:solidFill>
                <a:latin typeface="楷体_GB2312" pitchFamily="49" charset="-122"/>
                <a:ea typeface="楷体_GB2312" pitchFamily="49" charset="-122"/>
              </a:rPr>
              <a:t>。</a:t>
            </a:r>
            <a:endParaRPr lang="en-US" altLang="zh-CN" sz="3000" dirty="0">
              <a:solidFill>
                <a:schemeClr val="tx2"/>
              </a:solidFill>
              <a:latin typeface="楷体_GB2312" pitchFamily="49" charset="-122"/>
              <a:ea typeface="楷体_GB2312" pitchFamily="49" charset="-122"/>
            </a:endParaRPr>
          </a:p>
          <a:p>
            <a:pPr algn="l" eaLnBrk="1" hangingPunct="1"/>
            <a:r>
              <a:rPr lang="zh-CN" altLang="en-US" sz="3000" dirty="0">
                <a:solidFill>
                  <a:schemeClr val="tx2"/>
                </a:solidFill>
                <a:latin typeface="楷体_GB2312" pitchFamily="49" charset="-122"/>
                <a:ea typeface="楷体_GB2312" pitchFamily="49" charset="-122"/>
              </a:rPr>
              <a:t>   </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1</a:t>
            </a:r>
            <a:r>
              <a:rPr lang="en-US" altLang="zh-CN" sz="3000" dirty="0">
                <a:solidFill>
                  <a:schemeClr val="tx2"/>
                </a:solidFill>
                <a:latin typeface="楷体_GB2312" pitchFamily="49" charset="-122"/>
                <a:ea typeface="楷体_GB2312" pitchFamily="49" charset="-122"/>
              </a:rPr>
              <a:t>=D</a:t>
            </a:r>
            <a:r>
              <a:rPr lang="en-US" altLang="zh-CN" sz="3000" baseline="-25000" dirty="0">
                <a:solidFill>
                  <a:schemeClr val="tx2"/>
                </a:solidFill>
                <a:latin typeface="楷体_GB2312" pitchFamily="49" charset="-122"/>
                <a:ea typeface="楷体_GB2312" pitchFamily="49" charset="-122"/>
              </a:rPr>
              <a:t>0</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1</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6</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8</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10</a:t>
            </a:r>
          </a:p>
          <a:p>
            <a:pPr algn="l" eaLnBrk="1" hangingPunct="1"/>
            <a:r>
              <a:rPr lang="zh-CN" altLang="en-US" sz="3000" dirty="0">
                <a:solidFill>
                  <a:schemeClr val="tx2"/>
                </a:solidFill>
                <a:latin typeface="宋体" pitchFamily="2" charset="-122"/>
                <a:ea typeface="宋体" pitchFamily="2" charset="-122"/>
              </a:rPr>
              <a:t>   </a:t>
            </a:r>
            <a:r>
              <a:rPr lang="en-US" altLang="zh-CN" sz="3000" dirty="0">
                <a:solidFill>
                  <a:schemeClr val="tx2"/>
                </a:solidFill>
                <a:latin typeface="宋体" pitchFamily="2" charset="-122"/>
                <a:ea typeface="宋体" pitchFamily="2" charset="-122"/>
              </a:rPr>
              <a:t>P</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宋体" pitchFamily="2" charset="-122"/>
                <a:ea typeface="宋体" pitchFamily="2" charset="-122"/>
              </a:rPr>
              <a:t>=</a:t>
            </a:r>
            <a:r>
              <a:rPr lang="en-US" altLang="zh-CN" sz="3000" dirty="0">
                <a:solidFill>
                  <a:schemeClr val="tx2"/>
                </a:solidFill>
                <a:latin typeface="楷体_GB2312" pitchFamily="49" charset="-122"/>
                <a:ea typeface="楷体_GB2312" pitchFamily="49" charset="-122"/>
              </a:rPr>
              <a:t>D</a:t>
            </a:r>
            <a:r>
              <a:rPr lang="en-US" altLang="zh-CN" sz="3000" baseline="-25000" dirty="0">
                <a:solidFill>
                  <a:schemeClr val="tx2"/>
                </a:solidFill>
                <a:latin typeface="楷体_GB2312" pitchFamily="49" charset="-122"/>
                <a:ea typeface="楷体_GB2312" pitchFamily="49" charset="-122"/>
              </a:rPr>
              <a:t>0</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5</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6</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9</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10</a:t>
            </a:r>
          </a:p>
          <a:p>
            <a:pPr algn="l" eaLnBrk="1" hangingPunct="1"/>
            <a:r>
              <a:rPr lang="zh-CN" altLang="en-US" sz="3000" dirty="0">
                <a:solidFill>
                  <a:schemeClr val="tx2"/>
                </a:solidFill>
                <a:latin typeface="宋体" pitchFamily="2" charset="-122"/>
                <a:ea typeface="宋体" pitchFamily="2" charset="-122"/>
              </a:rPr>
              <a:t>   </a:t>
            </a:r>
            <a:r>
              <a:rPr lang="en-US" altLang="zh-CN" sz="3000" dirty="0">
                <a:solidFill>
                  <a:schemeClr val="tx2"/>
                </a:solidFill>
                <a:latin typeface="宋体" pitchFamily="2" charset="-122"/>
                <a:ea typeface="宋体" pitchFamily="2" charset="-122"/>
              </a:rPr>
              <a:t>P</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宋体" pitchFamily="2" charset="-122"/>
                <a:ea typeface="宋体" pitchFamily="2" charset="-122"/>
              </a:rPr>
              <a:t>=</a:t>
            </a:r>
            <a:r>
              <a:rPr lang="en-US" altLang="zh-CN" sz="3000" dirty="0">
                <a:solidFill>
                  <a:schemeClr val="tx2"/>
                </a:solidFill>
                <a:latin typeface="楷体_GB2312" pitchFamily="49" charset="-122"/>
                <a:ea typeface="楷体_GB2312" pitchFamily="49" charset="-122"/>
              </a:rPr>
              <a:t>D</a:t>
            </a:r>
            <a:r>
              <a:rPr lang="en-US" altLang="zh-CN" sz="3000" baseline="-25000" dirty="0">
                <a:solidFill>
                  <a:schemeClr val="tx2"/>
                </a:solidFill>
                <a:latin typeface="楷体_GB2312" pitchFamily="49" charset="-122"/>
                <a:ea typeface="楷体_GB2312" pitchFamily="49" charset="-122"/>
              </a:rPr>
              <a:t>1</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7</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8</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9</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10</a:t>
            </a:r>
          </a:p>
          <a:p>
            <a:pPr algn="l" eaLnBrk="1" hangingPunct="1"/>
            <a:r>
              <a:rPr lang="zh-CN" altLang="en-US" sz="3000" dirty="0">
                <a:solidFill>
                  <a:schemeClr val="tx2"/>
                </a:solidFill>
                <a:latin typeface="宋体" pitchFamily="2" charset="-122"/>
                <a:ea typeface="宋体" pitchFamily="2" charset="-122"/>
              </a:rPr>
              <a:t>   </a:t>
            </a:r>
            <a:r>
              <a:rPr lang="en-US" altLang="zh-CN" sz="3000" dirty="0">
                <a:solidFill>
                  <a:schemeClr val="tx2"/>
                </a:solidFill>
                <a:latin typeface="宋体" pitchFamily="2" charset="-122"/>
                <a:ea typeface="宋体" pitchFamily="2" charset="-122"/>
              </a:rPr>
              <a:t>P</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宋体" pitchFamily="2" charset="-122"/>
                <a:ea typeface="宋体" pitchFamily="2" charset="-122"/>
              </a:rPr>
              <a:t>=</a:t>
            </a:r>
            <a:r>
              <a:rPr lang="en-US" altLang="zh-CN" sz="3000" dirty="0">
                <a:solidFill>
                  <a:schemeClr val="tx2"/>
                </a:solidFill>
                <a:latin typeface="楷体_GB2312" pitchFamily="49" charset="-122"/>
                <a:ea typeface="楷体_GB2312" pitchFamily="49" charset="-122"/>
              </a:rPr>
              <a:t>D</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5</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6</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7</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8</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9</a:t>
            </a:r>
            <a:r>
              <a:rPr lang="en-US" altLang="zh-CN" sz="3000" dirty="0">
                <a:solidFill>
                  <a:schemeClr val="tx2"/>
                </a:solidFill>
                <a:latin typeface="宋体" pitchFamily="2" charset="-122"/>
                <a:ea typeface="宋体" pitchFamily="2" charset="-122"/>
              </a:rPr>
              <a:t>⊕D</a:t>
            </a:r>
            <a:r>
              <a:rPr lang="en-US" altLang="zh-CN" sz="3000" baseline="-25000" dirty="0">
                <a:solidFill>
                  <a:schemeClr val="tx2"/>
                </a:solidFill>
                <a:latin typeface="楷体_GB2312" pitchFamily="49" charset="-122"/>
                <a:ea typeface="楷体_GB2312" pitchFamily="49" charset="-122"/>
              </a:rPr>
              <a:t>10</a:t>
            </a:r>
            <a:endParaRPr lang="en-US" altLang="zh-CN" sz="3000" dirty="0">
              <a:solidFill>
                <a:schemeClr val="tx2"/>
              </a:solidFill>
              <a:latin typeface="宋体" pitchFamily="2" charset="-122"/>
              <a:ea typeface="宋体" pitchFamily="2" charset="-122"/>
            </a:endParaRPr>
          </a:p>
          <a:p>
            <a:pPr algn="l" eaLnBrk="1" hangingPunct="1"/>
            <a:r>
              <a:rPr lang="zh-CN" altLang="en-US" sz="3000" dirty="0">
                <a:solidFill>
                  <a:schemeClr val="tx2"/>
                </a:solidFill>
                <a:latin typeface="楷体_GB2312" pitchFamily="49" charset="-122"/>
                <a:ea typeface="楷体_GB2312" pitchFamily="49" charset="-122"/>
              </a:rPr>
              <a:t>   这时</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1</a:t>
            </a:r>
            <a:r>
              <a:rPr lang="zh-CN" altLang="en-US" sz="3000" dirty="0">
                <a:solidFill>
                  <a:schemeClr val="tx2"/>
                </a:solidFill>
                <a:latin typeface="楷体_GB2312" pitchFamily="49" charset="-122"/>
                <a:ea typeface="楷体_GB2312" pitchFamily="49" charset="-122"/>
              </a:rPr>
              <a:t>的取值是采用</a:t>
            </a:r>
            <a:r>
              <a:rPr lang="zh-CN" altLang="en-US" sz="3000" dirty="0">
                <a:solidFill>
                  <a:srgbClr val="FF0000"/>
                </a:solidFill>
                <a:latin typeface="楷体_GB2312" pitchFamily="49" charset="-122"/>
                <a:ea typeface="楷体_GB2312" pitchFamily="49" charset="-122"/>
              </a:rPr>
              <a:t>偶校验</a:t>
            </a:r>
            <a:r>
              <a:rPr lang="zh-CN" altLang="en-US" sz="3000" dirty="0">
                <a:solidFill>
                  <a:schemeClr val="tx2"/>
                </a:solidFill>
                <a:latin typeface="楷体_GB2312" pitchFamily="49" charset="-122"/>
                <a:ea typeface="楷体_GB2312" pitchFamily="49" charset="-122"/>
              </a:rPr>
              <a:t>，当采用奇校验时</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4</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3</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2</a:t>
            </a:r>
            <a:r>
              <a:rPr lang="en-US" altLang="zh-CN" sz="3000" dirty="0">
                <a:solidFill>
                  <a:schemeClr val="tx2"/>
                </a:solidFill>
                <a:latin typeface="楷体_GB2312" pitchFamily="49" charset="-122"/>
                <a:ea typeface="楷体_GB2312" pitchFamily="49" charset="-122"/>
              </a:rPr>
              <a:t>P</a:t>
            </a:r>
            <a:r>
              <a:rPr lang="en-US" altLang="zh-CN" sz="3000" baseline="-25000" dirty="0">
                <a:solidFill>
                  <a:schemeClr val="tx2"/>
                </a:solidFill>
                <a:latin typeface="楷体_GB2312" pitchFamily="49" charset="-122"/>
                <a:ea typeface="楷体_GB2312" pitchFamily="49" charset="-122"/>
              </a:rPr>
              <a:t>1</a:t>
            </a:r>
            <a:r>
              <a:rPr lang="zh-CN" altLang="en-US" sz="3000" dirty="0">
                <a:solidFill>
                  <a:schemeClr val="tx2"/>
                </a:solidFill>
                <a:latin typeface="楷体_GB2312" pitchFamily="49" charset="-122"/>
                <a:ea typeface="楷体_GB2312" pitchFamily="49" charset="-122"/>
              </a:rPr>
              <a:t>取偶校验值的反。</a:t>
            </a:r>
          </a:p>
        </p:txBody>
      </p:sp>
    </p:spTree>
    <p:extLst>
      <p:ext uri="{BB962C8B-B14F-4D97-AF65-F5344CB8AC3E}">
        <p14:creationId xmlns:p14="http://schemas.microsoft.com/office/powerpoint/2010/main" val="38181435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0419" name="矩形 2"/>
          <p:cNvSpPr>
            <a:spLocks noChangeArrowheads="1"/>
          </p:cNvSpPr>
          <p:nvPr/>
        </p:nvSpPr>
        <p:spPr bwMode="auto">
          <a:xfrm>
            <a:off x="428625" y="1571625"/>
            <a:ext cx="8429625" cy="3170099"/>
          </a:xfrm>
          <a:prstGeom prst="rect">
            <a:avLst/>
          </a:prstGeom>
          <a:noFill/>
          <a:ln w="9525">
            <a:noFill/>
            <a:miter lim="800000"/>
            <a:headEnd/>
            <a:tailEnd/>
          </a:ln>
        </p:spPr>
        <p:txBody>
          <a:bodyPr>
            <a:spAutoFit/>
          </a:bodyPr>
          <a:lstStyle/>
          <a:p>
            <a:pPr algn="l">
              <a:defRPr/>
            </a:pP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）海明码校验和纠错</a:t>
            </a:r>
            <a:endParaRPr lang="en-US" altLang="zh-CN" sz="3200" b="1" dirty="0">
              <a:solidFill>
                <a:schemeClr val="tx2"/>
              </a:solidFill>
              <a:latin typeface="楷体_GB2312" pitchFamily="49" charset="-122"/>
              <a:ea typeface="楷体_GB2312" pitchFamily="49" charset="-122"/>
            </a:endParaRPr>
          </a:p>
          <a:p>
            <a:pPr algn="l">
              <a:defRPr/>
            </a:pPr>
            <a:r>
              <a:rPr lang="zh-CN" altLang="en-US" sz="3200" b="1" dirty="0">
                <a:solidFill>
                  <a:schemeClr val="tx2"/>
                </a:solidFill>
                <a:latin typeface="楷体_GB2312" pitchFamily="49" charset="-122"/>
                <a:ea typeface="楷体_GB2312" pitchFamily="49" charset="-122"/>
              </a:rPr>
              <a:t>采用纠错算子</a:t>
            </a:r>
            <a:r>
              <a:rPr lang="en-US" altLang="zh-CN" sz="3200" b="1" dirty="0">
                <a:solidFill>
                  <a:schemeClr val="tx2"/>
                </a:solidFill>
                <a:latin typeface="楷体_GB2312" pitchFamily="49" charset="-122"/>
                <a:ea typeface="楷体_GB2312" pitchFamily="49" charset="-122"/>
              </a:rPr>
              <a:t>S1S2S3S4</a:t>
            </a:r>
            <a:r>
              <a:rPr lang="zh-CN" altLang="en-US" sz="3200" b="1" dirty="0">
                <a:solidFill>
                  <a:schemeClr val="tx2"/>
                </a:solidFill>
                <a:latin typeface="楷体_GB2312" pitchFamily="49" charset="-122"/>
                <a:ea typeface="楷体_GB2312" pitchFamily="49" charset="-122"/>
              </a:rPr>
              <a:t>来计算，</a:t>
            </a:r>
            <a:endParaRPr lang="en-US" altLang="zh-CN" sz="3200" b="1" dirty="0">
              <a:solidFill>
                <a:schemeClr val="tx2"/>
              </a:solidFill>
              <a:latin typeface="楷体_GB2312" pitchFamily="49" charset="-122"/>
              <a:ea typeface="楷体_GB2312" pitchFamily="49" charset="-122"/>
            </a:endParaRPr>
          </a:p>
          <a:p>
            <a:pPr>
              <a:defRPr/>
            </a:pPr>
            <a:r>
              <a:rPr lang="en-US" altLang="zh-CN" sz="3200" b="1" dirty="0">
                <a:solidFill>
                  <a:schemeClr val="tx2"/>
                </a:solidFill>
                <a:latin typeface="楷体_GB2312" pitchFamily="49" charset="-122"/>
                <a:ea typeface="楷体_GB2312" pitchFamily="49" charset="-122"/>
              </a:rPr>
              <a:t>   </a:t>
            </a:r>
            <a:r>
              <a:rPr lang="en-US" altLang="zh-CN" sz="3200" b="1" dirty="0" err="1">
                <a:solidFill>
                  <a:schemeClr val="tx2"/>
                </a:solidFill>
                <a:latin typeface="楷体_GB2312" pitchFamily="49" charset="-122"/>
                <a:ea typeface="楷体_GB2312" pitchFamily="49" charset="-122"/>
              </a:rPr>
              <a:t>Sn</a:t>
            </a:r>
            <a:r>
              <a:rPr lang="en-US" altLang="zh-CN" sz="3200" b="1" dirty="0">
                <a:solidFill>
                  <a:schemeClr val="tx2"/>
                </a:solidFill>
                <a:latin typeface="楷体_GB2312" pitchFamily="49" charset="-122"/>
                <a:ea typeface="楷体_GB2312" pitchFamily="49" charset="-122"/>
              </a:rPr>
              <a:t>=</a:t>
            </a:r>
            <a:r>
              <a:rPr lang="en-US" altLang="zh-CN" sz="3200" b="1" dirty="0" err="1">
                <a:solidFill>
                  <a:schemeClr val="tx2"/>
                </a:solidFill>
                <a:latin typeface="楷体_GB2312" pitchFamily="49" charset="-122"/>
                <a:ea typeface="楷体_GB2312" pitchFamily="49" charset="-122"/>
              </a:rPr>
              <a:t>P</a:t>
            </a:r>
            <a:r>
              <a:rPr lang="en-US" altLang="zh-CN" sz="2400" b="1" dirty="0" err="1">
                <a:solidFill>
                  <a:schemeClr val="tx2"/>
                </a:solidFill>
                <a:latin typeface="楷体_GB2312" pitchFamily="49" charset="-122"/>
                <a:ea typeface="楷体_GB2312" pitchFamily="49" charset="-122"/>
              </a:rPr>
              <a:t>n</a:t>
            </a:r>
            <a:r>
              <a:rPr lang="zh-CN" altLang="en-US" b="1" dirty="0">
                <a:solidFill>
                  <a:schemeClr val="tx2"/>
                </a:solidFill>
                <a:latin typeface="楷体_GB2312" pitchFamily="49" charset="-122"/>
                <a:ea typeface="楷体_GB2312" pitchFamily="49" charset="-122"/>
              </a:rPr>
              <a:t>现在</a:t>
            </a:r>
            <a:r>
              <a:rPr lang="en-US" altLang="zh-CN" sz="4000" b="1" dirty="0">
                <a:solidFill>
                  <a:schemeClr val="tx2"/>
                </a:solidFill>
                <a:latin typeface="楷体_GB2312" pitchFamily="49" charset="-122"/>
                <a:ea typeface="楷体_GB2312" pitchFamily="49" charset="-122"/>
              </a:rPr>
              <a:t>⊕</a:t>
            </a:r>
            <a:r>
              <a:rPr lang="en-US" altLang="zh-CN" sz="3200" b="1" dirty="0" err="1">
                <a:solidFill>
                  <a:schemeClr val="tx2"/>
                </a:solidFill>
                <a:latin typeface="楷体_GB2312" pitchFamily="49" charset="-122"/>
                <a:ea typeface="楷体_GB2312" pitchFamily="49" charset="-122"/>
              </a:rPr>
              <a:t>P</a:t>
            </a:r>
            <a:r>
              <a:rPr lang="en-US" altLang="zh-CN" sz="2400" b="1" dirty="0" err="1">
                <a:solidFill>
                  <a:schemeClr val="tx2"/>
                </a:solidFill>
                <a:latin typeface="楷体_GB2312" pitchFamily="49" charset="-122"/>
                <a:ea typeface="楷体_GB2312" pitchFamily="49" charset="-122"/>
              </a:rPr>
              <a:t>n</a:t>
            </a:r>
            <a:r>
              <a:rPr lang="zh-CN" altLang="en-US" b="1" dirty="0">
                <a:solidFill>
                  <a:schemeClr val="tx2"/>
                </a:solidFill>
                <a:latin typeface="楷体_GB2312" pitchFamily="49" charset="-122"/>
                <a:ea typeface="楷体_GB2312" pitchFamily="49" charset="-122"/>
              </a:rPr>
              <a:t>原来</a:t>
            </a:r>
            <a:endParaRPr lang="en-US" altLang="zh-CN" b="1" dirty="0">
              <a:solidFill>
                <a:schemeClr val="tx2"/>
              </a:solidFill>
              <a:latin typeface="楷体_GB2312" pitchFamily="49" charset="-122"/>
              <a:ea typeface="楷体_GB2312" pitchFamily="49" charset="-122"/>
            </a:endParaRPr>
          </a:p>
          <a:p>
            <a:pPr>
              <a:defRPr/>
            </a:pPr>
            <a:r>
              <a:rPr lang="zh-CN" altLang="en-US" sz="3200" b="1" dirty="0">
                <a:solidFill>
                  <a:schemeClr val="tx2"/>
                </a:solidFill>
                <a:latin typeface="楷体_GB2312" pitchFamily="49" charset="-122"/>
                <a:ea typeface="楷体_GB2312" pitchFamily="49" charset="-122"/>
              </a:rPr>
              <a:t>解释：</a:t>
            </a:r>
            <a:r>
              <a:rPr lang="en-US" altLang="zh-CN" sz="3200" b="1" dirty="0" err="1">
                <a:solidFill>
                  <a:schemeClr val="tx2"/>
                </a:solidFill>
                <a:latin typeface="楷体_GB2312" pitchFamily="49" charset="-122"/>
                <a:ea typeface="楷体_GB2312" pitchFamily="49" charset="-122"/>
              </a:rPr>
              <a:t>P</a:t>
            </a:r>
            <a:r>
              <a:rPr lang="en-US" altLang="zh-CN" sz="2400" b="1" dirty="0" err="1">
                <a:solidFill>
                  <a:schemeClr val="tx2"/>
                </a:solidFill>
                <a:latin typeface="楷体_GB2312" pitchFamily="49" charset="-122"/>
                <a:ea typeface="楷体_GB2312" pitchFamily="49" charset="-122"/>
              </a:rPr>
              <a:t>n</a:t>
            </a:r>
            <a:r>
              <a:rPr lang="zh-CN" altLang="en-US" b="1" dirty="0">
                <a:solidFill>
                  <a:schemeClr val="tx2"/>
                </a:solidFill>
                <a:latin typeface="楷体_GB2312" pitchFamily="49" charset="-122"/>
                <a:ea typeface="楷体_GB2312" pitchFamily="49" charset="-122"/>
              </a:rPr>
              <a:t>现在</a:t>
            </a:r>
            <a:r>
              <a:rPr lang="zh-CN" altLang="en-US" sz="3200" b="1" dirty="0">
                <a:solidFill>
                  <a:schemeClr val="tx2"/>
                </a:solidFill>
                <a:latin typeface="楷体_GB2312" pitchFamily="49" charset="-122"/>
                <a:ea typeface="楷体_GB2312" pitchFamily="49" charset="-122"/>
              </a:rPr>
              <a:t>是传输之后可能出错的校验位的值，</a:t>
            </a:r>
            <a:r>
              <a:rPr lang="en-US" altLang="zh-CN" sz="3200" b="1" dirty="0">
                <a:solidFill>
                  <a:schemeClr val="tx2"/>
                </a:solidFill>
                <a:latin typeface="楷体_GB2312" pitchFamily="49" charset="-122"/>
                <a:ea typeface="楷体_GB2312" pitchFamily="49" charset="-122"/>
              </a:rPr>
              <a:t> </a:t>
            </a:r>
            <a:r>
              <a:rPr lang="en-US" altLang="zh-CN" sz="3200" b="1" dirty="0" err="1">
                <a:solidFill>
                  <a:schemeClr val="tx2"/>
                </a:solidFill>
                <a:latin typeface="楷体_GB2312" pitchFamily="49" charset="-122"/>
                <a:ea typeface="楷体_GB2312" pitchFamily="49" charset="-122"/>
              </a:rPr>
              <a:t>P</a:t>
            </a:r>
            <a:r>
              <a:rPr lang="en-US" altLang="zh-CN" sz="2400" b="1" dirty="0" err="1">
                <a:solidFill>
                  <a:schemeClr val="tx2"/>
                </a:solidFill>
                <a:latin typeface="楷体_GB2312" pitchFamily="49" charset="-122"/>
                <a:ea typeface="楷体_GB2312" pitchFamily="49" charset="-122"/>
              </a:rPr>
              <a:t>n</a:t>
            </a:r>
            <a:r>
              <a:rPr lang="zh-CN" altLang="en-US" sz="1600" b="1" dirty="0">
                <a:solidFill>
                  <a:schemeClr val="tx2"/>
                </a:solidFill>
                <a:latin typeface="楷体_GB2312" pitchFamily="49" charset="-122"/>
                <a:ea typeface="楷体_GB2312" pitchFamily="49" charset="-122"/>
              </a:rPr>
              <a:t>原来</a:t>
            </a:r>
            <a:r>
              <a:rPr lang="zh-CN" altLang="en-US" sz="3200" b="1" dirty="0">
                <a:solidFill>
                  <a:schemeClr val="tx2"/>
                </a:solidFill>
                <a:latin typeface="楷体_GB2312" pitchFamily="49" charset="-122"/>
                <a:ea typeface="楷体_GB2312" pitchFamily="49" charset="-122"/>
              </a:rPr>
              <a:t>是传输之前正确的的校验位的值。例子参见下页：   </a:t>
            </a:r>
            <a:endParaRPr lang="en-US" altLang="zh-CN" sz="32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7583772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0419" name="矩形 2"/>
          <p:cNvSpPr>
            <a:spLocks noChangeArrowheads="1"/>
          </p:cNvSpPr>
          <p:nvPr/>
        </p:nvSpPr>
        <p:spPr bwMode="auto">
          <a:xfrm>
            <a:off x="0" y="1412776"/>
            <a:ext cx="9144000" cy="5016758"/>
          </a:xfrm>
          <a:prstGeom prst="rect">
            <a:avLst/>
          </a:prstGeom>
          <a:noFill/>
          <a:ln w="9525">
            <a:noFill/>
            <a:miter lim="800000"/>
            <a:headEnd/>
            <a:tailEnd/>
          </a:ln>
        </p:spPr>
        <p:txBody>
          <a:bodyPr wrap="square">
            <a:spAutoFit/>
          </a:bodyPr>
          <a:lstStyle/>
          <a:p>
            <a:pPr algn="l">
              <a:defRPr/>
            </a:pP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）海明码校验和纠错</a:t>
            </a:r>
            <a:endParaRPr lang="en-US" altLang="zh-CN" sz="3200" b="1" dirty="0">
              <a:solidFill>
                <a:schemeClr val="tx2"/>
              </a:solidFill>
              <a:latin typeface="楷体_GB2312" pitchFamily="49" charset="-122"/>
              <a:ea typeface="楷体_GB2312" pitchFamily="49" charset="-122"/>
            </a:endParaRPr>
          </a:p>
          <a:p>
            <a:pPr marL="514350" indent="-514350">
              <a:defRPr/>
            </a:pP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zh-CN" altLang="en-US" sz="3200" b="1" baseline="-25000" dirty="0">
                <a:solidFill>
                  <a:schemeClr val="tx2"/>
                </a:solidFill>
                <a:latin typeface="楷体_GB2312" pitchFamily="49" charset="-122"/>
                <a:ea typeface="楷体_GB2312" pitchFamily="49" charset="-122"/>
              </a:rPr>
              <a:t>现在</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p>
          <a:p>
            <a:pPr marL="514350" indent="-514350">
              <a:defRPr/>
            </a:pP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r>
              <a:rPr lang="zh-CN" altLang="en-US" sz="3200" b="1" baseline="-25000" dirty="0">
                <a:solidFill>
                  <a:schemeClr val="tx2"/>
                </a:solidFill>
                <a:latin typeface="楷体_GB2312" pitchFamily="49" charset="-122"/>
                <a:ea typeface="楷体_GB2312" pitchFamily="49" charset="-122"/>
              </a:rPr>
              <a:t>现在</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5</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p>
          <a:p>
            <a:pPr marL="514350" indent="-514350">
              <a:defRPr/>
            </a:pP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r>
              <a:rPr lang="zh-CN" altLang="en-US" sz="3200" b="1" baseline="-25000" dirty="0">
                <a:solidFill>
                  <a:schemeClr val="tx2"/>
                </a:solidFill>
                <a:latin typeface="楷体_GB2312" pitchFamily="49" charset="-122"/>
                <a:ea typeface="楷体_GB2312" pitchFamily="49" charset="-122"/>
              </a:rPr>
              <a:t>现在</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7</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p>
          <a:p>
            <a:pPr marL="514350" indent="-514350">
              <a:defRPr/>
            </a:pP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r>
              <a:rPr lang="zh-CN" altLang="en-US" sz="3200" b="1" baseline="-25000" dirty="0">
                <a:solidFill>
                  <a:schemeClr val="tx2"/>
                </a:solidFill>
                <a:latin typeface="楷体_GB2312" pitchFamily="49" charset="-122"/>
                <a:ea typeface="楷体_GB2312" pitchFamily="49" charset="-122"/>
              </a:rPr>
              <a:t>现在</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5</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7</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p>
          <a:p>
            <a:pPr marL="514350" indent="-514350">
              <a:defRPr/>
            </a:pPr>
            <a:r>
              <a:rPr lang="zh-CN" altLang="en-US" sz="3200" b="1" dirty="0">
                <a:solidFill>
                  <a:schemeClr val="tx2"/>
                </a:solidFill>
                <a:latin typeface="楷体_GB2312" pitchFamily="49" charset="-122"/>
                <a:ea typeface="楷体_GB2312" pitchFamily="49" charset="-122"/>
              </a:rPr>
              <a:t>以</a:t>
            </a:r>
            <a:r>
              <a:rPr lang="en-US" altLang="zh-CN" sz="3200" b="1" dirty="0">
                <a:solidFill>
                  <a:schemeClr val="tx2"/>
                </a:solidFill>
                <a:latin typeface="楷体_GB2312" pitchFamily="49" charset="-122"/>
                <a:ea typeface="楷体_GB2312" pitchFamily="49" charset="-122"/>
              </a:rPr>
              <a:t>S1</a:t>
            </a:r>
            <a:r>
              <a:rPr lang="zh-CN" altLang="en-US" sz="3200" b="1" dirty="0">
                <a:solidFill>
                  <a:schemeClr val="tx2"/>
                </a:solidFill>
                <a:latin typeface="楷体_GB2312" pitchFamily="49" charset="-122"/>
                <a:ea typeface="楷体_GB2312" pitchFamily="49" charset="-122"/>
              </a:rPr>
              <a:t>为例，</a:t>
            </a:r>
            <a:r>
              <a:rPr lang="en-US" altLang="zh-CN" sz="3200" b="1" dirty="0">
                <a:solidFill>
                  <a:schemeClr val="tx2"/>
                </a:solidFill>
                <a:latin typeface="楷体_GB2312" pitchFamily="49" charset="-122"/>
                <a:ea typeface="楷体_GB2312" pitchFamily="49" charset="-122"/>
              </a:rPr>
              <a:t>P</a:t>
            </a:r>
            <a:r>
              <a:rPr lang="en-US" altLang="zh-CN" sz="2400" b="1" dirty="0">
                <a:solidFill>
                  <a:schemeClr val="tx2"/>
                </a:solidFill>
                <a:latin typeface="楷体_GB2312" pitchFamily="49" charset="-122"/>
                <a:ea typeface="楷体_GB2312" pitchFamily="49" charset="-122"/>
              </a:rPr>
              <a:t>1</a:t>
            </a:r>
            <a:r>
              <a:rPr lang="zh-CN" altLang="en-US" b="1" dirty="0">
                <a:solidFill>
                  <a:schemeClr val="tx2"/>
                </a:solidFill>
                <a:latin typeface="楷体_GB2312" pitchFamily="49" charset="-122"/>
                <a:ea typeface="楷体_GB2312" pitchFamily="49" charset="-122"/>
              </a:rPr>
              <a:t>原来</a:t>
            </a:r>
            <a:r>
              <a:rPr lang="en-US" altLang="zh-CN"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p>
          <a:p>
            <a:pPr marL="514350" indent="-514350" algn="l">
              <a:defRPr/>
            </a:pPr>
            <a:r>
              <a:rPr lang="zh-CN" altLang="en-US" sz="3200" b="1" dirty="0">
                <a:solidFill>
                  <a:schemeClr val="tx2"/>
                </a:solidFill>
                <a:latin typeface="楷体_GB2312" pitchFamily="49" charset="-122"/>
                <a:ea typeface="楷体_GB2312" pitchFamily="49" charset="-122"/>
              </a:rPr>
              <a:t>采用偶校验时，</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的值为</a:t>
            </a:r>
            <a:r>
              <a:rPr lang="en-US" altLang="zh-CN" sz="3200" b="1" dirty="0">
                <a:solidFill>
                  <a:schemeClr val="tx2"/>
                </a:solidFill>
                <a:latin typeface="楷体_GB2312" pitchFamily="49" charset="-122"/>
                <a:ea typeface="楷体_GB2312" pitchFamily="49" charset="-122"/>
              </a:rPr>
              <a:t>0000</a:t>
            </a:r>
            <a:r>
              <a:rPr lang="zh-CN" altLang="en-US" sz="3200" b="1" dirty="0">
                <a:solidFill>
                  <a:schemeClr val="tx2"/>
                </a:solidFill>
                <a:latin typeface="楷体_GB2312" pitchFamily="49" charset="-122"/>
                <a:ea typeface="楷体_GB2312" pitchFamily="49" charset="-122"/>
              </a:rPr>
              <a:t>，则传送正确。</a:t>
            </a:r>
            <a:endParaRPr lang="en-US" altLang="zh-CN" sz="3200" b="1" dirty="0">
              <a:solidFill>
                <a:schemeClr val="tx2"/>
              </a:solidFill>
              <a:latin typeface="楷体_GB2312" pitchFamily="49" charset="-122"/>
              <a:ea typeface="楷体_GB2312" pitchFamily="49" charset="-122"/>
            </a:endParaRPr>
          </a:p>
          <a:p>
            <a:pPr marL="514350" indent="-514350" algn="l">
              <a:defRPr/>
            </a:pPr>
            <a:r>
              <a:rPr lang="zh-CN" altLang="en-US" sz="3200" b="1" dirty="0">
                <a:solidFill>
                  <a:schemeClr val="tx2"/>
                </a:solidFill>
                <a:latin typeface="楷体_GB2312" pitchFamily="49" charset="-122"/>
                <a:ea typeface="楷体_GB2312" pitchFamily="49" charset="-122"/>
              </a:rPr>
              <a:t>否则传送错误。</a:t>
            </a:r>
            <a:endParaRPr lang="en-US" altLang="zh-CN" sz="3200" b="1" dirty="0">
              <a:solidFill>
                <a:schemeClr val="tx2"/>
              </a:solidFill>
              <a:latin typeface="楷体_GB2312" pitchFamily="49" charset="-122"/>
              <a:ea typeface="楷体_GB2312" pitchFamily="49" charset="-122"/>
            </a:endParaRPr>
          </a:p>
          <a:p>
            <a:pPr algn="l">
              <a:defRPr/>
            </a:pPr>
            <a:r>
              <a:rPr lang="zh-CN" altLang="en-US" sz="3200" b="1" dirty="0">
                <a:solidFill>
                  <a:schemeClr val="tx2"/>
                </a:solidFill>
                <a:latin typeface="楷体_GB2312" pitchFamily="49" charset="-122"/>
                <a:ea typeface="楷体_GB2312" pitchFamily="49" charset="-122"/>
              </a:rPr>
              <a:t>采用奇校验时，</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S</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的值为</a:t>
            </a:r>
            <a:r>
              <a:rPr lang="en-US" altLang="zh-CN" sz="3200" b="1" dirty="0">
                <a:solidFill>
                  <a:schemeClr val="tx2"/>
                </a:solidFill>
                <a:latin typeface="楷体_GB2312" pitchFamily="49" charset="-122"/>
                <a:ea typeface="楷体_GB2312" pitchFamily="49" charset="-122"/>
              </a:rPr>
              <a:t>1111</a:t>
            </a:r>
            <a:r>
              <a:rPr lang="zh-CN" altLang="en-US" sz="3200" b="1" dirty="0">
                <a:solidFill>
                  <a:schemeClr val="tx2"/>
                </a:solidFill>
                <a:latin typeface="楷体_GB2312" pitchFamily="49" charset="-122"/>
                <a:ea typeface="楷体_GB2312" pitchFamily="49" charset="-122"/>
              </a:rPr>
              <a:t>，则传送正确。否则传送错误。</a:t>
            </a:r>
          </a:p>
        </p:txBody>
      </p:sp>
    </p:spTree>
    <p:extLst>
      <p:ext uri="{BB962C8B-B14F-4D97-AF65-F5344CB8AC3E}">
        <p14:creationId xmlns:p14="http://schemas.microsoft.com/office/powerpoint/2010/main" val="83409879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14691" name="矩形 2"/>
          <p:cNvSpPr>
            <a:spLocks noChangeArrowheads="1"/>
          </p:cNvSpPr>
          <p:nvPr/>
        </p:nvSpPr>
        <p:spPr bwMode="auto">
          <a:xfrm>
            <a:off x="179513" y="1571625"/>
            <a:ext cx="89644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dirty="0">
                <a:solidFill>
                  <a:schemeClr val="tx2"/>
                </a:solidFill>
                <a:latin typeface="楷体_GB2312" pitchFamily="49" charset="-122"/>
                <a:ea typeface="楷体_GB2312" pitchFamily="49" charset="-122"/>
              </a:rPr>
              <a:t>   当传送发生错误时（以偶校验为例），假设</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4</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3</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1</a:t>
            </a:r>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=1100</a:t>
            </a:r>
            <a:r>
              <a:rPr lang="zh-CN" altLang="en-US" sz="3200" dirty="0">
                <a:solidFill>
                  <a:schemeClr val="tx2"/>
                </a:solidFill>
                <a:latin typeface="楷体_GB2312" pitchFamily="49" charset="-122"/>
                <a:ea typeface="楷体_GB2312" pitchFamily="49" charset="-122"/>
              </a:rPr>
              <a:t>，说明是</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同时校验</a:t>
            </a:r>
            <a:r>
              <a:rPr lang="zh-CN" altLang="en-US" sz="3200">
                <a:solidFill>
                  <a:schemeClr val="tx2"/>
                </a:solidFill>
                <a:latin typeface="楷体_GB2312" pitchFamily="49" charset="-122"/>
                <a:ea typeface="楷体_GB2312" pitchFamily="49" charset="-122"/>
              </a:rPr>
              <a:t>的那些数据位</a:t>
            </a:r>
            <a:r>
              <a:rPr lang="zh-CN" altLang="en-US" sz="3200" dirty="0">
                <a:solidFill>
                  <a:schemeClr val="tx2"/>
                </a:solidFill>
                <a:latin typeface="楷体_GB2312" pitchFamily="49" charset="-122"/>
                <a:ea typeface="楷体_GB2312" pitchFamily="49" charset="-122"/>
              </a:rPr>
              <a:t>出错；还说明</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所校验的所有位都没错：</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=D</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6</a:t>
            </a:r>
            <a:r>
              <a:rPr lang="en-US" altLang="zh-CN" sz="3200" dirty="0">
                <a:solidFill>
                  <a:schemeClr val="tx2"/>
                </a:solidFill>
                <a:latin typeface="宋体" pitchFamily="2" charset="-122"/>
                <a:ea typeface="宋体" pitchFamily="2" charset="-122"/>
              </a:rPr>
              <a:t>⊕</a:t>
            </a:r>
            <a:r>
              <a:rPr lang="en-US" altLang="zh-CN" sz="3200" dirty="0">
                <a:solidFill>
                  <a:srgbClr val="FFC000"/>
                </a:solidFill>
                <a:latin typeface="宋体" pitchFamily="2" charset="-122"/>
                <a:ea typeface="宋体" pitchFamily="2" charset="-122"/>
              </a:rPr>
              <a:t>D</a:t>
            </a:r>
            <a:r>
              <a:rPr lang="en-US" altLang="zh-CN" sz="3200" baseline="-25000" dirty="0">
                <a:solidFill>
                  <a:srgbClr val="FFC000"/>
                </a:solidFill>
                <a:latin typeface="楷体_GB2312" pitchFamily="49" charset="-122"/>
                <a:ea typeface="楷体_GB2312" pitchFamily="49" charset="-122"/>
              </a:rPr>
              <a:t>8</a:t>
            </a:r>
            <a:r>
              <a:rPr lang="en-US" altLang="zh-CN" sz="3200" dirty="0">
                <a:solidFill>
                  <a:schemeClr val="tx2"/>
                </a:solidFill>
                <a:latin typeface="宋体" pitchFamily="2" charset="-122"/>
                <a:ea typeface="宋体" pitchFamily="2" charset="-122"/>
              </a:rPr>
              <a:t>⊕</a:t>
            </a:r>
            <a:r>
              <a:rPr lang="en-US" altLang="zh-CN" sz="3200" dirty="0">
                <a:solidFill>
                  <a:srgbClr val="FFC000"/>
                </a:solidFill>
                <a:latin typeface="宋体" pitchFamily="2" charset="-122"/>
                <a:ea typeface="宋体" pitchFamily="2" charset="-122"/>
              </a:rPr>
              <a:t>D</a:t>
            </a:r>
            <a:r>
              <a:rPr lang="en-US" altLang="zh-CN" sz="3200" baseline="-25000" dirty="0">
                <a:solidFill>
                  <a:srgbClr val="FFC000"/>
                </a:solidFill>
                <a:latin typeface="楷体_GB2312" pitchFamily="49" charset="-122"/>
                <a:ea typeface="楷体_GB2312" pitchFamily="49" charset="-122"/>
              </a:rPr>
              <a:t>10</a:t>
            </a:r>
          </a:p>
          <a:p>
            <a:pPr eaLnBrk="1" hangingPunct="1"/>
            <a:r>
              <a:rPr lang="zh-CN" altLang="en-US" sz="3200" dirty="0">
                <a:solidFill>
                  <a:schemeClr val="tx2"/>
                </a:solidFill>
                <a:latin typeface="宋体" pitchFamily="2" charset="-122"/>
                <a:ea typeface="宋体" pitchFamily="2" charset="-122"/>
              </a:rPr>
              <a:t>   </a:t>
            </a:r>
            <a:r>
              <a:rPr lang="en-US" altLang="zh-CN" sz="3200" dirty="0">
                <a:solidFill>
                  <a:schemeClr val="tx2"/>
                </a:solidFill>
                <a:latin typeface="宋体" pitchFamily="2" charset="-122"/>
                <a:ea typeface="宋体" pitchFamily="2"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D</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5</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6</a:t>
            </a:r>
            <a:r>
              <a:rPr lang="en-US" altLang="zh-CN" sz="3200" dirty="0">
                <a:solidFill>
                  <a:schemeClr val="tx2"/>
                </a:solidFill>
                <a:latin typeface="宋体" pitchFamily="2" charset="-122"/>
                <a:ea typeface="宋体" pitchFamily="2" charset="-122"/>
              </a:rPr>
              <a:t>⊕</a:t>
            </a:r>
            <a:r>
              <a:rPr lang="en-US" altLang="zh-CN" sz="3200" dirty="0">
                <a:solidFill>
                  <a:srgbClr val="FFC000"/>
                </a:solidFill>
                <a:latin typeface="宋体" pitchFamily="2" charset="-122"/>
                <a:ea typeface="宋体" pitchFamily="2" charset="-122"/>
              </a:rPr>
              <a:t>D</a:t>
            </a:r>
            <a:r>
              <a:rPr lang="en-US" altLang="zh-CN" sz="3200" baseline="-25000" dirty="0">
                <a:solidFill>
                  <a:srgbClr val="FFC000"/>
                </a:solidFill>
                <a:latin typeface="楷体_GB2312" pitchFamily="49" charset="-122"/>
                <a:ea typeface="楷体_GB2312" pitchFamily="49" charset="-122"/>
              </a:rPr>
              <a:t>9</a:t>
            </a:r>
            <a:r>
              <a:rPr lang="en-US" altLang="zh-CN" sz="3200" dirty="0">
                <a:solidFill>
                  <a:schemeClr val="tx2"/>
                </a:solidFill>
                <a:latin typeface="宋体" pitchFamily="2" charset="-122"/>
                <a:ea typeface="宋体" pitchFamily="2" charset="-122"/>
              </a:rPr>
              <a:t>⊕</a:t>
            </a:r>
            <a:r>
              <a:rPr lang="en-US" altLang="zh-CN" sz="3200" dirty="0">
                <a:solidFill>
                  <a:srgbClr val="FFC000"/>
                </a:solidFill>
                <a:latin typeface="宋体" pitchFamily="2" charset="-122"/>
                <a:ea typeface="宋体" pitchFamily="2" charset="-122"/>
              </a:rPr>
              <a:t>D</a:t>
            </a:r>
            <a:r>
              <a:rPr lang="en-US" altLang="zh-CN" sz="3200" baseline="-25000" dirty="0">
                <a:solidFill>
                  <a:srgbClr val="FFC000"/>
                </a:solidFill>
                <a:latin typeface="楷体_GB2312" pitchFamily="49" charset="-122"/>
                <a:ea typeface="楷体_GB2312" pitchFamily="49" charset="-122"/>
              </a:rPr>
              <a:t>10</a:t>
            </a:r>
          </a:p>
          <a:p>
            <a:pPr eaLnBrk="1" hangingPunct="1"/>
            <a:r>
              <a:rPr lang="zh-CN" altLang="en-US" sz="3200" dirty="0">
                <a:solidFill>
                  <a:schemeClr val="tx2"/>
                </a:solidFill>
                <a:latin typeface="宋体" pitchFamily="2" charset="-122"/>
                <a:ea typeface="宋体" pitchFamily="2" charset="-122"/>
              </a:rPr>
              <a:t>   </a:t>
            </a:r>
            <a:r>
              <a:rPr lang="en-US" altLang="zh-CN" sz="3200" dirty="0">
                <a:solidFill>
                  <a:schemeClr val="tx2"/>
                </a:solidFill>
                <a:latin typeface="宋体" pitchFamily="2" charset="-122"/>
                <a:ea typeface="宋体" pitchFamily="2"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D</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宋体" pitchFamily="2" charset="-122"/>
                <a:ea typeface="宋体" pitchFamily="2" charset="-122"/>
              </a:rPr>
              <a:t>⊕</a:t>
            </a:r>
            <a:r>
              <a:rPr lang="en-US" altLang="zh-CN" sz="3200" dirty="0">
                <a:solidFill>
                  <a:srgbClr val="00B0F0"/>
                </a:solidFill>
                <a:latin typeface="宋体" pitchFamily="2" charset="-122"/>
                <a:ea typeface="宋体" pitchFamily="2" charset="-122"/>
              </a:rPr>
              <a:t>D</a:t>
            </a:r>
            <a:r>
              <a:rPr lang="en-US" altLang="zh-CN" sz="3200" baseline="-25000" dirty="0">
                <a:solidFill>
                  <a:srgbClr val="00B0F0"/>
                </a:solidFill>
                <a:latin typeface="楷体_GB2312" pitchFamily="49" charset="-122"/>
                <a:ea typeface="楷体_GB2312" pitchFamily="49" charset="-122"/>
              </a:rPr>
              <a:t>7</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8</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9</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10</a:t>
            </a:r>
          </a:p>
          <a:p>
            <a:pPr eaLnBrk="1" hangingPunct="1"/>
            <a:r>
              <a:rPr lang="zh-CN" altLang="en-US" sz="3200" dirty="0">
                <a:solidFill>
                  <a:schemeClr val="tx2"/>
                </a:solidFill>
                <a:latin typeface="宋体" pitchFamily="2" charset="-122"/>
                <a:ea typeface="宋体" pitchFamily="2" charset="-122"/>
              </a:rPr>
              <a:t>   </a:t>
            </a:r>
            <a:r>
              <a:rPr lang="en-US" altLang="zh-CN" sz="3200" dirty="0">
                <a:solidFill>
                  <a:schemeClr val="tx2"/>
                </a:solidFill>
                <a:latin typeface="宋体" pitchFamily="2" charset="-122"/>
                <a:ea typeface="宋体" pitchFamily="2" charset="-122"/>
              </a:rPr>
              <a:t>P</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宋体" pitchFamily="2" charset="-122"/>
                <a:ea typeface="宋体" pitchFamily="2" charset="-122"/>
              </a:rPr>
              <a:t>=</a:t>
            </a:r>
            <a:r>
              <a:rPr lang="en-US" altLang="zh-CN" sz="3200" dirty="0">
                <a:solidFill>
                  <a:schemeClr val="tx2"/>
                </a:solidFill>
                <a:latin typeface="楷体_GB2312" pitchFamily="49" charset="-122"/>
                <a:ea typeface="楷体_GB2312" pitchFamily="49" charset="-122"/>
              </a:rPr>
              <a:t>D</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5</a:t>
            </a:r>
            <a:r>
              <a:rPr lang="en-US" altLang="zh-CN" sz="3200" dirty="0">
                <a:solidFill>
                  <a:schemeClr val="tx2"/>
                </a:solidFill>
                <a:latin typeface="宋体" pitchFamily="2" charset="-122"/>
                <a:ea typeface="宋体" pitchFamily="2" charset="-122"/>
              </a:rPr>
              <a:t>⊕D</a:t>
            </a:r>
            <a:r>
              <a:rPr lang="en-US" altLang="zh-CN" sz="3200" baseline="-25000" dirty="0">
                <a:solidFill>
                  <a:schemeClr val="tx2"/>
                </a:solidFill>
                <a:latin typeface="楷体_GB2312" pitchFamily="49" charset="-122"/>
                <a:ea typeface="楷体_GB2312" pitchFamily="49" charset="-122"/>
              </a:rPr>
              <a:t>6</a:t>
            </a:r>
            <a:r>
              <a:rPr lang="en-US" altLang="zh-CN" sz="3200" dirty="0">
                <a:solidFill>
                  <a:schemeClr val="tx2"/>
                </a:solidFill>
                <a:latin typeface="宋体" pitchFamily="2" charset="-122"/>
                <a:ea typeface="宋体" pitchFamily="2" charset="-122"/>
              </a:rPr>
              <a:t>⊕</a:t>
            </a:r>
            <a:r>
              <a:rPr lang="en-US" altLang="zh-CN" sz="3200" dirty="0">
                <a:solidFill>
                  <a:srgbClr val="00B0F0"/>
                </a:solidFill>
                <a:latin typeface="宋体" pitchFamily="2" charset="-122"/>
                <a:ea typeface="宋体" pitchFamily="2" charset="-122"/>
              </a:rPr>
              <a:t>D</a:t>
            </a:r>
            <a:r>
              <a:rPr lang="en-US" altLang="zh-CN" sz="3200" baseline="-25000" dirty="0">
                <a:solidFill>
                  <a:srgbClr val="00B0F0"/>
                </a:solidFill>
                <a:latin typeface="楷体_GB2312" pitchFamily="49" charset="-122"/>
                <a:ea typeface="楷体_GB2312" pitchFamily="49" charset="-122"/>
              </a:rPr>
              <a:t>7</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8</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9</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10</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同时校验的位数为</a:t>
            </a:r>
            <a:r>
              <a:rPr lang="en-US" altLang="zh-CN" sz="3200" dirty="0">
                <a:solidFill>
                  <a:srgbClr val="00B0F0"/>
                </a:solidFill>
                <a:latin typeface="宋体" pitchFamily="2" charset="-122"/>
                <a:ea typeface="宋体" pitchFamily="2" charset="-122"/>
              </a:rPr>
              <a:t>D</a:t>
            </a:r>
            <a:r>
              <a:rPr lang="en-US" altLang="zh-CN" sz="3200" baseline="-25000" dirty="0">
                <a:solidFill>
                  <a:srgbClr val="00B0F0"/>
                </a:solidFill>
                <a:latin typeface="楷体_GB2312" pitchFamily="49" charset="-122"/>
                <a:ea typeface="楷体_GB2312" pitchFamily="49" charset="-122"/>
              </a:rPr>
              <a:t>7</a:t>
            </a:r>
            <a:r>
              <a:rPr lang="en-US" altLang="zh-CN" sz="3200" dirty="0">
                <a:solidFill>
                  <a:schemeClr val="tx2"/>
                </a:solidFill>
                <a:latin typeface="楷体_GB2312" pitchFamily="49" charset="-122"/>
                <a:ea typeface="楷体_GB2312" pitchFamily="49" charset="-122"/>
              </a:rPr>
              <a:t> ,</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8</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9</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10</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说明他们都有可能出错，而</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8</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9</a:t>
            </a:r>
            <a:r>
              <a:rPr lang="en-US" altLang="zh-CN" sz="3200" dirty="0">
                <a:solidFill>
                  <a:schemeClr val="tx2"/>
                </a:solidFill>
                <a:latin typeface="宋体" pitchFamily="2" charset="-122"/>
                <a:ea typeface="宋体" pitchFamily="2" charset="-122"/>
              </a:rPr>
              <a:t>,</a:t>
            </a:r>
            <a:r>
              <a:rPr lang="en-US" altLang="zh-CN" sz="3200" dirty="0">
                <a:solidFill>
                  <a:srgbClr val="FF0000"/>
                </a:solidFill>
                <a:latin typeface="宋体" pitchFamily="2" charset="-122"/>
                <a:ea typeface="宋体" pitchFamily="2" charset="-122"/>
              </a:rPr>
              <a:t>D</a:t>
            </a:r>
            <a:r>
              <a:rPr lang="en-US" altLang="zh-CN" sz="3200" baseline="-25000" dirty="0">
                <a:solidFill>
                  <a:srgbClr val="FF0000"/>
                </a:solidFill>
                <a:latin typeface="楷体_GB2312" pitchFamily="49" charset="-122"/>
                <a:ea typeface="楷体_GB2312" pitchFamily="49" charset="-122"/>
              </a:rPr>
              <a:t>10</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出现在 </a:t>
            </a:r>
            <a:r>
              <a:rPr lang="en-US" altLang="zh-CN" sz="3200" dirty="0">
                <a:solidFill>
                  <a:schemeClr val="tx2"/>
                </a:solidFill>
                <a:latin typeface="楷体_GB2312" pitchFamily="49" charset="-122"/>
                <a:ea typeface="楷体_GB2312" pitchFamily="49" charset="-122"/>
              </a:rPr>
              <a:t>P1 P2</a:t>
            </a:r>
            <a:r>
              <a:rPr lang="zh-CN" altLang="en-US" sz="3200" dirty="0">
                <a:solidFill>
                  <a:schemeClr val="tx2"/>
                </a:solidFill>
                <a:latin typeface="楷体_GB2312" pitchFamily="49" charset="-122"/>
                <a:ea typeface="楷体_GB2312" pitchFamily="49" charset="-122"/>
              </a:rPr>
              <a:t>的校验位中，说明没有出错。所以出错为</a:t>
            </a:r>
            <a:r>
              <a:rPr lang="en-US" altLang="zh-CN" sz="3200" dirty="0">
                <a:solidFill>
                  <a:srgbClr val="00B0F0"/>
                </a:solidFill>
                <a:latin typeface="宋体" pitchFamily="2" charset="-122"/>
                <a:ea typeface="宋体" pitchFamily="2" charset="-122"/>
              </a:rPr>
              <a:t>D</a:t>
            </a:r>
            <a:r>
              <a:rPr lang="en-US" altLang="zh-CN" sz="3200" baseline="-25000" dirty="0">
                <a:solidFill>
                  <a:srgbClr val="00B0F0"/>
                </a:solidFill>
                <a:latin typeface="楷体_GB2312" pitchFamily="49" charset="-122"/>
                <a:ea typeface="楷体_GB2312" pitchFamily="49" charset="-122"/>
              </a:rPr>
              <a:t>7</a:t>
            </a:r>
            <a:r>
              <a:rPr lang="zh-CN" altLang="en-US" sz="3200" dirty="0">
                <a:solidFill>
                  <a:schemeClr val="tx2"/>
                </a:solidFill>
                <a:latin typeface="楷体_GB2312" pitchFamily="49" charset="-122"/>
                <a:ea typeface="楷体_GB2312" pitchFamily="49" charset="-122"/>
              </a:rPr>
              <a:t>位</a:t>
            </a:r>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5332744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14691" name="矩形 2"/>
          <p:cNvSpPr>
            <a:spLocks noChangeArrowheads="1"/>
          </p:cNvSpPr>
          <p:nvPr/>
        </p:nvSpPr>
        <p:spPr bwMode="auto">
          <a:xfrm>
            <a:off x="428625" y="1571625"/>
            <a:ext cx="842962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zh-CN" altLang="en-US" sz="3200" u="sng" dirty="0">
                <a:solidFill>
                  <a:srgbClr val="FF0000"/>
                </a:solidFill>
                <a:latin typeface="楷体_GB2312" pitchFamily="49" charset="-122"/>
                <a:ea typeface="楷体_GB2312" pitchFamily="49" charset="-122"/>
              </a:rPr>
              <a:t>关键推论</a:t>
            </a:r>
            <a:endParaRPr lang="en-US" altLang="zh-CN" sz="3200" u="sng" dirty="0">
              <a:solidFill>
                <a:srgbClr val="FF0000"/>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事实上以</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4</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3</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1</a:t>
            </a:r>
            <a:r>
              <a:rPr lang="en-US" altLang="zh-CN" sz="3200" baseline="-250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顺序列出校验计算结果所得到的二进制数即表示是哪一位出错，如上</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4</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3</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S</a:t>
            </a:r>
            <a:r>
              <a:rPr lang="en-US" altLang="zh-CN" sz="3200" baseline="-25000" dirty="0">
                <a:solidFill>
                  <a:srgbClr val="FF0000"/>
                </a:solidFill>
                <a:latin typeface="楷体_GB2312" pitchFamily="49" charset="-122"/>
                <a:ea typeface="楷体_GB2312" pitchFamily="49" charset="-122"/>
              </a:rPr>
              <a:t>1</a:t>
            </a:r>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=1100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1100</a:t>
            </a:r>
            <a:r>
              <a:rPr lang="zh-CN" altLang="en-US" sz="3200" dirty="0">
                <a:solidFill>
                  <a:schemeClr val="tx2"/>
                </a:solidFill>
                <a:latin typeface="楷体_GB2312" pitchFamily="49" charset="-122"/>
                <a:ea typeface="楷体_GB2312" pitchFamily="49" charset="-122"/>
              </a:rPr>
              <a:t>表示十进制数</a:t>
            </a:r>
            <a:r>
              <a:rPr lang="en-US" altLang="zh-CN" sz="3200" dirty="0">
                <a:solidFill>
                  <a:schemeClr val="tx2"/>
                </a:solidFill>
                <a:latin typeface="楷体_GB2312" pitchFamily="49" charset="-122"/>
                <a:ea typeface="楷体_GB2312" pitchFamily="49" charset="-122"/>
              </a:rPr>
              <a:t>12</a:t>
            </a:r>
            <a:r>
              <a:rPr lang="zh-CN" altLang="en-US" sz="3200" dirty="0">
                <a:solidFill>
                  <a:schemeClr val="tx2"/>
                </a:solidFill>
                <a:latin typeface="楷体_GB2312" pitchFamily="49" charset="-122"/>
                <a:ea typeface="楷体_GB2312" pitchFamily="49" charset="-122"/>
              </a:rPr>
              <a:t>，而汉明校验码</a:t>
            </a:r>
            <a:r>
              <a:rPr lang="en-US" altLang="zh-CN" sz="3200" dirty="0">
                <a:solidFill>
                  <a:schemeClr val="tx2"/>
                </a:solidFill>
                <a:latin typeface="楷体_GB2312" pitchFamily="49" charset="-122"/>
                <a:ea typeface="楷体_GB2312" pitchFamily="49" charset="-122"/>
              </a:rPr>
              <a:t>H12</a:t>
            </a:r>
            <a:r>
              <a:rPr lang="zh-CN" altLang="en-US" sz="3200" dirty="0">
                <a:solidFill>
                  <a:schemeClr val="tx2"/>
                </a:solidFill>
                <a:latin typeface="楷体_GB2312" pitchFamily="49" charset="-122"/>
                <a:ea typeface="楷体_GB2312" pitchFamily="49" charset="-122"/>
              </a:rPr>
              <a:t>即是</a:t>
            </a:r>
            <a:r>
              <a:rPr lang="en-US" altLang="zh-CN" sz="3200" dirty="0">
                <a:solidFill>
                  <a:schemeClr val="tx2"/>
                </a:solidFill>
                <a:latin typeface="楷体_GB2312" pitchFamily="49" charset="-122"/>
                <a:ea typeface="楷体_GB2312" pitchFamily="49" charset="-122"/>
              </a:rPr>
              <a:t>D7</a:t>
            </a:r>
            <a:r>
              <a:rPr lang="zh-CN" altLang="en-US" sz="3200" dirty="0">
                <a:solidFill>
                  <a:schemeClr val="tx2"/>
                </a:solidFill>
                <a:latin typeface="楷体_GB2312" pitchFamily="49" charset="-122"/>
                <a:ea typeface="楷体_GB2312" pitchFamily="49" charset="-122"/>
              </a:rPr>
              <a:t>，即</a:t>
            </a:r>
            <a:r>
              <a:rPr lang="en-US" altLang="zh-CN" sz="3200" dirty="0">
                <a:solidFill>
                  <a:schemeClr val="tx2"/>
                </a:solidFill>
                <a:latin typeface="楷体_GB2312" pitchFamily="49" charset="-122"/>
                <a:ea typeface="楷体_GB2312" pitchFamily="49" charset="-122"/>
              </a:rPr>
              <a:t>D7</a:t>
            </a:r>
            <a:r>
              <a:rPr lang="zh-CN" altLang="en-US" sz="3200" dirty="0">
                <a:solidFill>
                  <a:schemeClr val="tx2"/>
                </a:solidFill>
                <a:latin typeface="楷体_GB2312" pitchFamily="49" charset="-122"/>
                <a:ea typeface="楷体_GB2312" pitchFamily="49" charset="-122"/>
              </a:rPr>
              <a:t>位出错。</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只要将该位取反就可纠错。</a:t>
            </a:r>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p:sp>
        <p:nvSpPr>
          <p:cNvPr id="4" name="TextBox 3"/>
          <p:cNvSpPr txBox="1">
            <a:spLocks noChangeArrowheads="1"/>
          </p:cNvSpPr>
          <p:nvPr/>
        </p:nvSpPr>
        <p:spPr bwMode="auto">
          <a:xfrm>
            <a:off x="428625" y="4739282"/>
            <a:ext cx="82867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rgbClr val="0070C0"/>
                </a:solidFill>
                <a:latin typeface="楷体_GB2312" pitchFamily="49" charset="-122"/>
                <a:ea typeface="楷体_GB2312" pitchFamily="49" charset="-122"/>
              </a:rPr>
              <a:t>例：请写出被校验数据</a:t>
            </a:r>
            <a:r>
              <a:rPr lang="en-US" altLang="zh-CN" sz="3200" dirty="0">
                <a:solidFill>
                  <a:srgbClr val="0070C0"/>
                </a:solidFill>
                <a:latin typeface="楷体_GB2312" pitchFamily="49" charset="-122"/>
                <a:ea typeface="楷体_GB2312" pitchFamily="49" charset="-122"/>
              </a:rPr>
              <a:t>10110100110</a:t>
            </a:r>
            <a:r>
              <a:rPr lang="zh-CN" altLang="en-US" sz="3200" dirty="0">
                <a:solidFill>
                  <a:srgbClr val="0070C0"/>
                </a:solidFill>
                <a:latin typeface="楷体_GB2312" pitchFamily="49" charset="-122"/>
                <a:ea typeface="楷体_GB2312" pitchFamily="49" charset="-122"/>
              </a:rPr>
              <a:t>的海明码，采用</a:t>
            </a:r>
            <a:r>
              <a:rPr lang="en-US" altLang="zh-CN" sz="3200" dirty="0">
                <a:solidFill>
                  <a:srgbClr val="0070C0"/>
                </a:solidFill>
                <a:latin typeface="楷体_GB2312" pitchFamily="49" charset="-122"/>
                <a:ea typeface="楷体_GB2312" pitchFamily="49" charset="-122"/>
              </a:rPr>
              <a:t>4</a:t>
            </a:r>
            <a:r>
              <a:rPr lang="zh-CN" altLang="en-US" sz="3200" dirty="0">
                <a:solidFill>
                  <a:srgbClr val="0070C0"/>
                </a:solidFill>
                <a:latin typeface="楷体_GB2312" pitchFamily="49" charset="-122"/>
                <a:ea typeface="楷体_GB2312" pitchFamily="49" charset="-122"/>
              </a:rPr>
              <a:t>位校验位和偶校验。</a:t>
            </a:r>
            <a:endParaRPr lang="en-US" altLang="zh-CN" sz="3200" dirty="0">
              <a:solidFill>
                <a:srgbClr val="0070C0"/>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772101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1785005"/>
            <a:ext cx="9036496" cy="4524315"/>
          </a:xfrm>
          <a:prstGeom prst="rect">
            <a:avLst/>
          </a:prstGeom>
        </p:spPr>
        <p:txBody>
          <a:bodyPr wrap="square">
            <a:spAutoFit/>
          </a:bodyPr>
          <a:lstStyle/>
          <a:p>
            <a:pPr algn="l">
              <a:defRPr/>
            </a:pPr>
            <a:r>
              <a:rPr lang="zh-CN" altLang="en-US" sz="3200" b="1" dirty="0">
                <a:solidFill>
                  <a:schemeClr val="tx2"/>
                </a:solidFill>
                <a:latin typeface="楷体_GB2312" pitchFamily="49" charset="-122"/>
                <a:ea typeface="楷体_GB2312" pitchFamily="49" charset="-122"/>
              </a:rPr>
              <a:t>已知：</a:t>
            </a:r>
            <a:r>
              <a:rPr lang="en-US" altLang="zh-CN" sz="3200" b="1" dirty="0">
                <a:solidFill>
                  <a:schemeClr val="tx2"/>
                </a:solidFill>
                <a:latin typeface="楷体_GB2312" pitchFamily="49" charset="-122"/>
                <a:ea typeface="楷体_GB2312" pitchFamily="49" charset="-122"/>
              </a:rPr>
              <a:t> D</a:t>
            </a:r>
            <a:r>
              <a:rPr lang="en-US" altLang="zh-CN" sz="3200" b="1" baseline="-25000" dirty="0">
                <a:solidFill>
                  <a:schemeClr val="tx2"/>
                </a:solidFill>
                <a:latin typeface="楷体_GB2312" pitchFamily="49" charset="-122"/>
                <a:ea typeface="楷体_GB2312" pitchFamily="49" charset="-122"/>
              </a:rPr>
              <a:t>10</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7</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5</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 10110100110</a:t>
            </a:r>
          </a:p>
          <a:p>
            <a:pPr>
              <a:defRPr/>
            </a:pPr>
            <a:r>
              <a:rPr lang="zh-CN" altLang="en-US" sz="3200" b="1" dirty="0">
                <a:solidFill>
                  <a:schemeClr val="tx2"/>
                </a:solidFill>
                <a:latin typeface="楷体_GB2312" pitchFamily="49" charset="-122"/>
                <a:ea typeface="楷体_GB2312" pitchFamily="49" charset="-122"/>
              </a:rPr>
              <a:t>数据位有十位，</a:t>
            </a:r>
            <a:r>
              <a:rPr lang="en-US" altLang="zh-CN" sz="3200" b="1" dirty="0">
                <a:solidFill>
                  <a:schemeClr val="tx2"/>
                </a:solidFill>
                <a:latin typeface="楷体_GB2312" pitchFamily="49" charset="-122"/>
                <a:ea typeface="楷体_GB2312" pitchFamily="49" charset="-122"/>
              </a:rPr>
              <a:t>k=10,</a:t>
            </a:r>
            <a:r>
              <a:rPr lang="zh-CN" altLang="en-US" sz="3200" b="1" dirty="0">
                <a:solidFill>
                  <a:schemeClr val="tx2"/>
                </a:solidFill>
                <a:latin typeface="楷体_GB2312" pitchFamily="49" charset="-122"/>
                <a:ea typeface="楷体_GB2312" pitchFamily="49" charset="-122"/>
              </a:rPr>
              <a:t>由</a:t>
            </a:r>
            <a:r>
              <a:rPr lang="en-US" altLang="zh-CN" sz="3200" b="1" dirty="0">
                <a:solidFill>
                  <a:schemeClr val="tx2"/>
                </a:solidFill>
                <a:latin typeface="楷体_GB2312" pitchFamily="49" charset="-122"/>
                <a:ea typeface="楷体_GB2312" pitchFamily="49" charset="-122"/>
              </a:rPr>
              <a:t> 2r-1≥k+r</a:t>
            </a:r>
            <a:r>
              <a:rPr lang="zh-CN" altLang="en-US" sz="3200" b="1" dirty="0">
                <a:solidFill>
                  <a:schemeClr val="tx2"/>
                </a:solidFill>
                <a:latin typeface="楷体_GB2312" pitchFamily="49" charset="-122"/>
                <a:ea typeface="楷体_GB2312" pitchFamily="49" charset="-122"/>
              </a:rPr>
              <a:t>得到校验位最小个数为</a:t>
            </a:r>
            <a:r>
              <a:rPr lang="en-US" altLang="zh-CN" sz="3200" b="1" dirty="0">
                <a:solidFill>
                  <a:schemeClr val="tx2"/>
                </a:solidFill>
                <a:latin typeface="楷体_GB2312" pitchFamily="49" charset="-122"/>
                <a:ea typeface="楷体_GB2312" pitchFamily="49" charset="-122"/>
              </a:rPr>
              <a:t>r=4</a:t>
            </a:r>
          </a:p>
          <a:p>
            <a:pPr>
              <a:defRPr/>
            </a:pPr>
            <a:r>
              <a:rPr lang="zh-CN" altLang="en-US" sz="3200" b="1" dirty="0">
                <a:solidFill>
                  <a:schemeClr val="tx2"/>
                </a:solidFill>
                <a:latin typeface="楷体_GB2312" pitchFamily="49" charset="-122"/>
                <a:ea typeface="楷体_GB2312" pitchFamily="49" charset="-122"/>
              </a:rPr>
              <a:t>其中</a:t>
            </a:r>
            <a:r>
              <a:rPr lang="en-US" altLang="zh-CN" sz="3200" b="1" dirty="0">
                <a:solidFill>
                  <a:schemeClr val="tx2"/>
                </a:solidFill>
                <a:latin typeface="楷体_GB2312" pitchFamily="49" charset="-122"/>
                <a:ea typeface="楷体_GB2312" pitchFamily="49" charset="-122"/>
              </a:rPr>
              <a:t>r</a:t>
            </a:r>
            <a:r>
              <a:rPr lang="zh-CN" altLang="en-US" sz="3200" b="1" dirty="0">
                <a:solidFill>
                  <a:schemeClr val="tx2"/>
                </a:solidFill>
                <a:latin typeface="楷体_GB2312" pitchFamily="49" charset="-122"/>
                <a:ea typeface="楷体_GB2312" pitchFamily="49" charset="-122"/>
              </a:rPr>
              <a:t>为校验位个数，</a:t>
            </a:r>
            <a:r>
              <a:rPr lang="en-US" altLang="zh-CN" sz="3200" b="1" dirty="0">
                <a:solidFill>
                  <a:schemeClr val="tx2"/>
                </a:solidFill>
                <a:latin typeface="楷体_GB2312" pitchFamily="49" charset="-122"/>
                <a:ea typeface="楷体_GB2312" pitchFamily="49" charset="-122"/>
              </a:rPr>
              <a:t>k</a:t>
            </a:r>
            <a:r>
              <a:rPr lang="zh-CN" altLang="en-US" sz="3200" b="1" dirty="0">
                <a:solidFill>
                  <a:schemeClr val="tx2"/>
                </a:solidFill>
                <a:latin typeface="楷体_GB2312" pitchFamily="49" charset="-122"/>
                <a:ea typeface="楷体_GB2312" pitchFamily="49" charset="-122"/>
              </a:rPr>
              <a:t>为数据位数。下面计算</a:t>
            </a:r>
            <a:r>
              <a:rPr lang="en-US" altLang="zh-CN" sz="3200" b="1" dirty="0">
                <a:solidFill>
                  <a:schemeClr val="tx2"/>
                </a:solidFill>
                <a:latin typeface="楷体_GB2312" pitchFamily="49" charset="-122"/>
                <a:ea typeface="楷体_GB2312" pitchFamily="49" charset="-122"/>
              </a:rPr>
              <a:t>4</a:t>
            </a:r>
            <a:r>
              <a:rPr lang="zh-CN" altLang="en-US" sz="3200" b="1" dirty="0">
                <a:solidFill>
                  <a:schemeClr val="tx2"/>
                </a:solidFill>
                <a:latin typeface="楷体_GB2312" pitchFamily="49" charset="-122"/>
                <a:ea typeface="楷体_GB2312" pitchFamily="49" charset="-122"/>
              </a:rPr>
              <a:t>位校验位的位数：由校验位</a:t>
            </a:r>
            <a:r>
              <a:rPr lang="en-US" altLang="zh-CN" sz="3200" b="1" dirty="0">
                <a:solidFill>
                  <a:schemeClr val="tx2"/>
                </a:solidFill>
                <a:latin typeface="楷体_GB2312" pitchFamily="49" charset="-122"/>
                <a:ea typeface="楷体_GB2312" pitchFamily="49" charset="-122"/>
              </a:rPr>
              <a:t>pi</a:t>
            </a:r>
            <a:r>
              <a:rPr lang="zh-CN" altLang="en-US" sz="3200" b="1" dirty="0">
                <a:solidFill>
                  <a:schemeClr val="tx2"/>
                </a:solidFill>
                <a:latin typeface="楷体_GB2312" pitchFamily="49" charset="-122"/>
                <a:ea typeface="楷体_GB2312" pitchFamily="49" charset="-122"/>
              </a:rPr>
              <a:t>的位数等于</a:t>
            </a:r>
            <a:r>
              <a:rPr lang="en-US" altLang="zh-CN" sz="3200" b="1" dirty="0">
                <a:solidFill>
                  <a:schemeClr val="tx2"/>
                </a:solidFill>
                <a:latin typeface="楷体_GB2312" pitchFamily="49" charset="-122"/>
                <a:ea typeface="楷体_GB2312" pitchFamily="49" charset="-122"/>
              </a:rPr>
              <a:t>2</a:t>
            </a:r>
            <a:r>
              <a:rPr lang="en-US" altLang="zh-CN" sz="3200" b="1" baseline="30000" dirty="0">
                <a:solidFill>
                  <a:schemeClr val="tx2"/>
                </a:solidFill>
                <a:latin typeface="楷体_GB2312" pitchFamily="49" charset="-122"/>
                <a:ea typeface="楷体_GB2312" pitchFamily="49" charset="-122"/>
              </a:rPr>
              <a:t>i-1</a:t>
            </a:r>
            <a:r>
              <a:rPr lang="zh-CN" altLang="en-US" sz="3200" b="1" dirty="0">
                <a:solidFill>
                  <a:schemeClr val="tx2"/>
                </a:solidFill>
                <a:latin typeface="楷体_GB2312" pitchFamily="49" charset="-122"/>
                <a:ea typeface="楷体_GB2312" pitchFamily="49" charset="-122"/>
              </a:rPr>
              <a:t>计算</a:t>
            </a:r>
            <a:endParaRPr lang="en-US" altLang="zh-CN" sz="3200" b="1" dirty="0">
              <a:solidFill>
                <a:schemeClr val="tx2"/>
              </a:solidFill>
              <a:latin typeface="楷体_GB2312" pitchFamily="49" charset="-122"/>
              <a:ea typeface="楷体_GB2312" pitchFamily="49" charset="-122"/>
            </a:endParaRPr>
          </a:p>
          <a:p>
            <a:pPr>
              <a:defRPr/>
            </a:pPr>
            <a:r>
              <a:rPr lang="en-US" altLang="zh-CN" sz="3200" b="1" dirty="0">
                <a:solidFill>
                  <a:schemeClr val="tx2"/>
                </a:solidFill>
                <a:latin typeface="楷体_GB2312" pitchFamily="49" charset="-122"/>
                <a:ea typeface="楷体_GB2312" pitchFamily="49" charset="-122"/>
              </a:rPr>
              <a:t>P1=2</a:t>
            </a:r>
            <a:r>
              <a:rPr lang="en-US" altLang="zh-CN" sz="3200" b="1" baseline="30000" dirty="0">
                <a:solidFill>
                  <a:schemeClr val="tx2"/>
                </a:solidFill>
                <a:latin typeface="楷体_GB2312" pitchFamily="49" charset="-122"/>
                <a:ea typeface="楷体_GB2312" pitchFamily="49" charset="-122"/>
              </a:rPr>
              <a:t>1-1</a:t>
            </a:r>
            <a:r>
              <a:rPr lang="en-US" altLang="zh-CN" sz="3200" b="1"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P2=2</a:t>
            </a:r>
            <a:r>
              <a:rPr lang="en-US" altLang="zh-CN" sz="3200" b="1" baseline="30000" dirty="0">
                <a:solidFill>
                  <a:schemeClr val="tx2"/>
                </a:solidFill>
                <a:latin typeface="楷体_GB2312" pitchFamily="49" charset="-122"/>
                <a:ea typeface="楷体_GB2312" pitchFamily="49" charset="-122"/>
              </a:rPr>
              <a:t>2-1</a:t>
            </a:r>
            <a:r>
              <a:rPr lang="en-US" altLang="zh-CN" sz="3200" b="1"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P3=2</a:t>
            </a:r>
            <a:r>
              <a:rPr lang="en-US" altLang="zh-CN" sz="3200" b="1" baseline="30000" dirty="0">
                <a:solidFill>
                  <a:schemeClr val="tx2"/>
                </a:solidFill>
                <a:latin typeface="楷体_GB2312" pitchFamily="49" charset="-122"/>
                <a:ea typeface="楷体_GB2312" pitchFamily="49" charset="-122"/>
              </a:rPr>
              <a:t>3-1</a:t>
            </a:r>
            <a:r>
              <a:rPr lang="en-US" altLang="zh-CN" sz="3200" b="1" dirty="0">
                <a:solidFill>
                  <a:schemeClr val="tx2"/>
                </a:solidFill>
                <a:latin typeface="楷体_GB2312" pitchFamily="49" charset="-122"/>
                <a:ea typeface="楷体_GB2312" pitchFamily="49" charset="-122"/>
              </a:rPr>
              <a:t>=4</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P4=2</a:t>
            </a:r>
            <a:r>
              <a:rPr lang="en-US" altLang="zh-CN" sz="3200" b="1" baseline="30000" dirty="0">
                <a:solidFill>
                  <a:schemeClr val="tx2"/>
                </a:solidFill>
                <a:latin typeface="楷体_GB2312" pitchFamily="49" charset="-122"/>
                <a:ea typeface="楷体_GB2312" pitchFamily="49" charset="-122"/>
              </a:rPr>
              <a:t>4-1</a:t>
            </a:r>
            <a:r>
              <a:rPr lang="en-US" altLang="zh-CN" sz="3200" b="1" dirty="0">
                <a:solidFill>
                  <a:schemeClr val="tx2"/>
                </a:solidFill>
                <a:latin typeface="楷体_GB2312" pitchFamily="49" charset="-122"/>
                <a:ea typeface="楷体_GB2312" pitchFamily="49" charset="-122"/>
              </a:rPr>
              <a:t>=8</a:t>
            </a:r>
            <a:r>
              <a:rPr lang="zh-CN" altLang="en-US" sz="3200" b="1" dirty="0">
                <a:solidFill>
                  <a:schemeClr val="tx2"/>
                </a:solidFill>
                <a:latin typeface="楷体_GB2312" pitchFamily="49" charset="-122"/>
                <a:ea typeface="楷体_GB2312" pitchFamily="49" charset="-122"/>
              </a:rPr>
              <a:t>；</a:t>
            </a:r>
            <a:endParaRPr lang="en-US" altLang="zh-CN" sz="3200" b="1" dirty="0">
              <a:solidFill>
                <a:schemeClr val="tx2"/>
              </a:solidFill>
              <a:latin typeface="楷体_GB2312" pitchFamily="49" charset="-122"/>
              <a:ea typeface="楷体_GB2312" pitchFamily="49" charset="-122"/>
            </a:endParaRPr>
          </a:p>
          <a:p>
            <a:pPr>
              <a:defRPr/>
            </a:pPr>
            <a:r>
              <a:rPr lang="zh-CN" altLang="en-US" sz="3200" b="1" dirty="0">
                <a:solidFill>
                  <a:schemeClr val="tx2"/>
                </a:solidFill>
                <a:latin typeface="楷体_GB2312" pitchFamily="49" charset="-122"/>
                <a:ea typeface="楷体_GB2312" pitchFamily="49" charset="-122"/>
              </a:rPr>
              <a:t>这样所得到的海明码共有</a:t>
            </a:r>
            <a:r>
              <a:rPr lang="en-US" altLang="zh-CN" sz="3200" b="1" dirty="0">
                <a:solidFill>
                  <a:schemeClr val="tx2"/>
                </a:solidFill>
                <a:latin typeface="楷体_GB2312" pitchFamily="49" charset="-122"/>
                <a:ea typeface="楷体_GB2312" pitchFamily="49" charset="-122"/>
              </a:rPr>
              <a:t>15</a:t>
            </a:r>
            <a:r>
              <a:rPr lang="zh-CN" altLang="en-US" sz="3200" b="1" dirty="0">
                <a:solidFill>
                  <a:schemeClr val="tx2"/>
                </a:solidFill>
                <a:latin typeface="楷体_GB2312" pitchFamily="49" charset="-122"/>
                <a:ea typeface="楷体_GB2312" pitchFamily="49" charset="-122"/>
              </a:rPr>
              <a:t>位。</a:t>
            </a:r>
            <a:endParaRPr lang="en-US" altLang="zh-CN" sz="3200" b="1" dirty="0">
              <a:solidFill>
                <a:schemeClr val="tx2"/>
              </a:solidFill>
              <a:latin typeface="楷体_GB2312" pitchFamily="49" charset="-122"/>
              <a:ea typeface="楷体_GB2312" pitchFamily="49" charset="-122"/>
            </a:endParaRPr>
          </a:p>
          <a:p>
            <a:pPr>
              <a:defRPr/>
            </a:pPr>
            <a:r>
              <a:rPr lang="zh-CN" altLang="en-US" sz="3200" b="1" dirty="0">
                <a:solidFill>
                  <a:schemeClr val="tx2"/>
                </a:solidFill>
                <a:latin typeface="楷体_GB2312" pitchFamily="49" charset="-122"/>
                <a:ea typeface="楷体_GB2312" pitchFamily="49" charset="-122"/>
              </a:rPr>
              <a:t>汉明码每一位所对应的校验位如下表 ：</a:t>
            </a:r>
            <a:endParaRPr lang="en-US" altLang="zh-CN" sz="3200" b="1" dirty="0">
              <a:solidFill>
                <a:schemeClr val="tx2"/>
              </a:solidFill>
              <a:latin typeface="楷体_GB2312" pitchFamily="49" charset="-122"/>
              <a:ea typeface="楷体_GB2312" pitchFamily="49" charset="-122"/>
            </a:endParaRPr>
          </a:p>
          <a:p>
            <a:pPr algn="l">
              <a:defRPr/>
            </a:pPr>
            <a:endParaRPr lang="en-US" altLang="zh-CN" sz="3200" b="1"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75083283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42875" y="107950"/>
          <a:ext cx="8929688" cy="6605595"/>
        </p:xfrm>
        <a:graphic>
          <a:graphicData uri="http://schemas.openxmlformats.org/drawingml/2006/table">
            <a:tbl>
              <a:tblPr/>
              <a:tblGrid>
                <a:gridCol w="2232025">
                  <a:extLst>
                    <a:ext uri="{9D8B030D-6E8A-4147-A177-3AD203B41FA5}">
                      <a16:colId xmlns:a16="http://schemas.microsoft.com/office/drawing/2014/main" val="20000"/>
                    </a:ext>
                  </a:extLst>
                </a:gridCol>
                <a:gridCol w="2233613">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gridCol w="2232025">
                  <a:extLst>
                    <a:ext uri="{9D8B030D-6E8A-4147-A177-3AD203B41FA5}">
                      <a16:colId xmlns:a16="http://schemas.microsoft.com/office/drawing/2014/main" val="20003"/>
                    </a:ext>
                  </a:extLst>
                </a:gridCol>
              </a:tblGrid>
              <a:tr h="9143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海明码位号</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rPr>
                        <a:t>数</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据位</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校验位</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参与校验的校验位位号</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被校验位的海明码位号</a:t>
                      </a:r>
                      <a:r>
                        <a:rPr kumimoji="0" lang="en-GB"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参与校验位位号之和</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0"/>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en-US"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2"/>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3=1+2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4"/>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5</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endParaRPr kumimoji="0" lang="pt-BR"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5=1+4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5"/>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6</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6=2+4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6"/>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7</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7=1+2+4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7"/>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8"/>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9</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9=1+8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9"/>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10</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0"/>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11</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6</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11=1+2+8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1"/>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12</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7</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r>
                        <a:rPr kumimoji="0" lang="zh-CN" altLang="pt-BR"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12=4+8</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2"/>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13</a:t>
                      </a: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8</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pt-BR" altLang="zh-CN" sz="18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13=1</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+4+8</a:t>
                      </a:r>
                      <a:endPar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3"/>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4</a:t>
                      </a:r>
                      <a:endPar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9</a:t>
                      </a:r>
                      <a:endParaRPr kumimoji="0" lang="zh-CN" altLang="en-US" sz="1800" b="0" i="0" u="none" strike="noStrike" cap="none" normalizeH="0" baseline="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zh-CN" altLang="en-US"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14=2+4+8</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14"/>
                  </a:ext>
                </a:extLst>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r>
                        <a:rPr kumimoji="0" lang="pt-BR"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r>
                        <a:rPr kumimoji="0" lang="en-US" altLang="zh-CN" sz="18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5</a:t>
                      </a:r>
                      <a:endParaRPr kumimoji="0" lang="zh-CN" altLang="en-US" sz="1800" b="0" i="0" u="none" strike="noStrike" cap="none" normalizeH="0" baseline="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r>
                        <a:rPr kumimoji="0" lang="en-US" altLang="zh-CN" sz="18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10</a:t>
                      </a:r>
                      <a:endParaRPr kumimoji="0" lang="zh-CN" altLang="en-US" sz="1800" b="0" i="0" u="none" strike="noStrike" cap="none" normalizeH="0" baseline="0" dirty="0">
                        <a:ln>
                          <a:noFill/>
                        </a:ln>
                        <a:solidFill>
                          <a:srgbClr val="3D3D3D"/>
                        </a:solidFill>
                        <a:effectLst/>
                        <a:latin typeface="Arial" pitchFamily="34" charset="0"/>
                        <a:ea typeface="宋体" pitchFamily="2" charset="-122"/>
                        <a:cs typeface="Times New Roman" pitchFamily="18" charset="0"/>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2</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4</a:t>
                      </a:r>
                      <a:r>
                        <a:rPr kumimoji="0" lang="zh-CN" altLang="en-US" sz="1800" b="1" i="0" u="none" strike="noStrike" cap="none" normalizeH="0" baseline="0">
                          <a:ln>
                            <a:noFill/>
                          </a:ln>
                          <a:solidFill>
                            <a:schemeClr val="tx1"/>
                          </a:solidFill>
                          <a:effectLst/>
                          <a:latin typeface="Times New Roman" pitchFamily="18" charset="0"/>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endParaRPr kumimoji="0" lang="zh-CN" altLang="en-US" sz="18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15=1+2+4+8</a:t>
                      </a: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3195582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1500" y="1785938"/>
            <a:ext cx="8243888" cy="2554545"/>
          </a:xfrm>
          <a:prstGeom prst="rect">
            <a:avLst/>
          </a:prstGeom>
        </p:spPr>
        <p:txBody>
          <a:bodyPr>
            <a:spAutoFit/>
          </a:bodyPr>
          <a:lstStyle/>
          <a:p>
            <a:pPr marL="514350" indent="-514350" algn="l">
              <a:defRPr/>
            </a:pPr>
            <a:r>
              <a:rPr lang="zh-CN" altLang="en-US" sz="3200" b="1" dirty="0">
                <a:solidFill>
                  <a:schemeClr val="tx2"/>
                </a:solidFill>
                <a:latin typeface="楷体_GB2312" pitchFamily="49" charset="-122"/>
                <a:ea typeface="楷体_GB2312" pitchFamily="49" charset="-122"/>
              </a:rPr>
              <a:t>由上表知：</a:t>
            </a:r>
            <a:endParaRPr lang="en-US" altLang="zh-CN" sz="3200" b="1" dirty="0">
              <a:solidFill>
                <a:schemeClr val="tx2"/>
              </a:solidFill>
              <a:latin typeface="楷体_GB2312" pitchFamily="49" charset="-122"/>
              <a:ea typeface="楷体_GB2312" pitchFamily="49" charset="-122"/>
            </a:endParaRPr>
          </a:p>
          <a:p>
            <a:pPr marL="514350" indent="-514350">
              <a:defRPr/>
            </a:pP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校验</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zh-CN" altLang="en-US" sz="3200" b="1" dirty="0">
                <a:solidFill>
                  <a:schemeClr val="tx2"/>
                </a:solidFill>
                <a:latin typeface="楷体_GB2312" pitchFamily="49" charset="-122"/>
                <a:ea typeface="楷体_GB2312" pitchFamily="49" charset="-122"/>
              </a:rPr>
              <a:t>位</a:t>
            </a:r>
            <a:endParaRPr lang="en-US" altLang="zh-CN" sz="3200" b="1" dirty="0">
              <a:solidFill>
                <a:schemeClr val="tx2"/>
              </a:solidFill>
              <a:latin typeface="楷体_GB2312" pitchFamily="49" charset="-122"/>
              <a:ea typeface="楷体_GB2312" pitchFamily="49" charset="-122"/>
            </a:endParaRPr>
          </a:p>
          <a:p>
            <a:pPr marL="514350" indent="-514350">
              <a:defRPr/>
            </a:pP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校验</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5</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zh-CN" altLang="en-US" sz="3200" b="1" dirty="0">
                <a:solidFill>
                  <a:schemeClr val="tx2"/>
                </a:solidFill>
                <a:latin typeface="楷体_GB2312" pitchFamily="49" charset="-122"/>
                <a:ea typeface="楷体_GB2312" pitchFamily="49" charset="-122"/>
              </a:rPr>
              <a:t>位</a:t>
            </a:r>
            <a:endParaRPr lang="en-US" altLang="zh-CN" sz="3200" b="1" dirty="0">
              <a:solidFill>
                <a:schemeClr val="tx2"/>
              </a:solidFill>
              <a:latin typeface="楷体_GB2312" pitchFamily="49" charset="-122"/>
              <a:ea typeface="楷体_GB2312" pitchFamily="49" charset="-122"/>
            </a:endParaRPr>
          </a:p>
          <a:p>
            <a:pPr marL="514350" indent="-514350">
              <a:defRPr/>
            </a:pP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校验</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2</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7</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zh-CN" altLang="en-US" sz="3200" b="1" dirty="0">
                <a:solidFill>
                  <a:schemeClr val="tx2"/>
                </a:solidFill>
                <a:latin typeface="楷体_GB2312" pitchFamily="49" charset="-122"/>
                <a:ea typeface="楷体_GB2312" pitchFamily="49" charset="-122"/>
              </a:rPr>
              <a:t>位</a:t>
            </a:r>
            <a:endParaRPr lang="en-US" altLang="zh-CN" sz="3200" b="1" dirty="0">
              <a:solidFill>
                <a:schemeClr val="tx2"/>
              </a:solidFill>
              <a:latin typeface="楷体_GB2312" pitchFamily="49" charset="-122"/>
              <a:ea typeface="楷体_GB2312" pitchFamily="49" charset="-122"/>
            </a:endParaRPr>
          </a:p>
          <a:p>
            <a:pPr marL="514350" indent="-514350">
              <a:defRPr/>
            </a:pP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r>
              <a:rPr lang="zh-CN" altLang="en-US" sz="3200" b="1" dirty="0">
                <a:solidFill>
                  <a:schemeClr val="tx2"/>
                </a:solidFill>
                <a:latin typeface="楷体_GB2312" pitchFamily="49" charset="-122"/>
                <a:ea typeface="楷体_GB2312" pitchFamily="49" charset="-122"/>
              </a:rPr>
              <a:t>校验</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5</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6</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7</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8</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9</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10</a:t>
            </a:r>
            <a:r>
              <a:rPr lang="zh-CN" altLang="en-US" sz="3200" b="1" dirty="0">
                <a:solidFill>
                  <a:schemeClr val="tx2"/>
                </a:solidFill>
                <a:latin typeface="楷体_GB2312" pitchFamily="49" charset="-122"/>
                <a:ea typeface="楷体_GB2312" pitchFamily="49" charset="-122"/>
              </a:rPr>
              <a:t>位</a:t>
            </a:r>
            <a:endParaRPr lang="en-US" altLang="zh-CN" sz="3200" b="1"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6359518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1500" y="1785938"/>
            <a:ext cx="8243888" cy="3046988"/>
          </a:xfrm>
          <a:prstGeom prst="rect">
            <a:avLst/>
          </a:prstGeom>
        </p:spPr>
        <p:txBody>
          <a:bodyPr>
            <a:spAutoFit/>
          </a:bodyPr>
          <a:lstStyle/>
          <a:p>
            <a:pPr marL="514350" indent="-514350" algn="l">
              <a:defRPr/>
            </a:pPr>
            <a:r>
              <a:rPr lang="zh-CN" altLang="en-US" sz="3200" b="1" dirty="0">
                <a:solidFill>
                  <a:schemeClr val="tx2"/>
                </a:solidFill>
                <a:latin typeface="楷体_GB2312" pitchFamily="49" charset="-122"/>
                <a:ea typeface="楷体_GB2312" pitchFamily="49" charset="-122"/>
              </a:rPr>
              <a:t>计算</a:t>
            </a:r>
            <a:r>
              <a:rPr lang="en-US" altLang="zh-CN" sz="3200" b="1" dirty="0">
                <a:solidFill>
                  <a:schemeClr val="tx2"/>
                </a:solidFill>
                <a:latin typeface="楷体_GB2312" pitchFamily="49" charset="-122"/>
                <a:ea typeface="楷体_GB2312" pitchFamily="49" charset="-122"/>
              </a:rPr>
              <a:t>P1P2P3P4</a:t>
            </a:r>
            <a:r>
              <a:rPr lang="zh-CN" altLang="en-US" sz="3200" b="1" dirty="0">
                <a:solidFill>
                  <a:schemeClr val="tx2"/>
                </a:solidFill>
                <a:latin typeface="楷体_GB2312" pitchFamily="49" charset="-122"/>
                <a:ea typeface="楷体_GB2312" pitchFamily="49" charset="-122"/>
              </a:rPr>
              <a:t>校验位的值：</a:t>
            </a:r>
            <a:endParaRPr lang="en-US" altLang="zh-CN" sz="3200" b="1" dirty="0">
              <a:solidFill>
                <a:schemeClr val="tx2"/>
              </a:solidFill>
              <a:latin typeface="楷体_GB2312" pitchFamily="49" charset="-122"/>
              <a:ea typeface="楷体_GB2312" pitchFamily="49" charset="-122"/>
            </a:endParaRPr>
          </a:p>
          <a:p>
            <a:pPr marL="514350" indent="-514350" algn="l">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楷体_GB2312" pitchFamily="49" charset="-122"/>
                <a:ea typeface="楷体_GB2312" pitchFamily="49" charset="-122"/>
              </a:rPr>
              <a:t>=0⊕1⊕0⊕0⊕0⊕1⊕1=1</a:t>
            </a:r>
            <a:endParaRPr lang="en-US" altLang="zh-CN" sz="3200" b="1" baseline="-25000" dirty="0">
              <a:solidFill>
                <a:schemeClr val="tx2"/>
              </a:solidFill>
              <a:latin typeface="楷体_GB2312" pitchFamily="49" charset="-122"/>
              <a:ea typeface="楷体_GB2312" pitchFamily="49" charset="-122"/>
            </a:endParaRPr>
          </a:p>
          <a:p>
            <a:pPr marL="514350" indent="-514350" algn="l">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楷体_GB2312" pitchFamily="49" charset="-122"/>
                <a:ea typeface="楷体_GB2312" pitchFamily="49" charset="-122"/>
              </a:rPr>
              <a:t>=0⊕1⊕0⊕1⊕0⊕0⊕1=1</a:t>
            </a:r>
            <a:endParaRPr lang="en-US" altLang="zh-CN" sz="3200" b="1" baseline="-25000" dirty="0">
              <a:solidFill>
                <a:schemeClr val="tx2"/>
              </a:solidFill>
              <a:latin typeface="楷体_GB2312" pitchFamily="49" charset="-122"/>
              <a:ea typeface="楷体_GB2312" pitchFamily="49" charset="-122"/>
            </a:endParaRPr>
          </a:p>
          <a:p>
            <a:pPr marL="514350" indent="-514350" algn="l">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楷体_GB2312" pitchFamily="49" charset="-122"/>
                <a:ea typeface="楷体_GB2312" pitchFamily="49" charset="-122"/>
              </a:rPr>
              <a:t>=1⊕1⊕0⊕1⊕1⊕0⊕1=1</a:t>
            </a:r>
            <a:endParaRPr lang="en-US" altLang="zh-CN" sz="3200" b="1" baseline="-25000" dirty="0">
              <a:solidFill>
                <a:schemeClr val="tx2"/>
              </a:solidFill>
              <a:latin typeface="楷体_GB2312" pitchFamily="49" charset="-122"/>
              <a:ea typeface="楷体_GB2312" pitchFamily="49" charset="-122"/>
            </a:endParaRPr>
          </a:p>
          <a:p>
            <a:pPr marL="514350" indent="-514350" algn="l">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楷体_GB2312" pitchFamily="49" charset="-122"/>
                <a:ea typeface="楷体_GB2312" pitchFamily="49" charset="-122"/>
              </a:rPr>
              <a:t>=0⊕1⊕0⊕1⊕1⊕0⊕1=0</a:t>
            </a:r>
          </a:p>
          <a:p>
            <a:pPr marL="514350" indent="-514350" algn="l">
              <a:defRPr/>
            </a:pPr>
            <a:r>
              <a:rPr lang="zh-CN" altLang="en-US" sz="3200" b="1" dirty="0">
                <a:solidFill>
                  <a:schemeClr val="tx2"/>
                </a:solidFill>
                <a:latin typeface="楷体_GB2312" pitchFamily="49" charset="-122"/>
                <a:ea typeface="楷体_GB2312" pitchFamily="49" charset="-122"/>
              </a:rPr>
              <a:t>生成海明码：</a:t>
            </a:r>
            <a:endParaRPr lang="en-US" altLang="zh-CN" sz="3200" b="1" dirty="0">
              <a:solidFill>
                <a:schemeClr val="tx2"/>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15716" name="图片 5"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4786313"/>
            <a:ext cx="7215188"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728811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16739" name="矩形 2"/>
          <p:cNvSpPr>
            <a:spLocks noChangeArrowheads="1"/>
          </p:cNvSpPr>
          <p:nvPr/>
        </p:nvSpPr>
        <p:spPr bwMode="auto">
          <a:xfrm>
            <a:off x="0" y="1714500"/>
            <a:ext cx="899159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如在传送中未产生错误，则：</a:t>
            </a:r>
            <a:r>
              <a:rPr lang="en-US" altLang="zh-CN" sz="3200" dirty="0">
                <a:solidFill>
                  <a:schemeClr val="tx2"/>
                </a:solidFill>
                <a:latin typeface="楷体_GB2312" pitchFamily="49" charset="-122"/>
                <a:ea typeface="楷体_GB2312" pitchFamily="49" charset="-122"/>
              </a:rPr>
              <a:t>S4S3S2S1=0000</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S</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baseline="-25000" dirty="0">
                <a:solidFill>
                  <a:schemeClr val="tx2"/>
                </a:solidFill>
                <a:latin typeface="楷体_GB2312" pitchFamily="49" charset="-122"/>
                <a:ea typeface="楷体_GB2312" pitchFamily="49" charset="-122"/>
              </a:rPr>
              <a:t>原来</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baseline="-25000" dirty="0">
                <a:solidFill>
                  <a:schemeClr val="tx2"/>
                </a:solidFill>
                <a:latin typeface="楷体_GB2312" pitchFamily="49" charset="-122"/>
                <a:ea typeface="楷体_GB2312" pitchFamily="49" charset="-122"/>
              </a:rPr>
              <a:t>现在</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=0⊕1⊕0⊕0⊕0⊕1⊕1⊕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baseline="-25000" dirty="0">
                <a:solidFill>
                  <a:schemeClr val="tx2"/>
                </a:solidFill>
                <a:latin typeface="楷体_GB2312" pitchFamily="49" charset="-122"/>
                <a:ea typeface="楷体_GB2312" pitchFamily="49" charset="-122"/>
              </a:rPr>
              <a:t>原来</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baseline="-25000" dirty="0">
                <a:solidFill>
                  <a:schemeClr val="tx2"/>
                </a:solidFill>
                <a:latin typeface="楷体_GB2312" pitchFamily="49" charset="-122"/>
                <a:ea typeface="楷体_GB2312" pitchFamily="49" charset="-122"/>
              </a:rPr>
              <a:t>现在</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 0⊕1⊕0⊕1⊕0⊕0⊕1⊕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p>
          <a:p>
            <a:pPr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baseline="-25000" dirty="0">
                <a:solidFill>
                  <a:schemeClr val="tx2"/>
                </a:solidFill>
                <a:latin typeface="楷体_GB2312" pitchFamily="49" charset="-122"/>
                <a:ea typeface="楷体_GB2312" pitchFamily="49" charset="-122"/>
              </a:rPr>
              <a:t>原来</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baseline="-25000" dirty="0">
                <a:solidFill>
                  <a:schemeClr val="tx2"/>
                </a:solidFill>
                <a:latin typeface="楷体_GB2312" pitchFamily="49" charset="-122"/>
                <a:ea typeface="楷体_GB2312" pitchFamily="49" charset="-122"/>
              </a:rPr>
              <a:t>现在</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 1⊕1⊕0⊕1⊕1⊕0⊕1⊕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endParaRPr lang="en-US" altLang="zh-CN" sz="3200" baseline="-250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baseline="-25000" dirty="0">
                <a:solidFill>
                  <a:schemeClr val="tx2"/>
                </a:solidFill>
                <a:latin typeface="楷体_GB2312" pitchFamily="49" charset="-122"/>
                <a:ea typeface="楷体_GB2312" pitchFamily="49" charset="-122"/>
              </a:rPr>
              <a:t>原来</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baseline="-25000" dirty="0">
                <a:solidFill>
                  <a:schemeClr val="tx2"/>
                </a:solidFill>
                <a:latin typeface="楷体_GB2312" pitchFamily="49" charset="-122"/>
                <a:ea typeface="楷体_GB2312" pitchFamily="49" charset="-122"/>
              </a:rPr>
              <a:t>现在</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 0⊕1⊕0⊕1⊕1⊕0⊕1⊕</a:t>
            </a:r>
            <a:r>
              <a:rPr lang="en-US" altLang="zh-CN" sz="3200" dirty="0">
                <a:solidFill>
                  <a:srgbClr val="00B0F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p>
        </p:txBody>
      </p:sp>
    </p:spTree>
    <p:extLst>
      <p:ext uri="{BB962C8B-B14F-4D97-AF65-F5344CB8AC3E}">
        <p14:creationId xmlns:p14="http://schemas.microsoft.com/office/powerpoint/2010/main" val="27791053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 name="TextBox 5"/>
          <p:cNvSpPr txBox="1">
            <a:spLocks noChangeArrowheads="1"/>
          </p:cNvSpPr>
          <p:nvPr/>
        </p:nvSpPr>
        <p:spPr bwMode="auto">
          <a:xfrm>
            <a:off x="395536" y="1988840"/>
            <a:ext cx="807243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如果在传输中产生错误，例如</a:t>
            </a:r>
            <a:r>
              <a:rPr lang="en-US" altLang="zh-CN" sz="3200" dirty="0">
                <a:solidFill>
                  <a:schemeClr val="tx2"/>
                </a:solidFill>
                <a:latin typeface="楷体_GB2312" pitchFamily="49" charset="-122"/>
                <a:ea typeface="楷体_GB2312" pitchFamily="49" charset="-122"/>
              </a:rPr>
              <a:t>D</a:t>
            </a:r>
            <a:r>
              <a:rPr lang="en-US" altLang="zh-CN" sz="3200" baseline="-250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出错，由</a:t>
            </a:r>
            <a:r>
              <a:rPr lang="en-US" altLang="zh-CN" sz="32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变</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p:pic>
        <p:nvPicPr>
          <p:cNvPr id="7" name="图片 6"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714875"/>
            <a:ext cx="7500937"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descr="海明码编码例子-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5214938"/>
            <a:ext cx="3571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74904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0419" name="矩形 2"/>
          <p:cNvSpPr>
            <a:spLocks noChangeArrowheads="1"/>
          </p:cNvSpPr>
          <p:nvPr/>
        </p:nvSpPr>
        <p:spPr bwMode="auto">
          <a:xfrm>
            <a:off x="428625" y="1571625"/>
            <a:ext cx="8429625" cy="3046988"/>
          </a:xfrm>
          <a:prstGeom prst="rect">
            <a:avLst/>
          </a:prstGeom>
          <a:noFill/>
          <a:ln w="9525">
            <a:noFill/>
            <a:miter lim="800000"/>
            <a:headEnd/>
            <a:tailEnd/>
          </a:ln>
        </p:spPr>
        <p:txBody>
          <a:bodyPr>
            <a:spAutoFit/>
          </a:bodyPr>
          <a:lstStyle/>
          <a:p>
            <a:pPr marL="514350" indent="-514350" algn="l">
              <a:defRPr/>
            </a:pPr>
            <a:r>
              <a:rPr lang="zh-CN" altLang="en-US" sz="3200" dirty="0">
                <a:solidFill>
                  <a:schemeClr val="tx2"/>
                </a:solidFill>
                <a:latin typeface="楷体_GB2312" pitchFamily="49" charset="-122"/>
                <a:ea typeface="楷体_GB2312" pitchFamily="49" charset="-122"/>
              </a:rPr>
              <a:t>  则计算</a:t>
            </a:r>
            <a:r>
              <a:rPr lang="en-US" altLang="zh-CN" sz="3200" dirty="0">
                <a:solidFill>
                  <a:schemeClr val="tx2"/>
                </a:solidFill>
                <a:latin typeface="楷体_GB2312" pitchFamily="49" charset="-122"/>
                <a:ea typeface="楷体_GB2312" pitchFamily="49" charset="-122"/>
              </a:rPr>
              <a:t>P1P2P3P4</a:t>
            </a:r>
            <a:r>
              <a:rPr lang="zh-CN" altLang="en-US" sz="3200" dirty="0">
                <a:solidFill>
                  <a:schemeClr val="tx2"/>
                </a:solidFill>
                <a:latin typeface="楷体_GB2312" pitchFamily="49" charset="-122"/>
                <a:ea typeface="楷体_GB2312" pitchFamily="49" charset="-122"/>
              </a:rPr>
              <a:t>的原来的值：</a:t>
            </a:r>
            <a:endParaRPr lang="en-US" altLang="zh-CN" sz="3200" dirty="0">
              <a:solidFill>
                <a:schemeClr val="tx2"/>
              </a:solidFill>
              <a:latin typeface="楷体_GB2312" pitchFamily="49" charset="-122"/>
              <a:ea typeface="楷体_GB2312" pitchFamily="49" charset="-122"/>
            </a:endParaRPr>
          </a:p>
          <a:p>
            <a:pPr marL="514350" indent="-514350">
              <a:defRPr/>
            </a:pPr>
            <a:r>
              <a:rPr lang="zh-CN" altLang="en-US" sz="3200"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a:t>
            </a:r>
            <a:r>
              <a:rPr lang="en-US" altLang="zh-CN" sz="3200" b="1" dirty="0">
                <a:solidFill>
                  <a:srgbClr val="FF0000"/>
                </a:solidFill>
                <a:latin typeface="楷体_GB2312" pitchFamily="49" charset="-122"/>
                <a:ea typeface="楷体_GB2312" pitchFamily="49" charset="-122"/>
              </a:rPr>
              <a:t>D</a:t>
            </a:r>
            <a:r>
              <a:rPr lang="en-US" altLang="zh-CN" sz="3200" b="1" baseline="-25000" dirty="0">
                <a:solidFill>
                  <a:srgbClr val="FF0000"/>
                </a:solidFill>
                <a:latin typeface="楷体_GB2312" pitchFamily="49" charset="-122"/>
                <a:ea typeface="楷体_GB2312" pitchFamily="49" charset="-122"/>
              </a:rPr>
              <a:t>0</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10</a:t>
            </a:r>
          </a:p>
          <a:p>
            <a:pPr marL="514350" indent="-514350">
              <a:defRPr/>
            </a:pPr>
            <a:r>
              <a:rPr lang="zh-CN" altLang="en-US" sz="3200" b="1" dirty="0">
                <a:solidFill>
                  <a:schemeClr val="tx2"/>
                </a:solidFill>
                <a:latin typeface="宋体"/>
                <a:ea typeface="宋体"/>
              </a:rPr>
              <a:t>   </a:t>
            </a:r>
            <a:r>
              <a:rPr lang="en-US" altLang="zh-CN" sz="3200" b="1" dirty="0">
                <a:solidFill>
                  <a:schemeClr val="tx2"/>
                </a:solidFill>
                <a:latin typeface="宋体"/>
                <a:ea typeface="宋体"/>
              </a:rPr>
              <a:t>P</a:t>
            </a:r>
            <a:r>
              <a:rPr lang="en-US" altLang="zh-CN" sz="3200" b="1" baseline="-25000" dirty="0">
                <a:solidFill>
                  <a:schemeClr val="tx2"/>
                </a:solidFill>
                <a:latin typeface="楷体_GB2312" pitchFamily="49" charset="-122"/>
                <a:ea typeface="楷体_GB2312" pitchFamily="49" charset="-122"/>
              </a:rPr>
              <a:t>2</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宋体"/>
                <a:ea typeface="宋体"/>
              </a:rPr>
              <a:t>=</a:t>
            </a:r>
            <a:r>
              <a:rPr lang="en-US" altLang="zh-CN" sz="3200" b="1" dirty="0">
                <a:solidFill>
                  <a:srgbClr val="FF0000"/>
                </a:solidFill>
                <a:latin typeface="楷体_GB2312" pitchFamily="49" charset="-122"/>
                <a:ea typeface="楷体_GB2312" pitchFamily="49" charset="-122"/>
              </a:rPr>
              <a:t>D</a:t>
            </a:r>
            <a:r>
              <a:rPr lang="en-US" altLang="zh-CN" sz="3200" b="1" baseline="-25000" dirty="0">
                <a:solidFill>
                  <a:srgbClr val="FF0000"/>
                </a:solidFill>
                <a:latin typeface="楷体_GB2312" pitchFamily="49" charset="-122"/>
                <a:ea typeface="楷体_GB2312" pitchFamily="49" charset="-122"/>
              </a:rPr>
              <a:t>0</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5</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10</a:t>
            </a:r>
          </a:p>
          <a:p>
            <a:pPr marL="514350" indent="-514350">
              <a:defRPr/>
            </a:pPr>
            <a:r>
              <a:rPr lang="zh-CN" altLang="en-US" sz="3200" b="1" dirty="0">
                <a:solidFill>
                  <a:schemeClr val="tx2"/>
                </a:solidFill>
                <a:latin typeface="宋体"/>
                <a:ea typeface="宋体"/>
              </a:rPr>
              <a:t>   </a:t>
            </a:r>
            <a:r>
              <a:rPr lang="en-US" altLang="zh-CN" sz="3200" b="1" dirty="0">
                <a:solidFill>
                  <a:schemeClr val="tx2"/>
                </a:solidFill>
                <a:latin typeface="宋体"/>
                <a:ea typeface="宋体"/>
              </a:rPr>
              <a:t>P</a:t>
            </a:r>
            <a:r>
              <a:rPr lang="en-US" altLang="zh-CN" sz="3200" b="1" baseline="-25000" dirty="0">
                <a:solidFill>
                  <a:schemeClr val="tx2"/>
                </a:solidFill>
                <a:latin typeface="楷体_GB2312" pitchFamily="49" charset="-122"/>
                <a:ea typeface="楷体_GB2312" pitchFamily="49" charset="-122"/>
              </a:rPr>
              <a:t>3</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宋体"/>
                <a:ea typeface="宋体"/>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1</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2</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3</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7</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10</a:t>
            </a:r>
          </a:p>
          <a:p>
            <a:pPr marL="514350" indent="-514350">
              <a:defRPr/>
            </a:pPr>
            <a:r>
              <a:rPr lang="zh-CN" altLang="en-US" sz="3200" b="1" dirty="0">
                <a:solidFill>
                  <a:schemeClr val="tx2"/>
                </a:solidFill>
                <a:latin typeface="宋体"/>
                <a:ea typeface="宋体"/>
              </a:rPr>
              <a:t>   </a:t>
            </a:r>
            <a:r>
              <a:rPr lang="en-US" altLang="zh-CN" sz="3200" b="1" dirty="0">
                <a:solidFill>
                  <a:schemeClr val="tx2"/>
                </a:solidFill>
                <a:latin typeface="宋体"/>
                <a:ea typeface="宋体"/>
              </a:rPr>
              <a:t>P</a:t>
            </a:r>
            <a:r>
              <a:rPr lang="en-US" altLang="zh-CN" sz="3200" b="1" baseline="-25000" dirty="0">
                <a:solidFill>
                  <a:schemeClr val="tx2"/>
                </a:solidFill>
                <a:latin typeface="楷体_GB2312" pitchFamily="49" charset="-122"/>
                <a:ea typeface="楷体_GB2312" pitchFamily="49" charset="-122"/>
              </a:rPr>
              <a:t>4</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宋体"/>
                <a:ea typeface="宋体"/>
              </a:rPr>
              <a:t>=</a:t>
            </a:r>
            <a:r>
              <a:rPr lang="en-US" altLang="zh-CN" sz="3200" b="1" dirty="0">
                <a:solidFill>
                  <a:schemeClr val="tx2"/>
                </a:solidFill>
                <a:latin typeface="楷体_GB2312" pitchFamily="49" charset="-122"/>
                <a:ea typeface="楷体_GB2312" pitchFamily="49" charset="-122"/>
              </a:rPr>
              <a:t>D</a:t>
            </a:r>
            <a:r>
              <a:rPr lang="en-US" altLang="zh-CN" sz="3200" b="1" baseline="-25000" dirty="0">
                <a:solidFill>
                  <a:schemeClr val="tx2"/>
                </a:solidFill>
                <a:latin typeface="楷体_GB2312" pitchFamily="49" charset="-122"/>
                <a:ea typeface="楷体_GB2312" pitchFamily="49" charset="-122"/>
              </a:rPr>
              <a:t>4</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5</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6</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7</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8</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9</a:t>
            </a:r>
            <a:r>
              <a:rPr lang="en-US" altLang="zh-CN" sz="3200" b="1" dirty="0">
                <a:solidFill>
                  <a:schemeClr val="tx2"/>
                </a:solidFill>
                <a:latin typeface="宋体"/>
                <a:ea typeface="宋体"/>
              </a:rPr>
              <a:t>⊕D</a:t>
            </a:r>
            <a:r>
              <a:rPr lang="en-US" altLang="zh-CN" sz="3200" b="1" baseline="-25000" dirty="0">
                <a:solidFill>
                  <a:schemeClr val="tx2"/>
                </a:solidFill>
                <a:latin typeface="楷体_GB2312" pitchFamily="49" charset="-122"/>
                <a:ea typeface="楷体_GB2312" pitchFamily="49" charset="-122"/>
              </a:rPr>
              <a:t>10</a:t>
            </a:r>
            <a:endParaRPr lang="en-US" altLang="zh-CN" sz="3200" b="1" dirty="0">
              <a:solidFill>
                <a:schemeClr val="tx2"/>
              </a:solidFill>
              <a:latin typeface="宋体"/>
              <a:ea typeface="宋体"/>
            </a:endParaRPr>
          </a:p>
          <a:p>
            <a:pPr algn="l">
              <a:defRPr/>
            </a:pPr>
            <a:endParaRPr lang="zh-CN" altLang="en-US" sz="3200" dirty="0">
              <a:solidFill>
                <a:schemeClr val="tx2"/>
              </a:solidFill>
              <a:latin typeface="楷体_GB2312" pitchFamily="49" charset="-122"/>
              <a:ea typeface="楷体_GB2312" pitchFamily="49" charset="-122"/>
            </a:endParaRPr>
          </a:p>
        </p:txBody>
      </p:sp>
      <p:sp>
        <p:nvSpPr>
          <p:cNvPr id="4" name="TextBox 3"/>
          <p:cNvSpPr txBox="1"/>
          <p:nvPr/>
        </p:nvSpPr>
        <p:spPr>
          <a:xfrm>
            <a:off x="461714" y="4043064"/>
            <a:ext cx="8286750" cy="2554288"/>
          </a:xfrm>
          <a:prstGeom prst="rect">
            <a:avLst/>
          </a:prstGeom>
          <a:noFill/>
        </p:spPr>
        <p:txBody>
          <a:bodyPr>
            <a:spAutoFit/>
          </a:bodyPr>
          <a:lstStyle/>
          <a:p>
            <a:pPr marL="514350" indent="-514350">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1</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a:t>
            </a:r>
            <a:r>
              <a:rPr lang="en-US" altLang="zh-CN" sz="3200" b="1" dirty="0">
                <a:solidFill>
                  <a:srgbClr val="FF0000"/>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⊕1⊕0⊕0⊕0⊕1⊕1=0</a:t>
            </a:r>
            <a:endParaRPr lang="en-US" altLang="zh-CN" sz="3200" b="1" baseline="-25000" dirty="0">
              <a:solidFill>
                <a:schemeClr val="tx2"/>
              </a:solidFill>
              <a:latin typeface="楷体_GB2312" pitchFamily="49" charset="-122"/>
              <a:ea typeface="楷体_GB2312" pitchFamily="49" charset="-122"/>
            </a:endParaRPr>
          </a:p>
          <a:p>
            <a:pPr marL="514350" indent="-514350">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2</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a:t>
            </a:r>
            <a:r>
              <a:rPr lang="en-US" altLang="zh-CN" sz="3200" b="1" dirty="0">
                <a:solidFill>
                  <a:srgbClr val="FF0000"/>
                </a:solidFill>
                <a:latin typeface="楷体_GB2312" pitchFamily="49" charset="-122"/>
                <a:ea typeface="楷体_GB2312" pitchFamily="49" charset="-122"/>
              </a:rPr>
              <a:t>0</a:t>
            </a:r>
            <a:r>
              <a:rPr lang="en-US" altLang="zh-CN" sz="3200" b="1" dirty="0">
                <a:solidFill>
                  <a:schemeClr val="tx2"/>
                </a:solidFill>
                <a:latin typeface="楷体_GB2312" pitchFamily="49" charset="-122"/>
                <a:ea typeface="楷体_GB2312" pitchFamily="49" charset="-122"/>
              </a:rPr>
              <a:t>⊕1⊕0⊕1⊕0⊕0⊕1=0</a:t>
            </a:r>
            <a:endParaRPr lang="en-US" altLang="zh-CN" sz="3200" b="1" baseline="-25000" dirty="0">
              <a:solidFill>
                <a:schemeClr val="tx2"/>
              </a:solidFill>
              <a:latin typeface="楷体_GB2312" pitchFamily="49" charset="-122"/>
              <a:ea typeface="楷体_GB2312" pitchFamily="49" charset="-122"/>
            </a:endParaRPr>
          </a:p>
          <a:p>
            <a:pPr marL="514350" indent="-514350">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3</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=1⊕1⊕0⊕1⊕1⊕0⊕1=1</a:t>
            </a:r>
            <a:endParaRPr lang="en-US" altLang="zh-CN" sz="3200" b="1" baseline="-25000" dirty="0">
              <a:solidFill>
                <a:schemeClr val="tx2"/>
              </a:solidFill>
              <a:latin typeface="楷体_GB2312" pitchFamily="49" charset="-122"/>
              <a:ea typeface="楷体_GB2312" pitchFamily="49" charset="-122"/>
            </a:endParaRPr>
          </a:p>
          <a:p>
            <a:pPr marL="514350" indent="-514350">
              <a:defRPr/>
            </a:pPr>
            <a:r>
              <a:rPr lang="zh-CN" altLang="en-US" sz="3200" b="1" dirty="0">
                <a:solidFill>
                  <a:schemeClr val="tx2"/>
                </a:solidFill>
                <a:latin typeface="楷体_GB2312" pitchFamily="49" charset="-122"/>
                <a:ea typeface="楷体_GB2312" pitchFamily="49" charset="-122"/>
              </a:rPr>
              <a:t>   </a:t>
            </a:r>
            <a:r>
              <a:rPr lang="en-US" altLang="zh-CN" sz="3200" b="1" dirty="0">
                <a:solidFill>
                  <a:schemeClr val="tx2"/>
                </a:solidFill>
                <a:latin typeface="楷体_GB2312" pitchFamily="49" charset="-122"/>
                <a:ea typeface="楷体_GB2312" pitchFamily="49" charset="-122"/>
              </a:rPr>
              <a:t>P</a:t>
            </a:r>
            <a:r>
              <a:rPr lang="en-US" altLang="zh-CN" sz="3200" b="1" baseline="-25000" dirty="0">
                <a:solidFill>
                  <a:schemeClr val="tx2"/>
                </a:solidFill>
                <a:latin typeface="楷体_GB2312" pitchFamily="49" charset="-122"/>
                <a:ea typeface="楷体_GB2312" pitchFamily="49" charset="-122"/>
              </a:rPr>
              <a:t>4</a:t>
            </a:r>
            <a:r>
              <a:rPr lang="zh-CN" altLang="en-US" sz="3200" b="1" baseline="-25000" dirty="0">
                <a:solidFill>
                  <a:schemeClr val="tx2"/>
                </a:solidFill>
                <a:latin typeface="楷体_GB2312" pitchFamily="49" charset="-122"/>
                <a:ea typeface="楷体_GB2312" pitchFamily="49" charset="-122"/>
              </a:rPr>
              <a:t>原来</a:t>
            </a:r>
            <a:r>
              <a:rPr lang="en-US" altLang="zh-CN" sz="3200" b="1" dirty="0">
                <a:solidFill>
                  <a:schemeClr val="tx2"/>
                </a:solidFill>
                <a:latin typeface="楷体_GB2312" pitchFamily="49" charset="-122"/>
                <a:ea typeface="楷体_GB2312" pitchFamily="49" charset="-122"/>
              </a:rPr>
              <a:t>=0⊕1⊕0⊕1⊕1⊕0⊕1=0</a:t>
            </a:r>
          </a:p>
          <a:p>
            <a:pPr algn="l">
              <a:defRPr/>
            </a:pPr>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129722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60419" name="矩形 2"/>
          <p:cNvSpPr>
            <a:spLocks noChangeArrowheads="1"/>
          </p:cNvSpPr>
          <p:nvPr/>
        </p:nvSpPr>
        <p:spPr bwMode="auto">
          <a:xfrm>
            <a:off x="428625" y="1571625"/>
            <a:ext cx="8429625" cy="3046988"/>
          </a:xfrm>
          <a:prstGeom prst="rect">
            <a:avLst/>
          </a:prstGeom>
          <a:noFill/>
          <a:ln w="9525">
            <a:noFill/>
            <a:miter lim="800000"/>
            <a:headEnd/>
            <a:tailEnd/>
          </a:ln>
        </p:spPr>
        <p:txBody>
          <a:bodyPr>
            <a:spAutoFit/>
          </a:bodyPr>
          <a:lstStyle/>
          <a:p>
            <a:pPr marL="514350" indent="-514350" algn="l">
              <a:defRPr/>
            </a:pPr>
            <a:r>
              <a:rPr lang="zh-CN" altLang="en-US" sz="3200" dirty="0">
                <a:solidFill>
                  <a:schemeClr val="tx2"/>
                </a:solidFill>
                <a:latin typeface="楷体_GB2312" pitchFamily="49" charset="-122"/>
                <a:ea typeface="楷体_GB2312" pitchFamily="49" charset="-122"/>
              </a:rPr>
              <a:t>  则计算</a:t>
            </a:r>
            <a:r>
              <a:rPr lang="en-US" altLang="zh-CN" sz="3200" dirty="0">
                <a:solidFill>
                  <a:schemeClr val="tx2"/>
                </a:solidFill>
                <a:latin typeface="楷体_GB2312" pitchFamily="49" charset="-122"/>
                <a:ea typeface="楷体_GB2312" pitchFamily="49" charset="-122"/>
              </a:rPr>
              <a:t>P1P2P3P4</a:t>
            </a:r>
            <a:r>
              <a:rPr lang="zh-CN" altLang="en-US" sz="3200" dirty="0">
                <a:solidFill>
                  <a:schemeClr val="tx2"/>
                </a:solidFill>
                <a:latin typeface="楷体_GB2312" pitchFamily="49" charset="-122"/>
                <a:ea typeface="楷体_GB2312" pitchFamily="49" charset="-122"/>
              </a:rPr>
              <a:t>的现在的值：</a:t>
            </a:r>
            <a:endParaRPr lang="en-US" altLang="zh-CN" sz="3200" dirty="0">
              <a:solidFill>
                <a:schemeClr val="tx2"/>
              </a:solidFill>
              <a:latin typeface="楷体_GB2312" pitchFamily="49" charset="-122"/>
              <a:ea typeface="楷体_GB2312" pitchFamily="49" charset="-122"/>
            </a:endParaRPr>
          </a:p>
          <a:p>
            <a:r>
              <a:rPr lang="en-US" altLang="zh-CN" sz="3200" dirty="0">
                <a:solidFill>
                  <a:schemeClr val="tx2"/>
                </a:solidFill>
                <a:latin typeface="楷体_GB2312" pitchFamily="49" charset="-122"/>
                <a:ea typeface="楷体_GB2312" pitchFamily="49" charset="-122"/>
              </a:rPr>
              <a:t>   P</a:t>
            </a:r>
            <a:r>
              <a:rPr lang="en-US" altLang="zh-CN" sz="3200" baseline="-25000" dirty="0">
                <a:solidFill>
                  <a:schemeClr val="tx2"/>
                </a:solidFill>
                <a:latin typeface="楷体_GB2312" pitchFamily="49" charset="-122"/>
                <a:ea typeface="楷体_GB2312" pitchFamily="49" charset="-122"/>
              </a:rPr>
              <a:t>1</a:t>
            </a:r>
            <a:r>
              <a:rPr lang="zh-CN" altLang="en-US" sz="3200" baseline="-25000" dirty="0">
                <a:solidFill>
                  <a:schemeClr val="tx2"/>
                </a:solidFill>
                <a:latin typeface="楷体_GB2312" pitchFamily="49" charset="-122"/>
                <a:ea typeface="楷体_GB2312" pitchFamily="49" charset="-122"/>
              </a:rPr>
              <a:t>现在</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⊕1⊕0⊕0⊕0⊕1⊕1=1</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baseline="-25000" dirty="0">
                <a:solidFill>
                  <a:schemeClr val="tx2"/>
                </a:solidFill>
                <a:latin typeface="楷体_GB2312" pitchFamily="49" charset="-122"/>
                <a:ea typeface="楷体_GB2312" pitchFamily="49" charset="-122"/>
              </a:rPr>
              <a:t>现在</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⊕1⊕0⊕1⊕0⊕0⊕1=1</a:t>
            </a:r>
          </a:p>
          <a:p>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baseline="-25000" dirty="0">
                <a:solidFill>
                  <a:schemeClr val="tx2"/>
                </a:solidFill>
                <a:latin typeface="楷体_GB2312" pitchFamily="49" charset="-122"/>
                <a:ea typeface="楷体_GB2312" pitchFamily="49" charset="-122"/>
              </a:rPr>
              <a:t>现在</a:t>
            </a:r>
            <a:r>
              <a:rPr lang="en-US" altLang="zh-CN" sz="3200" dirty="0">
                <a:solidFill>
                  <a:schemeClr val="tx2"/>
                </a:solidFill>
                <a:latin typeface="楷体_GB2312" pitchFamily="49" charset="-122"/>
                <a:ea typeface="楷体_GB2312" pitchFamily="49" charset="-122"/>
              </a:rPr>
              <a:t>=1⊕1⊕0⊕1⊕1⊕0⊕1=1</a:t>
            </a:r>
            <a:endParaRPr lang="en-US" altLang="zh-CN" sz="3200" baseline="-25000" dirty="0">
              <a:solidFill>
                <a:schemeClr val="tx2"/>
              </a:solidFill>
              <a:latin typeface="楷体_GB2312" pitchFamily="49" charset="-122"/>
              <a:ea typeface="楷体_GB2312" pitchFamily="49" charset="-122"/>
            </a:endParaRPr>
          </a:p>
          <a:p>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baseline="-25000" dirty="0">
                <a:solidFill>
                  <a:schemeClr val="tx2"/>
                </a:solidFill>
                <a:latin typeface="楷体_GB2312" pitchFamily="49" charset="-122"/>
                <a:ea typeface="楷体_GB2312" pitchFamily="49" charset="-122"/>
              </a:rPr>
              <a:t>现在</a:t>
            </a:r>
            <a:r>
              <a:rPr lang="en-US" altLang="zh-CN" sz="3200" dirty="0">
                <a:solidFill>
                  <a:schemeClr val="tx2"/>
                </a:solidFill>
                <a:latin typeface="楷体_GB2312" pitchFamily="49" charset="-122"/>
                <a:ea typeface="楷体_GB2312" pitchFamily="49" charset="-122"/>
              </a:rPr>
              <a:t>=0⊕1⊕0⊕1⊕1⊕0⊕1=0</a:t>
            </a:r>
          </a:p>
          <a:p>
            <a:pPr algn="l">
              <a:defRPr/>
            </a:pPr>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1035435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18788" name="图片 5" descr="海明码编码例子D0错.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5092601"/>
            <a:ext cx="7631112"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95536" y="1484784"/>
            <a:ext cx="8208912" cy="4401205"/>
          </a:xfrm>
          <a:prstGeom prst="rect">
            <a:avLst/>
          </a:prstGeom>
        </p:spPr>
        <p:txBody>
          <a:bodyPr wrap="square">
            <a:spAutoFit/>
          </a:bodyPr>
          <a:lstStyle/>
          <a:p>
            <a:r>
              <a:rPr kumimoji="1" lang="en-US" altLang="zh-CN" sz="2800" kern="0" dirty="0">
                <a:solidFill>
                  <a:schemeClr val="tx2"/>
                </a:solidFill>
                <a:latin typeface="黑体" pitchFamily="2" charset="-122"/>
                <a:ea typeface="黑体" pitchFamily="2" charset="-122"/>
                <a:cs typeface="+mj-cs"/>
              </a:rPr>
              <a:t> S1=P1</a:t>
            </a:r>
            <a:r>
              <a:rPr kumimoji="1" lang="zh-CN" altLang="en-US" sz="2800" kern="0" dirty="0">
                <a:solidFill>
                  <a:schemeClr val="tx2"/>
                </a:solidFill>
                <a:latin typeface="黑体" pitchFamily="2" charset="-122"/>
                <a:ea typeface="黑体" pitchFamily="2" charset="-122"/>
                <a:cs typeface="+mj-cs"/>
              </a:rPr>
              <a:t>原来</a:t>
            </a:r>
            <a:r>
              <a:rPr kumimoji="1" lang="en-US" altLang="zh-CN" sz="2800" kern="0" dirty="0">
                <a:solidFill>
                  <a:schemeClr val="tx2"/>
                </a:solidFill>
                <a:latin typeface="黑体" pitchFamily="2" charset="-122"/>
                <a:ea typeface="黑体" pitchFamily="2" charset="-122"/>
                <a:cs typeface="+mj-cs"/>
              </a:rPr>
              <a:t>⊕P1</a:t>
            </a:r>
            <a:r>
              <a:rPr kumimoji="1" lang="zh-CN" altLang="en-US" sz="2800" kern="0" dirty="0">
                <a:solidFill>
                  <a:schemeClr val="tx2"/>
                </a:solidFill>
                <a:latin typeface="黑体" pitchFamily="2" charset="-122"/>
                <a:ea typeface="黑体" pitchFamily="2" charset="-122"/>
                <a:cs typeface="+mj-cs"/>
              </a:rPr>
              <a:t>现在</a:t>
            </a:r>
            <a:r>
              <a:rPr kumimoji="1" lang="en-US" altLang="zh-CN" sz="2800" kern="0" dirty="0">
                <a:solidFill>
                  <a:schemeClr val="tx2"/>
                </a:solidFill>
                <a:latin typeface="黑体" pitchFamily="2" charset="-122"/>
                <a:ea typeface="黑体" pitchFamily="2" charset="-122"/>
                <a:cs typeface="+mj-cs"/>
              </a:rPr>
              <a:t>=0</a:t>
            </a:r>
            <a:r>
              <a:rPr kumimoji="1" lang="en-US" altLang="zh-CN" sz="2800" kern="0" dirty="0">
                <a:solidFill>
                  <a:schemeClr val="tx2"/>
                </a:solidFill>
                <a:latin typeface="黑体" pitchFamily="2" charset="-122"/>
                <a:ea typeface="黑体" pitchFamily="2" charset="-122"/>
              </a:rPr>
              <a:t> ⊕ 1=</a:t>
            </a:r>
            <a:r>
              <a:rPr kumimoji="1" lang="en-US" altLang="zh-CN" sz="2800" kern="0" dirty="0">
                <a:solidFill>
                  <a:schemeClr val="tx2"/>
                </a:solidFill>
                <a:latin typeface="黑体" pitchFamily="2" charset="-122"/>
                <a:ea typeface="黑体" pitchFamily="2" charset="-122"/>
                <a:cs typeface="+mj-cs"/>
              </a:rPr>
              <a:t>1</a:t>
            </a:r>
            <a:r>
              <a:rPr kumimoji="1" lang="zh-CN" altLang="en-US" sz="2800" kern="0" dirty="0">
                <a:solidFill>
                  <a:schemeClr val="tx2"/>
                </a:solidFill>
                <a:latin typeface="黑体" pitchFamily="2" charset="-122"/>
                <a:ea typeface="黑体" pitchFamily="2" charset="-122"/>
                <a:cs typeface="+mj-cs"/>
              </a:rPr>
              <a:t>     </a:t>
            </a:r>
            <a:endParaRPr kumimoji="1" lang="en-US" altLang="zh-CN" sz="2800" kern="0" dirty="0">
              <a:solidFill>
                <a:schemeClr val="tx2"/>
              </a:solidFill>
              <a:latin typeface="黑体" pitchFamily="2" charset="-122"/>
              <a:ea typeface="黑体" pitchFamily="2" charset="-122"/>
              <a:cs typeface="+mj-cs"/>
            </a:endParaRPr>
          </a:p>
          <a:p>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S2=P2</a:t>
            </a:r>
            <a:r>
              <a:rPr kumimoji="1" lang="zh-CN" altLang="en-US" sz="2800" kern="0" dirty="0">
                <a:solidFill>
                  <a:schemeClr val="tx2"/>
                </a:solidFill>
                <a:latin typeface="黑体" pitchFamily="2" charset="-122"/>
                <a:ea typeface="黑体" pitchFamily="2" charset="-122"/>
                <a:cs typeface="+mj-cs"/>
              </a:rPr>
              <a:t>原来</a:t>
            </a:r>
            <a:r>
              <a:rPr kumimoji="1" lang="en-US" altLang="zh-CN" sz="2800" kern="0" dirty="0">
                <a:solidFill>
                  <a:schemeClr val="tx2"/>
                </a:solidFill>
                <a:latin typeface="黑体" pitchFamily="2" charset="-122"/>
                <a:ea typeface="黑体" pitchFamily="2" charset="-122"/>
                <a:cs typeface="+mj-cs"/>
              </a:rPr>
              <a:t>⊕P2</a:t>
            </a:r>
            <a:r>
              <a:rPr kumimoji="1" lang="zh-CN" altLang="en-US" sz="2800" kern="0" dirty="0">
                <a:solidFill>
                  <a:schemeClr val="tx2"/>
                </a:solidFill>
                <a:latin typeface="黑体" pitchFamily="2" charset="-122"/>
                <a:ea typeface="黑体" pitchFamily="2" charset="-122"/>
                <a:cs typeface="+mj-cs"/>
              </a:rPr>
              <a:t>现在</a:t>
            </a:r>
            <a:r>
              <a:rPr kumimoji="1" lang="en-US" altLang="zh-CN" sz="2800" kern="0" dirty="0">
                <a:solidFill>
                  <a:schemeClr val="tx2"/>
                </a:solidFill>
                <a:latin typeface="黑体" pitchFamily="2" charset="-122"/>
                <a:ea typeface="黑体" pitchFamily="2" charset="-122"/>
                <a:cs typeface="+mj-cs"/>
              </a:rPr>
              <a:t>=0</a:t>
            </a:r>
            <a:r>
              <a:rPr kumimoji="1" lang="en-US" altLang="zh-CN" sz="2800" kern="0" dirty="0">
                <a:solidFill>
                  <a:schemeClr val="tx2"/>
                </a:solidFill>
                <a:latin typeface="黑体" pitchFamily="2" charset="-122"/>
                <a:ea typeface="黑体" pitchFamily="2" charset="-122"/>
              </a:rPr>
              <a:t> ⊕ 1=</a:t>
            </a:r>
            <a:r>
              <a:rPr kumimoji="1" lang="en-US" altLang="zh-CN" sz="2800" kern="0" dirty="0">
                <a:solidFill>
                  <a:schemeClr val="tx2"/>
                </a:solidFill>
                <a:latin typeface="黑体" pitchFamily="2" charset="-122"/>
                <a:ea typeface="黑体" pitchFamily="2" charset="-122"/>
                <a:cs typeface="+mj-cs"/>
              </a:rPr>
              <a:t>1</a:t>
            </a:r>
          </a:p>
          <a:p>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S3=P3</a:t>
            </a:r>
            <a:r>
              <a:rPr kumimoji="1" lang="zh-CN" altLang="en-US" sz="2800" kern="0" dirty="0">
                <a:solidFill>
                  <a:schemeClr val="tx2"/>
                </a:solidFill>
                <a:latin typeface="黑体" pitchFamily="2" charset="-122"/>
                <a:ea typeface="黑体" pitchFamily="2" charset="-122"/>
                <a:cs typeface="+mj-cs"/>
              </a:rPr>
              <a:t>原来</a:t>
            </a:r>
            <a:r>
              <a:rPr kumimoji="1" lang="en-US" altLang="zh-CN" sz="2800" kern="0" dirty="0">
                <a:solidFill>
                  <a:schemeClr val="tx2"/>
                </a:solidFill>
                <a:latin typeface="黑体" pitchFamily="2" charset="-122"/>
                <a:ea typeface="黑体" pitchFamily="2" charset="-122"/>
                <a:cs typeface="+mj-cs"/>
              </a:rPr>
              <a:t>⊕P3</a:t>
            </a:r>
            <a:r>
              <a:rPr kumimoji="1" lang="zh-CN" altLang="en-US" sz="2800" kern="0" dirty="0">
                <a:solidFill>
                  <a:schemeClr val="tx2"/>
                </a:solidFill>
                <a:latin typeface="黑体" pitchFamily="2" charset="-122"/>
                <a:ea typeface="黑体" pitchFamily="2" charset="-122"/>
                <a:cs typeface="+mj-cs"/>
              </a:rPr>
              <a:t>现在</a:t>
            </a:r>
            <a:r>
              <a:rPr kumimoji="1" lang="en-US" altLang="zh-CN" sz="2800" kern="0" dirty="0">
                <a:solidFill>
                  <a:schemeClr val="tx2"/>
                </a:solidFill>
                <a:latin typeface="黑体" pitchFamily="2" charset="-122"/>
                <a:ea typeface="黑体" pitchFamily="2" charset="-122"/>
                <a:cs typeface="+mj-cs"/>
              </a:rPr>
              <a:t>=1</a:t>
            </a:r>
            <a:r>
              <a:rPr kumimoji="1" lang="en-US" altLang="zh-CN" sz="2800" kern="0" dirty="0">
                <a:solidFill>
                  <a:schemeClr val="tx2"/>
                </a:solidFill>
                <a:latin typeface="黑体" pitchFamily="2" charset="-122"/>
                <a:ea typeface="黑体" pitchFamily="2" charset="-122"/>
              </a:rPr>
              <a:t> ⊕ 1=</a:t>
            </a:r>
            <a:r>
              <a:rPr kumimoji="1" lang="en-US" altLang="zh-CN" sz="2800" kern="0" dirty="0">
                <a:solidFill>
                  <a:schemeClr val="tx2"/>
                </a:solidFill>
                <a:latin typeface="黑体" pitchFamily="2" charset="-122"/>
                <a:ea typeface="黑体" pitchFamily="2" charset="-122"/>
                <a:cs typeface="+mj-cs"/>
              </a:rPr>
              <a:t>0</a:t>
            </a:r>
          </a:p>
          <a:p>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S4=P4</a:t>
            </a:r>
            <a:r>
              <a:rPr kumimoji="1" lang="zh-CN" altLang="en-US" sz="2800" kern="0" dirty="0">
                <a:solidFill>
                  <a:schemeClr val="tx2"/>
                </a:solidFill>
                <a:latin typeface="黑体" pitchFamily="2" charset="-122"/>
                <a:ea typeface="黑体" pitchFamily="2" charset="-122"/>
                <a:cs typeface="+mj-cs"/>
              </a:rPr>
              <a:t>原来</a:t>
            </a:r>
            <a:r>
              <a:rPr kumimoji="1" lang="en-US" altLang="zh-CN" sz="2800" kern="0" dirty="0">
                <a:solidFill>
                  <a:schemeClr val="tx2"/>
                </a:solidFill>
                <a:latin typeface="黑体" pitchFamily="2" charset="-122"/>
                <a:ea typeface="黑体" pitchFamily="2" charset="-122"/>
                <a:cs typeface="+mj-cs"/>
              </a:rPr>
              <a:t>⊕P4</a:t>
            </a:r>
            <a:r>
              <a:rPr kumimoji="1" lang="zh-CN" altLang="en-US" sz="2800" kern="0" dirty="0">
                <a:solidFill>
                  <a:schemeClr val="tx2"/>
                </a:solidFill>
                <a:latin typeface="黑体" pitchFamily="2" charset="-122"/>
                <a:ea typeface="黑体" pitchFamily="2" charset="-122"/>
                <a:cs typeface="+mj-cs"/>
              </a:rPr>
              <a:t>现在</a:t>
            </a:r>
            <a:r>
              <a:rPr kumimoji="1" lang="en-US" altLang="zh-CN" sz="2800" kern="0" dirty="0">
                <a:solidFill>
                  <a:schemeClr val="tx2"/>
                </a:solidFill>
                <a:latin typeface="黑体" pitchFamily="2" charset="-122"/>
                <a:ea typeface="黑体" pitchFamily="2" charset="-122"/>
                <a:cs typeface="+mj-cs"/>
              </a:rPr>
              <a:t>=0</a:t>
            </a:r>
            <a:r>
              <a:rPr kumimoji="1" lang="en-US" altLang="zh-CN" sz="2800" kern="0" dirty="0">
                <a:solidFill>
                  <a:schemeClr val="tx2"/>
                </a:solidFill>
                <a:latin typeface="黑体" pitchFamily="2" charset="-122"/>
                <a:ea typeface="黑体" pitchFamily="2" charset="-122"/>
              </a:rPr>
              <a:t> ⊕ 0=</a:t>
            </a:r>
            <a:r>
              <a:rPr kumimoji="1" lang="en-US" altLang="zh-CN" sz="2800" kern="0" dirty="0">
                <a:solidFill>
                  <a:schemeClr val="tx2"/>
                </a:solidFill>
                <a:latin typeface="黑体" pitchFamily="2" charset="-122"/>
                <a:ea typeface="黑体" pitchFamily="2" charset="-122"/>
                <a:cs typeface="+mj-cs"/>
              </a:rPr>
              <a:t>0</a:t>
            </a:r>
          </a:p>
          <a:p>
            <a:endParaRPr kumimoji="1" lang="en-US" altLang="zh-CN" sz="2800" kern="0" dirty="0">
              <a:solidFill>
                <a:schemeClr val="tx2"/>
              </a:solidFill>
              <a:latin typeface="黑体" pitchFamily="2" charset="-122"/>
              <a:ea typeface="黑体" pitchFamily="2" charset="-122"/>
              <a:cs typeface="+mj-cs"/>
            </a:endParaRPr>
          </a:p>
          <a:p>
            <a:r>
              <a:rPr kumimoji="1" lang="zh-CN" altLang="en-US" sz="2800" kern="0" dirty="0">
                <a:solidFill>
                  <a:schemeClr val="tx2"/>
                </a:solidFill>
                <a:latin typeface="黑体" pitchFamily="2" charset="-122"/>
                <a:ea typeface="黑体" pitchFamily="2" charset="-122"/>
                <a:cs typeface="+mj-cs"/>
              </a:rPr>
              <a:t>即</a:t>
            </a:r>
            <a:r>
              <a:rPr kumimoji="1" lang="en-US" altLang="zh-CN" sz="2800" kern="0" dirty="0">
                <a:solidFill>
                  <a:schemeClr val="tx2"/>
                </a:solidFill>
                <a:latin typeface="黑体" pitchFamily="2" charset="-122"/>
                <a:ea typeface="黑体" pitchFamily="2" charset="-122"/>
                <a:cs typeface="+mj-cs"/>
              </a:rPr>
              <a:t>S4S3S2S1=0011</a:t>
            </a:r>
            <a:r>
              <a:rPr kumimoji="1" lang="zh-CN" altLang="en-US" sz="2800" kern="0" dirty="0">
                <a:solidFill>
                  <a:schemeClr val="tx2"/>
                </a:solidFill>
                <a:latin typeface="黑体" pitchFamily="2" charset="-122"/>
                <a:ea typeface="黑体" pitchFamily="2" charset="-122"/>
                <a:cs typeface="+mj-cs"/>
              </a:rPr>
              <a:t>，根据重要推论，</a:t>
            </a:r>
            <a:r>
              <a:rPr kumimoji="1" lang="en-US" altLang="zh-CN" sz="2800" kern="0" dirty="0">
                <a:solidFill>
                  <a:schemeClr val="tx2"/>
                </a:solidFill>
                <a:latin typeface="黑体" pitchFamily="2" charset="-122"/>
                <a:ea typeface="黑体" pitchFamily="2" charset="-122"/>
                <a:cs typeface="+mj-cs"/>
              </a:rPr>
              <a:t>0011</a:t>
            </a:r>
            <a:r>
              <a:rPr kumimoji="1" lang="zh-CN" altLang="en-US" sz="2800" kern="0" dirty="0">
                <a:solidFill>
                  <a:schemeClr val="tx2"/>
                </a:solidFill>
                <a:latin typeface="黑体" pitchFamily="2" charset="-122"/>
                <a:ea typeface="黑体" pitchFamily="2" charset="-122"/>
                <a:cs typeface="+mj-cs"/>
              </a:rPr>
              <a:t>表示十进制</a:t>
            </a:r>
            <a:r>
              <a:rPr kumimoji="1" lang="en-US" altLang="zh-CN" sz="2800" kern="0" dirty="0">
                <a:solidFill>
                  <a:schemeClr val="tx2"/>
                </a:solidFill>
                <a:latin typeface="黑体" pitchFamily="2" charset="-122"/>
                <a:ea typeface="黑体" pitchFamily="2" charset="-122"/>
                <a:cs typeface="+mj-cs"/>
              </a:rPr>
              <a:t>3</a:t>
            </a:r>
            <a:r>
              <a:rPr kumimoji="1" lang="zh-CN" altLang="en-US" sz="2800" kern="0" dirty="0">
                <a:solidFill>
                  <a:schemeClr val="tx2"/>
                </a:solidFill>
                <a:latin typeface="黑体" pitchFamily="2" charset="-122"/>
                <a:ea typeface="黑体" pitchFamily="2" charset="-122"/>
                <a:cs typeface="+mj-cs"/>
              </a:rPr>
              <a:t>，即</a:t>
            </a:r>
            <a:r>
              <a:rPr kumimoji="1" lang="en-US" altLang="zh-CN" sz="2800" kern="0" dirty="0">
                <a:solidFill>
                  <a:schemeClr val="tx2"/>
                </a:solidFill>
                <a:latin typeface="黑体" pitchFamily="2" charset="-122"/>
                <a:ea typeface="黑体" pitchFamily="2" charset="-122"/>
                <a:cs typeface="+mj-cs"/>
              </a:rPr>
              <a:t>H3</a:t>
            </a:r>
            <a:r>
              <a:rPr kumimoji="1" lang="zh-CN" altLang="en-US" sz="2800" kern="0" dirty="0">
                <a:solidFill>
                  <a:schemeClr val="tx2"/>
                </a:solidFill>
                <a:latin typeface="黑体" pitchFamily="2" charset="-122"/>
                <a:ea typeface="黑体" pitchFamily="2" charset="-122"/>
                <a:cs typeface="+mj-cs"/>
              </a:rPr>
              <a:t>位出错，就是</a:t>
            </a:r>
            <a:r>
              <a:rPr kumimoji="1" lang="en-US" altLang="zh-CN" sz="2800" kern="0" dirty="0">
                <a:solidFill>
                  <a:schemeClr val="tx2"/>
                </a:solidFill>
                <a:latin typeface="黑体" pitchFamily="2" charset="-122"/>
                <a:ea typeface="黑体" pitchFamily="2" charset="-122"/>
                <a:cs typeface="+mj-cs"/>
              </a:rPr>
              <a:t>D0</a:t>
            </a:r>
            <a:r>
              <a:rPr kumimoji="1" lang="zh-CN" altLang="en-US" sz="2800" kern="0" dirty="0">
                <a:solidFill>
                  <a:schemeClr val="tx2"/>
                </a:solidFill>
                <a:latin typeface="黑体" pitchFamily="2" charset="-122"/>
                <a:ea typeface="黑体" pitchFamily="2" charset="-122"/>
                <a:cs typeface="+mj-cs"/>
              </a:rPr>
              <a:t>位出错，与假设一致。</a:t>
            </a:r>
            <a:endParaRPr kumimoji="1" lang="en-US" altLang="zh-CN" sz="2800" kern="0" dirty="0">
              <a:solidFill>
                <a:schemeClr val="tx2"/>
              </a:solidFill>
              <a:latin typeface="黑体" pitchFamily="2" charset="-122"/>
              <a:ea typeface="黑体" pitchFamily="2" charset="-122"/>
              <a:cs typeface="+mj-cs"/>
            </a:endParaRPr>
          </a:p>
          <a:p>
            <a:endParaRPr kumimoji="1" lang="en-US" altLang="zh-CN" sz="2800" kern="0" dirty="0">
              <a:solidFill>
                <a:schemeClr val="tx2"/>
              </a:solidFill>
              <a:latin typeface="黑体" pitchFamily="2" charset="-122"/>
              <a:ea typeface="黑体" pitchFamily="2" charset="-122"/>
              <a:cs typeface="+mj-cs"/>
            </a:endParaRPr>
          </a:p>
          <a:p>
            <a:endParaRPr kumimoji="1" lang="en-US" altLang="zh-CN" sz="2800" kern="0" dirty="0">
              <a:solidFill>
                <a:schemeClr val="tx2"/>
              </a:solidFill>
              <a:latin typeface="黑体" pitchFamily="2" charset="-122"/>
              <a:ea typeface="黑体" pitchFamily="2" charset="-122"/>
              <a:cs typeface="+mj-cs"/>
            </a:endParaRPr>
          </a:p>
          <a:p>
            <a:endParaRPr kumimoji="1" lang="en-US" altLang="zh-CN" sz="2800" kern="0" dirty="0">
              <a:solidFill>
                <a:schemeClr val="tx2"/>
              </a:solidFill>
              <a:latin typeface="黑体" pitchFamily="2" charset="-122"/>
              <a:ea typeface="黑体" pitchFamily="2" charset="-122"/>
              <a:cs typeface="+mj-cs"/>
            </a:endParaRPr>
          </a:p>
        </p:txBody>
      </p:sp>
    </p:spTree>
    <p:extLst>
      <p:ext uri="{BB962C8B-B14F-4D97-AF65-F5344CB8AC3E}">
        <p14:creationId xmlns:p14="http://schemas.microsoft.com/office/powerpoint/2010/main" val="15318830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1"/>
          <p:cNvSpPr txBox="1">
            <a:spLocks noChangeArrowheads="1"/>
          </p:cNvSpPr>
          <p:nvPr/>
        </p:nvSpPr>
        <p:spPr bwMode="auto">
          <a:xfrm>
            <a:off x="642938" y="1785938"/>
            <a:ext cx="8072437"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如产生错误，</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10</a:t>
            </a:r>
            <a:r>
              <a:rPr lang="zh-CN" altLang="en-US" sz="3200">
                <a:solidFill>
                  <a:schemeClr val="tx2"/>
                </a:solidFill>
                <a:latin typeface="楷体_GB2312" pitchFamily="49" charset="-122"/>
                <a:ea typeface="楷体_GB2312" pitchFamily="49" charset="-122"/>
              </a:rPr>
              <a:t>出错</a:t>
            </a:r>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en-US" altLang="zh-CN" sz="3200">
              <a:solidFill>
                <a:schemeClr val="tx2"/>
              </a:solidFill>
              <a:latin typeface="楷体_GB2312" pitchFamily="49" charset="-122"/>
              <a:ea typeface="楷体_GB2312" pitchFamily="49" charset="-122"/>
            </a:endParaRPr>
          </a:p>
          <a:p>
            <a:pPr algn="l" eaLnBrk="1" hangingPunct="1"/>
            <a:endParaRPr lang="zh-CN" altLang="en-US" sz="3200">
              <a:solidFill>
                <a:schemeClr val="tx2"/>
              </a:solidFill>
              <a:latin typeface="楷体_GB2312" pitchFamily="49" charset="-122"/>
              <a:ea typeface="楷体_GB2312" pitchFamily="49" charset="-122"/>
            </a:endParaRPr>
          </a:p>
        </p:txBody>
      </p:sp>
      <p:pic>
        <p:nvPicPr>
          <p:cNvPr id="119811" name="图片 2"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428875"/>
            <a:ext cx="7500937"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5" name="图片 4"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143375"/>
            <a:ext cx="7500937"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图片 6" descr="海明码编码例子-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250" y="4643438"/>
            <a:ext cx="42862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6664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2710"/>
                                        </p:tgtEl>
                                        <p:attrNameLst>
                                          <p:attrName>style.visibility</p:attrName>
                                        </p:attrNameLst>
                                      </p:cBhvr>
                                      <p:to>
                                        <p:strVal val="visible"/>
                                      </p:to>
                                    </p:set>
                                    <p:anim calcmode="lin" valueType="num">
                                      <p:cBhvr additive="base">
                                        <p:cTn id="7" dur="500" fill="hold"/>
                                        <p:tgtEl>
                                          <p:spTgt spid="72710"/>
                                        </p:tgtEl>
                                        <p:attrNameLst>
                                          <p:attrName>ppt_x</p:attrName>
                                        </p:attrNameLst>
                                      </p:cBhvr>
                                      <p:tavLst>
                                        <p:tav tm="0">
                                          <p:val>
                                            <p:strVal val="#ppt_x"/>
                                          </p:val>
                                        </p:tav>
                                        <p:tav tm="100000">
                                          <p:val>
                                            <p:strVal val="#ppt_x"/>
                                          </p:val>
                                        </p:tav>
                                      </p:tavLst>
                                    </p:anim>
                                    <p:anim calcmode="lin" valueType="num">
                                      <p:cBhvr additive="base">
                                        <p:cTn id="8" dur="500" fill="hold"/>
                                        <p:tgtEl>
                                          <p:spTgt spid="727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矩形 1"/>
          <p:cNvSpPr>
            <a:spLocks noChangeArrowheads="1"/>
          </p:cNvSpPr>
          <p:nvPr/>
        </p:nvSpPr>
        <p:spPr bwMode="auto">
          <a:xfrm>
            <a:off x="857250" y="1643063"/>
            <a:ext cx="7000875"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1</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0</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4</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6</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8</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10</a:t>
            </a: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2</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0</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2</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5</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6</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9</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10</a:t>
            </a: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2</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7</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8</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9</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10</a:t>
            </a: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4</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4</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5</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6</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7</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8</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9</a:t>
            </a:r>
            <a:r>
              <a:rPr lang="en-US" altLang="zh-CN" sz="3200">
                <a:solidFill>
                  <a:schemeClr val="tx2"/>
                </a:solidFill>
                <a:latin typeface="楷体_GB2312" pitchFamily="49" charset="-122"/>
                <a:ea typeface="楷体_GB2312" pitchFamily="49" charset="-122"/>
              </a:rPr>
              <a:t>⊕D</a:t>
            </a:r>
            <a:r>
              <a:rPr lang="en-US" altLang="zh-CN" sz="3200" baseline="-25000">
                <a:solidFill>
                  <a:schemeClr val="tx2"/>
                </a:solidFill>
                <a:latin typeface="楷体_GB2312" pitchFamily="49" charset="-122"/>
                <a:ea typeface="楷体_GB2312" pitchFamily="49" charset="-122"/>
              </a:rPr>
              <a:t>10</a:t>
            </a:r>
            <a:endParaRPr lang="zh-CN" altLang="en-US" sz="3200">
              <a:latin typeface="楷体_GB2312" pitchFamily="49" charset="-122"/>
              <a:ea typeface="楷体_GB2312" pitchFamily="49" charset="-122"/>
            </a:endParaRPr>
          </a:p>
        </p:txBody>
      </p:sp>
      <p:sp>
        <p:nvSpPr>
          <p:cNvPr id="120835" name="矩形 2"/>
          <p:cNvSpPr>
            <a:spLocks noChangeArrowheads="1"/>
          </p:cNvSpPr>
          <p:nvPr/>
        </p:nvSpPr>
        <p:spPr bwMode="auto">
          <a:xfrm>
            <a:off x="857250" y="3929063"/>
            <a:ext cx="66436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1</a:t>
            </a:r>
            <a:r>
              <a:rPr lang="en-US" altLang="zh-CN" sz="3200">
                <a:solidFill>
                  <a:schemeClr val="tx2"/>
                </a:solidFill>
                <a:latin typeface="楷体_GB2312" pitchFamily="49" charset="-122"/>
                <a:ea typeface="楷体_GB2312" pitchFamily="49" charset="-122"/>
              </a:rPr>
              <a:t>=0⊕1⊕0⊕0⊕0⊕1⊕1=1</a:t>
            </a:r>
            <a:endParaRPr lang="en-US" altLang="zh-CN" sz="3200" baseline="-250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2</a:t>
            </a:r>
            <a:r>
              <a:rPr lang="en-US" altLang="zh-CN" sz="3200">
                <a:solidFill>
                  <a:schemeClr val="tx2"/>
                </a:solidFill>
                <a:latin typeface="楷体_GB2312" pitchFamily="49" charset="-122"/>
                <a:ea typeface="楷体_GB2312" pitchFamily="49" charset="-122"/>
              </a:rPr>
              <a:t>=0⊕1⊕0⊕1⊕0⊕0⊕1=1</a:t>
            </a:r>
            <a:endParaRPr lang="en-US" altLang="zh-CN" sz="3200" baseline="-250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3</a:t>
            </a:r>
            <a:r>
              <a:rPr lang="en-US" altLang="zh-CN" sz="3200">
                <a:solidFill>
                  <a:schemeClr val="tx2"/>
                </a:solidFill>
                <a:latin typeface="楷体_GB2312" pitchFamily="49" charset="-122"/>
                <a:ea typeface="楷体_GB2312" pitchFamily="49" charset="-122"/>
              </a:rPr>
              <a:t>=1⊕1⊕0⊕1⊕1⊕0⊕1=1</a:t>
            </a:r>
            <a:endParaRPr lang="en-US" altLang="zh-CN" sz="3200" baseline="-250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   </a:t>
            </a:r>
            <a:r>
              <a:rPr lang="en-US" altLang="zh-CN" sz="3200">
                <a:solidFill>
                  <a:schemeClr val="tx2"/>
                </a:solidFill>
                <a:latin typeface="楷体_GB2312" pitchFamily="49" charset="-122"/>
                <a:ea typeface="楷体_GB2312" pitchFamily="49" charset="-122"/>
              </a:rPr>
              <a:t>P</a:t>
            </a:r>
            <a:r>
              <a:rPr lang="en-US" altLang="zh-CN" sz="3200" baseline="-25000">
                <a:solidFill>
                  <a:schemeClr val="tx2"/>
                </a:solidFill>
                <a:latin typeface="楷体_GB2312" pitchFamily="49" charset="-122"/>
                <a:ea typeface="楷体_GB2312" pitchFamily="49" charset="-122"/>
              </a:rPr>
              <a:t>4</a:t>
            </a:r>
            <a:r>
              <a:rPr lang="en-US" altLang="zh-CN" sz="3200">
                <a:solidFill>
                  <a:schemeClr val="tx2"/>
                </a:solidFill>
                <a:latin typeface="楷体_GB2312" pitchFamily="49" charset="-122"/>
                <a:ea typeface="楷体_GB2312" pitchFamily="49" charset="-122"/>
              </a:rPr>
              <a:t>=0⊕1⊕0⊕1⊕1⊕0⊕1=0</a:t>
            </a:r>
          </a:p>
        </p:txBody>
      </p:sp>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102810958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矩形 1"/>
          <p:cNvSpPr>
            <a:spLocks noChangeArrowheads="1"/>
          </p:cNvSpPr>
          <p:nvPr/>
        </p:nvSpPr>
        <p:spPr bwMode="auto">
          <a:xfrm>
            <a:off x="428625" y="1714500"/>
            <a:ext cx="807243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=0⊕1⊕0⊕0⊕0⊕1⊕</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=0⊕1⊕0⊕1⊕0⊕0⊕</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=1⊕1⊕0⊕1⊕1⊕0⊕</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endParaRPr lang="en-US" altLang="zh-CN" sz="3200" baseline="-250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楷体_GB2312" pitchFamily="49" charset="-122"/>
                <a:ea typeface="楷体_GB2312" pitchFamily="49" charset="-122"/>
              </a:rPr>
              <a:t>=0⊕1⊕0⊕1⊕1⊕0⊕</a:t>
            </a:r>
            <a:r>
              <a:rPr lang="en-US" altLang="zh-CN" sz="32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00B0F0"/>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p>
          <a:p>
            <a:pPr eaLnBrk="1" hangingPunct="1"/>
            <a:r>
              <a:rPr kumimoji="1" lang="zh-CN" altLang="en-US" sz="3200" kern="0" dirty="0">
                <a:solidFill>
                  <a:schemeClr val="tx2"/>
                </a:solidFill>
                <a:latin typeface="黑体" pitchFamily="2" charset="-122"/>
                <a:ea typeface="黑体" pitchFamily="2" charset="-122"/>
              </a:rPr>
              <a:t>即</a:t>
            </a:r>
            <a:r>
              <a:rPr kumimoji="1" lang="en-US" altLang="zh-CN" sz="3200" kern="0" dirty="0">
                <a:solidFill>
                  <a:schemeClr val="tx2"/>
                </a:solidFill>
                <a:latin typeface="黑体" pitchFamily="2" charset="-122"/>
                <a:ea typeface="黑体" pitchFamily="2" charset="-122"/>
              </a:rPr>
              <a:t>S4S3S2S1=1111</a:t>
            </a:r>
            <a:r>
              <a:rPr kumimoji="1" lang="zh-CN" altLang="en-US" sz="3200" kern="0" dirty="0">
                <a:solidFill>
                  <a:schemeClr val="tx2"/>
                </a:solidFill>
                <a:latin typeface="黑体" pitchFamily="2" charset="-122"/>
                <a:ea typeface="黑体" pitchFamily="2" charset="-122"/>
              </a:rPr>
              <a:t>，根据重要推论，</a:t>
            </a:r>
            <a:r>
              <a:rPr kumimoji="1" lang="en-US" altLang="zh-CN" sz="3200" kern="0" dirty="0">
                <a:solidFill>
                  <a:schemeClr val="tx2"/>
                </a:solidFill>
                <a:latin typeface="黑体" pitchFamily="2" charset="-122"/>
                <a:ea typeface="黑体" pitchFamily="2" charset="-122"/>
              </a:rPr>
              <a:t>1111</a:t>
            </a:r>
            <a:r>
              <a:rPr kumimoji="1" lang="zh-CN" altLang="en-US" sz="3200" kern="0" dirty="0">
                <a:solidFill>
                  <a:schemeClr val="tx2"/>
                </a:solidFill>
                <a:latin typeface="黑体" pitchFamily="2" charset="-122"/>
                <a:ea typeface="黑体" pitchFamily="2" charset="-122"/>
              </a:rPr>
              <a:t>表示十进制</a:t>
            </a:r>
            <a:r>
              <a:rPr kumimoji="1" lang="en-US" altLang="zh-CN" sz="3200" kern="0" dirty="0">
                <a:solidFill>
                  <a:schemeClr val="tx2"/>
                </a:solidFill>
                <a:latin typeface="黑体" pitchFamily="2" charset="-122"/>
                <a:ea typeface="黑体" pitchFamily="2" charset="-122"/>
              </a:rPr>
              <a:t>15</a:t>
            </a:r>
            <a:r>
              <a:rPr kumimoji="1" lang="zh-CN" altLang="en-US" sz="3200" kern="0" dirty="0">
                <a:solidFill>
                  <a:schemeClr val="tx2"/>
                </a:solidFill>
                <a:latin typeface="黑体" pitchFamily="2" charset="-122"/>
                <a:ea typeface="黑体" pitchFamily="2" charset="-122"/>
              </a:rPr>
              <a:t>，即</a:t>
            </a:r>
            <a:r>
              <a:rPr kumimoji="1" lang="en-US" altLang="zh-CN" sz="3200" kern="0" dirty="0">
                <a:solidFill>
                  <a:schemeClr val="tx2"/>
                </a:solidFill>
                <a:latin typeface="黑体" pitchFamily="2" charset="-122"/>
                <a:ea typeface="黑体" pitchFamily="2" charset="-122"/>
              </a:rPr>
              <a:t>H15</a:t>
            </a:r>
            <a:r>
              <a:rPr kumimoji="1" lang="zh-CN" altLang="en-US" sz="3200" kern="0" dirty="0">
                <a:solidFill>
                  <a:schemeClr val="tx2"/>
                </a:solidFill>
                <a:latin typeface="黑体" pitchFamily="2" charset="-122"/>
                <a:ea typeface="黑体" pitchFamily="2" charset="-122"/>
              </a:rPr>
              <a:t>位出错，就是</a:t>
            </a:r>
            <a:r>
              <a:rPr kumimoji="1" lang="en-US" altLang="zh-CN" sz="3200" kern="0" dirty="0">
                <a:solidFill>
                  <a:schemeClr val="tx2"/>
                </a:solidFill>
                <a:latin typeface="黑体" pitchFamily="2" charset="-122"/>
                <a:ea typeface="黑体" pitchFamily="2" charset="-122"/>
              </a:rPr>
              <a:t>D10</a:t>
            </a:r>
            <a:r>
              <a:rPr kumimoji="1" lang="zh-CN" altLang="en-US" sz="3200" kern="0" dirty="0">
                <a:solidFill>
                  <a:schemeClr val="tx2"/>
                </a:solidFill>
                <a:latin typeface="黑体" pitchFamily="2" charset="-122"/>
                <a:ea typeface="黑体" pitchFamily="2" charset="-122"/>
              </a:rPr>
              <a:t>位出错，与假设一致。</a:t>
            </a:r>
            <a:endParaRPr kumimoji="1" lang="en-US" altLang="zh-CN" sz="3200" kern="0" dirty="0">
              <a:solidFill>
                <a:schemeClr val="tx2"/>
              </a:solidFill>
              <a:latin typeface="黑体" pitchFamily="2" charset="-122"/>
              <a:ea typeface="黑体" pitchFamily="2" charset="-122"/>
            </a:endParaRPr>
          </a:p>
          <a:p>
            <a:pPr algn="l" eaLnBrk="1" hangingPunct="1"/>
            <a:endParaRPr lang="zh-CN" altLang="en-US" sz="3200" dirty="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21860" name="图片 4" descr="海明码编码例子D15错.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5308624"/>
            <a:ext cx="7631112"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830541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Box 1"/>
          <p:cNvSpPr txBox="1">
            <a:spLocks noChangeArrowheads="1"/>
          </p:cNvSpPr>
          <p:nvPr/>
        </p:nvSpPr>
        <p:spPr bwMode="auto">
          <a:xfrm>
            <a:off x="642938" y="1785938"/>
            <a:ext cx="8072437"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如产生错误，</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出错</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p:pic>
        <p:nvPicPr>
          <p:cNvPr id="122883" name="图片 2"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428875"/>
            <a:ext cx="7500937"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5" name="图片 4" descr="海明码编码例子.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143375"/>
            <a:ext cx="7500937"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2" name="图片 7" descr="海明码编码例子-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57688" y="4643438"/>
            <a:ext cx="35718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2371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 calcmode="lin" valueType="num">
                                      <p:cBhvr additive="base">
                                        <p:cTn id="7" dur="500" fill="hold"/>
                                        <p:tgtEl>
                                          <p:spTgt spid="75782"/>
                                        </p:tgtEl>
                                        <p:attrNameLst>
                                          <p:attrName>ppt_x</p:attrName>
                                        </p:attrNameLst>
                                      </p:cBhvr>
                                      <p:tavLst>
                                        <p:tav tm="0">
                                          <p:val>
                                            <p:strVal val="#ppt_x"/>
                                          </p:val>
                                        </p:tav>
                                        <p:tav tm="100000">
                                          <p:val>
                                            <p:strVal val="#ppt_x"/>
                                          </p:val>
                                        </p:tav>
                                      </p:tavLst>
                                    </p:anim>
                                    <p:anim calcmode="lin" valueType="num">
                                      <p:cBhvr additive="base">
                                        <p:cTn id="8" dur="500" fill="hold"/>
                                        <p:tgtEl>
                                          <p:spTgt spid="757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矩形 1"/>
          <p:cNvSpPr>
            <a:spLocks noChangeArrowheads="1"/>
          </p:cNvSpPr>
          <p:nvPr/>
        </p:nvSpPr>
        <p:spPr bwMode="auto">
          <a:xfrm>
            <a:off x="428625" y="1714500"/>
            <a:ext cx="807243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=0⊕1⊕0⊕0⊕0⊕1⊕1⊕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=0⊕1⊕0⊕1⊕0⊕0⊕1⊕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=1⊕1⊕0⊕1⊕1⊕0⊕1⊕</a:t>
            </a:r>
            <a:r>
              <a:rPr lang="en-US" altLang="zh-CN" sz="3200" dirty="0">
                <a:solidFill>
                  <a:srgbClr val="00B0F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=0</a:t>
            </a:r>
            <a:endParaRPr lang="en-US" altLang="zh-CN" sz="3200" baseline="-250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4</a:t>
            </a:r>
            <a:r>
              <a:rPr lang="en-US" altLang="zh-CN" sz="3200" dirty="0">
                <a:solidFill>
                  <a:schemeClr val="tx2"/>
                </a:solidFill>
                <a:latin typeface="楷体_GB2312" pitchFamily="49" charset="-122"/>
                <a:ea typeface="楷体_GB2312" pitchFamily="49" charset="-122"/>
              </a:rPr>
              <a:t>=0⊕1⊕0⊕1⊕1⊕0⊕1⊕</a:t>
            </a:r>
            <a:r>
              <a:rPr lang="en-US" altLang="zh-CN" sz="3200" dirty="0">
                <a:solidFill>
                  <a:srgbClr val="FF0000"/>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4</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p>
          <a:p>
            <a:pPr eaLnBrk="1" hangingPunct="1"/>
            <a:r>
              <a:rPr kumimoji="1" lang="zh-CN" altLang="en-US" sz="3200" kern="0" dirty="0">
                <a:solidFill>
                  <a:schemeClr val="tx2"/>
                </a:solidFill>
                <a:latin typeface="黑体" pitchFamily="2" charset="-122"/>
                <a:ea typeface="黑体" pitchFamily="2" charset="-122"/>
              </a:rPr>
              <a:t>即</a:t>
            </a:r>
            <a:r>
              <a:rPr kumimoji="1" lang="en-US" altLang="zh-CN" sz="3200" kern="0" dirty="0">
                <a:solidFill>
                  <a:schemeClr val="tx2"/>
                </a:solidFill>
                <a:latin typeface="黑体" pitchFamily="2" charset="-122"/>
                <a:ea typeface="黑体" pitchFamily="2" charset="-122"/>
              </a:rPr>
              <a:t>S4S3S2S1=1000</a:t>
            </a:r>
            <a:r>
              <a:rPr kumimoji="1" lang="zh-CN" altLang="en-US" sz="3200" kern="0" dirty="0">
                <a:solidFill>
                  <a:schemeClr val="tx2"/>
                </a:solidFill>
                <a:latin typeface="黑体" pitchFamily="2" charset="-122"/>
                <a:ea typeface="黑体" pitchFamily="2" charset="-122"/>
              </a:rPr>
              <a:t>，根据重要推论，</a:t>
            </a:r>
            <a:r>
              <a:rPr kumimoji="1" lang="en-US" altLang="zh-CN" sz="3200" kern="0" dirty="0">
                <a:solidFill>
                  <a:schemeClr val="tx2"/>
                </a:solidFill>
                <a:latin typeface="黑体" pitchFamily="2" charset="-122"/>
                <a:ea typeface="黑体" pitchFamily="2" charset="-122"/>
              </a:rPr>
              <a:t>1000</a:t>
            </a:r>
            <a:r>
              <a:rPr kumimoji="1" lang="zh-CN" altLang="en-US" sz="3200" kern="0" dirty="0">
                <a:solidFill>
                  <a:schemeClr val="tx2"/>
                </a:solidFill>
                <a:latin typeface="黑体" pitchFamily="2" charset="-122"/>
                <a:ea typeface="黑体" pitchFamily="2" charset="-122"/>
              </a:rPr>
              <a:t>表示十进制</a:t>
            </a:r>
            <a:r>
              <a:rPr kumimoji="1" lang="en-US" altLang="zh-CN" sz="3200" kern="0" dirty="0">
                <a:solidFill>
                  <a:schemeClr val="tx2"/>
                </a:solidFill>
                <a:latin typeface="黑体" pitchFamily="2" charset="-122"/>
                <a:ea typeface="黑体" pitchFamily="2" charset="-122"/>
              </a:rPr>
              <a:t>8</a:t>
            </a:r>
            <a:r>
              <a:rPr kumimoji="1" lang="zh-CN" altLang="en-US" sz="3200" kern="0" dirty="0">
                <a:solidFill>
                  <a:schemeClr val="tx2"/>
                </a:solidFill>
                <a:latin typeface="黑体" pitchFamily="2" charset="-122"/>
                <a:ea typeface="黑体" pitchFamily="2" charset="-122"/>
              </a:rPr>
              <a:t>，即</a:t>
            </a:r>
            <a:r>
              <a:rPr kumimoji="1" lang="en-US" altLang="zh-CN" sz="3200" kern="0" dirty="0">
                <a:solidFill>
                  <a:schemeClr val="tx2"/>
                </a:solidFill>
                <a:latin typeface="黑体" pitchFamily="2" charset="-122"/>
                <a:ea typeface="黑体" pitchFamily="2" charset="-122"/>
              </a:rPr>
              <a:t>H8</a:t>
            </a:r>
            <a:r>
              <a:rPr kumimoji="1" lang="zh-CN" altLang="en-US" sz="3200" kern="0" dirty="0">
                <a:solidFill>
                  <a:schemeClr val="tx2"/>
                </a:solidFill>
                <a:latin typeface="黑体" pitchFamily="2" charset="-122"/>
                <a:ea typeface="黑体" pitchFamily="2" charset="-122"/>
              </a:rPr>
              <a:t>位出错，就是</a:t>
            </a:r>
            <a:r>
              <a:rPr kumimoji="1" lang="en-US" altLang="zh-CN" sz="3200" kern="0" dirty="0">
                <a:solidFill>
                  <a:schemeClr val="tx2"/>
                </a:solidFill>
                <a:latin typeface="黑体" pitchFamily="2" charset="-122"/>
                <a:ea typeface="黑体" pitchFamily="2" charset="-122"/>
              </a:rPr>
              <a:t>P4</a:t>
            </a:r>
            <a:r>
              <a:rPr kumimoji="1" lang="zh-CN" altLang="en-US" sz="3200" kern="0" dirty="0">
                <a:solidFill>
                  <a:schemeClr val="tx2"/>
                </a:solidFill>
                <a:latin typeface="黑体" pitchFamily="2" charset="-122"/>
                <a:ea typeface="黑体" pitchFamily="2" charset="-122"/>
              </a:rPr>
              <a:t>位出错，与假设一致。</a:t>
            </a:r>
            <a:endParaRPr kumimoji="1" lang="en-US" altLang="zh-CN" sz="3200" kern="0" dirty="0">
              <a:solidFill>
                <a:schemeClr val="tx2"/>
              </a:solidFill>
              <a:latin typeface="黑体" pitchFamily="2" charset="-122"/>
              <a:ea typeface="黑体" pitchFamily="2" charset="-122"/>
            </a:endParaRPr>
          </a:p>
          <a:p>
            <a:pPr algn="l" eaLnBrk="1" hangingPunct="1"/>
            <a:endParaRPr lang="zh-CN" altLang="en-US" sz="3200" dirty="0"/>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23908" name="图片 5" descr="海明码编码例子P4错.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8688" y="5380632"/>
            <a:ext cx="7631112"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776700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图片 2" descr="图3.11.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714500"/>
            <a:ext cx="8358188"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Tree>
    <p:extLst>
      <p:ext uri="{BB962C8B-B14F-4D97-AF65-F5344CB8AC3E}">
        <p14:creationId xmlns:p14="http://schemas.microsoft.com/office/powerpoint/2010/main" val="707185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3" name="矩形 2"/>
          <p:cNvSpPr/>
          <p:nvPr/>
        </p:nvSpPr>
        <p:spPr>
          <a:xfrm>
            <a:off x="222052" y="2492896"/>
            <a:ext cx="8740080" cy="5324535"/>
          </a:xfrm>
          <a:prstGeom prst="rect">
            <a:avLst/>
          </a:prstGeom>
        </p:spPr>
        <p:txBody>
          <a:bodyPr wrap="square">
            <a:spAutoFit/>
          </a:bodyPr>
          <a:lstStyle/>
          <a:p>
            <a:r>
              <a:rPr lang="zh-CN" altLang="en-US" sz="3600" b="1" dirty="0">
                <a:solidFill>
                  <a:schemeClr val="tx2"/>
                </a:solidFill>
                <a:latin typeface="楷体_GB2312" pitchFamily="49" charset="-122"/>
                <a:ea typeface="楷体_GB2312" pitchFamily="49" charset="-122"/>
              </a:rPr>
              <a:t>海明码校验电路原理：将</a:t>
            </a:r>
            <a:r>
              <a:rPr lang="en-US" altLang="zh-CN" sz="3600" b="1" dirty="0">
                <a:solidFill>
                  <a:schemeClr val="tx2"/>
                </a:solidFill>
                <a:latin typeface="楷体_GB2312" pitchFamily="49" charset="-122"/>
                <a:ea typeface="楷体_GB2312" pitchFamily="49" charset="-122"/>
              </a:rPr>
              <a:t>S4S3S2S1</a:t>
            </a:r>
            <a:r>
              <a:rPr lang="zh-CN" altLang="en-US" sz="3600" b="1" dirty="0">
                <a:solidFill>
                  <a:schemeClr val="tx2"/>
                </a:solidFill>
                <a:latin typeface="楷体_GB2312" pitchFamily="49" charset="-122"/>
                <a:ea typeface="楷体_GB2312" pitchFamily="49" charset="-122"/>
              </a:rPr>
              <a:t>所校验的位分别作为奇偶形成电路的输入，以此计算出</a:t>
            </a:r>
            <a:r>
              <a:rPr lang="en-US" altLang="zh-CN" sz="3600" b="1" dirty="0">
                <a:solidFill>
                  <a:schemeClr val="tx2"/>
                </a:solidFill>
                <a:latin typeface="楷体_GB2312" pitchFamily="49" charset="-122"/>
                <a:ea typeface="楷体_GB2312" pitchFamily="49" charset="-122"/>
              </a:rPr>
              <a:t>S4S3S2S1</a:t>
            </a:r>
            <a:r>
              <a:rPr lang="zh-CN" altLang="en-US" sz="3600" b="1" dirty="0">
                <a:solidFill>
                  <a:schemeClr val="tx2"/>
                </a:solidFill>
                <a:latin typeface="楷体_GB2312" pitchFamily="49" charset="-122"/>
                <a:ea typeface="楷体_GB2312" pitchFamily="49" charset="-122"/>
              </a:rPr>
              <a:t>，将</a:t>
            </a:r>
            <a:r>
              <a:rPr lang="en-US" altLang="zh-CN" sz="3600" b="1" dirty="0">
                <a:solidFill>
                  <a:schemeClr val="tx2"/>
                </a:solidFill>
                <a:latin typeface="楷体_GB2312" pitchFamily="49" charset="-122"/>
                <a:ea typeface="楷体_GB2312" pitchFamily="49" charset="-122"/>
              </a:rPr>
              <a:t>S4S3S2S1</a:t>
            </a:r>
            <a:r>
              <a:rPr lang="zh-CN" altLang="en-US" sz="3600" b="1" dirty="0">
                <a:solidFill>
                  <a:schemeClr val="tx2"/>
                </a:solidFill>
                <a:latin typeface="楷体_GB2312" pitchFamily="49" charset="-122"/>
                <a:ea typeface="楷体_GB2312" pitchFamily="49" charset="-122"/>
              </a:rPr>
              <a:t>作为</a:t>
            </a:r>
            <a:r>
              <a:rPr lang="en-US" altLang="zh-CN" sz="3600" b="1" dirty="0">
                <a:solidFill>
                  <a:schemeClr val="tx2"/>
                </a:solidFill>
                <a:latin typeface="楷体_GB2312" pitchFamily="49" charset="-122"/>
                <a:ea typeface="楷体_GB2312" pitchFamily="49" charset="-122"/>
              </a:rPr>
              <a:t>4-16</a:t>
            </a:r>
            <a:r>
              <a:rPr lang="zh-CN" altLang="en-US" sz="3600" b="1" dirty="0">
                <a:solidFill>
                  <a:schemeClr val="tx2"/>
                </a:solidFill>
                <a:latin typeface="楷体_GB2312" pitchFamily="49" charset="-122"/>
                <a:ea typeface="楷体_GB2312" pitchFamily="49" charset="-122"/>
              </a:rPr>
              <a:t>译码器的输入可产生哪一位出错。</a:t>
            </a:r>
            <a:r>
              <a:rPr lang="en-US" altLang="zh-CN" sz="3600" b="1" dirty="0">
                <a:solidFill>
                  <a:schemeClr val="tx2"/>
                </a:solidFill>
                <a:latin typeface="楷体_GB2312" pitchFamily="49" charset="-122"/>
                <a:ea typeface="楷体_GB2312" pitchFamily="49" charset="-122"/>
              </a:rPr>
              <a:t>4-16</a:t>
            </a:r>
            <a:r>
              <a:rPr lang="zh-CN" altLang="en-US" sz="3600" b="1" dirty="0">
                <a:solidFill>
                  <a:schemeClr val="tx2"/>
                </a:solidFill>
                <a:latin typeface="楷体_GB2312" pitchFamily="49" charset="-122"/>
                <a:ea typeface="楷体_GB2312" pitchFamily="49" charset="-122"/>
              </a:rPr>
              <a:t>译码器的功能表如下：</a:t>
            </a:r>
            <a:endParaRPr lang="en-US" altLang="zh-CN" sz="36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zh-CN" altLang="en-US" sz="32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0228716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3" name="矩形 2"/>
          <p:cNvSpPr/>
          <p:nvPr/>
        </p:nvSpPr>
        <p:spPr>
          <a:xfrm>
            <a:off x="251520" y="1413351"/>
            <a:ext cx="8740080" cy="2554545"/>
          </a:xfrm>
          <a:prstGeom prst="rect">
            <a:avLst/>
          </a:prstGeom>
        </p:spPr>
        <p:txBody>
          <a:bodyPr wrap="square">
            <a:spAutoFit/>
          </a:bodyPr>
          <a:lstStyle/>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zh-CN" altLang="en-US" sz="3200" b="1" dirty="0">
              <a:solidFill>
                <a:schemeClr val="tx2"/>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698970175"/>
              </p:ext>
            </p:extLst>
          </p:nvPr>
        </p:nvGraphicFramePr>
        <p:xfrm>
          <a:off x="179512" y="1684744"/>
          <a:ext cx="8712968" cy="3931920"/>
        </p:xfrm>
        <a:graphic>
          <a:graphicData uri="http://schemas.openxmlformats.org/drawingml/2006/table">
            <a:tbl>
              <a:tblPr firstRow="1" bandRow="1">
                <a:tableStyleId>{5940675A-B579-460E-94D1-54222C63F5DA}</a:tableStyleId>
              </a:tblPr>
              <a:tblGrid>
                <a:gridCol w="378042">
                  <a:extLst>
                    <a:ext uri="{9D8B030D-6E8A-4147-A177-3AD203B41FA5}">
                      <a16:colId xmlns:a16="http://schemas.microsoft.com/office/drawing/2014/main" val="20000"/>
                    </a:ext>
                  </a:extLst>
                </a:gridCol>
                <a:gridCol w="378042">
                  <a:extLst>
                    <a:ext uri="{9D8B030D-6E8A-4147-A177-3AD203B41FA5}">
                      <a16:colId xmlns:a16="http://schemas.microsoft.com/office/drawing/2014/main" val="20001"/>
                    </a:ext>
                  </a:extLst>
                </a:gridCol>
                <a:gridCol w="378042">
                  <a:extLst>
                    <a:ext uri="{9D8B030D-6E8A-4147-A177-3AD203B41FA5}">
                      <a16:colId xmlns:a16="http://schemas.microsoft.com/office/drawing/2014/main" val="20002"/>
                    </a:ext>
                  </a:extLst>
                </a:gridCol>
                <a:gridCol w="378042">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801089">
                  <a:extLst>
                    <a:ext uri="{9D8B030D-6E8A-4147-A177-3AD203B41FA5}">
                      <a16:colId xmlns:a16="http://schemas.microsoft.com/office/drawing/2014/main" val="20005"/>
                    </a:ext>
                  </a:extLst>
                </a:gridCol>
                <a:gridCol w="801089">
                  <a:extLst>
                    <a:ext uri="{9D8B030D-6E8A-4147-A177-3AD203B41FA5}">
                      <a16:colId xmlns:a16="http://schemas.microsoft.com/office/drawing/2014/main" val="20006"/>
                    </a:ext>
                  </a:extLst>
                </a:gridCol>
                <a:gridCol w="801089">
                  <a:extLst>
                    <a:ext uri="{9D8B030D-6E8A-4147-A177-3AD203B41FA5}">
                      <a16:colId xmlns:a16="http://schemas.microsoft.com/office/drawing/2014/main" val="20007"/>
                    </a:ext>
                  </a:extLst>
                </a:gridCol>
                <a:gridCol w="801089">
                  <a:extLst>
                    <a:ext uri="{9D8B030D-6E8A-4147-A177-3AD203B41FA5}">
                      <a16:colId xmlns:a16="http://schemas.microsoft.com/office/drawing/2014/main" val="20008"/>
                    </a:ext>
                  </a:extLst>
                </a:gridCol>
                <a:gridCol w="801089">
                  <a:extLst>
                    <a:ext uri="{9D8B030D-6E8A-4147-A177-3AD203B41FA5}">
                      <a16:colId xmlns:a16="http://schemas.microsoft.com/office/drawing/2014/main" val="20009"/>
                    </a:ext>
                  </a:extLst>
                </a:gridCol>
                <a:gridCol w="801089">
                  <a:extLst>
                    <a:ext uri="{9D8B030D-6E8A-4147-A177-3AD203B41FA5}">
                      <a16:colId xmlns:a16="http://schemas.microsoft.com/office/drawing/2014/main" val="20010"/>
                    </a:ext>
                  </a:extLst>
                </a:gridCol>
                <a:gridCol w="801089">
                  <a:extLst>
                    <a:ext uri="{9D8B030D-6E8A-4147-A177-3AD203B41FA5}">
                      <a16:colId xmlns:a16="http://schemas.microsoft.com/office/drawing/2014/main" val="20011"/>
                    </a:ext>
                  </a:extLst>
                </a:gridCol>
                <a:gridCol w="801089">
                  <a:extLst>
                    <a:ext uri="{9D8B030D-6E8A-4147-A177-3AD203B41FA5}">
                      <a16:colId xmlns:a16="http://schemas.microsoft.com/office/drawing/2014/main" val="20012"/>
                    </a:ext>
                  </a:extLst>
                </a:gridCol>
              </a:tblGrid>
              <a:tr h="243027">
                <a:tc>
                  <a:txBody>
                    <a:bodyPr/>
                    <a:lstStyle/>
                    <a:p>
                      <a:r>
                        <a:rPr lang="en-US" altLang="zh-CN" dirty="0"/>
                        <a:t>S4</a:t>
                      </a:r>
                      <a:endParaRPr lang="zh-CN" altLang="en-US" dirty="0"/>
                    </a:p>
                  </a:txBody>
                  <a:tcPr>
                    <a:solidFill>
                      <a:srgbClr val="FFFF00"/>
                    </a:solidFill>
                  </a:tcPr>
                </a:tc>
                <a:tc>
                  <a:txBody>
                    <a:bodyPr/>
                    <a:lstStyle/>
                    <a:p>
                      <a:r>
                        <a:rPr lang="en-US" altLang="zh-CN" dirty="0"/>
                        <a:t>S3</a:t>
                      </a:r>
                      <a:endParaRPr lang="zh-CN" altLang="en-US" dirty="0"/>
                    </a:p>
                  </a:txBody>
                  <a:tcPr>
                    <a:solidFill>
                      <a:srgbClr val="FFFF00"/>
                    </a:solidFill>
                  </a:tcPr>
                </a:tc>
                <a:tc>
                  <a:txBody>
                    <a:bodyPr/>
                    <a:lstStyle/>
                    <a:p>
                      <a:r>
                        <a:rPr lang="en-US" altLang="zh-CN" dirty="0"/>
                        <a:t>S2</a:t>
                      </a:r>
                      <a:endParaRPr lang="zh-CN" altLang="en-US" dirty="0"/>
                    </a:p>
                  </a:txBody>
                  <a:tcPr>
                    <a:solidFill>
                      <a:srgbClr val="FFFF00"/>
                    </a:solidFill>
                  </a:tcPr>
                </a:tc>
                <a:tc>
                  <a:txBody>
                    <a:bodyPr/>
                    <a:lstStyle/>
                    <a:p>
                      <a:r>
                        <a:rPr lang="en-US" altLang="zh-CN" dirty="0"/>
                        <a:t>S1</a:t>
                      </a:r>
                      <a:endParaRPr lang="zh-CN" altLang="en-US" dirty="0"/>
                    </a:p>
                  </a:txBody>
                  <a:tcPr>
                    <a:solidFill>
                      <a:srgbClr val="FFFF00"/>
                    </a:solidFill>
                  </a:tcPr>
                </a:tc>
                <a:tc>
                  <a:txBody>
                    <a:bodyPr/>
                    <a:lstStyle/>
                    <a:p>
                      <a:r>
                        <a:rPr lang="zh-CN" altLang="en-US" dirty="0"/>
                        <a:t>出错位</a:t>
                      </a:r>
                    </a:p>
                  </a:txBody>
                  <a:tcPr>
                    <a:solidFill>
                      <a:srgbClr val="FFFF00"/>
                    </a:solidFill>
                  </a:tcPr>
                </a:tc>
                <a:tc>
                  <a:txBody>
                    <a:bodyPr/>
                    <a:lstStyle/>
                    <a:p>
                      <a:r>
                        <a:rPr lang="en-US" altLang="zh-CN" dirty="0"/>
                        <a:t>D8</a:t>
                      </a:r>
                    </a:p>
                    <a:p>
                      <a:r>
                        <a:rPr lang="en-US" altLang="zh-CN" dirty="0"/>
                        <a:t>/H12</a:t>
                      </a:r>
                      <a:endParaRPr lang="zh-CN" altLang="en-US" dirty="0"/>
                    </a:p>
                  </a:txBody>
                  <a:tcPr>
                    <a:solidFill>
                      <a:srgbClr val="A7E8FF"/>
                    </a:solidFill>
                  </a:tcPr>
                </a:tc>
                <a:tc>
                  <a:txBody>
                    <a:bodyPr/>
                    <a:lstStyle/>
                    <a:p>
                      <a:r>
                        <a:rPr lang="en-US" altLang="zh-CN" dirty="0"/>
                        <a:t>D7</a:t>
                      </a:r>
                    </a:p>
                    <a:p>
                      <a:r>
                        <a:rPr lang="en-US" altLang="zh-CN" dirty="0"/>
                        <a:t>/H11</a:t>
                      </a:r>
                      <a:endParaRPr lang="zh-CN" altLang="en-US" dirty="0"/>
                    </a:p>
                  </a:txBody>
                  <a:tcPr>
                    <a:solidFill>
                      <a:srgbClr val="A7E8FF"/>
                    </a:solidFill>
                  </a:tcPr>
                </a:tc>
                <a:tc>
                  <a:txBody>
                    <a:bodyPr/>
                    <a:lstStyle/>
                    <a:p>
                      <a:r>
                        <a:rPr lang="en-US" altLang="zh-CN" dirty="0"/>
                        <a:t>D6</a:t>
                      </a:r>
                    </a:p>
                    <a:p>
                      <a:r>
                        <a:rPr lang="en-US" altLang="zh-CN" dirty="0"/>
                        <a:t>/H10</a:t>
                      </a:r>
                      <a:endParaRPr lang="zh-CN" altLang="en-US" dirty="0"/>
                    </a:p>
                  </a:txBody>
                  <a:tcPr>
                    <a:solidFill>
                      <a:srgbClr val="A7E8FF"/>
                    </a:solidFill>
                  </a:tcPr>
                </a:tc>
                <a:tc>
                  <a:txBody>
                    <a:bodyPr/>
                    <a:lstStyle/>
                    <a:p>
                      <a:r>
                        <a:rPr lang="en-US" altLang="zh-CN" dirty="0"/>
                        <a:t>D5</a:t>
                      </a:r>
                    </a:p>
                    <a:p>
                      <a:r>
                        <a:rPr lang="en-US" altLang="zh-CN" dirty="0"/>
                        <a:t>/H9</a:t>
                      </a:r>
                      <a:endParaRPr lang="zh-CN" altLang="en-US" dirty="0"/>
                    </a:p>
                  </a:txBody>
                  <a:tcPr>
                    <a:solidFill>
                      <a:srgbClr val="A7E8FF"/>
                    </a:solidFill>
                  </a:tcPr>
                </a:tc>
                <a:tc>
                  <a:txBody>
                    <a:bodyPr/>
                    <a:lstStyle/>
                    <a:p>
                      <a:r>
                        <a:rPr lang="en-US" altLang="zh-CN" dirty="0"/>
                        <a:t>D4</a:t>
                      </a:r>
                    </a:p>
                    <a:p>
                      <a:r>
                        <a:rPr lang="en-US" altLang="zh-CN" dirty="0"/>
                        <a:t>/H7</a:t>
                      </a:r>
                      <a:endParaRPr lang="zh-CN" altLang="en-US" dirty="0"/>
                    </a:p>
                  </a:txBody>
                  <a:tcPr>
                    <a:solidFill>
                      <a:srgbClr val="A7E8FF"/>
                    </a:solidFill>
                  </a:tcPr>
                </a:tc>
                <a:tc>
                  <a:txBody>
                    <a:bodyPr/>
                    <a:lstStyle/>
                    <a:p>
                      <a:r>
                        <a:rPr lang="en-US" altLang="zh-CN" dirty="0"/>
                        <a:t>D3</a:t>
                      </a:r>
                    </a:p>
                    <a:p>
                      <a:r>
                        <a:rPr lang="en-US" altLang="zh-CN" dirty="0"/>
                        <a:t>/H6</a:t>
                      </a:r>
                      <a:endParaRPr lang="zh-CN" altLang="en-US" dirty="0"/>
                    </a:p>
                  </a:txBody>
                  <a:tcPr>
                    <a:solidFill>
                      <a:srgbClr val="A7E8FF"/>
                    </a:solidFill>
                  </a:tcPr>
                </a:tc>
                <a:tc>
                  <a:txBody>
                    <a:bodyPr/>
                    <a:lstStyle/>
                    <a:p>
                      <a:r>
                        <a:rPr lang="en-US" altLang="zh-CN" dirty="0"/>
                        <a:t>D2</a:t>
                      </a:r>
                    </a:p>
                    <a:p>
                      <a:r>
                        <a:rPr lang="en-US" altLang="zh-CN" dirty="0"/>
                        <a:t>/H5</a:t>
                      </a:r>
                      <a:endParaRPr lang="zh-CN" altLang="en-US" dirty="0"/>
                    </a:p>
                  </a:txBody>
                  <a:tcPr>
                    <a:solidFill>
                      <a:srgbClr val="A7E8FF"/>
                    </a:solidFill>
                  </a:tcPr>
                </a:tc>
                <a:tc>
                  <a:txBody>
                    <a:bodyPr/>
                    <a:lstStyle/>
                    <a:p>
                      <a:r>
                        <a:rPr lang="en-US" altLang="zh-CN" dirty="0"/>
                        <a:t>D1</a:t>
                      </a:r>
                    </a:p>
                    <a:p>
                      <a:r>
                        <a:rPr lang="en-US" altLang="zh-CN" dirty="0"/>
                        <a:t>/H3</a:t>
                      </a:r>
                      <a:endParaRPr lang="zh-CN" altLang="en-US" dirty="0"/>
                    </a:p>
                  </a:txBody>
                  <a:tcPr>
                    <a:solidFill>
                      <a:srgbClr val="A7E8FF"/>
                    </a:solidFill>
                  </a:tcPr>
                </a:tc>
                <a:extLst>
                  <a:ext uri="{0D108BD9-81ED-4DB2-BD59-A6C34878D82A}">
                    <a16:rowId xmlns:a16="http://schemas.microsoft.com/office/drawing/2014/main" val="10000"/>
                  </a:ext>
                </a:extLst>
              </a:tr>
              <a:tr h="243027">
                <a:tc>
                  <a:txBody>
                    <a:bodyPr/>
                    <a:lstStyle/>
                    <a:p>
                      <a:r>
                        <a:rPr lang="en-US" altLang="zh-CN" dirty="0">
                          <a:solidFill>
                            <a:schemeClr val="tx1"/>
                          </a:solidFill>
                        </a:rPr>
                        <a:t>1</a:t>
                      </a:r>
                      <a:endParaRPr lang="zh-CN" altLang="en-US" dirty="0">
                        <a:solidFill>
                          <a:schemeClr val="tx1"/>
                        </a:solidFill>
                      </a:endParaRPr>
                    </a:p>
                  </a:txBody>
                  <a:tcPr>
                    <a:solidFill>
                      <a:srgbClr val="FFFF00"/>
                    </a:solidFill>
                  </a:tcPr>
                </a:tc>
                <a:tc>
                  <a:txBody>
                    <a:bodyPr/>
                    <a:lstStyle/>
                    <a:p>
                      <a:r>
                        <a:rPr lang="en-US" altLang="zh-CN" dirty="0">
                          <a:solidFill>
                            <a:schemeClr val="tx1"/>
                          </a:solidFill>
                        </a:rPr>
                        <a:t>1</a:t>
                      </a:r>
                      <a:endParaRPr lang="zh-CN" altLang="en-US" dirty="0">
                        <a:solidFill>
                          <a:schemeClr val="tx1"/>
                        </a:solidFill>
                      </a:endParaRPr>
                    </a:p>
                  </a:txBody>
                  <a:tcPr>
                    <a:solidFill>
                      <a:srgbClr val="FFFF00"/>
                    </a:solidFill>
                  </a:tcPr>
                </a:tc>
                <a:tc>
                  <a:txBody>
                    <a:bodyPr/>
                    <a:lstStyle/>
                    <a:p>
                      <a:r>
                        <a:rPr lang="en-US" altLang="zh-CN" dirty="0">
                          <a:solidFill>
                            <a:schemeClr val="tx1"/>
                          </a:solidFill>
                        </a:rPr>
                        <a:t>0</a:t>
                      </a:r>
                      <a:endParaRPr lang="zh-CN" altLang="en-US" dirty="0">
                        <a:solidFill>
                          <a:schemeClr val="tx1"/>
                        </a:solidFill>
                      </a:endParaRPr>
                    </a:p>
                  </a:txBody>
                  <a:tcPr>
                    <a:solidFill>
                      <a:srgbClr val="FFFF00"/>
                    </a:solidFill>
                  </a:tcPr>
                </a:tc>
                <a:tc>
                  <a:txBody>
                    <a:bodyPr/>
                    <a:lstStyle/>
                    <a:p>
                      <a:r>
                        <a:rPr lang="en-US" altLang="zh-CN" dirty="0">
                          <a:solidFill>
                            <a:schemeClr val="tx1"/>
                          </a:solidFill>
                        </a:rPr>
                        <a:t>0</a:t>
                      </a:r>
                      <a:endParaRPr lang="zh-CN" altLang="en-US" dirty="0">
                        <a:solidFill>
                          <a:schemeClr val="tx1"/>
                        </a:solidFill>
                      </a:endParaRPr>
                    </a:p>
                  </a:txBody>
                  <a:tcPr>
                    <a:solidFill>
                      <a:srgbClr val="FFFF00"/>
                    </a:solidFill>
                  </a:tcPr>
                </a:tc>
                <a:tc>
                  <a:txBody>
                    <a:bodyPr/>
                    <a:lstStyle/>
                    <a:p>
                      <a:r>
                        <a:rPr lang="en-US" altLang="zh-CN" dirty="0">
                          <a:solidFill>
                            <a:schemeClr val="tx1"/>
                          </a:solidFill>
                        </a:rPr>
                        <a:t>H12</a:t>
                      </a:r>
                      <a:endParaRPr lang="zh-CN" altLang="en-US" dirty="0">
                        <a:solidFill>
                          <a:schemeClr val="tx1"/>
                        </a:solidFill>
                      </a:endParaRPr>
                    </a:p>
                  </a:txBody>
                  <a:tcPr>
                    <a:solidFill>
                      <a:srgbClr val="FFFF00"/>
                    </a:solidFill>
                  </a:tcPr>
                </a:tc>
                <a:tc>
                  <a:txBody>
                    <a:bodyPr/>
                    <a:lstStyle/>
                    <a:p>
                      <a:r>
                        <a:rPr lang="en-US" altLang="zh-CN" b="1" dirty="0">
                          <a:solidFill>
                            <a:srgbClr val="FF0000"/>
                          </a:solidFill>
                        </a:rPr>
                        <a:t>1</a:t>
                      </a:r>
                      <a:r>
                        <a:rPr lang="en-US" altLang="zh-CN" sz="900" b="1" dirty="0">
                          <a:solidFill>
                            <a:srgbClr val="FF0000"/>
                          </a:solidFill>
                        </a:rPr>
                        <a:t>(</a:t>
                      </a:r>
                      <a:r>
                        <a:rPr lang="zh-CN" altLang="en-US" sz="900" b="1" dirty="0">
                          <a:solidFill>
                            <a:srgbClr val="FF0000"/>
                          </a:solidFill>
                        </a:rPr>
                        <a:t>出错</a:t>
                      </a:r>
                      <a:r>
                        <a:rPr lang="en-US" altLang="zh-CN" sz="900" b="1" dirty="0">
                          <a:solidFill>
                            <a:srgbClr val="FF0000"/>
                          </a:solidFill>
                        </a:rPr>
                        <a:t>)</a:t>
                      </a:r>
                      <a:endParaRPr lang="zh-CN" altLang="en-US" sz="900" b="1" dirty="0">
                        <a:solidFill>
                          <a:srgbClr val="FF0000"/>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tc>
                  <a:txBody>
                    <a:bodyPr/>
                    <a:lstStyle/>
                    <a:p>
                      <a:r>
                        <a:rPr lang="en-US" altLang="zh-CN" dirty="0">
                          <a:solidFill>
                            <a:schemeClr val="tx1"/>
                          </a:solidFill>
                        </a:rPr>
                        <a:t>0</a:t>
                      </a:r>
                      <a:endParaRPr lang="zh-CN" altLang="en-US" dirty="0">
                        <a:solidFill>
                          <a:schemeClr val="tx1"/>
                        </a:solidFill>
                      </a:endParaRPr>
                    </a:p>
                  </a:txBody>
                  <a:tcPr/>
                </a:tc>
                <a:extLst>
                  <a:ext uri="{0D108BD9-81ED-4DB2-BD59-A6C34878D82A}">
                    <a16:rowId xmlns:a16="http://schemas.microsoft.com/office/drawing/2014/main" val="10001"/>
                  </a:ext>
                </a:extLst>
              </a:tr>
              <a:tr h="243027">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H11</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b="1" dirty="0">
                          <a:solidFill>
                            <a:srgbClr val="FF0000"/>
                          </a:solidFill>
                        </a:rPr>
                        <a:t>1</a:t>
                      </a:r>
                      <a:endParaRPr lang="zh-CN" altLang="en-US" sz="1800" b="1" dirty="0">
                        <a:solidFill>
                          <a:srgbClr val="FF0000"/>
                        </a:solidFill>
                      </a:endParaRPr>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2"/>
                  </a:ext>
                </a:extLst>
              </a:tr>
              <a:tr h="243027">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H10</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3"/>
                  </a:ext>
                </a:extLst>
              </a:tr>
              <a:tr h="243027">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H9</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4"/>
                  </a:ext>
                </a:extLst>
              </a:tr>
              <a:tr h="243027">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H7</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5"/>
                  </a:ext>
                </a:extLst>
              </a:tr>
              <a:tr h="243027">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H6</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0006"/>
                  </a:ext>
                </a:extLst>
              </a:tr>
              <a:tr h="243027">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H5</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tc>
                  <a:txBody>
                    <a:bodyPr/>
                    <a:lstStyle/>
                    <a:p>
                      <a:r>
                        <a:rPr lang="en-US" altLang="zh-CN" dirty="0"/>
                        <a:t>0</a:t>
                      </a:r>
                      <a:endParaRPr lang="zh-CN" altLang="en-US" dirty="0"/>
                    </a:p>
                  </a:txBody>
                  <a:tcPr/>
                </a:tc>
                <a:extLst>
                  <a:ext uri="{0D108BD9-81ED-4DB2-BD59-A6C34878D82A}">
                    <a16:rowId xmlns:a16="http://schemas.microsoft.com/office/drawing/2014/main" val="10007"/>
                  </a:ext>
                </a:extLst>
              </a:tr>
              <a:tr h="243027">
                <a:tc>
                  <a:txBody>
                    <a:bodyPr/>
                    <a:lstStyle/>
                    <a:p>
                      <a:r>
                        <a:rPr lang="en-US" altLang="zh-CN" dirty="0"/>
                        <a:t>0</a:t>
                      </a:r>
                      <a:endParaRPr lang="zh-CN" altLang="en-US" dirty="0"/>
                    </a:p>
                  </a:txBody>
                  <a:tcPr>
                    <a:solidFill>
                      <a:srgbClr val="FFFF00"/>
                    </a:solidFill>
                  </a:tcPr>
                </a:tc>
                <a:tc>
                  <a:txBody>
                    <a:bodyPr/>
                    <a:lstStyle/>
                    <a:p>
                      <a:r>
                        <a:rPr lang="en-US" altLang="zh-CN" dirty="0"/>
                        <a:t>0</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1</a:t>
                      </a:r>
                      <a:endParaRPr lang="zh-CN" altLang="en-US" dirty="0"/>
                    </a:p>
                  </a:txBody>
                  <a:tcPr>
                    <a:solidFill>
                      <a:srgbClr val="FFFF00"/>
                    </a:solidFill>
                  </a:tcPr>
                </a:tc>
                <a:tc>
                  <a:txBody>
                    <a:bodyPr/>
                    <a:lstStyle/>
                    <a:p>
                      <a:r>
                        <a:rPr lang="en-US" altLang="zh-CN" dirty="0"/>
                        <a:t>H3</a:t>
                      </a:r>
                      <a:endParaRPr lang="zh-CN" altLang="en-US" dirty="0"/>
                    </a:p>
                  </a:txBody>
                  <a:tcPr>
                    <a:solidFill>
                      <a:srgbClr val="FFFF00"/>
                    </a:solidFill>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pPr marL="0" algn="l" defTabSz="914400" rtl="0" eaLnBrk="1" latinLnBrk="0" hangingPunct="1"/>
                      <a:r>
                        <a:rPr lang="en-US" altLang="zh-CN" sz="1800" b="1" kern="1200" dirty="0">
                          <a:solidFill>
                            <a:srgbClr val="FF0000"/>
                          </a:solidFill>
                          <a:latin typeface="+mn-lt"/>
                          <a:ea typeface="+mn-ea"/>
                          <a:cs typeface="+mn-cs"/>
                        </a:rPr>
                        <a:t>1</a:t>
                      </a:r>
                      <a:endParaRPr lang="zh-CN" altLang="en-US" sz="1800" b="1" kern="1200" dirty="0">
                        <a:solidFill>
                          <a:srgbClr val="FF0000"/>
                        </a:solidFill>
                        <a:latin typeface="+mn-lt"/>
                        <a:ea typeface="+mn-ea"/>
                        <a:cs typeface="+mn-cs"/>
                      </a:endParaRPr>
                    </a:p>
                  </a:txBody>
                  <a:tcPr/>
                </a:tc>
                <a:extLst>
                  <a:ext uri="{0D108BD9-81ED-4DB2-BD59-A6C34878D82A}">
                    <a16:rowId xmlns:a16="http://schemas.microsoft.com/office/drawing/2014/main" val="10008"/>
                  </a:ext>
                </a:extLst>
              </a:tr>
              <a:tr h="205680">
                <a:tc gridSpan="4">
                  <a:txBody>
                    <a:bodyPr/>
                    <a:lstStyle/>
                    <a:p>
                      <a:r>
                        <a:rPr lang="zh-CN" altLang="en-US" dirty="0">
                          <a:solidFill>
                            <a:srgbClr val="00B0F0"/>
                          </a:solidFill>
                        </a:rPr>
                        <a:t>其他</a:t>
                      </a:r>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tc>
                  <a:txBody>
                    <a:bodyPr/>
                    <a:lstStyle/>
                    <a:p>
                      <a:r>
                        <a:rPr lang="en-US" altLang="zh-CN" dirty="0">
                          <a:solidFill>
                            <a:srgbClr val="00B0F0"/>
                          </a:solidFill>
                        </a:rPr>
                        <a:t>0</a:t>
                      </a:r>
                      <a:endParaRPr lang="zh-CN" altLang="en-US" dirty="0">
                        <a:solidFill>
                          <a:srgbClr val="00B0F0"/>
                        </a:solidFill>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0365724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3" name="矩形 2"/>
          <p:cNvSpPr/>
          <p:nvPr/>
        </p:nvSpPr>
        <p:spPr>
          <a:xfrm>
            <a:off x="251520" y="1484784"/>
            <a:ext cx="8740080" cy="4524315"/>
          </a:xfrm>
          <a:prstGeom prst="rect">
            <a:avLst/>
          </a:prstGeom>
        </p:spPr>
        <p:txBody>
          <a:bodyPr wrap="square">
            <a:spAutoFit/>
          </a:bodyPr>
          <a:lstStyle/>
          <a:p>
            <a:r>
              <a:rPr lang="zh-CN" altLang="en-US" sz="2400" b="1" dirty="0">
                <a:solidFill>
                  <a:schemeClr val="tx2"/>
                </a:solidFill>
                <a:latin typeface="楷体_GB2312" pitchFamily="49" charset="-122"/>
                <a:ea typeface="楷体_GB2312" pitchFamily="49" charset="-122"/>
              </a:rPr>
              <a:t>若数字位没有错误，则有错位为</a:t>
            </a:r>
            <a:r>
              <a:rPr lang="en-US" altLang="zh-CN" sz="2400" b="1" dirty="0">
                <a:solidFill>
                  <a:schemeClr val="tx2"/>
                </a:solidFill>
                <a:latin typeface="楷体_GB2312" pitchFamily="49" charset="-122"/>
                <a:ea typeface="楷体_GB2312" pitchFamily="49" charset="-122"/>
              </a:rPr>
              <a:t>0</a:t>
            </a:r>
            <a:r>
              <a:rPr lang="zh-CN" altLang="en-US" sz="2400" b="1" dirty="0">
                <a:solidFill>
                  <a:schemeClr val="tx2"/>
                </a:solidFill>
                <a:latin typeface="楷体_GB2312" pitchFamily="49" charset="-122"/>
                <a:ea typeface="楷体_GB2312" pitchFamily="49" charset="-122"/>
              </a:rPr>
              <a:t>无错位为</a:t>
            </a:r>
            <a:r>
              <a:rPr lang="en-US" altLang="zh-CN" sz="2400" b="1" dirty="0">
                <a:solidFill>
                  <a:schemeClr val="tx2"/>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表示没有错误。不用校验。</a:t>
            </a:r>
            <a:endParaRPr lang="en-US" altLang="zh-CN" sz="2400" b="1" dirty="0">
              <a:solidFill>
                <a:schemeClr val="tx2"/>
              </a:solidFill>
              <a:latin typeface="楷体_GB2312" pitchFamily="49" charset="-122"/>
              <a:ea typeface="楷体_GB2312" pitchFamily="49" charset="-122"/>
            </a:endParaRPr>
          </a:p>
          <a:p>
            <a:r>
              <a:rPr lang="zh-CN" altLang="en-US" sz="2400" b="1" dirty="0">
                <a:solidFill>
                  <a:schemeClr val="tx2"/>
                </a:solidFill>
                <a:latin typeface="楷体_GB2312" pitchFamily="49" charset="-122"/>
                <a:ea typeface="楷体_GB2312" pitchFamily="49" charset="-122"/>
              </a:rPr>
              <a:t>若数字为出现错误，则有错位为</a:t>
            </a:r>
            <a:r>
              <a:rPr lang="en-US" altLang="zh-CN" sz="2400" b="1" dirty="0">
                <a:solidFill>
                  <a:schemeClr val="tx2"/>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无错位为</a:t>
            </a:r>
            <a:r>
              <a:rPr lang="en-US" altLang="zh-CN" sz="2400" b="1" dirty="0">
                <a:solidFill>
                  <a:schemeClr val="tx2"/>
                </a:solidFill>
                <a:latin typeface="楷体_GB2312" pitchFamily="49" charset="-122"/>
                <a:ea typeface="楷体_GB2312" pitchFamily="49" charset="-122"/>
              </a:rPr>
              <a:t>0</a:t>
            </a:r>
            <a:r>
              <a:rPr lang="zh-CN" altLang="en-US" sz="2400" b="1" dirty="0">
                <a:solidFill>
                  <a:schemeClr val="tx2"/>
                </a:solidFill>
                <a:latin typeface="楷体_GB2312" pitchFamily="49" charset="-122"/>
                <a:ea typeface="楷体_GB2312" pitchFamily="49" charset="-122"/>
              </a:rPr>
              <a:t>表示数字位出错，需要校验，考察</a:t>
            </a:r>
            <a:r>
              <a:rPr lang="en-US" altLang="zh-CN" sz="2400" b="1" dirty="0">
                <a:solidFill>
                  <a:schemeClr val="tx2"/>
                </a:solidFill>
                <a:latin typeface="楷体_GB2312" pitchFamily="49" charset="-122"/>
                <a:ea typeface="楷体_GB2312" pitchFamily="49" charset="-122"/>
              </a:rPr>
              <a:t>D8…D1</a:t>
            </a:r>
            <a:r>
              <a:rPr lang="zh-CN" altLang="en-US" sz="2400" b="1" dirty="0">
                <a:solidFill>
                  <a:schemeClr val="tx2"/>
                </a:solidFill>
                <a:latin typeface="楷体_GB2312" pitchFamily="49" charset="-122"/>
                <a:ea typeface="楷体_GB2312" pitchFamily="49" charset="-122"/>
              </a:rPr>
              <a:t>中某位为</a:t>
            </a:r>
            <a:r>
              <a:rPr lang="en-US" altLang="zh-CN" sz="2400" b="1" dirty="0">
                <a:solidFill>
                  <a:schemeClr val="tx2"/>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即是此数字位出错。</a:t>
            </a:r>
            <a:endParaRPr lang="en-US" altLang="zh-CN" sz="2400" b="1" dirty="0">
              <a:solidFill>
                <a:schemeClr val="tx2"/>
              </a:solidFill>
              <a:latin typeface="楷体_GB2312" pitchFamily="49" charset="-122"/>
              <a:ea typeface="楷体_GB2312" pitchFamily="49" charset="-122"/>
            </a:endParaRPr>
          </a:p>
          <a:p>
            <a:r>
              <a:rPr lang="zh-CN" altLang="en-US" sz="2400" b="1" dirty="0">
                <a:solidFill>
                  <a:schemeClr val="tx2"/>
                </a:solidFill>
                <a:latin typeface="楷体_GB2312" pitchFamily="49" charset="-122"/>
                <a:ea typeface="楷体_GB2312" pitchFamily="49" charset="-122"/>
              </a:rPr>
              <a:t>如求得</a:t>
            </a:r>
            <a:r>
              <a:rPr lang="en-US" altLang="zh-CN" sz="2400" b="1" dirty="0">
                <a:solidFill>
                  <a:schemeClr val="tx2"/>
                </a:solidFill>
                <a:latin typeface="楷体_GB2312" pitchFamily="49" charset="-122"/>
                <a:ea typeface="楷体_GB2312" pitchFamily="49" charset="-122"/>
              </a:rPr>
              <a:t>S4S3S2S1=1100</a:t>
            </a:r>
            <a:r>
              <a:rPr lang="zh-CN" altLang="en-US" sz="2400" b="1" dirty="0">
                <a:solidFill>
                  <a:schemeClr val="tx2"/>
                </a:solidFill>
                <a:latin typeface="楷体_GB2312" pitchFamily="49" charset="-122"/>
                <a:ea typeface="楷体_GB2312" pitchFamily="49" charset="-122"/>
              </a:rPr>
              <a:t>，查功能表可知</a:t>
            </a:r>
            <a:endParaRPr lang="en-US" altLang="zh-CN" sz="2400" b="1" dirty="0">
              <a:solidFill>
                <a:schemeClr val="tx2"/>
              </a:solidFill>
              <a:latin typeface="楷体_GB2312" pitchFamily="49" charset="-122"/>
              <a:ea typeface="楷体_GB2312" pitchFamily="49" charset="-122"/>
            </a:endParaRPr>
          </a:p>
          <a:p>
            <a:r>
              <a:rPr lang="en-US" altLang="zh-CN" sz="2400" b="1" dirty="0">
                <a:solidFill>
                  <a:schemeClr val="tx2"/>
                </a:solidFill>
                <a:latin typeface="楷体_GB2312" pitchFamily="49" charset="-122"/>
                <a:ea typeface="楷体_GB2312" pitchFamily="49" charset="-122"/>
              </a:rPr>
              <a:t>D8…D1=1000 0000,</a:t>
            </a:r>
            <a:r>
              <a:rPr lang="zh-CN" altLang="en-US" sz="2400" b="1" dirty="0">
                <a:solidFill>
                  <a:schemeClr val="tx2"/>
                </a:solidFill>
                <a:latin typeface="楷体_GB2312" pitchFamily="49" charset="-122"/>
                <a:ea typeface="楷体_GB2312" pitchFamily="49" charset="-122"/>
              </a:rPr>
              <a:t>即译码器输出只有</a:t>
            </a:r>
            <a:r>
              <a:rPr lang="en-US" altLang="zh-CN" sz="2400" b="1" dirty="0">
                <a:solidFill>
                  <a:schemeClr val="tx2"/>
                </a:solidFill>
                <a:latin typeface="楷体_GB2312" pitchFamily="49" charset="-122"/>
                <a:ea typeface="楷体_GB2312" pitchFamily="49" charset="-122"/>
              </a:rPr>
              <a:t>D8</a:t>
            </a:r>
            <a:r>
              <a:rPr lang="zh-CN" altLang="en-US" sz="2400" b="1" dirty="0">
                <a:solidFill>
                  <a:schemeClr val="tx2"/>
                </a:solidFill>
                <a:latin typeface="楷体_GB2312" pitchFamily="49" charset="-122"/>
                <a:ea typeface="楷体_GB2312" pitchFamily="49" charset="-122"/>
              </a:rPr>
              <a:t>位为</a:t>
            </a:r>
            <a:r>
              <a:rPr lang="en-US" altLang="zh-CN" sz="2400" b="1" dirty="0">
                <a:solidFill>
                  <a:schemeClr val="tx2"/>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，其他</a:t>
            </a:r>
            <a:r>
              <a:rPr lang="en-US" altLang="zh-CN" sz="2400" b="1" dirty="0" err="1">
                <a:solidFill>
                  <a:schemeClr val="tx2"/>
                </a:solidFill>
                <a:latin typeface="楷体_GB2312" pitchFamily="49" charset="-122"/>
                <a:ea typeface="楷体_GB2312" pitchFamily="49" charset="-122"/>
              </a:rPr>
              <a:t>Dx</a:t>
            </a:r>
            <a:r>
              <a:rPr lang="zh-CN" altLang="en-US" sz="2400" b="1" dirty="0">
                <a:solidFill>
                  <a:schemeClr val="tx2"/>
                </a:solidFill>
                <a:latin typeface="楷体_GB2312" pitchFamily="49" charset="-122"/>
                <a:ea typeface="楷体_GB2312" pitchFamily="49" charset="-122"/>
              </a:rPr>
              <a:t>都是</a:t>
            </a:r>
            <a:r>
              <a:rPr lang="en-US" altLang="zh-CN" sz="2400" b="1" dirty="0">
                <a:solidFill>
                  <a:schemeClr val="tx2"/>
                </a:solidFill>
                <a:latin typeface="楷体_GB2312" pitchFamily="49" charset="-122"/>
                <a:ea typeface="楷体_GB2312" pitchFamily="49" charset="-122"/>
              </a:rPr>
              <a:t>0</a:t>
            </a:r>
            <a:r>
              <a:rPr lang="zh-CN" altLang="en-US" sz="2400" b="1" dirty="0">
                <a:solidFill>
                  <a:schemeClr val="tx2"/>
                </a:solidFill>
                <a:latin typeface="楷体_GB2312" pitchFamily="49" charset="-122"/>
                <a:ea typeface="楷体_GB2312" pitchFamily="49" charset="-122"/>
              </a:rPr>
              <a:t>，表明验证结果是</a:t>
            </a:r>
            <a:r>
              <a:rPr lang="en-US" altLang="zh-CN" sz="2400" b="1" dirty="0">
                <a:solidFill>
                  <a:schemeClr val="tx2"/>
                </a:solidFill>
                <a:latin typeface="楷体_GB2312" pitchFamily="49" charset="-122"/>
                <a:ea typeface="楷体_GB2312" pitchFamily="49" charset="-122"/>
              </a:rPr>
              <a:t>D8</a:t>
            </a:r>
            <a:r>
              <a:rPr lang="zh-CN" altLang="en-US" sz="2400" b="1" dirty="0">
                <a:solidFill>
                  <a:schemeClr val="tx2"/>
                </a:solidFill>
                <a:latin typeface="楷体_GB2312" pitchFamily="49" charset="-122"/>
                <a:ea typeface="楷体_GB2312" pitchFamily="49" charset="-122"/>
              </a:rPr>
              <a:t>位出错。</a:t>
            </a:r>
            <a:endParaRPr lang="en-US" altLang="zh-CN" sz="2400" b="1" dirty="0">
              <a:solidFill>
                <a:schemeClr val="tx2"/>
              </a:solidFill>
              <a:latin typeface="楷体_GB2312" pitchFamily="49" charset="-122"/>
              <a:ea typeface="楷体_GB2312" pitchFamily="49" charset="-122"/>
            </a:endParaRPr>
          </a:p>
          <a:p>
            <a:r>
              <a:rPr lang="zh-CN" altLang="en-US" sz="2400" b="1" dirty="0">
                <a:solidFill>
                  <a:srgbClr val="FF0000"/>
                </a:solidFill>
                <a:latin typeface="楷体_GB2312" pitchFamily="49" charset="-122"/>
                <a:ea typeface="楷体_GB2312" pitchFamily="49" charset="-122"/>
              </a:rPr>
              <a:t>出错位的纠正</a:t>
            </a:r>
            <a:r>
              <a:rPr lang="zh-CN" altLang="en-US" sz="2400" b="1" dirty="0">
                <a:solidFill>
                  <a:schemeClr val="tx2"/>
                </a:solidFill>
                <a:latin typeface="楷体_GB2312" pitchFamily="49" charset="-122"/>
                <a:ea typeface="楷体_GB2312" pitchFamily="49" charset="-122"/>
              </a:rPr>
              <a:t>：若出现错误只需将出错位和</a:t>
            </a:r>
            <a:r>
              <a:rPr lang="en-US" altLang="zh-CN" sz="2400" b="1" dirty="0">
                <a:solidFill>
                  <a:srgbClr val="FF0000"/>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做异或运算，将计算结果回写入出错位即可纠正。</a:t>
            </a:r>
            <a:endParaRPr lang="en-US" altLang="zh-CN" sz="2400" b="1" dirty="0">
              <a:solidFill>
                <a:schemeClr val="tx2"/>
              </a:solidFill>
              <a:latin typeface="楷体_GB2312" pitchFamily="49" charset="-122"/>
              <a:ea typeface="楷体_GB2312" pitchFamily="49" charset="-122"/>
            </a:endParaRPr>
          </a:p>
          <a:p>
            <a:r>
              <a:rPr lang="zh-CN" altLang="en-US" sz="2400" b="1" dirty="0">
                <a:solidFill>
                  <a:schemeClr val="tx2"/>
                </a:solidFill>
                <a:latin typeface="楷体_GB2312" pitchFamily="49" charset="-122"/>
                <a:ea typeface="楷体_GB2312" pitchFamily="49" charset="-122"/>
              </a:rPr>
              <a:t>因为</a:t>
            </a:r>
            <a:r>
              <a:rPr lang="en-US" altLang="zh-CN" sz="2400" b="1" dirty="0">
                <a:solidFill>
                  <a:schemeClr val="tx2"/>
                </a:solidFill>
                <a:latin typeface="楷体_GB2312" pitchFamily="49" charset="-122"/>
                <a:ea typeface="楷体_GB2312" pitchFamily="49" charset="-122"/>
              </a:rPr>
              <a:t>0</a:t>
            </a:r>
            <a:r>
              <a:rPr lang="zh-CN" altLang="en-US" sz="2400" b="1" dirty="0">
                <a:solidFill>
                  <a:schemeClr val="tx2"/>
                </a:solidFill>
                <a:latin typeface="楷体_GB2312" pitchFamily="49" charset="-122"/>
                <a:ea typeface="楷体_GB2312" pitchFamily="49" charset="-122"/>
              </a:rPr>
              <a:t>或</a:t>
            </a:r>
            <a:r>
              <a:rPr lang="en-US" altLang="zh-CN" sz="2400" b="1" dirty="0">
                <a:solidFill>
                  <a:schemeClr val="tx2"/>
                </a:solidFill>
                <a:latin typeface="楷体_GB2312" pitchFamily="49" charset="-122"/>
                <a:ea typeface="楷体_GB2312" pitchFamily="49" charset="-122"/>
              </a:rPr>
              <a:t>1</a:t>
            </a:r>
            <a:r>
              <a:rPr lang="zh-CN" altLang="en-US" sz="2400" b="1" dirty="0">
                <a:solidFill>
                  <a:schemeClr val="tx2"/>
                </a:solidFill>
                <a:latin typeface="楷体_GB2312" pitchFamily="49" charset="-122"/>
                <a:ea typeface="楷体_GB2312" pitchFamily="49" charset="-122"/>
              </a:rPr>
              <a:t>与</a:t>
            </a:r>
            <a:r>
              <a:rPr lang="en-US" altLang="zh-CN" sz="2400" b="1" dirty="0">
                <a:solidFill>
                  <a:schemeClr val="tx2"/>
                </a:solidFill>
                <a:latin typeface="楷体_GB2312" pitchFamily="49" charset="-122"/>
                <a:ea typeface="楷体_GB2312" pitchFamily="49" charset="-122"/>
              </a:rPr>
              <a:t>0</a:t>
            </a:r>
            <a:r>
              <a:rPr lang="zh-CN" altLang="en-US" sz="2400" b="1" dirty="0">
                <a:solidFill>
                  <a:schemeClr val="tx2"/>
                </a:solidFill>
                <a:latin typeface="楷体_GB2312" pitchFamily="49" charset="-122"/>
                <a:ea typeface="楷体_GB2312" pitchFamily="49" charset="-122"/>
              </a:rPr>
              <a:t>异或之后都将取反，即：</a:t>
            </a:r>
            <a:endParaRPr lang="en-US" altLang="zh-CN" sz="2400" b="1" dirty="0">
              <a:solidFill>
                <a:schemeClr val="tx2"/>
              </a:solidFill>
              <a:latin typeface="楷体_GB2312" pitchFamily="49" charset="-122"/>
              <a:ea typeface="楷体_GB2312" pitchFamily="49" charset="-122"/>
            </a:endParaRPr>
          </a:p>
          <a:p>
            <a:r>
              <a:rPr lang="en-US" altLang="zh-CN" sz="2400" b="1" dirty="0">
                <a:solidFill>
                  <a:schemeClr val="tx2"/>
                </a:solidFill>
                <a:latin typeface="Cambria Math"/>
                <a:ea typeface="Cambria Math"/>
              </a:rPr>
              <a:t>0⊕</a:t>
            </a:r>
            <a:r>
              <a:rPr lang="en-US" altLang="zh-CN" sz="2400" b="1" dirty="0">
                <a:solidFill>
                  <a:srgbClr val="FF0000"/>
                </a:solidFill>
                <a:latin typeface="Cambria Math"/>
                <a:ea typeface="Cambria Math"/>
              </a:rPr>
              <a:t>1</a:t>
            </a:r>
            <a:r>
              <a:rPr lang="en-US" altLang="zh-CN" sz="2400" b="1" dirty="0">
                <a:solidFill>
                  <a:schemeClr val="tx2"/>
                </a:solidFill>
                <a:latin typeface="Cambria Math"/>
                <a:ea typeface="Cambria Math"/>
              </a:rPr>
              <a:t>=1</a:t>
            </a:r>
            <a:endParaRPr lang="en-US" altLang="zh-CN" sz="2400" b="1" dirty="0">
              <a:solidFill>
                <a:schemeClr val="tx2"/>
              </a:solidFill>
              <a:latin typeface="楷体_GB2312" pitchFamily="49" charset="-122"/>
              <a:ea typeface="楷体_GB2312" pitchFamily="49" charset="-122"/>
            </a:endParaRPr>
          </a:p>
          <a:p>
            <a:r>
              <a:rPr lang="en-US" altLang="zh-CN" sz="2400" b="1" dirty="0">
                <a:solidFill>
                  <a:schemeClr val="tx2"/>
                </a:solidFill>
                <a:latin typeface="Cambria Math"/>
                <a:ea typeface="Cambria Math"/>
              </a:rPr>
              <a:t>1⊕</a:t>
            </a:r>
            <a:r>
              <a:rPr lang="en-US" altLang="zh-CN" sz="2400" b="1" dirty="0">
                <a:solidFill>
                  <a:srgbClr val="FF0000"/>
                </a:solidFill>
                <a:latin typeface="Cambria Math"/>
                <a:ea typeface="Cambria Math"/>
              </a:rPr>
              <a:t>1</a:t>
            </a:r>
            <a:r>
              <a:rPr lang="en-US" altLang="zh-CN" sz="2400" b="1" dirty="0">
                <a:solidFill>
                  <a:schemeClr val="tx2"/>
                </a:solidFill>
                <a:latin typeface="Cambria Math"/>
                <a:ea typeface="Cambria Math"/>
              </a:rPr>
              <a:t>=0</a:t>
            </a:r>
            <a:endParaRPr lang="en-US" altLang="zh-CN" sz="24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88142881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图片 2" descr="图3.11.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714500"/>
            <a:ext cx="8358188"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3" name="TextBox 2"/>
          <p:cNvSpPr txBox="1"/>
          <p:nvPr/>
        </p:nvSpPr>
        <p:spPr>
          <a:xfrm>
            <a:off x="1522790" y="4643844"/>
            <a:ext cx="312906" cy="369332"/>
          </a:xfrm>
          <a:prstGeom prst="rect">
            <a:avLst/>
          </a:prstGeom>
          <a:noFill/>
        </p:spPr>
        <p:txBody>
          <a:bodyPr wrap="none" rtlCol="0">
            <a:spAutoFit/>
          </a:bodyPr>
          <a:lstStyle/>
          <a:p>
            <a:r>
              <a:rPr lang="en-US" altLang="zh-CN" b="1" dirty="0"/>
              <a:t>1</a:t>
            </a:r>
            <a:endParaRPr lang="zh-CN" altLang="en-US" b="1" dirty="0"/>
          </a:p>
        </p:txBody>
      </p:sp>
      <p:sp>
        <p:nvSpPr>
          <p:cNvPr id="5" name="TextBox 4"/>
          <p:cNvSpPr txBox="1"/>
          <p:nvPr/>
        </p:nvSpPr>
        <p:spPr>
          <a:xfrm>
            <a:off x="3131840" y="4643844"/>
            <a:ext cx="312906" cy="369332"/>
          </a:xfrm>
          <a:prstGeom prst="rect">
            <a:avLst/>
          </a:prstGeom>
          <a:noFill/>
        </p:spPr>
        <p:txBody>
          <a:bodyPr wrap="none" rtlCol="0">
            <a:spAutoFit/>
          </a:bodyPr>
          <a:lstStyle/>
          <a:p>
            <a:r>
              <a:rPr lang="en-US" altLang="zh-CN" b="1" dirty="0"/>
              <a:t>1</a:t>
            </a:r>
            <a:endParaRPr lang="zh-CN" altLang="en-US" b="1" dirty="0"/>
          </a:p>
        </p:txBody>
      </p:sp>
      <p:sp>
        <p:nvSpPr>
          <p:cNvPr id="6" name="TextBox 5"/>
          <p:cNvSpPr txBox="1"/>
          <p:nvPr/>
        </p:nvSpPr>
        <p:spPr>
          <a:xfrm>
            <a:off x="5724128" y="4643844"/>
            <a:ext cx="312906" cy="369332"/>
          </a:xfrm>
          <a:prstGeom prst="rect">
            <a:avLst/>
          </a:prstGeom>
          <a:noFill/>
        </p:spPr>
        <p:txBody>
          <a:bodyPr wrap="none" rtlCol="0">
            <a:spAutoFit/>
          </a:bodyPr>
          <a:lstStyle/>
          <a:p>
            <a:r>
              <a:rPr lang="en-US" altLang="zh-CN" b="1" dirty="0"/>
              <a:t>0</a:t>
            </a:r>
            <a:endParaRPr lang="zh-CN" altLang="en-US" b="1" dirty="0"/>
          </a:p>
        </p:txBody>
      </p:sp>
      <p:sp>
        <p:nvSpPr>
          <p:cNvPr id="7" name="TextBox 6"/>
          <p:cNvSpPr txBox="1"/>
          <p:nvPr/>
        </p:nvSpPr>
        <p:spPr>
          <a:xfrm>
            <a:off x="7812360" y="4653136"/>
            <a:ext cx="312906" cy="369332"/>
          </a:xfrm>
          <a:prstGeom prst="rect">
            <a:avLst/>
          </a:prstGeom>
          <a:noFill/>
        </p:spPr>
        <p:txBody>
          <a:bodyPr wrap="none" rtlCol="0">
            <a:spAutoFit/>
          </a:bodyPr>
          <a:lstStyle/>
          <a:p>
            <a:r>
              <a:rPr lang="en-US" altLang="zh-CN" b="1" dirty="0"/>
              <a:t>0</a:t>
            </a:r>
            <a:endParaRPr lang="zh-CN" altLang="en-US" b="1" dirty="0"/>
          </a:p>
        </p:txBody>
      </p:sp>
      <p:sp>
        <p:nvSpPr>
          <p:cNvPr id="8" name="TextBox 7"/>
          <p:cNvSpPr txBox="1"/>
          <p:nvPr/>
        </p:nvSpPr>
        <p:spPr>
          <a:xfrm>
            <a:off x="1162750" y="1714500"/>
            <a:ext cx="312906" cy="369332"/>
          </a:xfrm>
          <a:prstGeom prst="rect">
            <a:avLst/>
          </a:prstGeom>
          <a:noFill/>
        </p:spPr>
        <p:txBody>
          <a:bodyPr wrap="none" rtlCol="0">
            <a:spAutoFit/>
          </a:bodyPr>
          <a:lstStyle/>
          <a:p>
            <a:r>
              <a:rPr lang="en-US" altLang="zh-CN" b="1" dirty="0"/>
              <a:t>1</a:t>
            </a:r>
            <a:endParaRPr lang="zh-CN" altLang="en-US" b="1" dirty="0"/>
          </a:p>
        </p:txBody>
      </p:sp>
      <p:sp>
        <p:nvSpPr>
          <p:cNvPr id="11" name="TextBox 10"/>
          <p:cNvSpPr txBox="1"/>
          <p:nvPr/>
        </p:nvSpPr>
        <p:spPr>
          <a:xfrm>
            <a:off x="1150050" y="2793628"/>
            <a:ext cx="312906" cy="369332"/>
          </a:xfrm>
          <a:prstGeom prst="rect">
            <a:avLst/>
          </a:prstGeom>
          <a:solidFill>
            <a:schemeClr val="bg1"/>
          </a:solidFill>
        </p:spPr>
        <p:txBody>
          <a:bodyPr wrap="none" rtlCol="0">
            <a:spAutoFit/>
          </a:bodyPr>
          <a:lstStyle/>
          <a:p>
            <a:r>
              <a:rPr lang="en-US" altLang="zh-CN" b="1" dirty="0"/>
              <a:t>1</a:t>
            </a:r>
            <a:endParaRPr lang="zh-CN" altLang="en-US" b="1" dirty="0"/>
          </a:p>
        </p:txBody>
      </p:sp>
    </p:spTree>
    <p:extLst>
      <p:ext uri="{BB962C8B-B14F-4D97-AF65-F5344CB8AC3E}">
        <p14:creationId xmlns:p14="http://schemas.microsoft.com/office/powerpoint/2010/main" val="317934474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25955" name="图片 2" descr="海明码校验电路説明-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8688" y="2000250"/>
            <a:ext cx="7597775"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151382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p:cNvSpPr>
            <a:spLocks noChangeArrowheads="1"/>
          </p:cNvSpPr>
          <p:nvPr/>
        </p:nvSpPr>
        <p:spPr bwMode="auto">
          <a:xfrm>
            <a:off x="251520" y="1428750"/>
            <a:ext cx="874008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前面介绍的海明码只能检测和校验</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位错误，    </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假如要进一步判别是奇数个位错（包括</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位错）还是偶数个位错（包括</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位错），则再增加一个校验位</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5</a:t>
            </a:r>
            <a:r>
              <a:rPr lang="zh-CN" altLang="en-US" sz="3200" dirty="0">
                <a:solidFill>
                  <a:schemeClr val="tx2"/>
                </a:solidFill>
                <a:latin typeface="楷体_GB2312" pitchFamily="49" charset="-122"/>
                <a:ea typeface="楷体_GB2312" pitchFamily="49" charset="-122"/>
              </a:rPr>
              <a:t>，放在</a:t>
            </a:r>
            <a:r>
              <a:rPr lang="en-US" altLang="zh-CN" sz="3200" dirty="0">
                <a:solidFill>
                  <a:schemeClr val="tx2"/>
                </a:solidFill>
                <a:latin typeface="楷体_GB2312" pitchFamily="49" charset="-122"/>
                <a:ea typeface="楷体_GB2312" pitchFamily="49" charset="-122"/>
              </a:rPr>
              <a:t>H13 </a:t>
            </a:r>
            <a:r>
              <a:rPr lang="zh-CN" altLang="en-US" sz="3200" dirty="0">
                <a:solidFill>
                  <a:schemeClr val="tx2"/>
                </a:solidFill>
                <a:latin typeface="楷体_GB2312" pitchFamily="49" charset="-122"/>
                <a:ea typeface="楷体_GB2312" pitchFamily="49" charset="-122"/>
              </a:rPr>
              <a:t>位，如下图所示：</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26980" name="图片 3" descr="海明码校验（带总校验码）.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575" y="3789040"/>
            <a:ext cx="7072313"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193559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p:cNvSpPr>
            <a:spLocks noChangeArrowheads="1"/>
          </p:cNvSpPr>
          <p:nvPr/>
        </p:nvSpPr>
        <p:spPr bwMode="auto">
          <a:xfrm>
            <a:off x="-38100" y="1428750"/>
            <a:ext cx="90297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新的校验位</a:t>
            </a:r>
            <a:r>
              <a:rPr lang="en-US" altLang="zh-CN" sz="3200" dirty="0">
                <a:solidFill>
                  <a:schemeClr val="tx2"/>
                </a:solidFill>
                <a:latin typeface="楷体_GB2312" pitchFamily="49" charset="-122"/>
                <a:ea typeface="楷体_GB2312" pitchFamily="49" charset="-122"/>
              </a:rPr>
              <a:t>P5</a:t>
            </a:r>
            <a:r>
              <a:rPr lang="zh-CN" altLang="en-US" sz="3200" dirty="0">
                <a:solidFill>
                  <a:schemeClr val="tx2"/>
                </a:solidFill>
                <a:latin typeface="楷体_GB2312" pitchFamily="49" charset="-122"/>
                <a:ea typeface="楷体_GB2312" pitchFamily="49" charset="-122"/>
              </a:rPr>
              <a:t>的值计算为（</a:t>
            </a:r>
            <a:r>
              <a:rPr lang="en-US" altLang="zh-CN" sz="3200" dirty="0">
                <a:solidFill>
                  <a:schemeClr val="tx2"/>
                </a:solidFill>
                <a:latin typeface="楷体_GB2312" pitchFamily="49" charset="-122"/>
                <a:ea typeface="楷体_GB2312" pitchFamily="49" charset="-122"/>
              </a:rPr>
              <a:t>H1-H12</a:t>
            </a:r>
            <a:r>
              <a:rPr lang="zh-CN" altLang="en-US" sz="3200" dirty="0">
                <a:solidFill>
                  <a:schemeClr val="tx2"/>
                </a:solidFill>
                <a:latin typeface="楷体_GB2312" pitchFamily="49" charset="-122"/>
                <a:ea typeface="楷体_GB2312" pitchFamily="49" charset="-122"/>
              </a:rPr>
              <a:t>按位异或）：</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pic>
        <p:nvPicPr>
          <p:cNvPr id="126980" name="图片 3" descr="海明码校验（带总校验码）.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575" y="2580828"/>
            <a:ext cx="7072313"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TextBox 5"/>
          <p:cNvSpPr txBox="1">
            <a:spLocks noChangeArrowheads="1"/>
          </p:cNvSpPr>
          <p:nvPr/>
        </p:nvSpPr>
        <p:spPr bwMode="auto">
          <a:xfrm>
            <a:off x="395536" y="2013525"/>
            <a:ext cx="8286750" cy="759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5</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0</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1</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2</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3</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4</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5</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6</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7</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4</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3</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2</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1</a:t>
            </a:r>
          </a:p>
          <a:p>
            <a:pPr algn="l" eaLnBrk="1" hangingPunct="1"/>
            <a:endParaRPr lang="zh-CN" altLang="en-US" sz="2600" baseline="-25000" dirty="0">
              <a:solidFill>
                <a:schemeClr val="tx2"/>
              </a:solidFill>
              <a:latin typeface="楷体_GB2312" pitchFamily="49" charset="-122"/>
              <a:ea typeface="楷体_GB2312" pitchFamily="49" charset="-122"/>
            </a:endParaRPr>
          </a:p>
        </p:txBody>
      </p:sp>
      <p:sp>
        <p:nvSpPr>
          <p:cNvPr id="6" name="TextBox 5"/>
          <p:cNvSpPr txBox="1">
            <a:spLocks noChangeArrowheads="1"/>
          </p:cNvSpPr>
          <p:nvPr/>
        </p:nvSpPr>
        <p:spPr bwMode="auto">
          <a:xfrm>
            <a:off x="252536" y="4157791"/>
            <a:ext cx="9144000" cy="1426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sz="2600" dirty="0">
                <a:solidFill>
                  <a:schemeClr val="tx2"/>
                </a:solidFill>
                <a:latin typeface="楷体_GB2312" pitchFamily="49" charset="-122"/>
                <a:ea typeface="楷体_GB2312" pitchFamily="49" charset="-122"/>
              </a:rPr>
              <a:t>S</a:t>
            </a:r>
            <a:r>
              <a:rPr lang="en-US" altLang="zh-CN" sz="2600" baseline="-25000" dirty="0">
                <a:solidFill>
                  <a:schemeClr val="tx2"/>
                </a:solidFill>
                <a:latin typeface="楷体_GB2312" pitchFamily="49" charset="-122"/>
                <a:ea typeface="楷体_GB2312" pitchFamily="49" charset="-122"/>
              </a:rPr>
              <a:t>5</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5</a:t>
            </a:r>
            <a:r>
              <a:rPr lang="zh-CN" altLang="en-US" sz="2600" baseline="-25000" dirty="0">
                <a:solidFill>
                  <a:schemeClr val="tx2"/>
                </a:solidFill>
                <a:latin typeface="楷体_GB2312" pitchFamily="49" charset="-122"/>
                <a:ea typeface="楷体_GB2312" pitchFamily="49" charset="-122"/>
              </a:rPr>
              <a:t>现在</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5</a:t>
            </a:r>
            <a:r>
              <a:rPr lang="zh-CN" altLang="en-US" sz="2600" baseline="-25000" dirty="0">
                <a:solidFill>
                  <a:schemeClr val="tx2"/>
                </a:solidFill>
                <a:latin typeface="楷体_GB2312" pitchFamily="49" charset="-122"/>
                <a:ea typeface="楷体_GB2312" pitchFamily="49" charset="-122"/>
              </a:rPr>
              <a:t>原来</a:t>
            </a:r>
            <a:endParaRPr lang="en-US" altLang="zh-CN" sz="2600" baseline="-25000" dirty="0">
              <a:solidFill>
                <a:schemeClr val="tx2"/>
              </a:solidFill>
              <a:latin typeface="楷体_GB2312" pitchFamily="49" charset="-122"/>
              <a:ea typeface="楷体_GB2312" pitchFamily="49" charset="-122"/>
            </a:endParaRPr>
          </a:p>
          <a:p>
            <a:pPr eaLnBrk="1" hangingPunct="1"/>
            <a:r>
              <a:rPr lang="en-US" altLang="zh-CN" sz="2600" dirty="0">
                <a:solidFill>
                  <a:schemeClr val="tx2"/>
                </a:solidFill>
                <a:latin typeface="楷体_GB2312" pitchFamily="49" charset="-122"/>
                <a:ea typeface="楷体_GB2312" pitchFamily="49" charset="-122"/>
              </a:rPr>
              <a:t>  =D</a:t>
            </a:r>
            <a:r>
              <a:rPr lang="en-US" altLang="zh-CN" sz="2600" baseline="-25000" dirty="0">
                <a:solidFill>
                  <a:schemeClr val="tx2"/>
                </a:solidFill>
                <a:latin typeface="楷体_GB2312" pitchFamily="49" charset="-122"/>
                <a:ea typeface="楷体_GB2312" pitchFamily="49" charset="-122"/>
              </a:rPr>
              <a:t>0</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1</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2</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3</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4</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5</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6</a:t>
            </a:r>
            <a:r>
              <a:rPr lang="en-US" altLang="zh-CN" sz="2600" dirty="0">
                <a:solidFill>
                  <a:schemeClr val="tx2"/>
                </a:solidFill>
                <a:latin typeface="楷体_GB2312" pitchFamily="49" charset="-122"/>
                <a:ea typeface="楷体_GB2312" pitchFamily="49" charset="-122"/>
              </a:rPr>
              <a:t>⊕D</a:t>
            </a:r>
            <a:r>
              <a:rPr lang="en-US" altLang="zh-CN" sz="2600" baseline="-25000" dirty="0">
                <a:solidFill>
                  <a:schemeClr val="tx2"/>
                </a:solidFill>
                <a:latin typeface="楷体_GB2312" pitchFamily="49" charset="-122"/>
                <a:ea typeface="楷体_GB2312" pitchFamily="49" charset="-122"/>
              </a:rPr>
              <a:t>7</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4</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3</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2</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1</a:t>
            </a:r>
            <a:r>
              <a:rPr lang="en-US" altLang="zh-CN" sz="2600" dirty="0">
                <a:solidFill>
                  <a:schemeClr val="tx2"/>
                </a:solidFill>
                <a:latin typeface="楷体_GB2312" pitchFamily="49" charset="-122"/>
                <a:ea typeface="楷体_GB2312" pitchFamily="49" charset="-122"/>
              </a:rPr>
              <a:t>⊕P</a:t>
            </a:r>
            <a:r>
              <a:rPr lang="en-US" altLang="zh-CN" sz="2600" baseline="-25000" dirty="0">
                <a:solidFill>
                  <a:schemeClr val="tx2"/>
                </a:solidFill>
                <a:latin typeface="楷体_GB2312" pitchFamily="49" charset="-122"/>
                <a:ea typeface="楷体_GB2312" pitchFamily="49" charset="-122"/>
              </a:rPr>
              <a:t>5</a:t>
            </a:r>
            <a:r>
              <a:rPr lang="zh-CN" altLang="en-US" sz="2600" baseline="-25000" dirty="0">
                <a:solidFill>
                  <a:schemeClr val="tx2"/>
                </a:solidFill>
                <a:latin typeface="楷体_GB2312" pitchFamily="49" charset="-122"/>
                <a:ea typeface="楷体_GB2312" pitchFamily="49" charset="-122"/>
              </a:rPr>
              <a:t>原来</a:t>
            </a:r>
            <a:endParaRPr lang="en-US" altLang="zh-CN" sz="2600" baseline="-25000" dirty="0">
              <a:solidFill>
                <a:schemeClr val="tx2"/>
              </a:solidFill>
              <a:latin typeface="楷体_GB2312" pitchFamily="49" charset="-122"/>
              <a:ea typeface="楷体_GB2312" pitchFamily="49" charset="-122"/>
            </a:endParaRPr>
          </a:p>
          <a:p>
            <a:pPr algn="l" eaLnBrk="1" hangingPunct="1"/>
            <a:endParaRPr lang="zh-CN" altLang="en-US" sz="2600" baseline="-25000" dirty="0">
              <a:solidFill>
                <a:schemeClr val="tx2"/>
              </a:solidFill>
              <a:latin typeface="楷体_GB2312" pitchFamily="49" charset="-122"/>
              <a:ea typeface="楷体_GB2312" pitchFamily="49" charset="-122"/>
            </a:endParaRPr>
          </a:p>
          <a:p>
            <a:pPr algn="l" eaLnBrk="1" hangingPunct="1"/>
            <a:endParaRPr lang="zh-CN" altLang="en-US" sz="2600" baseline="-25000" dirty="0">
              <a:solidFill>
                <a:schemeClr val="tx2"/>
              </a:solidFill>
              <a:latin typeface="楷体_GB2312" pitchFamily="49" charset="-122"/>
              <a:ea typeface="楷体_GB2312" pitchFamily="49" charset="-122"/>
            </a:endParaRPr>
          </a:p>
        </p:txBody>
      </p:sp>
      <p:sp>
        <p:nvSpPr>
          <p:cNvPr id="7" name="矩形 1"/>
          <p:cNvSpPr>
            <a:spLocks noChangeArrowheads="1"/>
          </p:cNvSpPr>
          <p:nvPr/>
        </p:nvSpPr>
        <p:spPr bwMode="auto">
          <a:xfrm>
            <a:off x="168871" y="3573016"/>
            <a:ext cx="87400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新的校验位</a:t>
            </a:r>
            <a:r>
              <a:rPr lang="en-US" altLang="zh-CN" sz="3200" dirty="0">
                <a:solidFill>
                  <a:schemeClr val="tx2"/>
                </a:solidFill>
                <a:latin typeface="楷体_GB2312" pitchFamily="49" charset="-122"/>
                <a:ea typeface="楷体_GB2312" pitchFamily="49" charset="-122"/>
              </a:rPr>
              <a:t>P5</a:t>
            </a:r>
            <a:r>
              <a:rPr lang="zh-CN" altLang="en-US" sz="3200" dirty="0">
                <a:solidFill>
                  <a:schemeClr val="tx2"/>
                </a:solidFill>
                <a:latin typeface="楷体_GB2312" pitchFamily="49" charset="-122"/>
                <a:ea typeface="楷体_GB2312" pitchFamily="49" charset="-122"/>
              </a:rPr>
              <a:t>的纠错算子</a:t>
            </a:r>
            <a:r>
              <a:rPr lang="en-US" altLang="zh-CN" sz="3200" dirty="0">
                <a:solidFill>
                  <a:schemeClr val="tx2"/>
                </a:solidFill>
                <a:latin typeface="楷体_GB2312" pitchFamily="49" charset="-122"/>
                <a:ea typeface="楷体_GB2312" pitchFamily="49" charset="-122"/>
              </a:rPr>
              <a:t>S5</a:t>
            </a:r>
            <a:r>
              <a:rPr lang="zh-CN" altLang="en-US" sz="3200" dirty="0">
                <a:solidFill>
                  <a:schemeClr val="tx2"/>
                </a:solidFill>
                <a:latin typeface="楷体_GB2312" pitchFamily="49" charset="-122"/>
                <a:ea typeface="楷体_GB2312" pitchFamily="49" charset="-122"/>
              </a:rPr>
              <a:t>的计算为：</a:t>
            </a:r>
          </a:p>
        </p:txBody>
      </p:sp>
    </p:spTree>
    <p:extLst>
      <p:ext uri="{BB962C8B-B14F-4D97-AF65-F5344CB8AC3E}">
        <p14:creationId xmlns:p14="http://schemas.microsoft.com/office/powerpoint/2010/main" val="216488449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p:sp>
        <p:nvSpPr>
          <p:cNvPr id="128003" name="TextBox 6"/>
          <p:cNvSpPr txBox="1">
            <a:spLocks noChangeArrowheads="1"/>
          </p:cNvSpPr>
          <p:nvPr/>
        </p:nvSpPr>
        <p:spPr bwMode="auto">
          <a:xfrm>
            <a:off x="801688" y="1916113"/>
            <a:ext cx="7786687"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此时增加了一个奇偶形成线路</a:t>
            </a:r>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5</a:t>
            </a:r>
            <a:r>
              <a:rPr lang="zh-CN" altLang="en-US" sz="2800" dirty="0">
                <a:solidFill>
                  <a:schemeClr val="tx2"/>
                </a:solidFill>
                <a:latin typeface="楷体_GB2312" pitchFamily="49" charset="-122"/>
                <a:ea typeface="楷体_GB2312" pitchFamily="49" charset="-122"/>
              </a:rPr>
              <a:t>。任何偶数个数出错，</a:t>
            </a:r>
            <a:r>
              <a:rPr lang="en-US" altLang="zh-CN" sz="2800" dirty="0">
                <a:solidFill>
                  <a:srgbClr val="FF0000"/>
                </a:solidFill>
                <a:latin typeface="楷体_GB2312" pitchFamily="49" charset="-122"/>
                <a:ea typeface="楷体_GB2312" pitchFamily="49" charset="-122"/>
              </a:rPr>
              <a:t>S</a:t>
            </a:r>
            <a:r>
              <a:rPr lang="en-US" altLang="zh-CN" sz="2800" baseline="-25000" dirty="0">
                <a:solidFill>
                  <a:srgbClr val="FF0000"/>
                </a:solidFill>
                <a:latin typeface="楷体_GB2312" pitchFamily="49" charset="-122"/>
                <a:ea typeface="楷体_GB2312" pitchFamily="49" charset="-122"/>
              </a:rPr>
              <a:t>5</a:t>
            </a:r>
            <a:r>
              <a:rPr lang="zh-CN" altLang="en-US" sz="2800" dirty="0">
                <a:solidFill>
                  <a:schemeClr val="tx2"/>
                </a:solidFill>
                <a:latin typeface="楷体_GB2312" pitchFamily="49" charset="-122"/>
                <a:ea typeface="楷体_GB2312" pitchFamily="49" charset="-122"/>
              </a:rPr>
              <a:t>一定为</a:t>
            </a:r>
            <a:r>
              <a:rPr lang="en-US" altLang="zh-CN" sz="2800" dirty="0">
                <a:solidFill>
                  <a:schemeClr val="tx2"/>
                </a:solidFill>
                <a:latin typeface="楷体_GB2312" pitchFamily="49" charset="-122"/>
                <a:ea typeface="楷体_GB2312" pitchFamily="49" charset="-122"/>
              </a:rPr>
              <a:t>0</a:t>
            </a:r>
            <a:r>
              <a:rPr lang="zh-CN" altLang="en-US" sz="2800" dirty="0">
                <a:solidFill>
                  <a:schemeClr val="tx2"/>
                </a:solidFill>
                <a:latin typeface="楷体_GB2312" pitchFamily="49" charset="-122"/>
                <a:ea typeface="楷体_GB2312" pitchFamily="49" charset="-122"/>
              </a:rPr>
              <a:t>，因此可以区分两位出错或一位出错。如为一位错，仍按前图来纠正数据位；</a:t>
            </a:r>
            <a:r>
              <a:rPr lang="zh-CN" altLang="en-US" sz="2800" dirty="0">
                <a:solidFill>
                  <a:srgbClr val="FF0000"/>
                </a:solidFill>
                <a:latin typeface="楷体_GB2312" pitchFamily="49" charset="-122"/>
                <a:ea typeface="楷体_GB2312" pitchFamily="49" charset="-122"/>
              </a:rPr>
              <a:t>如为两位错（</a:t>
            </a:r>
            <a:r>
              <a:rPr lang="en-US" altLang="zh-CN" sz="2800" dirty="0">
                <a:solidFill>
                  <a:srgbClr val="FF0000"/>
                </a:solidFill>
                <a:latin typeface="楷体_GB2312" pitchFamily="49" charset="-122"/>
                <a:ea typeface="楷体_GB2312" pitchFamily="49" charset="-122"/>
              </a:rPr>
              <a:t> S</a:t>
            </a:r>
            <a:r>
              <a:rPr lang="en-US" altLang="zh-CN" sz="2800" baseline="-25000" dirty="0">
                <a:solidFill>
                  <a:srgbClr val="FF0000"/>
                </a:solidFill>
                <a:latin typeface="楷体_GB2312" pitchFamily="49" charset="-122"/>
                <a:ea typeface="楷体_GB2312" pitchFamily="49" charset="-122"/>
              </a:rPr>
              <a:t>5</a:t>
            </a:r>
            <a:r>
              <a:rPr lang="zh-CN" altLang="en-US" sz="2800" dirty="0">
                <a:solidFill>
                  <a:srgbClr val="FF0000"/>
                </a:solidFill>
                <a:latin typeface="楷体_GB2312" pitchFamily="49" charset="-122"/>
                <a:ea typeface="楷体_GB2312" pitchFamily="49" charset="-122"/>
              </a:rPr>
              <a:t>为</a:t>
            </a:r>
            <a:r>
              <a:rPr lang="en-US" altLang="zh-CN" sz="2800" dirty="0">
                <a:solidFill>
                  <a:srgbClr val="FF0000"/>
                </a:solidFill>
                <a:latin typeface="楷体_GB2312" pitchFamily="49" charset="-122"/>
                <a:ea typeface="楷体_GB2312" pitchFamily="49" charset="-122"/>
              </a:rPr>
              <a:t>0 </a:t>
            </a:r>
            <a:r>
              <a:rPr lang="zh-CN" altLang="en-US" sz="2800" dirty="0">
                <a:solidFill>
                  <a:srgbClr val="FF0000"/>
                </a:solidFill>
                <a:latin typeface="楷体_GB2312" pitchFamily="49" charset="-122"/>
                <a:ea typeface="楷体_GB2312" pitchFamily="49" charset="-122"/>
              </a:rPr>
              <a:t>），虽然能能检测出有错误出现，但却无法纠正错误。</a:t>
            </a:r>
            <a:endParaRPr lang="zh-CN" altLang="en-US" sz="2800" dirty="0">
              <a:solidFill>
                <a:srgbClr val="FF0000"/>
              </a:solidFill>
            </a:endParaRPr>
          </a:p>
        </p:txBody>
      </p:sp>
    </p:spTree>
    <p:extLst>
      <p:ext uri="{BB962C8B-B14F-4D97-AF65-F5344CB8AC3E}">
        <p14:creationId xmlns:p14="http://schemas.microsoft.com/office/powerpoint/2010/main" val="38018435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30051" name="TextBox 6"/>
          <p:cNvSpPr txBox="1">
            <a:spLocks noChangeArrowheads="1"/>
          </p:cNvSpPr>
          <p:nvPr/>
        </p:nvSpPr>
        <p:spPr bwMode="auto">
          <a:xfrm>
            <a:off x="467544" y="1357313"/>
            <a:ext cx="862744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r>
              <a:rPr lang="en-US" altLang="zh-CN" sz="2400" dirty="0">
                <a:solidFill>
                  <a:schemeClr val="tx2"/>
                </a:solidFill>
                <a:latin typeface="楷体_GB2312" pitchFamily="49" charset="-122"/>
                <a:ea typeface="楷体_GB2312" pitchFamily="49" charset="-122"/>
              </a:rPr>
              <a:t>D</a:t>
            </a:r>
            <a:r>
              <a:rPr lang="zh-CN" altLang="en-US" sz="2400" dirty="0">
                <a:solidFill>
                  <a:schemeClr val="tx2"/>
                </a:solidFill>
                <a:latin typeface="楷体_GB2312" pitchFamily="49" charset="-122"/>
                <a:ea typeface="楷体_GB2312" pitchFamily="49" charset="-122"/>
              </a:rPr>
              <a:t>触发器：</a:t>
            </a:r>
            <a:endParaRPr lang="en-US" altLang="zh-CN" sz="2400" dirty="0">
              <a:solidFill>
                <a:schemeClr val="tx2"/>
              </a:solidFill>
              <a:latin typeface="楷体_GB2312" pitchFamily="49" charset="-122"/>
              <a:ea typeface="楷体_GB2312" pitchFamily="49" charset="-122"/>
            </a:endParaRPr>
          </a:p>
          <a:p>
            <a:pPr eaLnBrk="1" hangingPunct="1"/>
            <a:r>
              <a:rPr lang="en-US" altLang="zh-CN" sz="2400" dirty="0">
                <a:solidFill>
                  <a:schemeClr val="tx2"/>
                </a:solidFill>
                <a:latin typeface="楷体_GB2312" pitchFamily="49" charset="-122"/>
                <a:ea typeface="楷体_GB2312" pitchFamily="49" charset="-122"/>
              </a:rPr>
              <a:t>D</a:t>
            </a:r>
            <a:r>
              <a:rPr lang="zh-CN" altLang="en-US" sz="2400" dirty="0">
                <a:solidFill>
                  <a:schemeClr val="tx2"/>
                </a:solidFill>
                <a:latin typeface="楷体_GB2312" pitchFamily="49" charset="-122"/>
                <a:ea typeface="楷体_GB2312" pitchFamily="49" charset="-122"/>
              </a:rPr>
              <a:t>触发器有一个输入、一个输出和一个时钟频率输入，当时钟频率由</a:t>
            </a:r>
            <a:r>
              <a:rPr lang="en-US" altLang="zh-CN" sz="2400" dirty="0">
                <a:solidFill>
                  <a:schemeClr val="tx2"/>
                </a:solidFill>
                <a:latin typeface="楷体_GB2312" pitchFamily="49" charset="-122"/>
                <a:ea typeface="楷体_GB2312" pitchFamily="49" charset="-122"/>
              </a:rPr>
              <a:t>0</a:t>
            </a:r>
            <a:r>
              <a:rPr lang="zh-CN" altLang="en-US" sz="2400" dirty="0">
                <a:solidFill>
                  <a:schemeClr val="tx2"/>
                </a:solidFill>
                <a:latin typeface="楷体_GB2312" pitchFamily="49" charset="-122"/>
                <a:ea typeface="楷体_GB2312" pitchFamily="49" charset="-122"/>
              </a:rPr>
              <a:t>转为</a:t>
            </a:r>
            <a:r>
              <a:rPr lang="en-US" altLang="zh-CN" sz="2400" dirty="0">
                <a:solidFill>
                  <a:schemeClr val="tx2"/>
                </a:solidFill>
                <a:latin typeface="楷体_GB2312" pitchFamily="49" charset="-122"/>
                <a:ea typeface="楷体_GB2312" pitchFamily="49" charset="-122"/>
              </a:rPr>
              <a:t>1</a:t>
            </a:r>
            <a:r>
              <a:rPr lang="zh-CN" altLang="en-US" sz="2400" dirty="0">
                <a:solidFill>
                  <a:schemeClr val="tx2"/>
                </a:solidFill>
                <a:latin typeface="楷体_GB2312" pitchFamily="49" charset="-122"/>
                <a:ea typeface="楷体_GB2312" pitchFamily="49" charset="-122"/>
              </a:rPr>
              <a:t>时，输出的值会和输入的值相等。此类触发器可用于防止因为噪声带来的错误，</a:t>
            </a:r>
            <a:endParaRPr lang="en-US" altLang="zh-CN" sz="24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zh-CN" altLang="en-US" sz="3200" dirty="0">
              <a:solidFill>
                <a:schemeClr val="tx2"/>
              </a:solidFill>
              <a:latin typeface="楷体_GB2312" pitchFamily="49" charset="-122"/>
              <a:ea typeface="楷体_GB2312" pitchFamily="49" charset="-122"/>
            </a:endParaRPr>
          </a:p>
        </p:txBody>
      </p:sp>
      <p:cxnSp>
        <p:nvCxnSpPr>
          <p:cNvPr id="130056" name="直接连接符 18"/>
          <p:cNvCxnSpPr>
            <a:cxnSpLocks noChangeShapeType="1"/>
          </p:cNvCxnSpPr>
          <p:nvPr/>
        </p:nvCxnSpPr>
        <p:spPr bwMode="auto">
          <a:xfrm>
            <a:off x="642938" y="4929188"/>
            <a:ext cx="285750"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cxnSp>
      <p:sp>
        <p:nvSpPr>
          <p:cNvPr id="3" name="矩形标注 2"/>
          <p:cNvSpPr/>
          <p:nvPr/>
        </p:nvSpPr>
        <p:spPr bwMode="auto">
          <a:xfrm>
            <a:off x="6300192" y="1649413"/>
            <a:ext cx="1728192" cy="987499"/>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grpSp>
        <p:nvGrpSpPr>
          <p:cNvPr id="4" name="组合 3"/>
          <p:cNvGrpSpPr/>
          <p:nvPr/>
        </p:nvGrpSpPr>
        <p:grpSpPr>
          <a:xfrm>
            <a:off x="1655664" y="3645024"/>
            <a:ext cx="4608536" cy="1846064"/>
            <a:chOff x="4680000" y="2564904"/>
            <a:chExt cx="4608536" cy="1846064"/>
          </a:xfrm>
        </p:grpSpPr>
        <p:pic>
          <p:nvPicPr>
            <p:cNvPr id="1027" name="Picture 3" descr="C:\Users\dell\Desktop\D触发器.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4200" y="2564904"/>
              <a:ext cx="1538387" cy="184606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680000" y="3635732"/>
              <a:ext cx="1620192" cy="369332"/>
            </a:xfrm>
            <a:prstGeom prst="rect">
              <a:avLst/>
            </a:prstGeom>
            <a:noFill/>
          </p:spPr>
          <p:txBody>
            <a:bodyPr wrap="square" rtlCol="0">
              <a:spAutoFit/>
            </a:bodyPr>
            <a:lstStyle/>
            <a:p>
              <a:r>
                <a:rPr lang="zh-CN" altLang="en-US" b="1" dirty="0"/>
                <a:t>时钟频率输入</a:t>
              </a:r>
            </a:p>
          </p:txBody>
        </p:sp>
        <p:sp>
          <p:nvSpPr>
            <p:cNvPr id="8" name="TextBox 7"/>
            <p:cNvSpPr txBox="1"/>
            <p:nvPr/>
          </p:nvSpPr>
          <p:spPr>
            <a:xfrm>
              <a:off x="5148064" y="2996952"/>
              <a:ext cx="1116136" cy="369332"/>
            </a:xfrm>
            <a:prstGeom prst="rect">
              <a:avLst/>
            </a:prstGeom>
            <a:noFill/>
          </p:spPr>
          <p:txBody>
            <a:bodyPr wrap="square" rtlCol="0">
              <a:spAutoFit/>
            </a:bodyPr>
            <a:lstStyle/>
            <a:p>
              <a:r>
                <a:rPr lang="zh-CN" altLang="en-US" b="1" dirty="0"/>
                <a:t>信号输入</a:t>
              </a:r>
            </a:p>
          </p:txBody>
        </p:sp>
        <p:sp>
          <p:nvSpPr>
            <p:cNvPr id="10" name="TextBox 9"/>
            <p:cNvSpPr txBox="1"/>
            <p:nvPr/>
          </p:nvSpPr>
          <p:spPr>
            <a:xfrm>
              <a:off x="7668344" y="2996952"/>
              <a:ext cx="1620192" cy="369332"/>
            </a:xfrm>
            <a:prstGeom prst="rect">
              <a:avLst/>
            </a:prstGeom>
            <a:noFill/>
          </p:spPr>
          <p:txBody>
            <a:bodyPr wrap="square" rtlCol="0">
              <a:spAutoFit/>
            </a:bodyPr>
            <a:lstStyle/>
            <a:p>
              <a:r>
                <a:rPr lang="zh-CN" altLang="en-US" b="1" dirty="0"/>
                <a:t>正信号输出</a:t>
              </a:r>
            </a:p>
          </p:txBody>
        </p:sp>
        <p:sp>
          <p:nvSpPr>
            <p:cNvPr id="11" name="TextBox 10"/>
            <p:cNvSpPr txBox="1"/>
            <p:nvPr/>
          </p:nvSpPr>
          <p:spPr>
            <a:xfrm>
              <a:off x="7668344" y="3635732"/>
              <a:ext cx="1620192" cy="369332"/>
            </a:xfrm>
            <a:prstGeom prst="rect">
              <a:avLst/>
            </a:prstGeom>
            <a:noFill/>
          </p:spPr>
          <p:txBody>
            <a:bodyPr wrap="square" rtlCol="0">
              <a:spAutoFit/>
            </a:bodyPr>
            <a:lstStyle/>
            <a:p>
              <a:r>
                <a:rPr lang="zh-CN" altLang="en-US" b="1" dirty="0"/>
                <a:t>负信号输出</a:t>
              </a:r>
            </a:p>
          </p:txBody>
        </p:sp>
      </p:grpSp>
    </p:spTree>
    <p:extLst>
      <p:ext uri="{BB962C8B-B14F-4D97-AF65-F5344CB8AC3E}">
        <p14:creationId xmlns:p14="http://schemas.microsoft.com/office/powerpoint/2010/main" val="16164614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30051" name="TextBox 6"/>
          <p:cNvSpPr txBox="1">
            <a:spLocks noChangeArrowheads="1"/>
          </p:cNvSpPr>
          <p:nvPr/>
        </p:nvSpPr>
        <p:spPr bwMode="auto">
          <a:xfrm>
            <a:off x="539553" y="1357313"/>
            <a:ext cx="8452048"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eaLnBrk="1" hangingPunct="1"/>
            <a:r>
              <a:rPr lang="zh-CN" altLang="en-US" sz="3600" dirty="0">
                <a:solidFill>
                  <a:schemeClr val="tx2"/>
                </a:solidFill>
                <a:latin typeface="楷体_GB2312" pitchFamily="49" charset="-122"/>
                <a:ea typeface="楷体_GB2312" pitchFamily="49" charset="-122"/>
              </a:rPr>
              <a:t>寄存器是中央处理器内的重要组成部份。寄存器是有限存贮容量的高速存贮部件，它们可用来暂存指令、数据和地址。</a:t>
            </a:r>
            <a:endParaRPr lang="en-US" altLang="zh-CN" sz="3600" dirty="0">
              <a:solidFill>
                <a:schemeClr val="tx2"/>
              </a:solidFill>
              <a:latin typeface="楷体_GB2312" pitchFamily="49" charset="-122"/>
              <a:ea typeface="楷体_GB2312" pitchFamily="49" charset="-122"/>
            </a:endParaRPr>
          </a:p>
          <a:p>
            <a:pPr eaLnBrk="1" hangingPunct="1"/>
            <a:r>
              <a:rPr lang="zh-CN" altLang="en-US" sz="3600" dirty="0">
                <a:solidFill>
                  <a:schemeClr val="tx2"/>
                </a:solidFill>
                <a:latin typeface="楷体_GB2312" pitchFamily="49" charset="-122"/>
                <a:ea typeface="楷体_GB2312" pitchFamily="49" charset="-122"/>
              </a:rPr>
              <a:t>在中央处理器的控制部件中，包含的寄存器有指令寄存器和程序计数器。在中央处理器的算术及逻辑部件中，包含的寄存器有累加器。</a:t>
            </a:r>
            <a:endParaRPr lang="en-US" altLang="zh-CN" sz="3600" dirty="0">
              <a:solidFill>
                <a:schemeClr val="tx2"/>
              </a:solidFill>
              <a:latin typeface="楷体_GB2312" pitchFamily="49" charset="-122"/>
              <a:ea typeface="楷体_GB2312" pitchFamily="49" charset="-122"/>
            </a:endParaRPr>
          </a:p>
        </p:txBody>
      </p:sp>
      <p:cxnSp>
        <p:nvCxnSpPr>
          <p:cNvPr id="130056" name="直接连接符 18"/>
          <p:cNvCxnSpPr>
            <a:cxnSpLocks noChangeShapeType="1"/>
          </p:cNvCxnSpPr>
          <p:nvPr/>
        </p:nvCxnSpPr>
        <p:spPr bwMode="auto">
          <a:xfrm>
            <a:off x="642938" y="4929188"/>
            <a:ext cx="285750"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cxnSp>
      <p:sp>
        <p:nvSpPr>
          <p:cNvPr id="3" name="矩形标注 2"/>
          <p:cNvSpPr/>
          <p:nvPr/>
        </p:nvSpPr>
        <p:spPr bwMode="auto">
          <a:xfrm>
            <a:off x="6300192" y="1649413"/>
            <a:ext cx="1728192" cy="987499"/>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Tree>
    <p:extLst>
      <p:ext uri="{BB962C8B-B14F-4D97-AF65-F5344CB8AC3E}">
        <p14:creationId xmlns:p14="http://schemas.microsoft.com/office/powerpoint/2010/main" val="404856721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30051" name="TextBox 6"/>
          <p:cNvSpPr txBox="1">
            <a:spLocks noChangeArrowheads="1"/>
          </p:cNvSpPr>
          <p:nvPr/>
        </p:nvSpPr>
        <p:spPr bwMode="auto">
          <a:xfrm>
            <a:off x="539553" y="1357313"/>
            <a:ext cx="8452048"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endParaRPr lang="en-US" altLang="zh-CN" sz="3200" dirty="0">
              <a:solidFill>
                <a:schemeClr val="tx2"/>
              </a:solidFill>
              <a:latin typeface="楷体_GB2312" pitchFamily="49" charset="-122"/>
              <a:ea typeface="楷体_GB2312" pitchFamily="49" charset="-122"/>
            </a:endParaRPr>
          </a:p>
          <a:p>
            <a:pPr algn="ctr" eaLnBrk="1" hangingPunct="1"/>
            <a:r>
              <a:rPr lang="zh-CN" altLang="en-US" sz="2400" dirty="0">
                <a:solidFill>
                  <a:schemeClr val="tx2"/>
                </a:solidFill>
                <a:latin typeface="楷体_GB2312" pitchFamily="49" charset="-122"/>
                <a:ea typeface="楷体_GB2312" pitchFamily="49" charset="-122"/>
              </a:rPr>
              <a:t>三态门：</a:t>
            </a:r>
            <a:endParaRPr lang="en-US" altLang="zh-CN" sz="2400" dirty="0">
              <a:solidFill>
                <a:schemeClr val="tx2"/>
              </a:solidFill>
              <a:latin typeface="楷体_GB2312" pitchFamily="49" charset="-122"/>
              <a:ea typeface="楷体_GB2312" pitchFamily="49" charset="-122"/>
            </a:endParaRPr>
          </a:p>
          <a:p>
            <a:pPr latinLnBrk="1"/>
            <a:r>
              <a:rPr lang="zh-CN" altLang="en-US" sz="2400" dirty="0">
                <a:solidFill>
                  <a:schemeClr val="tx2"/>
                </a:solidFill>
                <a:latin typeface="楷体_GB2312" pitchFamily="49" charset="-122"/>
                <a:ea typeface="楷体_GB2312" pitchFamily="49" charset="-122"/>
              </a:rPr>
              <a:t>三态指其输出既可以是一般二值逻辑电路的正常的高电平（逻辑</a:t>
            </a:r>
            <a:r>
              <a:rPr lang="en-US" altLang="zh-CN" sz="2400" dirty="0">
                <a:solidFill>
                  <a:schemeClr val="tx2"/>
                </a:solidFill>
                <a:latin typeface="楷体_GB2312" pitchFamily="49" charset="-122"/>
                <a:ea typeface="楷体_GB2312" pitchFamily="49" charset="-122"/>
              </a:rPr>
              <a:t>1</a:t>
            </a:r>
            <a:r>
              <a:rPr lang="zh-CN" altLang="en-US" sz="2400" dirty="0">
                <a:solidFill>
                  <a:schemeClr val="tx2"/>
                </a:solidFill>
                <a:latin typeface="楷体_GB2312" pitchFamily="49" charset="-122"/>
                <a:ea typeface="楷体_GB2312" pitchFamily="49" charset="-122"/>
              </a:rPr>
              <a:t>）或低电平（逻辑</a:t>
            </a:r>
            <a:r>
              <a:rPr lang="en-US" altLang="zh-CN" sz="2400" dirty="0">
                <a:solidFill>
                  <a:schemeClr val="tx2"/>
                </a:solidFill>
                <a:latin typeface="楷体_GB2312" pitchFamily="49" charset="-122"/>
                <a:ea typeface="楷体_GB2312" pitchFamily="49" charset="-122"/>
              </a:rPr>
              <a:t>0</a:t>
            </a:r>
            <a:r>
              <a:rPr lang="zh-CN" altLang="en-US" sz="2400" dirty="0">
                <a:solidFill>
                  <a:schemeClr val="tx2"/>
                </a:solidFill>
                <a:latin typeface="楷体_GB2312" pitchFamily="49" charset="-122"/>
                <a:ea typeface="楷体_GB2312" pitchFamily="49" charset="-122"/>
              </a:rPr>
              <a:t>），又可以保持特有的高阻抗状态（</a:t>
            </a:r>
            <a:r>
              <a:rPr lang="en-US" altLang="zh-CN" sz="2400" dirty="0">
                <a:solidFill>
                  <a:schemeClr val="tx2"/>
                </a:solidFill>
                <a:latin typeface="楷体_GB2312" pitchFamily="49" charset="-122"/>
                <a:ea typeface="楷体_GB2312" pitchFamily="49" charset="-122"/>
              </a:rPr>
              <a:t>Hi-Z</a:t>
            </a:r>
            <a:r>
              <a:rPr lang="zh-CN" altLang="en-US" sz="2400" dirty="0">
                <a:solidFill>
                  <a:schemeClr val="tx2"/>
                </a:solidFill>
                <a:latin typeface="楷体_GB2312" pitchFamily="49" charset="-122"/>
                <a:ea typeface="楷体_GB2312" pitchFamily="49" charset="-122"/>
              </a:rPr>
              <a:t>）。三态门结构处于高阻抗状态时，输出电阻很大，相当于开路，没有任何逻辑控制功能。</a:t>
            </a:r>
            <a:endParaRPr lang="en-US" altLang="zh-CN" sz="2400" dirty="0">
              <a:solidFill>
                <a:schemeClr val="tx2"/>
              </a:solidFill>
              <a:latin typeface="楷体_GB2312" pitchFamily="49" charset="-122"/>
              <a:ea typeface="楷体_GB2312" pitchFamily="49" charset="-122"/>
            </a:endParaRPr>
          </a:p>
          <a:p>
            <a:pPr latinLnBrk="1"/>
            <a:endParaRPr lang="en-US" altLang="zh-CN" sz="2400" dirty="0">
              <a:solidFill>
                <a:schemeClr val="tx2"/>
              </a:solidFill>
              <a:latin typeface="楷体_GB2312" pitchFamily="49" charset="-122"/>
              <a:ea typeface="楷体_GB2312" pitchFamily="49" charset="-122"/>
            </a:endParaRPr>
          </a:p>
          <a:p>
            <a:pPr latinLnBrk="1"/>
            <a:r>
              <a:rPr lang="en-US" altLang="zh-CN" sz="2400" dirty="0">
                <a:solidFill>
                  <a:schemeClr val="tx2"/>
                </a:solidFill>
                <a:latin typeface="楷体_GB2312" pitchFamily="49" charset="-122"/>
                <a:ea typeface="楷体_GB2312" pitchFamily="49" charset="-122"/>
              </a:rPr>
              <a:t>Z</a:t>
            </a:r>
            <a:r>
              <a:rPr lang="zh-CN" altLang="en-US" sz="2400" dirty="0">
                <a:solidFill>
                  <a:schemeClr val="tx2"/>
                </a:solidFill>
                <a:latin typeface="楷体_GB2312" pitchFamily="49" charset="-122"/>
                <a:ea typeface="楷体_GB2312" pitchFamily="49" charset="-122"/>
              </a:rPr>
              <a:t>为控制项，当</a:t>
            </a:r>
            <a:r>
              <a:rPr lang="en-US" altLang="zh-CN" sz="2400" dirty="0">
                <a:solidFill>
                  <a:schemeClr val="tx2"/>
                </a:solidFill>
                <a:latin typeface="楷体_GB2312" pitchFamily="49" charset="-122"/>
                <a:ea typeface="楷体_GB2312" pitchFamily="49" charset="-122"/>
              </a:rPr>
              <a:t>Z=1</a:t>
            </a:r>
            <a:r>
              <a:rPr lang="zh-CN" altLang="en-US" sz="2400" dirty="0">
                <a:solidFill>
                  <a:schemeClr val="tx2"/>
                </a:solidFill>
                <a:latin typeface="楷体_GB2312" pitchFamily="49" charset="-122"/>
                <a:ea typeface="楷体_GB2312" pitchFamily="49" charset="-122"/>
              </a:rPr>
              <a:t>时，三态门呈</a:t>
            </a:r>
            <a:endParaRPr lang="en-US" altLang="zh-CN" sz="2400" dirty="0">
              <a:solidFill>
                <a:schemeClr val="tx2"/>
              </a:solidFill>
              <a:latin typeface="楷体_GB2312" pitchFamily="49" charset="-122"/>
              <a:ea typeface="楷体_GB2312" pitchFamily="49" charset="-122"/>
            </a:endParaRPr>
          </a:p>
          <a:p>
            <a:pPr latinLnBrk="1"/>
            <a:r>
              <a:rPr lang="zh-CN" altLang="en-US" sz="2400" dirty="0">
                <a:solidFill>
                  <a:schemeClr val="tx2"/>
                </a:solidFill>
                <a:latin typeface="楷体_GB2312" pitchFamily="49" charset="-122"/>
                <a:ea typeface="楷体_GB2312" pitchFamily="49" charset="-122"/>
              </a:rPr>
              <a:t>高阻状态，上面的线路不通只能</a:t>
            </a:r>
            <a:endParaRPr lang="en-US" altLang="zh-CN" sz="2400" dirty="0">
              <a:solidFill>
                <a:schemeClr val="tx2"/>
              </a:solidFill>
              <a:latin typeface="楷体_GB2312" pitchFamily="49" charset="-122"/>
              <a:ea typeface="楷体_GB2312" pitchFamily="49" charset="-122"/>
            </a:endParaRPr>
          </a:p>
          <a:p>
            <a:pPr latinLnBrk="1"/>
            <a:r>
              <a:rPr lang="zh-CN" altLang="en-US" sz="2400" dirty="0">
                <a:solidFill>
                  <a:schemeClr val="tx2"/>
                </a:solidFill>
                <a:latin typeface="楷体_GB2312" pitchFamily="49" charset="-122"/>
                <a:ea typeface="楷体_GB2312" pitchFamily="49" charset="-122"/>
              </a:rPr>
              <a:t>输入，当</a:t>
            </a:r>
            <a:r>
              <a:rPr lang="en-US" altLang="zh-CN" sz="2400" dirty="0">
                <a:solidFill>
                  <a:schemeClr val="tx2"/>
                </a:solidFill>
                <a:latin typeface="楷体_GB2312" pitchFamily="49" charset="-122"/>
                <a:ea typeface="楷体_GB2312" pitchFamily="49" charset="-122"/>
              </a:rPr>
              <a:t>Z=0</a:t>
            </a:r>
            <a:r>
              <a:rPr lang="zh-CN" altLang="en-US" sz="2400" dirty="0">
                <a:solidFill>
                  <a:schemeClr val="tx2"/>
                </a:solidFill>
                <a:latin typeface="楷体_GB2312" pitchFamily="49" charset="-122"/>
                <a:ea typeface="楷体_GB2312" pitchFamily="49" charset="-122"/>
              </a:rPr>
              <a:t>时，三态门呈正常高</a:t>
            </a:r>
            <a:endParaRPr lang="en-US" altLang="zh-CN" sz="2400" dirty="0">
              <a:solidFill>
                <a:schemeClr val="tx2"/>
              </a:solidFill>
              <a:latin typeface="楷体_GB2312" pitchFamily="49" charset="-122"/>
              <a:ea typeface="楷体_GB2312" pitchFamily="49" charset="-122"/>
            </a:endParaRPr>
          </a:p>
          <a:p>
            <a:pPr latinLnBrk="1"/>
            <a:r>
              <a:rPr lang="zh-CN" altLang="en-US" sz="2400" dirty="0">
                <a:solidFill>
                  <a:schemeClr val="tx2"/>
                </a:solidFill>
                <a:latin typeface="楷体_GB2312" pitchFamily="49" charset="-122"/>
                <a:ea typeface="楷体_GB2312" pitchFamily="49" charset="-122"/>
              </a:rPr>
              <a:t>低电平的输出状态，可输出，即</a:t>
            </a:r>
            <a:endParaRPr lang="en-US" altLang="zh-CN" sz="2400" dirty="0">
              <a:solidFill>
                <a:schemeClr val="tx2"/>
              </a:solidFill>
              <a:latin typeface="楷体_GB2312" pitchFamily="49" charset="-122"/>
              <a:ea typeface="楷体_GB2312" pitchFamily="49" charset="-122"/>
            </a:endParaRPr>
          </a:p>
          <a:p>
            <a:pPr latinLnBrk="1"/>
            <a:r>
              <a:rPr lang="en-US" altLang="zh-CN" sz="2400" dirty="0">
                <a:solidFill>
                  <a:schemeClr val="tx2"/>
                </a:solidFill>
                <a:latin typeface="楷体_GB2312" pitchFamily="49" charset="-122"/>
                <a:ea typeface="楷体_GB2312" pitchFamily="49" charset="-122"/>
              </a:rPr>
              <a:t>O</a:t>
            </a:r>
            <a:r>
              <a:rPr lang="zh-CN" altLang="en-US" sz="2400" dirty="0">
                <a:solidFill>
                  <a:schemeClr val="tx2"/>
                </a:solidFill>
                <a:latin typeface="楷体_GB2312" pitchFamily="49" charset="-122"/>
                <a:ea typeface="楷体_GB2312" pitchFamily="49" charset="-122"/>
              </a:rPr>
              <a:t>路通</a:t>
            </a:r>
            <a:endParaRPr lang="en-US" altLang="zh-CN" sz="2400" dirty="0">
              <a:solidFill>
                <a:schemeClr val="tx2"/>
              </a:solidFill>
              <a:latin typeface="楷体_GB2312" pitchFamily="49" charset="-122"/>
              <a:ea typeface="楷体_GB2312" pitchFamily="49" charset="-122"/>
            </a:endParaRPr>
          </a:p>
        </p:txBody>
      </p:sp>
      <p:cxnSp>
        <p:nvCxnSpPr>
          <p:cNvPr id="130056" name="直接连接符 18"/>
          <p:cNvCxnSpPr>
            <a:cxnSpLocks noChangeShapeType="1"/>
          </p:cNvCxnSpPr>
          <p:nvPr/>
        </p:nvCxnSpPr>
        <p:spPr bwMode="auto">
          <a:xfrm>
            <a:off x="642938" y="4929188"/>
            <a:ext cx="285750"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cxnSp>
      <p:sp>
        <p:nvSpPr>
          <p:cNvPr id="3" name="矩形标注 2"/>
          <p:cNvSpPr/>
          <p:nvPr/>
        </p:nvSpPr>
        <p:spPr bwMode="auto">
          <a:xfrm>
            <a:off x="6300192" y="1649413"/>
            <a:ext cx="1728192" cy="987499"/>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pic>
        <p:nvPicPr>
          <p:cNvPr id="1026" name="Picture 2" descr="C:\Users\dell\Desktop\三态门.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3857972"/>
            <a:ext cx="3305175"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7267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TextBox 6"/>
          <p:cNvSpPr txBox="1">
            <a:spLocks noChangeArrowheads="1"/>
          </p:cNvSpPr>
          <p:nvPr/>
        </p:nvSpPr>
        <p:spPr bwMode="auto">
          <a:xfrm>
            <a:off x="1571625" y="1357313"/>
            <a:ext cx="4143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1.D</a:t>
            </a:r>
            <a:r>
              <a:rPr lang="zh-CN" altLang="en-US" sz="3200" dirty="0">
                <a:solidFill>
                  <a:schemeClr val="tx2"/>
                </a:solidFill>
                <a:latin typeface="楷体_GB2312" pitchFamily="49" charset="-122"/>
                <a:ea typeface="楷体_GB2312" pitchFamily="49" charset="-122"/>
              </a:rPr>
              <a:t>触发器构成寄存器</a:t>
            </a:r>
          </a:p>
        </p:txBody>
      </p:sp>
      <p:pic>
        <p:nvPicPr>
          <p:cNvPr id="130052" name="图片 8" descr="四位D寄存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2476500"/>
            <a:ext cx="60007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1857375" y="5500688"/>
            <a:ext cx="5143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a:t>      </a:t>
            </a:r>
            <a:r>
              <a:rPr lang="en-US" altLang="zh-CN"/>
              <a:t>1</a:t>
            </a:r>
            <a:r>
              <a:rPr lang="zh-CN" altLang="en-US"/>
              <a:t>                       </a:t>
            </a:r>
            <a:r>
              <a:rPr lang="en-US" altLang="zh-CN"/>
              <a:t>0</a:t>
            </a:r>
            <a:r>
              <a:rPr lang="zh-CN" altLang="en-US"/>
              <a:t>                        </a:t>
            </a:r>
            <a:r>
              <a:rPr lang="en-US" altLang="zh-CN"/>
              <a:t>0</a:t>
            </a:r>
            <a:r>
              <a:rPr lang="zh-CN" altLang="en-US"/>
              <a:t>                       </a:t>
            </a:r>
            <a:r>
              <a:rPr lang="en-US" altLang="zh-CN"/>
              <a:t>1</a:t>
            </a:r>
            <a:r>
              <a:rPr lang="zh-CN" altLang="en-US"/>
              <a:t>   </a:t>
            </a:r>
          </a:p>
        </p:txBody>
      </p:sp>
      <p:sp>
        <p:nvSpPr>
          <p:cNvPr id="11" name="TextBox 10"/>
          <p:cNvSpPr txBox="1">
            <a:spLocks noChangeArrowheads="1"/>
          </p:cNvSpPr>
          <p:nvPr/>
        </p:nvSpPr>
        <p:spPr bwMode="auto">
          <a:xfrm>
            <a:off x="2000250" y="3714750"/>
            <a:ext cx="5143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a:t>      </a:t>
            </a:r>
            <a:r>
              <a:rPr lang="en-US" altLang="zh-CN"/>
              <a:t>1</a:t>
            </a:r>
            <a:r>
              <a:rPr lang="zh-CN" altLang="en-US"/>
              <a:t>                       </a:t>
            </a:r>
            <a:r>
              <a:rPr lang="en-US" altLang="zh-CN"/>
              <a:t>0</a:t>
            </a:r>
            <a:r>
              <a:rPr lang="zh-CN" altLang="en-US"/>
              <a:t>                        </a:t>
            </a:r>
            <a:r>
              <a:rPr lang="en-US" altLang="zh-CN"/>
              <a:t>0</a:t>
            </a:r>
            <a:r>
              <a:rPr lang="zh-CN" altLang="en-US"/>
              <a:t>                       </a:t>
            </a:r>
            <a:r>
              <a:rPr lang="en-US" altLang="zh-CN"/>
              <a:t>1</a:t>
            </a:r>
            <a:r>
              <a:rPr lang="zh-CN" altLang="en-US"/>
              <a:t>   </a:t>
            </a:r>
          </a:p>
        </p:txBody>
      </p:sp>
      <p:sp>
        <p:nvSpPr>
          <p:cNvPr id="12" name="TextBox 11"/>
          <p:cNvSpPr txBox="1">
            <a:spLocks noChangeArrowheads="1"/>
          </p:cNvSpPr>
          <p:nvPr/>
        </p:nvSpPr>
        <p:spPr bwMode="auto">
          <a:xfrm>
            <a:off x="1857375" y="2143125"/>
            <a:ext cx="5143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dirty="0"/>
              <a:t>      </a:t>
            </a:r>
            <a:r>
              <a:rPr lang="en-US" altLang="zh-CN" dirty="0"/>
              <a:t>1</a:t>
            </a:r>
            <a:r>
              <a:rPr lang="zh-CN" altLang="en-US" dirty="0"/>
              <a:t>                       </a:t>
            </a:r>
            <a:r>
              <a:rPr lang="en-US" altLang="zh-CN" dirty="0"/>
              <a:t>0</a:t>
            </a:r>
            <a:r>
              <a:rPr lang="zh-CN" altLang="en-US" dirty="0"/>
              <a:t>                        </a:t>
            </a:r>
            <a:r>
              <a:rPr lang="en-US" altLang="zh-CN" dirty="0"/>
              <a:t>0</a:t>
            </a:r>
            <a:r>
              <a:rPr lang="zh-CN" altLang="en-US" dirty="0"/>
              <a:t>                       </a:t>
            </a:r>
            <a:r>
              <a:rPr lang="en-US" altLang="zh-CN" dirty="0"/>
              <a:t>1</a:t>
            </a:r>
            <a:r>
              <a:rPr lang="zh-CN" altLang="en-US" dirty="0"/>
              <a:t>   </a:t>
            </a:r>
          </a:p>
        </p:txBody>
      </p:sp>
      <p:cxnSp>
        <p:nvCxnSpPr>
          <p:cNvPr id="130056" name="直接连接符 18"/>
          <p:cNvCxnSpPr>
            <a:cxnSpLocks noChangeShapeType="1"/>
          </p:cNvCxnSpPr>
          <p:nvPr/>
        </p:nvCxnSpPr>
        <p:spPr bwMode="auto">
          <a:xfrm>
            <a:off x="642938" y="4929188"/>
            <a:ext cx="285750"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cxnSp>
      <p:pic>
        <p:nvPicPr>
          <p:cNvPr id="20" name="图片 19" descr="上升沿.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4714875"/>
            <a:ext cx="1968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descr="上升沿.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31963" y="3786188"/>
            <a:ext cx="1968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标注 2"/>
          <p:cNvSpPr/>
          <p:nvPr/>
        </p:nvSpPr>
        <p:spPr bwMode="auto">
          <a:xfrm>
            <a:off x="6300192" y="1649413"/>
            <a:ext cx="1728192" cy="987499"/>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4" name="矩形标注 3"/>
          <p:cNvSpPr/>
          <p:nvPr/>
        </p:nvSpPr>
        <p:spPr bwMode="auto">
          <a:xfrm>
            <a:off x="7143750" y="2312194"/>
            <a:ext cx="1100658" cy="684758"/>
          </a:xfrm>
          <a:prstGeom prst="wedgeRectCallout">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5" name="矩形标注 4"/>
          <p:cNvSpPr/>
          <p:nvPr/>
        </p:nvSpPr>
        <p:spPr bwMode="auto">
          <a:xfrm>
            <a:off x="7010512" y="1718161"/>
            <a:ext cx="1449920" cy="584775"/>
          </a:xfrm>
          <a:prstGeom prst="wedgeRectCallout">
            <a:avLst>
              <a:gd name="adj1" fmla="val -69508"/>
              <a:gd name="adj2" fmla="val 201494"/>
            </a:avLst>
          </a:prstGeom>
          <a:solidFill>
            <a:srgbClr val="FFC0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zh-CN" altLang="en-US" sz="3200" b="1" dirty="0">
                <a:solidFill>
                  <a:schemeClr val="tx2"/>
                </a:solidFill>
                <a:latin typeface="楷体_GB2312" pitchFamily="49" charset="-122"/>
                <a:ea typeface="楷体_GB2312" pitchFamily="49" charset="-122"/>
              </a:rPr>
              <a:t>三态门</a:t>
            </a:r>
          </a:p>
        </p:txBody>
      </p:sp>
      <p:sp>
        <p:nvSpPr>
          <p:cNvPr id="14" name="矩形标注 13"/>
          <p:cNvSpPr/>
          <p:nvPr/>
        </p:nvSpPr>
        <p:spPr bwMode="auto">
          <a:xfrm>
            <a:off x="7303424" y="3170603"/>
            <a:ext cx="1688176" cy="584775"/>
          </a:xfrm>
          <a:prstGeom prst="wedgeRectCallout">
            <a:avLst>
              <a:gd name="adj1" fmla="val -69508"/>
              <a:gd name="adj2" fmla="val 201494"/>
            </a:avLst>
          </a:prstGeom>
          <a:solidFill>
            <a:srgbClr val="FFC00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lang="en-US" altLang="zh-CN" sz="3200" b="1" dirty="0">
                <a:solidFill>
                  <a:schemeClr val="tx2"/>
                </a:solidFill>
                <a:latin typeface="楷体_GB2312" pitchFamily="49" charset="-122"/>
                <a:ea typeface="楷体_GB2312" pitchFamily="49" charset="-122"/>
              </a:rPr>
              <a:t>D</a:t>
            </a:r>
            <a:r>
              <a:rPr lang="zh-CN" altLang="en-US" sz="3200" b="1" dirty="0">
                <a:solidFill>
                  <a:schemeClr val="tx2"/>
                </a:solidFill>
                <a:latin typeface="楷体_GB2312" pitchFamily="49" charset="-122"/>
                <a:ea typeface="楷体_GB2312" pitchFamily="49" charset="-122"/>
              </a:rPr>
              <a:t>触发器</a:t>
            </a:r>
          </a:p>
        </p:txBody>
      </p:sp>
    </p:spTree>
    <p:extLst>
      <p:ext uri="{BB962C8B-B14F-4D97-AF65-F5344CB8AC3E}">
        <p14:creationId xmlns:p14="http://schemas.microsoft.com/office/powerpoint/2010/main" val="9480342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down)">
                                      <p:cBhvr>
                                        <p:cTn id="17" dur="500"/>
                                        <p:tgtEl>
                                          <p:spTgt spid="1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wipe(down)">
                                      <p:cBhvr>
                                        <p:cTn id="2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pic>
        <p:nvPicPr>
          <p:cNvPr id="131075" name="图片 2" descr="四位串行移位寄存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375" y="2571750"/>
            <a:ext cx="786765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脉冲.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4143375"/>
            <a:ext cx="371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脉冲.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85938" y="4143375"/>
            <a:ext cx="371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脉冲.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4143375"/>
            <a:ext cx="371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descr="脉冲.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4143375"/>
            <a:ext cx="371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143000" y="2500313"/>
            <a:ext cx="285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9" name="TextBox 8"/>
          <p:cNvSpPr txBox="1">
            <a:spLocks noChangeArrowheads="1"/>
          </p:cNvSpPr>
          <p:nvPr/>
        </p:nvSpPr>
        <p:spPr bwMode="auto">
          <a:xfrm>
            <a:off x="2571750" y="2519363"/>
            <a:ext cx="285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10" name="TextBox 9"/>
          <p:cNvSpPr txBox="1">
            <a:spLocks noChangeArrowheads="1"/>
          </p:cNvSpPr>
          <p:nvPr/>
        </p:nvSpPr>
        <p:spPr bwMode="auto">
          <a:xfrm>
            <a:off x="1143000"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12" name="TextBox 11"/>
          <p:cNvSpPr txBox="1">
            <a:spLocks noChangeArrowheads="1"/>
          </p:cNvSpPr>
          <p:nvPr/>
        </p:nvSpPr>
        <p:spPr bwMode="auto">
          <a:xfrm>
            <a:off x="4357688" y="2519363"/>
            <a:ext cx="285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13" name="TextBox 12"/>
          <p:cNvSpPr txBox="1">
            <a:spLocks noChangeArrowheads="1"/>
          </p:cNvSpPr>
          <p:nvPr/>
        </p:nvSpPr>
        <p:spPr bwMode="auto">
          <a:xfrm>
            <a:off x="2571750"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15" name="TextBox 14"/>
          <p:cNvSpPr txBox="1">
            <a:spLocks noChangeArrowheads="1"/>
          </p:cNvSpPr>
          <p:nvPr/>
        </p:nvSpPr>
        <p:spPr bwMode="auto">
          <a:xfrm>
            <a:off x="6143625"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17" name="TextBox 16"/>
          <p:cNvSpPr txBox="1">
            <a:spLocks noChangeArrowheads="1"/>
          </p:cNvSpPr>
          <p:nvPr/>
        </p:nvSpPr>
        <p:spPr bwMode="auto">
          <a:xfrm>
            <a:off x="1143000"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19" name="TextBox 18"/>
          <p:cNvSpPr txBox="1">
            <a:spLocks noChangeArrowheads="1"/>
          </p:cNvSpPr>
          <p:nvPr/>
        </p:nvSpPr>
        <p:spPr bwMode="auto">
          <a:xfrm>
            <a:off x="1143000"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20" name="TextBox 19"/>
          <p:cNvSpPr txBox="1">
            <a:spLocks noChangeArrowheads="1"/>
          </p:cNvSpPr>
          <p:nvPr/>
        </p:nvSpPr>
        <p:spPr bwMode="auto">
          <a:xfrm>
            <a:off x="6143625"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21" name="TextBox 20"/>
          <p:cNvSpPr txBox="1">
            <a:spLocks noChangeArrowheads="1"/>
          </p:cNvSpPr>
          <p:nvPr/>
        </p:nvSpPr>
        <p:spPr bwMode="auto">
          <a:xfrm>
            <a:off x="7929563"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22" name="TextBox 21"/>
          <p:cNvSpPr txBox="1">
            <a:spLocks noChangeArrowheads="1"/>
          </p:cNvSpPr>
          <p:nvPr/>
        </p:nvSpPr>
        <p:spPr bwMode="auto">
          <a:xfrm>
            <a:off x="2571750" y="250031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23" name="TextBox 22"/>
          <p:cNvSpPr txBox="1">
            <a:spLocks noChangeArrowheads="1"/>
          </p:cNvSpPr>
          <p:nvPr/>
        </p:nvSpPr>
        <p:spPr bwMode="auto">
          <a:xfrm>
            <a:off x="4357688"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11" name="TextBox 10"/>
          <p:cNvSpPr txBox="1">
            <a:spLocks noChangeArrowheads="1"/>
          </p:cNvSpPr>
          <p:nvPr/>
        </p:nvSpPr>
        <p:spPr bwMode="auto">
          <a:xfrm>
            <a:off x="2571750"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0</a:t>
            </a:r>
            <a:endParaRPr lang="zh-CN" altLang="en-US"/>
          </a:p>
        </p:txBody>
      </p:sp>
      <p:sp>
        <p:nvSpPr>
          <p:cNvPr id="14" name="TextBox 13"/>
          <p:cNvSpPr txBox="1">
            <a:spLocks noChangeArrowheads="1"/>
          </p:cNvSpPr>
          <p:nvPr/>
        </p:nvSpPr>
        <p:spPr bwMode="auto">
          <a:xfrm>
            <a:off x="4357688" y="2519363"/>
            <a:ext cx="285750"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r>
              <a:rPr lang="en-US" altLang="zh-CN"/>
              <a:t>1</a:t>
            </a:r>
            <a:endParaRPr lang="zh-CN" altLang="en-US"/>
          </a:p>
        </p:txBody>
      </p:sp>
      <p:sp>
        <p:nvSpPr>
          <p:cNvPr id="131094" name="TextBox 23"/>
          <p:cNvSpPr txBox="1">
            <a:spLocks noChangeArrowheads="1"/>
          </p:cNvSpPr>
          <p:nvPr/>
        </p:nvSpPr>
        <p:spPr bwMode="auto">
          <a:xfrm>
            <a:off x="1000125" y="1701800"/>
            <a:ext cx="4857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串行移位寄存器</a:t>
            </a:r>
          </a:p>
        </p:txBody>
      </p:sp>
      <p:sp>
        <p:nvSpPr>
          <p:cNvPr id="131095" name="TextBox 24"/>
          <p:cNvSpPr txBox="1">
            <a:spLocks noChangeArrowheads="1"/>
          </p:cNvSpPr>
          <p:nvPr/>
        </p:nvSpPr>
        <p:spPr bwMode="auto">
          <a:xfrm>
            <a:off x="539552" y="4797152"/>
            <a:ext cx="820891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2800" dirty="0">
                <a:latin typeface="楷体_GB2312" pitchFamily="49" charset="-122"/>
                <a:ea typeface="楷体_GB2312" pitchFamily="49" charset="-122"/>
              </a:rPr>
              <a:t>移入 </a:t>
            </a:r>
            <a:r>
              <a:rPr lang="en-US" altLang="zh-CN" sz="2800" dirty="0">
                <a:latin typeface="楷体_GB2312" pitchFamily="49" charset="-122"/>
                <a:ea typeface="楷体_GB2312" pitchFamily="49" charset="-122"/>
              </a:rPr>
              <a:t>0101</a:t>
            </a:r>
            <a:r>
              <a:rPr lang="zh-CN" altLang="en-US" sz="2800" dirty="0">
                <a:latin typeface="楷体_GB2312" pitchFamily="49" charset="-122"/>
                <a:ea typeface="楷体_GB2312" pitchFamily="49" charset="-122"/>
              </a:rPr>
              <a:t>，每次输入时钟电平变化时，输入数字即前进一个</a:t>
            </a:r>
            <a:r>
              <a:rPr lang="en-US" altLang="zh-CN" sz="2800" dirty="0">
                <a:latin typeface="楷体_GB2312" pitchFamily="49" charset="-122"/>
                <a:ea typeface="楷体_GB2312" pitchFamily="49" charset="-122"/>
              </a:rPr>
              <a:t>D</a:t>
            </a:r>
            <a:r>
              <a:rPr lang="zh-CN" altLang="en-US" sz="2800" dirty="0">
                <a:latin typeface="楷体_GB2312" pitchFamily="49" charset="-122"/>
                <a:ea typeface="楷体_GB2312" pitchFamily="49" charset="-122"/>
              </a:rPr>
              <a:t>触发器，新进数字 进入到第一个</a:t>
            </a:r>
            <a:r>
              <a:rPr lang="en-US" altLang="zh-CN" sz="2800" dirty="0">
                <a:latin typeface="楷体_GB2312" pitchFamily="49" charset="-122"/>
                <a:ea typeface="楷体_GB2312" pitchFamily="49" charset="-122"/>
              </a:rPr>
              <a:t>D</a:t>
            </a:r>
            <a:r>
              <a:rPr lang="zh-CN" altLang="en-US" sz="2800" dirty="0">
                <a:latin typeface="楷体_GB2312" pitchFamily="49" charset="-122"/>
                <a:ea typeface="楷体_GB2312" pitchFamily="49" charset="-122"/>
              </a:rPr>
              <a:t>触发器。</a:t>
            </a:r>
          </a:p>
        </p:txBody>
      </p:sp>
    </p:spTree>
    <p:extLst>
      <p:ext uri="{BB962C8B-B14F-4D97-AF65-F5344CB8AC3E}">
        <p14:creationId xmlns:p14="http://schemas.microsoft.com/office/powerpoint/2010/main" val="2548927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0">
                                            <p:bg/>
                                          </p:spTgt>
                                        </p:tgtEl>
                                        <p:attrNameLst>
                                          <p:attrName>style.visibility</p:attrName>
                                        </p:attrNameLst>
                                      </p:cBhvr>
                                      <p:to>
                                        <p:strVal val="visible"/>
                                      </p:to>
                                    </p:set>
                                    <p:animEffect transition="in" filter="wipe(down)">
                                      <p:cBhvr>
                                        <p:cTn id="20" dur="500"/>
                                        <p:tgtEl>
                                          <p:spTgt spid="10">
                                            <p:bg/>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wipe(down)">
                                      <p:cBhvr>
                                        <p:cTn id="23" dur="500"/>
                                        <p:tgtEl>
                                          <p:spTgt spid="10">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down)">
                                      <p:cBhvr>
                                        <p:cTn id="28" dur="500"/>
                                        <p:tgtEl>
                                          <p:spTgt spid="12"/>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par>
                                <p:cTn id="32" presetID="22" presetClass="entr" presetSubtype="4"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7">
                                            <p:bg/>
                                          </p:spTgt>
                                        </p:tgtEl>
                                        <p:attrNameLst>
                                          <p:attrName>style.visibility</p:attrName>
                                        </p:attrNameLst>
                                      </p:cBhvr>
                                      <p:to>
                                        <p:strVal val="visible"/>
                                      </p:to>
                                    </p:set>
                                    <p:animEffect transition="in" filter="wipe(down)">
                                      <p:cBhvr>
                                        <p:cTn id="39" dur="500"/>
                                        <p:tgtEl>
                                          <p:spTgt spid="17">
                                            <p:bg/>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wipe(down)">
                                      <p:cBhvr>
                                        <p:cTn id="42" dur="500"/>
                                        <p:tgtEl>
                                          <p:spTgt spid="17">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500"/>
                                        <p:tgtEl>
                                          <p:spTgt spid="2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down)">
                                      <p:cBhvr>
                                        <p:cTn id="53" dur="500"/>
                                        <p:tgtEl>
                                          <p:spTgt spid="22"/>
                                        </p:tgtEl>
                                      </p:cBhvr>
                                    </p:animEffect>
                                  </p:childTnLst>
                                </p:cTn>
                              </p:par>
                              <p:par>
                                <p:cTn id="54" presetID="22" presetClass="entr" presetSubtype="4" fill="hold"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down)">
                                      <p:cBhvr>
                                        <p:cTn id="56" dur="500"/>
                                        <p:tgtEl>
                                          <p:spTgt spid="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9">
                                            <p:bg/>
                                          </p:spTgt>
                                        </p:tgtEl>
                                        <p:attrNameLst>
                                          <p:attrName>style.visibility</p:attrName>
                                        </p:attrNameLst>
                                      </p:cBhvr>
                                      <p:to>
                                        <p:strVal val="visible"/>
                                      </p:to>
                                    </p:set>
                                    <p:animEffect transition="in" filter="wipe(down)">
                                      <p:cBhvr>
                                        <p:cTn id="61" dur="500"/>
                                        <p:tgtEl>
                                          <p:spTgt spid="19">
                                            <p:bg/>
                                          </p:spTgt>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9">
                                            <p:txEl>
                                              <p:pRg st="0" end="0"/>
                                            </p:txEl>
                                          </p:spTgt>
                                        </p:tgtEl>
                                        <p:attrNameLst>
                                          <p:attrName>style.visibility</p:attrName>
                                        </p:attrNameLst>
                                      </p:cBhvr>
                                      <p:to>
                                        <p:strVal val="visible"/>
                                      </p:to>
                                    </p:set>
                                    <p:animEffect transition="in" filter="wipe(down)">
                                      <p:cBhvr>
                                        <p:cTn id="64" dur="500"/>
                                        <p:tgtEl>
                                          <p:spTgt spid="19">
                                            <p:txEl>
                                              <p:pRg st="0" end="0"/>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down)">
                                      <p:cBhvr>
                                        <p:cTn id="69" dur="500"/>
                                        <p:tgtEl>
                                          <p:spTgt spid="21"/>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500"/>
                                        <p:tgtEl>
                                          <p:spTgt spid="20"/>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wipe(down)">
                                      <p:cBhvr>
                                        <p:cTn id="78" dur="500"/>
                                        <p:tgtEl>
                                          <p:spTgt spid="11"/>
                                        </p:tgtEl>
                                      </p:cBhvr>
                                    </p:animEffect>
                                  </p:childTnLst>
                                </p:cTn>
                              </p:par>
                              <p:par>
                                <p:cTn id="79" presetID="22" presetClass="entr" presetSubtype="4" fill="hold" nodeType="with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wipe(down)">
                                      <p:cBhvr>
                                        <p:cTn id="8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p:bldP spid="10" grpId="0" build="allAtOnce" animBg="1"/>
      <p:bldP spid="12" grpId="0"/>
      <p:bldP spid="13" grpId="0" animBg="1"/>
      <p:bldP spid="15" grpId="0" animBg="1"/>
      <p:bldP spid="17" grpId="0" build="allAtOnce" animBg="1"/>
      <p:bldP spid="19" grpId="0" build="allAtOnce" animBg="1"/>
      <p:bldP spid="20" grpId="0" animBg="1"/>
      <p:bldP spid="21" grpId="0" animBg="1"/>
      <p:bldP spid="22" grpId="0" animBg="1"/>
      <p:bldP spid="23" grpId="0" animBg="1"/>
      <p:bldP spid="11" grpId="0" animBg="1"/>
      <p:bldP spid="14"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32099" name="TextBox 2"/>
          <p:cNvSpPr txBox="1">
            <a:spLocks noChangeArrowheads="1"/>
          </p:cNvSpPr>
          <p:nvPr/>
        </p:nvSpPr>
        <p:spPr bwMode="auto">
          <a:xfrm>
            <a:off x="1357313" y="1428750"/>
            <a:ext cx="4857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并行移位寄存器</a:t>
            </a:r>
          </a:p>
        </p:txBody>
      </p:sp>
      <p:pic>
        <p:nvPicPr>
          <p:cNvPr id="132100" name="图片 3" descr="四位并行移位寄存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996709"/>
            <a:ext cx="7632848" cy="4312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48908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2.2</a:t>
            </a:r>
            <a:r>
              <a:rPr kumimoji="1" lang="zh-CN" altLang="en-US" sz="2800" kern="0" dirty="0">
                <a:solidFill>
                  <a:schemeClr val="tx2"/>
                </a:solidFill>
                <a:latin typeface="黑体" pitchFamily="2" charset="-122"/>
                <a:ea typeface="黑体" pitchFamily="2" charset="-122"/>
                <a:cs typeface="+mj-cs"/>
              </a:rPr>
              <a:t> 寄存器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5" name="TextBox 24"/>
          <p:cNvSpPr txBox="1">
            <a:spLocks noChangeArrowheads="1"/>
          </p:cNvSpPr>
          <p:nvPr/>
        </p:nvSpPr>
        <p:spPr bwMode="auto">
          <a:xfrm>
            <a:off x="971600" y="2204864"/>
            <a:ext cx="756084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2800" dirty="0">
                <a:latin typeface="楷体_GB2312" pitchFamily="49" charset="-122"/>
                <a:ea typeface="楷体_GB2312" pitchFamily="49" charset="-122"/>
              </a:rPr>
              <a:t>并行移位寄存器的数字不是通过一条线路串行多次输入，而是多条线路并行一次输入，每条线对应一位输入位，一次电平变化可以加在所有</a:t>
            </a:r>
            <a:r>
              <a:rPr lang="en-US" altLang="zh-CN" sz="2800" dirty="0">
                <a:latin typeface="楷体_GB2312" pitchFamily="49" charset="-122"/>
                <a:ea typeface="楷体_GB2312" pitchFamily="49" charset="-122"/>
              </a:rPr>
              <a:t>D</a:t>
            </a:r>
            <a:r>
              <a:rPr lang="zh-CN" altLang="en-US" sz="2800" dirty="0">
                <a:latin typeface="楷体_GB2312" pitchFamily="49" charset="-122"/>
                <a:ea typeface="楷体_GB2312" pitchFamily="49" charset="-122"/>
              </a:rPr>
              <a:t>触发器上，这样 通过一次电平变化就可以实现所有数位的存入。</a:t>
            </a:r>
          </a:p>
        </p:txBody>
      </p:sp>
    </p:spTree>
    <p:extLst>
      <p:ext uri="{BB962C8B-B14F-4D97-AF65-F5344CB8AC3E}">
        <p14:creationId xmlns:p14="http://schemas.microsoft.com/office/powerpoint/2010/main" val="220163480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2.5</a:t>
            </a:r>
            <a:r>
              <a:rPr kumimoji="1" lang="zh-CN" altLang="en-US" sz="2800" kern="0" dirty="0">
                <a:solidFill>
                  <a:schemeClr val="tx2"/>
                </a:solidFill>
                <a:latin typeface="黑体" pitchFamily="2" charset="-122"/>
                <a:ea typeface="黑体" pitchFamily="2" charset="-122"/>
                <a:cs typeface="+mj-cs"/>
              </a:rPr>
              <a:t> 译码器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3" name="矩形 2"/>
          <p:cNvSpPr/>
          <p:nvPr/>
        </p:nvSpPr>
        <p:spPr>
          <a:xfrm>
            <a:off x="971600" y="1772817"/>
            <a:ext cx="7632848" cy="4031873"/>
          </a:xfrm>
          <a:prstGeom prst="rect">
            <a:avLst/>
          </a:prstGeom>
        </p:spPr>
        <p:txBody>
          <a:bodyPr wrap="square">
            <a:spAutoFit/>
          </a:bodyPr>
          <a:lstStyle/>
          <a:p>
            <a:r>
              <a:rPr lang="zh-CN" altLang="en-US" sz="3200" b="1" dirty="0">
                <a:solidFill>
                  <a:schemeClr val="tx2"/>
                </a:solidFill>
                <a:latin typeface="楷体_GB2312" pitchFamily="49" charset="-122"/>
                <a:ea typeface="楷体_GB2312" pitchFamily="49" charset="-122"/>
              </a:rPr>
              <a:t>译码器是电子技术中的一种多输入多输出的组合逻辑电路，负责将二进制代码翻译为特定的对象（如逻辑电平等），数字电路中，译码器可以担任多输入多输出逻辑门的角色，能将已编码的输入转换成已编码的输出，</a:t>
            </a:r>
            <a:endParaRPr lang="en-US" altLang="zh-CN" sz="3200" b="1" dirty="0">
              <a:solidFill>
                <a:schemeClr val="tx2"/>
              </a:solidFill>
              <a:latin typeface="楷体_GB2312" pitchFamily="49" charset="-122"/>
              <a:ea typeface="楷体_GB2312" pitchFamily="49" charset="-122"/>
            </a:endParaRPr>
          </a:p>
          <a:p>
            <a:r>
              <a:rPr lang="zh-CN" altLang="en-US" sz="3200" b="1" dirty="0">
                <a:solidFill>
                  <a:schemeClr val="tx2"/>
                </a:solidFill>
                <a:latin typeface="楷体_GB2312" pitchFamily="49" charset="-122"/>
                <a:ea typeface="楷体_GB2312" pitchFamily="49" charset="-122"/>
              </a:rPr>
              <a:t>如公交车车牌显示器上的数字</a:t>
            </a:r>
            <a:endParaRPr lang="en-US" altLang="zh-CN" sz="3200" b="1" dirty="0">
              <a:solidFill>
                <a:schemeClr val="tx2"/>
              </a:solidFill>
              <a:latin typeface="楷体_GB2312" pitchFamily="49" charset="-122"/>
              <a:ea typeface="楷体_GB2312" pitchFamily="49" charset="-122"/>
            </a:endParaRPr>
          </a:p>
          <a:p>
            <a:r>
              <a:rPr lang="zh-CN" altLang="en-US" sz="3200" b="1" dirty="0">
                <a:solidFill>
                  <a:schemeClr val="tx2"/>
                </a:solidFill>
                <a:latin typeface="楷体_GB2312" pitchFamily="49" charset="-122"/>
                <a:ea typeface="楷体_GB2312" pitchFamily="49" charset="-122"/>
              </a:rPr>
              <a:t>就是一种数字显示译码器。</a:t>
            </a:r>
          </a:p>
        </p:txBody>
      </p:sp>
      <p:pic>
        <p:nvPicPr>
          <p:cNvPr id="1026" name="Picture 2" descr="http://upload.wikimedia.org/wikipedia/commons/thumb/5/50/Tianjin_Bus_Route_606_-1-.jpg/250px-Tianjin_Bus_Route_606_-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4830" y="4293096"/>
            <a:ext cx="2381250" cy="1790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74461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2.5</a:t>
            </a:r>
            <a:r>
              <a:rPr kumimoji="1" lang="zh-CN" altLang="en-US" sz="2800" kern="0" dirty="0">
                <a:solidFill>
                  <a:schemeClr val="tx2"/>
                </a:solidFill>
                <a:latin typeface="黑体" pitchFamily="2" charset="-122"/>
                <a:ea typeface="黑体" pitchFamily="2" charset="-122"/>
                <a:cs typeface="+mj-cs"/>
              </a:rPr>
              <a:t> 译码器：举例</a:t>
            </a:r>
            <a:endParaRPr kumimoji="1" lang="zh-CN" altLang="en-US" sz="2000" kern="0" dirty="0">
              <a:solidFill>
                <a:schemeClr val="tx2"/>
              </a:solidFill>
              <a:latin typeface="楷体_GB2312" pitchFamily="49" charset="-122"/>
              <a:ea typeface="楷体_GB2312" pitchFamily="49" charset="-122"/>
              <a:cs typeface="+mj-cs"/>
            </a:endParaRPr>
          </a:p>
        </p:txBody>
      </p:sp>
      <p:grpSp>
        <p:nvGrpSpPr>
          <p:cNvPr id="4" name="组合 3"/>
          <p:cNvGrpSpPr/>
          <p:nvPr/>
        </p:nvGrpSpPr>
        <p:grpSpPr>
          <a:xfrm>
            <a:off x="395536" y="1302420"/>
            <a:ext cx="8424936" cy="4214812"/>
            <a:chOff x="35496" y="1785938"/>
            <a:chExt cx="7877175" cy="4214812"/>
          </a:xfrm>
          <a:solidFill>
            <a:schemeClr val="accent1"/>
          </a:solidFill>
        </p:grpSpPr>
        <p:pic>
          <p:nvPicPr>
            <p:cNvPr id="135171" name="图片 4" descr="图2.13.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6" y="1785938"/>
              <a:ext cx="7877175" cy="42148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38538" y="2607295"/>
              <a:ext cx="429006" cy="461665"/>
            </a:xfrm>
            <a:prstGeom prst="rect">
              <a:avLst/>
            </a:prstGeom>
            <a:grpFill/>
          </p:spPr>
          <p:txBody>
            <a:bodyPr wrap="square">
              <a:spAutoFit/>
            </a:bodyPr>
            <a:lstStyle/>
            <a:p>
              <a:pPr algn="ctr"/>
              <a:r>
                <a:rPr lang="en-US" altLang="zh-CN" sz="2400" b="1" dirty="0"/>
                <a:t>E</a:t>
              </a:r>
              <a:endParaRPr lang="zh-CN" altLang="en-US" sz="2400" b="1" dirty="0"/>
            </a:p>
          </p:txBody>
        </p:sp>
        <p:sp>
          <p:nvSpPr>
            <p:cNvPr id="8" name="矩形 7"/>
            <p:cNvSpPr/>
            <p:nvPr/>
          </p:nvSpPr>
          <p:spPr>
            <a:xfrm>
              <a:off x="4644008" y="2564904"/>
              <a:ext cx="429006" cy="461665"/>
            </a:xfrm>
            <a:prstGeom prst="rect">
              <a:avLst/>
            </a:prstGeom>
            <a:grpFill/>
          </p:spPr>
          <p:txBody>
            <a:bodyPr wrap="square">
              <a:spAutoFit/>
            </a:bodyPr>
            <a:lstStyle/>
            <a:p>
              <a:pPr algn="ctr"/>
              <a:r>
                <a:rPr lang="en-US" altLang="zh-CN" sz="2400" b="1" dirty="0"/>
                <a:t>E</a:t>
              </a:r>
              <a:endParaRPr lang="zh-CN" altLang="en-US" sz="2400" b="1" dirty="0"/>
            </a:p>
          </p:txBody>
        </p:sp>
      </p:grpSp>
      <mc:AlternateContent xmlns:mc="http://schemas.openxmlformats.org/markup-compatibility/2006" xmlns:a14="http://schemas.microsoft.com/office/drawing/2010/main">
        <mc:Choice Requires="a14">
          <p:sp>
            <p:nvSpPr>
              <p:cNvPr id="10" name="TextBox 6"/>
              <p:cNvSpPr txBox="1">
                <a:spLocks noChangeArrowheads="1"/>
              </p:cNvSpPr>
              <p:nvPr/>
            </p:nvSpPr>
            <p:spPr bwMode="auto">
              <a:xfrm>
                <a:off x="179512" y="5488652"/>
                <a:ext cx="8812088" cy="1180708"/>
              </a:xfrm>
              <a:prstGeom prst="rect">
                <a:avLst/>
              </a:prstGeom>
              <a:solidFill>
                <a:schemeClr val="accent1"/>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ea typeface="楷体_GB2312" pitchFamily="49" charset="-122"/>
                  </a:rPr>
                  <a:t>上表中：</a:t>
                </a:r>
                <a:endParaRPr lang="en-US" altLang="zh-CN" sz="3200" dirty="0">
                  <a:solidFill>
                    <a:schemeClr val="tx2"/>
                  </a:solidFill>
                  <a:ea typeface="楷体_GB2312" pitchFamily="49" charset="-122"/>
                </a:endParaRPr>
              </a:p>
              <a:p>
                <a:pPr algn="l" eaLnBrk="1" hangingPunct="1"/>
                <a14:m>
                  <m:oMath xmlns:m="http://schemas.openxmlformats.org/officeDocument/2006/math">
                    <m:sSub>
                      <m:sSubPr>
                        <m:ctrlPr>
                          <a:rPr lang="en-US" altLang="zh-CN" sz="2800" i="1" smtClean="0">
                            <a:solidFill>
                              <a:schemeClr val="tx2"/>
                            </a:solidFill>
                            <a:latin typeface="Cambria Math" panose="02040503050406030204" pitchFamily="18" charset="0"/>
                          </a:rPr>
                        </m:ctrlPr>
                      </m:sSubPr>
                      <m:e>
                        <m:r>
                          <a:rPr lang="en-US" altLang="zh-CN" sz="2800" b="1" i="1" smtClean="0">
                            <a:solidFill>
                              <a:schemeClr val="tx2"/>
                            </a:solidFill>
                            <a:latin typeface="Cambria Math"/>
                          </a:rPr>
                          <m:t>𝒀</m:t>
                        </m:r>
                      </m:e>
                      <m:sub>
                        <m:r>
                          <a:rPr lang="en-US" altLang="zh-CN" sz="2800" b="1" i="1" smtClean="0">
                            <a:solidFill>
                              <a:schemeClr val="tx2"/>
                            </a:solidFill>
                            <a:latin typeface="Cambria Math"/>
                          </a:rPr>
                          <m:t>𝟎</m:t>
                        </m:r>
                      </m:sub>
                    </m:sSub>
                    <m:r>
                      <a:rPr lang="en-US" altLang="zh-CN" sz="2800" b="1" i="1" smtClean="0">
                        <a:solidFill>
                          <a:schemeClr val="tx2"/>
                        </a:solidFill>
                        <a:latin typeface="Cambria Math"/>
                      </a:rPr>
                      <m:t>=</m:t>
                    </m:r>
                    <m:acc>
                      <m:accPr>
                        <m:chr m:val="⃑"/>
                        <m:ctrlPr>
                          <a:rPr lang="en-US" altLang="zh-CN" sz="2800" b="1" i="1" smtClean="0">
                            <a:solidFill>
                              <a:schemeClr val="tx2"/>
                            </a:solidFill>
                            <a:latin typeface="Cambria Math" panose="02040503050406030204" pitchFamily="18" charset="0"/>
                          </a:rPr>
                        </m:ctrlPr>
                      </m:accPr>
                      <m:e>
                        <m:acc>
                          <m:accPr>
                            <m:chr m:val="⃑"/>
                            <m:ctrlPr>
                              <a:rPr lang="en-US" altLang="zh-CN" sz="2800" b="1" i="1" smtClean="0">
                                <a:solidFill>
                                  <a:schemeClr val="tx2"/>
                                </a:solidFill>
                                <a:latin typeface="Cambria Math" panose="02040503050406030204" pitchFamily="18" charset="0"/>
                              </a:rPr>
                            </m:ctrlPr>
                          </m:accPr>
                          <m:e>
                            <m:r>
                              <a:rPr lang="en-US" altLang="zh-CN" sz="2800" b="1" i="1" smtClean="0">
                                <a:solidFill>
                                  <a:schemeClr val="tx2"/>
                                </a:solidFill>
                                <a:latin typeface="Cambria Math"/>
                              </a:rPr>
                              <m:t>𝑨</m:t>
                            </m:r>
                          </m:e>
                        </m:acc>
                        <m:r>
                          <a:rPr lang="en-US" altLang="zh-CN" sz="2800" b="1" i="1" smtClean="0">
                            <a:solidFill>
                              <a:schemeClr val="tx2"/>
                            </a:solidFill>
                            <a:latin typeface="Cambria Math"/>
                          </a:rPr>
                          <m:t> </m:t>
                        </m:r>
                        <m:acc>
                          <m:accPr>
                            <m:chr m:val="⃑"/>
                            <m:ctrlPr>
                              <a:rPr lang="en-US" altLang="zh-CN" sz="2800" i="1" smtClean="0">
                                <a:solidFill>
                                  <a:schemeClr val="tx2"/>
                                </a:solidFill>
                                <a:latin typeface="Cambria Math" panose="02040503050406030204" pitchFamily="18" charset="0"/>
                              </a:rPr>
                            </m:ctrlPr>
                          </m:accPr>
                          <m:e>
                            <m:r>
                              <a:rPr lang="en-US" altLang="zh-CN" sz="2800" b="1" i="1" smtClean="0">
                                <a:solidFill>
                                  <a:schemeClr val="tx2"/>
                                </a:solidFill>
                                <a:latin typeface="Cambria Math"/>
                              </a:rPr>
                              <m:t>𝑩</m:t>
                            </m:r>
                          </m:e>
                        </m:acc>
                        <m:r>
                          <a:rPr lang="en-US" altLang="zh-CN" sz="2800" b="1" i="1" smtClean="0">
                            <a:solidFill>
                              <a:schemeClr val="tx2"/>
                            </a:solidFill>
                            <a:latin typeface="Cambria Math"/>
                          </a:rPr>
                          <m:t>  </m:t>
                        </m:r>
                        <m:acc>
                          <m:accPr>
                            <m:chr m:val="⃑"/>
                            <m:ctrlPr>
                              <a:rPr lang="en-US" altLang="zh-CN" sz="2800" i="1" smtClean="0">
                                <a:solidFill>
                                  <a:schemeClr val="tx2"/>
                                </a:solidFill>
                                <a:latin typeface="Cambria Math" panose="02040503050406030204" pitchFamily="18" charset="0"/>
                              </a:rPr>
                            </m:ctrlPr>
                          </m:accPr>
                          <m:e>
                            <m:r>
                              <a:rPr lang="en-US" altLang="zh-CN" sz="2800" b="1" i="1" smtClean="0">
                                <a:solidFill>
                                  <a:schemeClr val="tx2"/>
                                </a:solidFill>
                                <a:latin typeface="Cambria Math"/>
                              </a:rPr>
                              <m:t> </m:t>
                            </m:r>
                            <m:r>
                              <a:rPr lang="en-US" altLang="zh-CN" sz="2800" b="1" i="1" smtClean="0">
                                <a:solidFill>
                                  <a:schemeClr val="tx2"/>
                                </a:solidFill>
                                <a:latin typeface="Cambria Math"/>
                              </a:rPr>
                              <m:t>𝑬</m:t>
                            </m:r>
                          </m:e>
                        </m:acc>
                      </m:e>
                    </m:acc>
                  </m:oMath>
                </a14:m>
                <a:r>
                  <a:rPr lang="zh-CN" altLang="en-US" sz="2800" dirty="0">
                    <a:solidFill>
                      <a:schemeClr val="tx2"/>
                    </a:solidFill>
                  </a:rPr>
                  <a:t>；</a:t>
                </a:r>
                <a14:m>
                  <m:oMath xmlns:m="http://schemas.openxmlformats.org/officeDocument/2006/math">
                    <m:sSub>
                      <m:sSubPr>
                        <m:ctrlPr>
                          <a:rPr lang="en-US" altLang="zh-CN" sz="2800" i="1">
                            <a:solidFill>
                              <a:schemeClr val="tx2"/>
                            </a:solidFill>
                            <a:latin typeface="Cambria Math" panose="02040503050406030204" pitchFamily="18" charset="0"/>
                          </a:rPr>
                        </m:ctrlPr>
                      </m:sSubPr>
                      <m:e>
                        <m:r>
                          <a:rPr lang="en-US" altLang="zh-CN" sz="2800" i="1">
                            <a:solidFill>
                              <a:schemeClr val="tx2"/>
                            </a:solidFill>
                            <a:latin typeface="Cambria Math"/>
                          </a:rPr>
                          <m:t>𝒀</m:t>
                        </m:r>
                      </m:e>
                      <m:sub>
                        <m:r>
                          <a:rPr lang="en-US" altLang="zh-CN" sz="2800" b="1" i="1" smtClean="0">
                            <a:solidFill>
                              <a:schemeClr val="tx2"/>
                            </a:solidFill>
                            <a:latin typeface="Cambria Math"/>
                          </a:rPr>
                          <m:t>𝟏</m:t>
                        </m:r>
                      </m:sub>
                    </m:sSub>
                    <m:r>
                      <a:rPr lang="en-US" altLang="zh-CN" sz="2800" i="1">
                        <a:solidFill>
                          <a:schemeClr val="tx2"/>
                        </a:solidFill>
                        <a:latin typeface="Cambria Math"/>
                      </a:rPr>
                      <m:t>=</m:t>
                    </m:r>
                    <m:acc>
                      <m:accPr>
                        <m:chr m:val="⃑"/>
                        <m:ctrlPr>
                          <a:rPr lang="en-US" altLang="zh-CN" sz="2800" i="1">
                            <a:solidFill>
                              <a:schemeClr val="tx2"/>
                            </a:solidFill>
                            <a:latin typeface="Cambria Math" panose="02040503050406030204" pitchFamily="18" charset="0"/>
                          </a:rPr>
                        </m:ctrlPr>
                      </m:accPr>
                      <m:e>
                        <m:r>
                          <a:rPr lang="en-US" altLang="zh-CN" sz="2800" b="1" i="1" smtClean="0">
                            <a:solidFill>
                              <a:schemeClr val="tx2"/>
                            </a:solidFill>
                            <a:latin typeface="Cambria Math"/>
                          </a:rPr>
                          <m:t>𝑨</m:t>
                        </m:r>
                        <m:acc>
                          <m:accPr>
                            <m:chr m:val="⃑"/>
                            <m:ctrlPr>
                              <a:rPr lang="en-US" altLang="zh-CN" sz="2800" i="1">
                                <a:solidFill>
                                  <a:schemeClr val="tx2"/>
                                </a:solidFill>
                                <a:latin typeface="Cambria Math" panose="02040503050406030204" pitchFamily="18" charset="0"/>
                              </a:rPr>
                            </m:ctrlPr>
                          </m:accPr>
                          <m:e>
                            <m:r>
                              <a:rPr lang="en-US" altLang="zh-CN" sz="2800" i="1">
                                <a:solidFill>
                                  <a:schemeClr val="tx2"/>
                                </a:solidFill>
                                <a:latin typeface="Cambria Math"/>
                              </a:rPr>
                              <m:t>𝑩</m:t>
                            </m:r>
                          </m:e>
                        </m:acc>
                        <m:r>
                          <a:rPr lang="en-US" altLang="zh-CN" sz="2800" b="1" i="1" smtClean="0">
                            <a:solidFill>
                              <a:schemeClr val="tx2"/>
                            </a:solidFill>
                            <a:latin typeface="Cambria Math"/>
                          </a:rPr>
                          <m:t>  </m:t>
                        </m:r>
                        <m:acc>
                          <m:accPr>
                            <m:chr m:val="⃑"/>
                            <m:ctrlPr>
                              <a:rPr lang="en-US" altLang="zh-CN" sz="2800" i="1">
                                <a:solidFill>
                                  <a:schemeClr val="tx2"/>
                                </a:solidFill>
                                <a:latin typeface="Cambria Math" panose="02040503050406030204" pitchFamily="18" charset="0"/>
                              </a:rPr>
                            </m:ctrlPr>
                          </m:accPr>
                          <m:e>
                            <m:r>
                              <a:rPr lang="en-US" altLang="zh-CN" sz="2800" i="1">
                                <a:solidFill>
                                  <a:schemeClr val="tx2"/>
                                </a:solidFill>
                                <a:latin typeface="Cambria Math"/>
                              </a:rPr>
                              <m:t> </m:t>
                            </m:r>
                            <m:r>
                              <a:rPr lang="en-US" altLang="zh-CN" sz="2800" i="1">
                                <a:solidFill>
                                  <a:schemeClr val="tx2"/>
                                </a:solidFill>
                                <a:latin typeface="Cambria Math"/>
                              </a:rPr>
                              <m:t>𝑬</m:t>
                            </m:r>
                          </m:e>
                        </m:acc>
                      </m:e>
                    </m:acc>
                  </m:oMath>
                </a14:m>
                <a:r>
                  <a:rPr lang="zh-CN" altLang="en-US" sz="2800" dirty="0">
                    <a:solidFill>
                      <a:schemeClr val="tx2"/>
                    </a:solidFill>
                  </a:rPr>
                  <a:t>；</a:t>
                </a:r>
                <a14:m>
                  <m:oMath xmlns:m="http://schemas.openxmlformats.org/officeDocument/2006/math">
                    <m:sSub>
                      <m:sSubPr>
                        <m:ctrlPr>
                          <a:rPr lang="en-US" altLang="zh-CN" sz="2800" i="1">
                            <a:solidFill>
                              <a:schemeClr val="tx2"/>
                            </a:solidFill>
                            <a:latin typeface="Cambria Math" panose="02040503050406030204" pitchFamily="18" charset="0"/>
                          </a:rPr>
                        </m:ctrlPr>
                      </m:sSubPr>
                      <m:e>
                        <m:r>
                          <a:rPr lang="en-US" altLang="zh-CN" sz="2800" i="1">
                            <a:solidFill>
                              <a:schemeClr val="tx2"/>
                            </a:solidFill>
                            <a:latin typeface="Cambria Math"/>
                          </a:rPr>
                          <m:t>𝒀</m:t>
                        </m:r>
                      </m:e>
                      <m:sub>
                        <m:r>
                          <a:rPr lang="en-US" altLang="zh-CN" sz="2800" b="1" i="1" smtClean="0">
                            <a:solidFill>
                              <a:schemeClr val="tx2"/>
                            </a:solidFill>
                            <a:latin typeface="Cambria Math"/>
                          </a:rPr>
                          <m:t>𝟐</m:t>
                        </m:r>
                      </m:sub>
                    </m:sSub>
                    <m:r>
                      <a:rPr lang="en-US" altLang="zh-CN" sz="2800" i="1">
                        <a:solidFill>
                          <a:schemeClr val="tx2"/>
                        </a:solidFill>
                        <a:latin typeface="Cambria Math"/>
                      </a:rPr>
                      <m:t>=</m:t>
                    </m:r>
                    <m:acc>
                      <m:accPr>
                        <m:chr m:val="⃑"/>
                        <m:ctrlPr>
                          <a:rPr lang="en-US" altLang="zh-CN" sz="2800" i="1">
                            <a:solidFill>
                              <a:schemeClr val="tx2"/>
                            </a:solidFill>
                            <a:latin typeface="Cambria Math" panose="02040503050406030204" pitchFamily="18" charset="0"/>
                          </a:rPr>
                        </m:ctrlPr>
                      </m:accPr>
                      <m:e>
                        <m:acc>
                          <m:accPr>
                            <m:chr m:val="⃑"/>
                            <m:ctrlPr>
                              <a:rPr lang="en-US" altLang="zh-CN" sz="2800" i="1">
                                <a:solidFill>
                                  <a:schemeClr val="tx2"/>
                                </a:solidFill>
                                <a:latin typeface="Cambria Math" panose="02040503050406030204" pitchFamily="18" charset="0"/>
                              </a:rPr>
                            </m:ctrlPr>
                          </m:accPr>
                          <m:e>
                            <m:r>
                              <a:rPr lang="en-US" altLang="zh-CN" sz="2800" i="1">
                                <a:solidFill>
                                  <a:schemeClr val="tx2"/>
                                </a:solidFill>
                                <a:latin typeface="Cambria Math"/>
                              </a:rPr>
                              <m:t>𝑨</m:t>
                            </m:r>
                          </m:e>
                        </m:acc>
                        <m:r>
                          <a:rPr lang="en-US" altLang="zh-CN" sz="2800" b="1" i="1" smtClean="0">
                            <a:solidFill>
                              <a:schemeClr val="tx2"/>
                            </a:solidFill>
                            <a:latin typeface="Cambria Math"/>
                          </a:rPr>
                          <m:t>𝑩</m:t>
                        </m:r>
                        <m:acc>
                          <m:accPr>
                            <m:chr m:val="⃑"/>
                            <m:ctrlPr>
                              <a:rPr lang="en-US" altLang="zh-CN" sz="2800" i="1" smtClean="0">
                                <a:solidFill>
                                  <a:schemeClr val="tx2"/>
                                </a:solidFill>
                                <a:latin typeface="Cambria Math" panose="02040503050406030204" pitchFamily="18" charset="0"/>
                              </a:rPr>
                            </m:ctrlPr>
                          </m:accPr>
                          <m:e>
                            <m:r>
                              <a:rPr lang="en-US" altLang="zh-CN" sz="2800" i="1" smtClean="0">
                                <a:solidFill>
                                  <a:schemeClr val="tx2"/>
                                </a:solidFill>
                                <a:latin typeface="Cambria Math"/>
                              </a:rPr>
                              <m:t> </m:t>
                            </m:r>
                            <m:r>
                              <a:rPr lang="en-US" altLang="zh-CN" sz="2800" i="1">
                                <a:solidFill>
                                  <a:schemeClr val="tx2"/>
                                </a:solidFill>
                                <a:latin typeface="Cambria Math"/>
                              </a:rPr>
                              <m:t>𝑬</m:t>
                            </m:r>
                          </m:e>
                        </m:acc>
                      </m:e>
                    </m:acc>
                  </m:oMath>
                </a14:m>
                <a:r>
                  <a:rPr lang="zh-CN" altLang="en-US" sz="2800" dirty="0">
                    <a:solidFill>
                      <a:schemeClr val="tx2"/>
                    </a:solidFill>
                  </a:rPr>
                  <a:t>；</a:t>
                </a:r>
                <a14:m>
                  <m:oMath xmlns:m="http://schemas.openxmlformats.org/officeDocument/2006/math">
                    <m:sSub>
                      <m:sSubPr>
                        <m:ctrlPr>
                          <a:rPr lang="en-US" altLang="zh-CN" sz="2800" i="1">
                            <a:solidFill>
                              <a:schemeClr val="tx2"/>
                            </a:solidFill>
                            <a:latin typeface="Cambria Math" panose="02040503050406030204" pitchFamily="18" charset="0"/>
                          </a:rPr>
                        </m:ctrlPr>
                      </m:sSubPr>
                      <m:e>
                        <m:r>
                          <a:rPr lang="en-US" altLang="zh-CN" sz="2800" i="1">
                            <a:solidFill>
                              <a:schemeClr val="tx2"/>
                            </a:solidFill>
                            <a:latin typeface="Cambria Math"/>
                          </a:rPr>
                          <m:t>𝒀</m:t>
                        </m:r>
                      </m:e>
                      <m:sub>
                        <m:r>
                          <a:rPr lang="en-US" altLang="zh-CN" sz="2800" b="1" i="1" smtClean="0">
                            <a:solidFill>
                              <a:schemeClr val="tx2"/>
                            </a:solidFill>
                            <a:latin typeface="Cambria Math"/>
                          </a:rPr>
                          <m:t>𝟑</m:t>
                        </m:r>
                      </m:sub>
                    </m:sSub>
                    <m:r>
                      <a:rPr lang="en-US" altLang="zh-CN" sz="2800" i="1">
                        <a:solidFill>
                          <a:schemeClr val="tx2"/>
                        </a:solidFill>
                        <a:latin typeface="Cambria Math"/>
                      </a:rPr>
                      <m:t>=</m:t>
                    </m:r>
                    <m:acc>
                      <m:accPr>
                        <m:chr m:val="⃑"/>
                        <m:ctrlPr>
                          <a:rPr lang="en-US" altLang="zh-CN" sz="2800" i="1">
                            <a:solidFill>
                              <a:schemeClr val="tx2"/>
                            </a:solidFill>
                            <a:latin typeface="Cambria Math" panose="02040503050406030204" pitchFamily="18" charset="0"/>
                          </a:rPr>
                        </m:ctrlPr>
                      </m:accPr>
                      <m:e>
                        <m:r>
                          <a:rPr lang="en-US" altLang="zh-CN" sz="2800" b="1" i="1" smtClean="0">
                            <a:solidFill>
                              <a:schemeClr val="tx2"/>
                            </a:solidFill>
                            <a:latin typeface="Cambria Math"/>
                          </a:rPr>
                          <m:t>𝑨𝑩</m:t>
                        </m:r>
                        <m:acc>
                          <m:accPr>
                            <m:chr m:val="⃑"/>
                            <m:ctrlPr>
                              <a:rPr lang="en-US" altLang="zh-CN" sz="2800" i="1">
                                <a:solidFill>
                                  <a:schemeClr val="tx2"/>
                                </a:solidFill>
                                <a:latin typeface="Cambria Math" panose="02040503050406030204" pitchFamily="18" charset="0"/>
                              </a:rPr>
                            </m:ctrlPr>
                          </m:accPr>
                          <m:e>
                            <m:r>
                              <a:rPr lang="en-US" altLang="zh-CN" sz="2800" i="1">
                                <a:solidFill>
                                  <a:schemeClr val="tx2"/>
                                </a:solidFill>
                                <a:latin typeface="Cambria Math"/>
                              </a:rPr>
                              <m:t> </m:t>
                            </m:r>
                            <m:r>
                              <a:rPr lang="en-US" altLang="zh-CN" sz="2800" i="1">
                                <a:solidFill>
                                  <a:schemeClr val="tx2"/>
                                </a:solidFill>
                                <a:latin typeface="Cambria Math"/>
                              </a:rPr>
                              <m:t>𝑬</m:t>
                            </m:r>
                          </m:e>
                        </m:acc>
                      </m:e>
                    </m:acc>
                  </m:oMath>
                </a14:m>
                <a:endParaRPr lang="zh-CN" altLang="en-US" sz="2800" dirty="0">
                  <a:solidFill>
                    <a:schemeClr val="tx2"/>
                  </a:solidFill>
                </a:endParaRPr>
              </a:p>
            </p:txBody>
          </p:sp>
        </mc:Choice>
        <mc:Fallback xmlns="">
          <p:sp>
            <p:nvSpPr>
              <p:cNvPr id="10" name="TextBox 6"/>
              <p:cNvSpPr txBox="1">
                <a:spLocks noRot="1" noChangeAspect="1" noMove="1" noResize="1" noEditPoints="1" noAdjustHandles="1" noChangeArrowheads="1" noChangeShapeType="1" noTextEdit="1"/>
              </p:cNvSpPr>
              <p:nvPr/>
            </p:nvSpPr>
            <p:spPr bwMode="auto">
              <a:xfrm>
                <a:off x="179512" y="5488652"/>
                <a:ext cx="8812088" cy="1180708"/>
              </a:xfrm>
              <a:prstGeom prst="rect">
                <a:avLst/>
              </a:prstGeom>
              <a:blipFill rotWithShape="1">
                <a:blip r:embed="rId4"/>
                <a:stretch>
                  <a:fillRect l="-1729" t="-8247" b="-13918"/>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406202264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2.5</a:t>
            </a:r>
            <a:r>
              <a:rPr kumimoji="1" lang="zh-CN" altLang="en-US" sz="2800" kern="0" dirty="0">
                <a:solidFill>
                  <a:schemeClr val="tx2"/>
                </a:solidFill>
                <a:latin typeface="黑体" pitchFamily="2" charset="-122"/>
                <a:ea typeface="黑体" pitchFamily="2" charset="-122"/>
                <a:cs typeface="+mj-cs"/>
              </a:rPr>
              <a:t> 译码器</a:t>
            </a:r>
            <a:endParaRPr kumimoji="1" lang="zh-CN" altLang="en-US" sz="2000" kern="0" dirty="0">
              <a:solidFill>
                <a:schemeClr val="tx2"/>
              </a:solidFill>
              <a:latin typeface="楷体_GB2312" pitchFamily="49" charset="-122"/>
              <a:ea typeface="楷体_GB2312" pitchFamily="49" charset="-122"/>
              <a:cs typeface="+mj-cs"/>
            </a:endParaRPr>
          </a:p>
        </p:txBody>
      </p:sp>
      <mc:AlternateContent xmlns:mc="http://schemas.openxmlformats.org/markup-compatibility/2006" xmlns:a14="http://schemas.microsoft.com/office/drawing/2010/main">
        <mc:Choice Requires="a14">
          <p:sp>
            <p:nvSpPr>
              <p:cNvPr id="3" name="矩形 2"/>
              <p:cNvSpPr/>
              <p:nvPr/>
            </p:nvSpPr>
            <p:spPr>
              <a:xfrm>
                <a:off x="971600" y="1772817"/>
                <a:ext cx="7632848" cy="3789499"/>
              </a:xfrm>
              <a:prstGeom prst="rect">
                <a:avLst/>
              </a:prstGeom>
            </p:spPr>
            <p:txBody>
              <a:bodyPr wrap="square">
                <a:spAutoFit/>
              </a:bodyPr>
              <a:lstStyle/>
              <a:p>
                <a:r>
                  <a:rPr lang="zh-CN" altLang="en-US" sz="3200" b="1" dirty="0">
                    <a:solidFill>
                      <a:schemeClr val="tx2"/>
                    </a:solidFill>
                    <a:latin typeface="楷体_GB2312" pitchFamily="49" charset="-122"/>
                    <a:ea typeface="楷体_GB2312" pitchFamily="49" charset="-122"/>
                  </a:rPr>
                  <a:t>以</a:t>
                </a:r>
                <a:r>
                  <a:rPr lang="en-US" altLang="zh-CN" sz="3200" b="1" dirty="0">
                    <a:solidFill>
                      <a:schemeClr val="tx2"/>
                    </a:solidFill>
                    <a:latin typeface="楷体_GB2312" pitchFamily="49" charset="-122"/>
                    <a:ea typeface="楷体_GB2312" pitchFamily="49" charset="-122"/>
                  </a:rPr>
                  <a:t>Y</a:t>
                </a:r>
                <a:r>
                  <a:rPr lang="en-US" altLang="zh-CN" sz="3200" b="1" baseline="-25000"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输出为例：</a:t>
                </a:r>
                <a:r>
                  <a:rPr lang="en-US" altLang="zh-CN" sz="3200" b="1" dirty="0">
                    <a:solidFill>
                      <a:schemeClr val="tx2"/>
                    </a:solidFill>
                    <a:latin typeface="楷体_GB2312" pitchFamily="49" charset="-122"/>
                    <a:ea typeface="楷体_GB2312" pitchFamily="49" charset="-122"/>
                  </a:rPr>
                  <a:t>Y</a:t>
                </a:r>
                <a:r>
                  <a:rPr lang="en-US" altLang="zh-CN" sz="3200" b="1" baseline="-25000" dirty="0">
                    <a:solidFill>
                      <a:schemeClr val="tx2"/>
                    </a:solidFill>
                    <a:latin typeface="楷体_GB2312" pitchFamily="49" charset="-122"/>
                    <a:ea typeface="楷体_GB2312" pitchFamily="49" charset="-122"/>
                  </a:rPr>
                  <a:t>0</a:t>
                </a:r>
                <a:r>
                  <a:rPr lang="zh-CN" altLang="en-US" sz="3200" b="1" dirty="0">
                    <a:solidFill>
                      <a:schemeClr val="tx2"/>
                    </a:solidFill>
                    <a:latin typeface="楷体_GB2312" pitchFamily="49" charset="-122"/>
                    <a:ea typeface="楷体_GB2312" pitchFamily="49" charset="-122"/>
                  </a:rPr>
                  <a:t>是与非门的输出，与非门的三个输入为：</a:t>
                </a:r>
                <a14:m>
                  <m:oMath xmlns:m="http://schemas.openxmlformats.org/officeDocument/2006/math">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 </m:t>
                        </m:r>
                        <m:r>
                          <a:rPr lang="en-US" altLang="zh-CN" sz="3200" b="1" i="1" smtClean="0">
                            <a:solidFill>
                              <a:schemeClr val="tx2"/>
                            </a:solidFill>
                            <a:latin typeface="Cambria Math"/>
                          </a:rPr>
                          <m:t>𝑨</m:t>
                        </m:r>
                      </m:e>
                    </m:acc>
                  </m:oMath>
                </a14:m>
                <a:r>
                  <a:rPr lang="en-US" altLang="zh-CN" sz="3200" b="1" dirty="0">
                    <a:solidFill>
                      <a:schemeClr val="tx2"/>
                    </a:solidFill>
                  </a:rPr>
                  <a:t> </a:t>
                </a:r>
                <a14:m>
                  <m:oMath xmlns:m="http://schemas.openxmlformats.org/officeDocument/2006/math">
                    <m:acc>
                      <m:accPr>
                        <m:chr m:val="⃑"/>
                        <m:ctrlPr>
                          <a:rPr lang="en-US" altLang="zh-CN" sz="3200" b="1" i="1">
                            <a:solidFill>
                              <a:schemeClr val="tx2"/>
                            </a:solidFill>
                            <a:latin typeface="Cambria Math" panose="02040503050406030204" pitchFamily="18" charset="0"/>
                          </a:rPr>
                        </m:ctrlPr>
                      </m:accPr>
                      <m:e>
                        <m:r>
                          <a:rPr lang="en-US" altLang="zh-CN" sz="3200" b="1" i="1">
                            <a:solidFill>
                              <a:schemeClr val="tx2"/>
                            </a:solidFill>
                            <a:latin typeface="Cambria Math"/>
                          </a:rPr>
                          <m:t>𝑩</m:t>
                        </m:r>
                      </m:e>
                    </m:acc>
                    <m:r>
                      <a:rPr lang="en-US" altLang="zh-CN" sz="3200" b="1" i="1">
                        <a:solidFill>
                          <a:schemeClr val="tx2"/>
                        </a:solidFill>
                        <a:latin typeface="Cambria Math"/>
                      </a:rPr>
                      <m:t> </m:t>
                    </m:r>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𝑬</m:t>
                        </m:r>
                      </m:e>
                    </m:acc>
                    <m:r>
                      <a:rPr lang="en-US" altLang="zh-CN" sz="3200" b="1" i="1">
                        <a:solidFill>
                          <a:schemeClr val="tx2"/>
                        </a:solidFill>
                        <a:latin typeface="Cambria Math"/>
                      </a:rPr>
                      <m:t> </m:t>
                    </m:r>
                  </m:oMath>
                </a14:m>
                <a:endParaRPr lang="en-US" altLang="zh-CN" sz="3200" b="1" dirty="0">
                  <a:solidFill>
                    <a:schemeClr val="tx2"/>
                  </a:solidFill>
                  <a:latin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r>
                  <a:rPr lang="zh-CN" altLang="en-US" sz="3200" b="1" dirty="0">
                    <a:solidFill>
                      <a:schemeClr val="tx2"/>
                    </a:solidFill>
                    <a:latin typeface="楷体_GB2312" pitchFamily="49" charset="-122"/>
                    <a:ea typeface="楷体_GB2312" pitchFamily="49" charset="-122"/>
                  </a:rPr>
                  <a:t>所以有</a:t>
                </a:r>
                <a:endParaRPr lang="en-US" altLang="zh-CN" sz="3200" b="1" dirty="0">
                  <a:solidFill>
                    <a:schemeClr val="tx2"/>
                  </a:solidFill>
                  <a:latin typeface="楷体_GB2312" pitchFamily="49" charset="-122"/>
                  <a:ea typeface="楷体_GB2312" pitchFamily="49" charset="-122"/>
                </a:endParaRPr>
              </a:p>
              <a:p>
                <a:pPr algn="ctr"/>
                <a:r>
                  <a:rPr lang="zh-CN" altLang="en-US" sz="3200" b="1" dirty="0">
                    <a:solidFill>
                      <a:schemeClr val="tx2"/>
                    </a:solidFill>
                    <a:latin typeface="楷体_GB2312" pitchFamily="49" charset="-122"/>
                    <a:ea typeface="楷体_GB2312" pitchFamily="49" charset="-122"/>
                  </a:rPr>
                  <a:t> </a:t>
                </a:r>
                <a14:m>
                  <m:oMath xmlns:m="http://schemas.openxmlformats.org/officeDocument/2006/math">
                    <m:sSub>
                      <m:sSubPr>
                        <m:ctrlPr>
                          <a:rPr lang="en-US" altLang="zh-CN" sz="3200" i="1">
                            <a:solidFill>
                              <a:schemeClr val="tx2"/>
                            </a:solidFill>
                            <a:latin typeface="Cambria Math" panose="02040503050406030204" pitchFamily="18" charset="0"/>
                          </a:rPr>
                        </m:ctrlPr>
                      </m:sSubPr>
                      <m:e>
                        <m:r>
                          <a:rPr lang="en-US" altLang="zh-CN" sz="3200" b="1" i="1">
                            <a:solidFill>
                              <a:schemeClr val="tx2"/>
                            </a:solidFill>
                            <a:latin typeface="Cambria Math"/>
                          </a:rPr>
                          <m:t>𝒀</m:t>
                        </m:r>
                      </m:e>
                      <m:sub>
                        <m:r>
                          <a:rPr lang="en-US" altLang="zh-CN" sz="3200" b="1" i="1">
                            <a:solidFill>
                              <a:schemeClr val="tx2"/>
                            </a:solidFill>
                            <a:latin typeface="Cambria Math"/>
                          </a:rPr>
                          <m:t>𝟎</m:t>
                        </m:r>
                      </m:sub>
                    </m:sSub>
                    <m:r>
                      <a:rPr lang="en-US" altLang="zh-CN" sz="3200" b="1" i="1">
                        <a:solidFill>
                          <a:schemeClr val="tx2"/>
                        </a:solidFill>
                        <a:latin typeface="Cambria Math"/>
                      </a:rPr>
                      <m:t>=</m:t>
                    </m:r>
                    <m:acc>
                      <m:accPr>
                        <m:chr m:val="⃑"/>
                        <m:ctrlPr>
                          <a:rPr lang="en-US" altLang="zh-CN" sz="3200" b="1" i="1">
                            <a:solidFill>
                              <a:schemeClr val="tx2"/>
                            </a:solidFill>
                            <a:latin typeface="Cambria Math" panose="02040503050406030204" pitchFamily="18" charset="0"/>
                          </a:rPr>
                        </m:ctrlPr>
                      </m:accPr>
                      <m:e>
                        <m:acc>
                          <m:accPr>
                            <m:chr m:val="⃑"/>
                            <m:ctrlPr>
                              <a:rPr lang="en-US" altLang="zh-CN" sz="3200" b="1" i="1">
                                <a:solidFill>
                                  <a:schemeClr val="tx2"/>
                                </a:solidFill>
                                <a:latin typeface="Cambria Math" panose="02040503050406030204" pitchFamily="18" charset="0"/>
                              </a:rPr>
                            </m:ctrlPr>
                          </m:accPr>
                          <m:e>
                            <m:r>
                              <a:rPr lang="en-US" altLang="zh-CN" sz="3200" b="1" i="1">
                                <a:solidFill>
                                  <a:schemeClr val="tx2"/>
                                </a:solidFill>
                                <a:latin typeface="Cambria Math"/>
                              </a:rPr>
                              <m:t>𝑨</m:t>
                            </m:r>
                          </m:e>
                        </m:acc>
                        <m:r>
                          <a:rPr lang="en-US" altLang="zh-CN" sz="3200" b="1" i="1">
                            <a:solidFill>
                              <a:schemeClr val="tx2"/>
                            </a:solidFill>
                            <a:latin typeface="Cambria Math"/>
                          </a:rPr>
                          <m:t> </m:t>
                        </m:r>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𝑩</m:t>
                            </m:r>
                          </m:e>
                        </m:acc>
                        <m:r>
                          <a:rPr lang="en-US" altLang="zh-CN" sz="3200" b="1" i="1">
                            <a:solidFill>
                              <a:schemeClr val="tx2"/>
                            </a:solidFill>
                            <a:latin typeface="Cambria Math"/>
                          </a:rPr>
                          <m:t>  </m:t>
                        </m:r>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 </m:t>
                            </m:r>
                            <m:r>
                              <a:rPr lang="en-US" altLang="zh-CN" sz="3200" b="1" i="1">
                                <a:solidFill>
                                  <a:schemeClr val="tx2"/>
                                </a:solidFill>
                                <a:latin typeface="Cambria Math"/>
                              </a:rPr>
                              <m:t>𝑬</m:t>
                            </m:r>
                          </m:e>
                        </m:acc>
                      </m:e>
                    </m:acc>
                  </m:oMath>
                </a14:m>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zh-CN" altLang="en-US" sz="3200" b="1" dirty="0">
                  <a:solidFill>
                    <a:schemeClr val="tx2"/>
                  </a:solidFill>
                  <a:latin typeface="楷体_GB2312" pitchFamily="49" charset="-122"/>
                  <a:ea typeface="楷体_GB2312"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971600" y="1772817"/>
                <a:ext cx="7632848" cy="3789499"/>
              </a:xfrm>
              <a:prstGeom prst="rect">
                <a:avLst/>
              </a:prstGeom>
              <a:blipFill rotWithShape="1">
                <a:blip r:embed="rId3"/>
                <a:stretch>
                  <a:fillRect l="-1997" t="-20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5853567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2.5</a:t>
            </a:r>
            <a:r>
              <a:rPr kumimoji="1" lang="zh-CN" altLang="en-US" sz="2800" kern="0" dirty="0">
                <a:solidFill>
                  <a:schemeClr val="tx2"/>
                </a:solidFill>
                <a:latin typeface="黑体" pitchFamily="2" charset="-122"/>
                <a:ea typeface="黑体" pitchFamily="2" charset="-122"/>
                <a:cs typeface="+mj-cs"/>
              </a:rPr>
              <a:t> 译码器</a:t>
            </a:r>
            <a:endParaRPr kumimoji="1" lang="zh-CN" altLang="en-US" sz="2000" kern="0" dirty="0">
              <a:solidFill>
                <a:schemeClr val="tx2"/>
              </a:solidFill>
              <a:latin typeface="楷体_GB2312" pitchFamily="49" charset="-122"/>
              <a:ea typeface="楷体_GB2312" pitchFamily="49" charset="-122"/>
              <a:cs typeface="+mj-cs"/>
            </a:endParaRPr>
          </a:p>
        </p:txBody>
      </p:sp>
      <mc:AlternateContent xmlns:mc="http://schemas.openxmlformats.org/markup-compatibility/2006" xmlns:a14="http://schemas.microsoft.com/office/drawing/2010/main">
        <mc:Choice Requires="a14">
          <p:sp>
            <p:nvSpPr>
              <p:cNvPr id="3" name="矩形 2"/>
              <p:cNvSpPr/>
              <p:nvPr/>
            </p:nvSpPr>
            <p:spPr>
              <a:xfrm>
                <a:off x="971600" y="1772817"/>
                <a:ext cx="7632848" cy="3959802"/>
              </a:xfrm>
              <a:prstGeom prst="rect">
                <a:avLst/>
              </a:prstGeom>
            </p:spPr>
            <p:txBody>
              <a:bodyPr wrap="square">
                <a:spAutoFit/>
              </a:bodyPr>
              <a:lstStyle/>
              <a:p>
                <a:r>
                  <a:rPr lang="zh-CN" altLang="en-US" sz="3200" b="1" dirty="0">
                    <a:solidFill>
                      <a:schemeClr val="tx2"/>
                    </a:solidFill>
                    <a:latin typeface="楷体_GB2312" pitchFamily="49" charset="-122"/>
                    <a:ea typeface="楷体_GB2312" pitchFamily="49" charset="-122"/>
                  </a:rPr>
                  <a:t>再以</a:t>
                </a:r>
                <a:r>
                  <a:rPr lang="en-US" altLang="zh-CN" sz="3200" b="1" dirty="0">
                    <a:solidFill>
                      <a:schemeClr val="tx2"/>
                    </a:solidFill>
                    <a:latin typeface="楷体_GB2312" pitchFamily="49" charset="-122"/>
                    <a:ea typeface="楷体_GB2312" pitchFamily="49" charset="-122"/>
                  </a:rPr>
                  <a:t>Y</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输出为例：</a:t>
                </a:r>
                <a:r>
                  <a:rPr lang="en-US" altLang="zh-CN" sz="3200" b="1" dirty="0">
                    <a:solidFill>
                      <a:schemeClr val="tx2"/>
                    </a:solidFill>
                    <a:latin typeface="楷体_GB2312" pitchFamily="49" charset="-122"/>
                    <a:ea typeface="楷体_GB2312" pitchFamily="49" charset="-122"/>
                  </a:rPr>
                  <a:t>Y</a:t>
                </a:r>
                <a:r>
                  <a:rPr lang="en-US" altLang="zh-CN" sz="3200" b="1" baseline="-25000"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是与非门的输出，与非门的三个输入为：</a:t>
                </a:r>
                <a14:m>
                  <m:oMath xmlns:m="http://schemas.openxmlformats.org/officeDocument/2006/math">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 </m:t>
                        </m:r>
                        <m:acc>
                          <m:accPr>
                            <m:chr m:val="⃑"/>
                            <m:ctrlPr>
                              <a:rPr lang="en-US" altLang="zh-CN" sz="3200" b="1" i="1" smtClean="0">
                                <a:solidFill>
                                  <a:schemeClr val="tx2"/>
                                </a:solidFill>
                                <a:latin typeface="Cambria Math" panose="02040503050406030204" pitchFamily="18" charset="0"/>
                              </a:rPr>
                            </m:ctrlPr>
                          </m:accPr>
                          <m:e>
                            <m:r>
                              <a:rPr lang="en-US" altLang="zh-CN" sz="3200" b="1" i="1" smtClean="0">
                                <a:solidFill>
                                  <a:schemeClr val="tx2"/>
                                </a:solidFill>
                                <a:latin typeface="Cambria Math"/>
                              </a:rPr>
                              <m:t>𝑨</m:t>
                            </m:r>
                          </m:e>
                        </m:acc>
                      </m:e>
                    </m:acc>
                  </m:oMath>
                </a14:m>
                <a:r>
                  <a:rPr lang="en-US" altLang="zh-CN" sz="3200" b="1" dirty="0">
                    <a:solidFill>
                      <a:schemeClr val="tx2"/>
                    </a:solidFill>
                  </a:rPr>
                  <a:t> </a:t>
                </a:r>
                <a14:m>
                  <m:oMath xmlns:m="http://schemas.openxmlformats.org/officeDocument/2006/math">
                    <m:acc>
                      <m:accPr>
                        <m:chr m:val="⃑"/>
                        <m:ctrlPr>
                          <a:rPr lang="en-US" altLang="zh-CN" sz="3200" b="1" i="1">
                            <a:solidFill>
                              <a:schemeClr val="tx2"/>
                            </a:solidFill>
                            <a:latin typeface="Cambria Math" panose="02040503050406030204" pitchFamily="18" charset="0"/>
                          </a:rPr>
                        </m:ctrlPr>
                      </m:accPr>
                      <m:e>
                        <m:r>
                          <a:rPr lang="en-US" altLang="zh-CN" sz="3200" b="1" i="1" smtClean="0">
                            <a:solidFill>
                              <a:schemeClr val="tx2"/>
                            </a:solidFill>
                            <a:latin typeface="Cambria Math"/>
                          </a:rPr>
                          <m:t>𝑩</m:t>
                        </m:r>
                      </m:e>
                    </m:acc>
                    <m:r>
                      <a:rPr lang="en-US" altLang="zh-CN" sz="3200" b="1" i="1">
                        <a:solidFill>
                          <a:schemeClr val="tx2"/>
                        </a:solidFill>
                        <a:latin typeface="Cambria Math"/>
                      </a:rPr>
                      <m:t> </m:t>
                    </m:r>
                    <m:acc>
                      <m:accPr>
                        <m:chr m:val="⃑"/>
                        <m:ctrlPr>
                          <a:rPr lang="en-US" altLang="zh-CN" sz="3200" i="1">
                            <a:solidFill>
                              <a:schemeClr val="tx2"/>
                            </a:solidFill>
                            <a:latin typeface="Cambria Math" panose="02040503050406030204" pitchFamily="18" charset="0"/>
                          </a:rPr>
                        </m:ctrlPr>
                      </m:accPr>
                      <m:e>
                        <m:r>
                          <a:rPr lang="en-US" altLang="zh-CN" sz="3200" b="1" i="1" smtClean="0">
                            <a:solidFill>
                              <a:schemeClr val="tx2"/>
                            </a:solidFill>
                            <a:latin typeface="Cambria Math"/>
                          </a:rPr>
                          <m:t>𝑬</m:t>
                        </m:r>
                      </m:e>
                    </m:acc>
                    <m:r>
                      <a:rPr lang="en-US" altLang="zh-CN" sz="3200" b="1" i="1">
                        <a:solidFill>
                          <a:schemeClr val="tx2"/>
                        </a:solidFill>
                        <a:latin typeface="Cambria Math"/>
                      </a:rPr>
                      <m:t> </m:t>
                    </m:r>
                  </m:oMath>
                </a14:m>
                <a:endParaRPr lang="en-US" altLang="zh-CN" sz="3200" b="1" dirty="0">
                  <a:solidFill>
                    <a:schemeClr val="tx2"/>
                  </a:solidFill>
                  <a:latin typeface="楷体_GB2312" pitchFamily="49" charset="-122"/>
                </a:endParaRPr>
              </a:p>
              <a:p>
                <a:r>
                  <a:rPr lang="zh-CN" altLang="en-US" sz="3200" b="1" dirty="0">
                    <a:solidFill>
                      <a:schemeClr val="tx2"/>
                    </a:solidFill>
                    <a:latin typeface="楷体_GB2312" pitchFamily="49" charset="-122"/>
                    <a:ea typeface="楷体_GB2312" pitchFamily="49" charset="-122"/>
                  </a:rPr>
                  <a:t>所以有</a:t>
                </a:r>
                <a:endParaRPr lang="en-US" altLang="zh-CN" sz="3200" b="1" dirty="0">
                  <a:solidFill>
                    <a:schemeClr val="tx2"/>
                  </a:solidFill>
                  <a:latin typeface="楷体_GB2312" pitchFamily="49" charset="-122"/>
                  <a:ea typeface="楷体_GB2312" pitchFamily="49" charset="-122"/>
                </a:endParaRPr>
              </a:p>
              <a:p>
                <a:pPr algn="ctr"/>
                <a14:m>
                  <m:oMathPara xmlns:m="http://schemas.openxmlformats.org/officeDocument/2006/math">
                    <m:oMathParaPr>
                      <m:jc m:val="centerGroup"/>
                    </m:oMathParaPr>
                    <m:oMath xmlns:m="http://schemas.openxmlformats.org/officeDocument/2006/math">
                      <m:sSub>
                        <m:sSubPr>
                          <m:ctrlPr>
                            <a:rPr lang="en-US" altLang="zh-CN" sz="3200" i="1">
                              <a:solidFill>
                                <a:schemeClr val="tx2"/>
                              </a:solidFill>
                              <a:latin typeface="Cambria Math" panose="02040503050406030204" pitchFamily="18" charset="0"/>
                            </a:rPr>
                          </m:ctrlPr>
                        </m:sSubPr>
                        <m:e>
                          <m:r>
                            <a:rPr lang="en-US" altLang="zh-CN" sz="3200" i="1">
                              <a:solidFill>
                                <a:schemeClr val="tx2"/>
                              </a:solidFill>
                              <a:latin typeface="Cambria Math"/>
                            </a:rPr>
                            <m:t>𝒀</m:t>
                          </m:r>
                        </m:e>
                        <m:sub>
                          <m:r>
                            <a:rPr lang="en-US" altLang="zh-CN" sz="3200" b="1" i="1">
                              <a:solidFill>
                                <a:schemeClr val="tx2"/>
                              </a:solidFill>
                              <a:latin typeface="Cambria Math"/>
                            </a:rPr>
                            <m:t>𝟏</m:t>
                          </m:r>
                        </m:sub>
                      </m:sSub>
                      <m:r>
                        <a:rPr lang="en-US" altLang="zh-CN" sz="3200" i="1">
                          <a:solidFill>
                            <a:schemeClr val="tx2"/>
                          </a:solidFill>
                          <a:latin typeface="Cambria Math"/>
                        </a:rPr>
                        <m:t>=</m:t>
                      </m:r>
                      <m:acc>
                        <m:accPr>
                          <m:chr m:val="⃑"/>
                          <m:ctrlPr>
                            <a:rPr lang="en-US" altLang="zh-CN" sz="3200" i="1">
                              <a:solidFill>
                                <a:schemeClr val="tx2"/>
                              </a:solidFill>
                              <a:latin typeface="Cambria Math" panose="02040503050406030204" pitchFamily="18" charset="0"/>
                            </a:rPr>
                          </m:ctrlPr>
                        </m:accPr>
                        <m:e>
                          <m:r>
                            <a:rPr lang="en-US" altLang="zh-CN" sz="3200" b="1" i="1">
                              <a:solidFill>
                                <a:schemeClr val="tx2"/>
                              </a:solidFill>
                              <a:latin typeface="Cambria Math"/>
                            </a:rPr>
                            <m:t>𝑨</m:t>
                          </m:r>
                          <m:acc>
                            <m:accPr>
                              <m:chr m:val="⃑"/>
                              <m:ctrlPr>
                                <a:rPr lang="en-US" altLang="zh-CN" sz="3200" i="1">
                                  <a:solidFill>
                                    <a:schemeClr val="tx2"/>
                                  </a:solidFill>
                                  <a:latin typeface="Cambria Math" panose="02040503050406030204" pitchFamily="18" charset="0"/>
                                </a:rPr>
                              </m:ctrlPr>
                            </m:accPr>
                            <m:e>
                              <m:r>
                                <a:rPr lang="en-US" altLang="zh-CN" sz="3200" i="1">
                                  <a:solidFill>
                                    <a:schemeClr val="tx2"/>
                                  </a:solidFill>
                                  <a:latin typeface="Cambria Math"/>
                                </a:rPr>
                                <m:t>𝑩</m:t>
                              </m:r>
                            </m:e>
                          </m:acc>
                          <m:r>
                            <a:rPr lang="en-US" altLang="zh-CN" sz="3200" b="1" i="1">
                              <a:solidFill>
                                <a:schemeClr val="tx2"/>
                              </a:solidFill>
                              <a:latin typeface="Cambria Math"/>
                            </a:rPr>
                            <m:t>  </m:t>
                          </m:r>
                          <m:acc>
                            <m:accPr>
                              <m:chr m:val="⃑"/>
                              <m:ctrlPr>
                                <a:rPr lang="en-US" altLang="zh-CN" sz="3200" i="1">
                                  <a:solidFill>
                                    <a:schemeClr val="tx2"/>
                                  </a:solidFill>
                                  <a:latin typeface="Cambria Math" panose="02040503050406030204" pitchFamily="18" charset="0"/>
                                </a:rPr>
                              </m:ctrlPr>
                            </m:accPr>
                            <m:e>
                              <m:r>
                                <a:rPr lang="en-US" altLang="zh-CN" sz="3200" i="1">
                                  <a:solidFill>
                                    <a:schemeClr val="tx2"/>
                                  </a:solidFill>
                                  <a:latin typeface="Cambria Math"/>
                                </a:rPr>
                                <m:t> </m:t>
                              </m:r>
                              <m:r>
                                <a:rPr lang="en-US" altLang="zh-CN" sz="3200" i="1">
                                  <a:solidFill>
                                    <a:schemeClr val="tx2"/>
                                  </a:solidFill>
                                  <a:latin typeface="Cambria Math"/>
                                </a:rPr>
                                <m:t>𝑬</m:t>
                              </m:r>
                            </m:e>
                          </m:acc>
                        </m:e>
                      </m:acc>
                    </m:oMath>
                  </m:oMathPara>
                </a14:m>
                <a:endParaRPr lang="en-US" altLang="zh-CN" sz="3200" b="1" dirty="0">
                  <a:solidFill>
                    <a:schemeClr val="tx2"/>
                  </a:solidFill>
                  <a:latin typeface="楷体_GB2312" pitchFamily="49" charset="-122"/>
                  <a:ea typeface="楷体_GB2312" pitchFamily="49" charset="-122"/>
                </a:endParaRPr>
              </a:p>
              <a:p>
                <a:r>
                  <a:rPr lang="en-US" altLang="zh-CN" sz="3200" b="1" dirty="0">
                    <a:solidFill>
                      <a:schemeClr val="tx2"/>
                    </a:solidFill>
                    <a:latin typeface="楷体_GB2312" pitchFamily="49" charset="-122"/>
                    <a:ea typeface="楷体_GB2312" pitchFamily="49" charset="-122"/>
                  </a:rPr>
                  <a:t>Y2 Y3</a:t>
                </a:r>
                <a:r>
                  <a:rPr lang="zh-CN" altLang="en-US" sz="3200" b="1" dirty="0">
                    <a:solidFill>
                      <a:schemeClr val="tx2"/>
                    </a:solidFill>
                    <a:latin typeface="楷体_GB2312" pitchFamily="49" charset="-122"/>
                    <a:ea typeface="楷体_GB2312" pitchFamily="49" charset="-122"/>
                  </a:rPr>
                  <a:t>同理类比</a:t>
                </a:r>
                <a:endParaRPr lang="en-US" altLang="zh-CN" sz="3200" b="1" dirty="0">
                  <a:solidFill>
                    <a:schemeClr val="tx2"/>
                  </a:solidFill>
                  <a:latin typeface="楷体_GB2312" pitchFamily="49" charset="-122"/>
                  <a:ea typeface="楷体_GB2312" pitchFamily="49" charset="-122"/>
                </a:endParaRPr>
              </a:p>
              <a:p>
                <a:endParaRPr lang="en-US" altLang="zh-CN" sz="3200" b="1" dirty="0">
                  <a:solidFill>
                    <a:schemeClr val="tx2"/>
                  </a:solidFill>
                  <a:latin typeface="楷体_GB2312" pitchFamily="49" charset="-122"/>
                  <a:ea typeface="楷体_GB2312" pitchFamily="49" charset="-122"/>
                </a:endParaRPr>
              </a:p>
              <a:p>
                <a:endParaRPr lang="zh-CN" altLang="en-US" sz="3200" b="1" dirty="0">
                  <a:solidFill>
                    <a:schemeClr val="tx2"/>
                  </a:solidFill>
                  <a:latin typeface="楷体_GB2312" pitchFamily="49" charset="-122"/>
                  <a:ea typeface="楷体_GB2312"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971600" y="1772817"/>
                <a:ext cx="7632848" cy="3959802"/>
              </a:xfrm>
              <a:prstGeom prst="rect">
                <a:avLst/>
              </a:prstGeom>
              <a:blipFill rotWithShape="1">
                <a:blip r:embed="rId3"/>
                <a:stretch>
                  <a:fillRect l="-1997" t="-20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625342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6807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与非门即</a:t>
                </a:r>
                <a14:m>
                  <m:oMath xmlns:m="http://schemas.openxmlformats.org/officeDocument/2006/math">
                    <m:r>
                      <a:rPr lang="en-US" altLang="zh-CN" sz="3200" b="1" i="1" smtClean="0">
                        <a:solidFill>
                          <a:schemeClr val="tx2"/>
                        </a:solidFill>
                        <a:latin typeface="Cambria Math"/>
                        <a:ea typeface="楷体_GB2312" pitchFamily="49" charset="-122"/>
                      </a:rPr>
                      <m:t>𝒀</m:t>
                    </m:r>
                    <m:r>
                      <a:rPr lang="en-US" altLang="zh-CN" sz="3200" b="1" i="1" smtClean="0">
                        <a:solidFill>
                          <a:schemeClr val="tx2"/>
                        </a:solidFill>
                        <a:latin typeface="Cambria Math"/>
                        <a:ea typeface="楷体_GB2312" pitchFamily="49" charset="-122"/>
                      </a:rPr>
                      <m:t>=</m:t>
                    </m:r>
                    <m:acc>
                      <m:accPr>
                        <m:chr m:val="⃑"/>
                        <m:ctrlPr>
                          <a:rPr lang="en-US" altLang="zh-CN" sz="3200" b="1" i="1" smtClean="0">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m:t>
                        </m:r>
                        <m:r>
                          <a:rPr lang="en-US" altLang="zh-CN" sz="3200" i="1">
                            <a:solidFill>
                              <a:schemeClr val="tx2"/>
                            </a:solidFill>
                            <a:latin typeface="Cambria Math"/>
                            <a:ea typeface="楷体_GB2312" pitchFamily="49" charset="-122"/>
                          </a:rPr>
                          <m:t>&amp;</m:t>
                        </m:r>
                        <m:r>
                          <a:rPr lang="en-US" altLang="zh-CN" sz="3200" i="1">
                            <a:solidFill>
                              <a:schemeClr val="tx2"/>
                            </a:solidFill>
                            <a:latin typeface="Cambria Math"/>
                            <a:ea typeface="楷体_GB2312" pitchFamily="49" charset="-122"/>
                          </a:rPr>
                          <m:t>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或表达为</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acc>
                      <m:accPr>
                        <m:chr m:val="⃑"/>
                        <m:ctrlPr>
                          <a:rPr lang="en-US" altLang="zh-CN" sz="3200" i="1">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680734"/>
              </a:xfrm>
              <a:prstGeom prst="rect">
                <a:avLst/>
              </a:prstGeom>
              <a:blipFill rotWithShape="1">
                <a:blip r:embed="rId3"/>
                <a:stretch>
                  <a:fillRect l="-1956" t="-29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2540753976"/>
              </p:ext>
            </p:extLst>
          </p:nvPr>
        </p:nvGraphicFramePr>
        <p:xfrm>
          <a:off x="1331640" y="3933056"/>
          <a:ext cx="6096000" cy="184912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pic>
        <p:nvPicPr>
          <p:cNvPr id="2050" name="Picture 2" descr="C:\Users\dell\Desktop\与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325" y="2330202"/>
            <a:ext cx="15049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78184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26600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或非门即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acc>
                      <m:accPr>
                        <m:chr m:val="⃑"/>
                        <m:ctrlPr>
                          <a:rPr lang="en-US" altLang="zh-CN" sz="3200" i="1" smtClean="0">
                            <a:solidFill>
                              <a:schemeClr val="tx2"/>
                            </a:solidFill>
                            <a:latin typeface="Cambria Math" panose="02040503050406030204" pitchFamily="18" charset="0"/>
                            <a:ea typeface="楷体_GB2312" pitchFamily="49" charset="-122"/>
                          </a:rPr>
                        </m:ctrlPr>
                      </m:accPr>
                      <m:e>
                        <m:r>
                          <a:rPr lang="en-US" altLang="zh-CN" sz="3200" i="1">
                            <a:solidFill>
                              <a:schemeClr val="tx2"/>
                            </a:solidFill>
                            <a:latin typeface="Cambria Math"/>
                            <a:ea typeface="楷体_GB2312" pitchFamily="49" charset="-122"/>
                          </a:rPr>
                          <m:t>𝑨</m:t>
                        </m:r>
                        <m:r>
                          <a:rPr lang="en-US" altLang="zh-CN" sz="3200" i="1">
                            <a:solidFill>
                              <a:schemeClr val="tx2"/>
                            </a:solidFill>
                            <a:latin typeface="Cambria Math"/>
                            <a:ea typeface="楷体_GB2312" pitchFamily="49" charset="-122"/>
                          </a:rPr>
                          <m:t>|</m:t>
                        </m:r>
                        <m:r>
                          <a:rPr lang="en-US" altLang="zh-CN" sz="3200" i="1">
                            <a:solidFill>
                              <a:schemeClr val="tx2"/>
                            </a:solidFill>
                            <a:latin typeface="Cambria Math"/>
                            <a:ea typeface="楷体_GB2312" pitchFamily="49" charset="-122"/>
                          </a:rPr>
                          <m:t>𝑩</m:t>
                        </m:r>
                        <m:r>
                          <m:rPr>
                            <m:nor/>
                          </m:rPr>
                          <a:rPr lang="en-US" altLang="zh-CN" sz="3200" dirty="0">
                            <a:solidFill>
                              <a:schemeClr val="tx2"/>
                            </a:solidFill>
                            <a:latin typeface="楷体_GB2312" pitchFamily="49" charset="-122"/>
                            <a:ea typeface="楷体_GB2312" pitchFamily="49" charset="-122"/>
                          </a:rPr>
                          <m:t> </m:t>
                        </m:r>
                      </m:e>
                    </m:acc>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2660087"/>
              </a:xfrm>
              <a:prstGeom prst="rect">
                <a:avLst/>
              </a:prstGeom>
              <a:blipFill rotWithShape="1">
                <a:blip r:embed="rId3"/>
                <a:stretch>
                  <a:fillRect l="-1956" t="-298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 name="表格 2"/>
          <p:cNvGraphicFramePr>
            <a:graphicFrameLocks noGrp="1"/>
          </p:cNvGraphicFramePr>
          <p:nvPr>
            <p:extLst>
              <p:ext uri="{D42A27DB-BD31-4B8C-83A1-F6EECF244321}">
                <p14:modId xmlns:p14="http://schemas.microsoft.com/office/powerpoint/2010/main" val="2798953164"/>
              </p:ext>
            </p:extLst>
          </p:nvPr>
        </p:nvGraphicFramePr>
        <p:xfrm>
          <a:off x="1115616" y="4293096"/>
          <a:ext cx="6096000" cy="18491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39040">
                <a:tc>
                  <a:txBody>
                    <a:bodyPr/>
                    <a:lstStyle/>
                    <a:p>
                      <a:r>
                        <a:rPr lang="en-US" altLang="zh-CN" b="1" dirty="0"/>
                        <a:t>A</a:t>
                      </a:r>
                      <a:endParaRPr lang="zh-CN" altLang="en-US" b="1" dirty="0"/>
                    </a:p>
                  </a:txBody>
                  <a:tcPr/>
                </a:tc>
                <a:tc>
                  <a:txBody>
                    <a:bodyPr/>
                    <a:lstStyle/>
                    <a:p>
                      <a:r>
                        <a:rPr lang="en-US" altLang="zh-CN" b="1" dirty="0"/>
                        <a:t>B</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3"/>
                  </a:ext>
                </a:extLst>
              </a:tr>
              <a:tr h="370840">
                <a:tc>
                  <a:txBody>
                    <a:bodyPr/>
                    <a:lstStyle/>
                    <a:p>
                      <a:r>
                        <a:rPr lang="en-US" altLang="zh-CN" b="1" dirty="0"/>
                        <a:t>1</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pic>
        <p:nvPicPr>
          <p:cNvPr id="1026" name="Picture 2" descr="C:\Users\dell\Desktop\或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618234"/>
            <a:ext cx="15049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62396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a:t>
            </a:r>
            <a:r>
              <a:rPr kumimoji="1" lang="zh-CN" altLang="en-US" sz="2800" kern="0" dirty="0">
                <a:solidFill>
                  <a:schemeClr val="tx2"/>
                </a:solidFill>
                <a:latin typeface="黑体" pitchFamily="2" charset="-122"/>
                <a:ea typeface="黑体" pitchFamily="2" charset="-122"/>
                <a:cs typeface="+mj-cs"/>
              </a:rPr>
              <a:t>数据信息在机器中的表示</a:t>
            </a:r>
            <a:br>
              <a:rPr kumimoji="1" lang="en-US" altLang="zh-CN" sz="3600" b="0" kern="0" dirty="0">
                <a:solidFill>
                  <a:schemeClr val="tx2"/>
                </a:solidFill>
                <a:latin typeface="黑体" pitchFamily="2" charset="-122"/>
                <a:ea typeface="黑体" pitchFamily="2" charset="-122"/>
                <a:cs typeface="+mj-cs"/>
              </a:rPr>
            </a:br>
            <a:r>
              <a:rPr kumimoji="1" lang="en-US" altLang="zh-CN" sz="2000" kern="0" dirty="0">
                <a:solidFill>
                  <a:schemeClr val="tx2"/>
                </a:solidFill>
                <a:latin typeface="楷体_GB2312" pitchFamily="49" charset="-122"/>
                <a:ea typeface="楷体_GB2312" pitchFamily="49" charset="-122"/>
                <a:cs typeface="+mj-cs"/>
              </a:rPr>
              <a:t>2.1.3</a:t>
            </a:r>
            <a:r>
              <a:rPr kumimoji="1" lang="zh-CN" altLang="en-US" sz="2000" kern="0" dirty="0">
                <a:solidFill>
                  <a:schemeClr val="tx2"/>
                </a:solidFill>
                <a:latin typeface="楷体_GB2312" pitchFamily="49" charset="-122"/>
                <a:ea typeface="楷体_GB2312" pitchFamily="49" charset="-122"/>
                <a:cs typeface="+mj-cs"/>
              </a:rPr>
              <a:t>数据校验方法</a:t>
            </a:r>
          </a:p>
        </p:txBody>
      </p:sp>
      <mc:AlternateContent xmlns:mc="http://schemas.openxmlformats.org/markup-compatibility/2006" xmlns:a14="http://schemas.microsoft.com/office/drawing/2010/main">
        <mc:Choice Requires="a14">
          <p:sp>
            <p:nvSpPr>
              <p:cNvPr id="86019" name="矩形 2"/>
              <p:cNvSpPr>
                <a:spLocks noChangeArrowheads="1"/>
              </p:cNvSpPr>
              <p:nvPr/>
            </p:nvSpPr>
            <p:spPr bwMode="auto">
              <a:xfrm>
                <a:off x="714375" y="1785938"/>
                <a:ext cx="7786688" cy="30469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电子元件的逻辑符号图如下：</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               </a:t>
                </a:r>
              </a:p>
              <a:p>
                <a:pPr eaLnBrk="1" hangingPunct="1"/>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非门即</a:t>
                </a:r>
                <a14:m>
                  <m:oMath xmlns:m="http://schemas.openxmlformats.org/officeDocument/2006/math">
                    <m:r>
                      <a:rPr lang="en-US" altLang="zh-CN" sz="3200" i="1">
                        <a:solidFill>
                          <a:schemeClr val="tx2"/>
                        </a:solidFill>
                        <a:latin typeface="Cambria Math"/>
                        <a:ea typeface="楷体_GB2312" pitchFamily="49" charset="-122"/>
                      </a:rPr>
                      <m:t>𝒀</m:t>
                    </m:r>
                    <m:r>
                      <a:rPr lang="en-US" altLang="zh-CN" sz="3200" i="1">
                        <a:solidFill>
                          <a:schemeClr val="tx2"/>
                        </a:solidFill>
                        <a:latin typeface="Cambria Math"/>
                        <a:ea typeface="楷体_GB2312" pitchFamily="49" charset="-122"/>
                      </a:rPr>
                      <m:t>=</m:t>
                    </m:r>
                    <m:r>
                      <a:rPr lang="en-US" altLang="zh-CN" sz="3200" b="1" i="1" smtClean="0">
                        <a:solidFill>
                          <a:schemeClr val="tx2"/>
                        </a:solidFill>
                        <a:latin typeface="Cambria Math"/>
                        <a:ea typeface="楷体_GB2312" pitchFamily="49" charset="-122"/>
                      </a:rPr>
                      <m:t>𝑨</m:t>
                    </m:r>
                    <m:r>
                      <a:rPr lang="en-US" altLang="zh-CN" sz="3200" b="1" i="1" smtClean="0">
                        <a:solidFill>
                          <a:schemeClr val="tx2"/>
                        </a:solidFill>
                        <a:latin typeface="Cambria Math"/>
                        <a:ea typeface="楷体_GB2312" pitchFamily="49" charset="-122"/>
                      </a:rPr>
                      <m:t>′</m:t>
                    </m:r>
                  </m:oMath>
                </a14:m>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其真值表为：</a:t>
                </a:r>
                <a:endParaRPr lang="en-US" altLang="zh-CN" sz="3200" dirty="0">
                  <a:solidFill>
                    <a:schemeClr val="tx2"/>
                  </a:solidFill>
                  <a:latin typeface="楷体_GB2312" pitchFamily="49" charset="-122"/>
                  <a:ea typeface="楷体_GB2312" pitchFamily="49" charset="-122"/>
                </a:endParaRPr>
              </a:p>
              <a:p>
                <a:pPr eaLnBrk="1" hangingPunct="1"/>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mc:Choice>
        <mc:Fallback xmlns="">
          <p:sp>
            <p:nvSpPr>
              <p:cNvPr id="86019" name="矩形 2"/>
              <p:cNvSpPr>
                <a:spLocks noRot="1" noChangeAspect="1" noMove="1" noResize="1" noEditPoints="1" noAdjustHandles="1" noChangeArrowheads="1" noChangeShapeType="1" noTextEdit="1"/>
              </p:cNvSpPr>
              <p:nvPr/>
            </p:nvSpPr>
            <p:spPr bwMode="auto">
              <a:xfrm>
                <a:off x="714375" y="1785938"/>
                <a:ext cx="7786688" cy="3046988"/>
              </a:xfrm>
              <a:prstGeom prst="rect">
                <a:avLst/>
              </a:prstGeom>
              <a:blipFill rotWithShape="1">
                <a:blip r:embed="rId3"/>
                <a:stretch>
                  <a:fillRect l="-1956" t="-26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8" name="Picture 4" descr="C:\Users\dell\Desktop\计算机组成原理课件\非门.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636912"/>
            <a:ext cx="1504950" cy="6667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格 3"/>
          <p:cNvGraphicFramePr>
            <a:graphicFrameLocks noGrp="1"/>
          </p:cNvGraphicFramePr>
          <p:nvPr>
            <p:extLst>
              <p:ext uri="{D42A27DB-BD31-4B8C-83A1-F6EECF244321}">
                <p14:modId xmlns:p14="http://schemas.microsoft.com/office/powerpoint/2010/main" val="2914790884"/>
              </p:ext>
            </p:extLst>
          </p:nvPr>
        </p:nvGraphicFramePr>
        <p:xfrm>
          <a:off x="1403648" y="3905826"/>
          <a:ext cx="6096000" cy="1112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altLang="zh-CN" b="1" dirty="0"/>
                        <a:t>A</a:t>
                      </a:r>
                      <a:endParaRPr lang="zh-CN" altLang="en-US" b="1" dirty="0"/>
                    </a:p>
                  </a:txBody>
                  <a:tcPr/>
                </a:tc>
                <a:tc>
                  <a:txBody>
                    <a:bodyPr/>
                    <a:lstStyle/>
                    <a:p>
                      <a:r>
                        <a:rPr lang="en-US" altLang="zh-CN" b="1" dirty="0"/>
                        <a:t>Y</a:t>
                      </a:r>
                      <a:endParaRPr lang="zh-CN" altLang="en-US" b="1" dirty="0"/>
                    </a:p>
                  </a:txBody>
                  <a:tcPr/>
                </a:tc>
                <a:extLst>
                  <a:ext uri="{0D108BD9-81ED-4DB2-BD59-A6C34878D82A}">
                    <a16:rowId xmlns:a16="http://schemas.microsoft.com/office/drawing/2014/main" val="10000"/>
                  </a:ext>
                </a:extLst>
              </a:tr>
              <a:tr h="370840">
                <a:tc>
                  <a:txBody>
                    <a:bodyPr/>
                    <a:lstStyle/>
                    <a:p>
                      <a:r>
                        <a:rPr lang="en-US" altLang="zh-CN" b="1" dirty="0"/>
                        <a:t>0</a:t>
                      </a:r>
                      <a:endParaRPr lang="zh-CN" altLang="en-US" b="1" dirty="0"/>
                    </a:p>
                  </a:txBody>
                  <a:tcPr/>
                </a:tc>
                <a:tc>
                  <a:txBody>
                    <a:bodyPr/>
                    <a:lstStyle/>
                    <a:p>
                      <a:r>
                        <a:rPr lang="en-US" altLang="zh-CN" b="1" dirty="0"/>
                        <a:t>1</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1</a:t>
                      </a:r>
                      <a:endParaRPr lang="zh-CN" altLang="en-US" b="1" dirty="0"/>
                    </a:p>
                  </a:txBody>
                  <a:tcPr/>
                </a:tc>
                <a:tc>
                  <a:txBody>
                    <a:bodyPr/>
                    <a:lstStyle/>
                    <a:p>
                      <a:r>
                        <a:rPr lang="en-US" altLang="zh-CN" b="1" dirty="0"/>
                        <a:t>0</a:t>
                      </a:r>
                      <a:endParaRPr lang="zh-CN" altLang="en-US" b="1"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4320438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2.8</a:t>
            </a:r>
            <a:r>
              <a:rPr kumimoji="1" lang="zh-CN" altLang="en-US" sz="2800" kern="0" dirty="0">
                <a:solidFill>
                  <a:schemeClr val="tx2"/>
                </a:solidFill>
                <a:latin typeface="黑体" pitchFamily="2" charset="-122"/>
                <a:ea typeface="黑体" pitchFamily="2" charset="-122"/>
                <a:cs typeface="+mj-cs"/>
              </a:rPr>
              <a:t> 总线</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39267" name="TextBox 3"/>
          <p:cNvSpPr txBox="1">
            <a:spLocks noChangeArrowheads="1"/>
          </p:cNvSpPr>
          <p:nvPr/>
        </p:nvSpPr>
        <p:spPr bwMode="auto">
          <a:xfrm>
            <a:off x="714375" y="1714500"/>
            <a:ext cx="8001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    所谓的总线，就是连接计算机各部件的一族公共的信号线，即：计算机中各部件之间传送数据的公共通道。</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a:t>
            </a:r>
            <a:r>
              <a:rPr lang="zh-CN" altLang="en-US" sz="3200" dirty="0">
                <a:solidFill>
                  <a:srgbClr val="FF0000"/>
                </a:solidFill>
                <a:latin typeface="楷体_GB2312" pitchFamily="49" charset="-122"/>
                <a:ea typeface="楷体_GB2312" pitchFamily="49" charset="-122"/>
              </a:rPr>
              <a:t>总线一般有地址线、数据线和控制线组成。</a:t>
            </a:r>
            <a:endParaRPr lang="en-US" altLang="zh-CN" sz="3200" dirty="0">
              <a:solidFill>
                <a:srgbClr val="FF0000"/>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实现总线连接的线路</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）集电极开路与非门（</a:t>
            </a:r>
            <a:r>
              <a:rPr lang="en-US" altLang="zh-CN" sz="3200" dirty="0">
                <a:solidFill>
                  <a:schemeClr val="tx2"/>
                </a:solidFill>
                <a:latin typeface="楷体_GB2312" pitchFamily="49" charset="-122"/>
                <a:ea typeface="楷体_GB2312" pitchFamily="49" charset="-122"/>
              </a:rPr>
              <a:t>OC</a:t>
            </a:r>
            <a:r>
              <a:rPr lang="zh-CN" altLang="en-US" sz="3200" dirty="0">
                <a:solidFill>
                  <a:schemeClr val="tx2"/>
                </a:solidFill>
                <a:latin typeface="楷体_GB2312" pitchFamily="49" charset="-122"/>
                <a:ea typeface="楷体_GB2312" pitchFamily="49" charset="-122"/>
              </a:rPr>
              <a:t>门）</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）三态门</a:t>
            </a:r>
          </a:p>
        </p:txBody>
      </p:sp>
    </p:spTree>
    <p:extLst>
      <p:ext uri="{BB962C8B-B14F-4D97-AF65-F5344CB8AC3E}">
        <p14:creationId xmlns:p14="http://schemas.microsoft.com/office/powerpoint/2010/main" val="408445887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2.8</a:t>
            </a:r>
            <a:r>
              <a:rPr kumimoji="1" lang="zh-CN" altLang="en-US" sz="2800" kern="0" dirty="0">
                <a:solidFill>
                  <a:schemeClr val="tx2"/>
                </a:solidFill>
                <a:latin typeface="黑体" pitchFamily="2" charset="-122"/>
                <a:ea typeface="黑体" pitchFamily="2" charset="-122"/>
                <a:cs typeface="+mj-cs"/>
              </a:rPr>
              <a:t> 总线</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0291" name="TextBox 3"/>
          <p:cNvSpPr txBox="1">
            <a:spLocks noChangeArrowheads="1"/>
          </p:cNvSpPr>
          <p:nvPr/>
        </p:nvSpPr>
        <p:spPr bwMode="auto">
          <a:xfrm>
            <a:off x="714375" y="1714500"/>
            <a:ext cx="8001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2.</a:t>
            </a:r>
            <a:r>
              <a:rPr lang="zh-CN" altLang="en-US" sz="3200">
                <a:solidFill>
                  <a:schemeClr val="tx2"/>
                </a:solidFill>
                <a:latin typeface="楷体_GB2312" pitchFamily="49" charset="-122"/>
                <a:ea typeface="楷体_GB2312" pitchFamily="49" charset="-122"/>
              </a:rPr>
              <a:t>总线的实现方法</a:t>
            </a:r>
            <a:endParaRPr lang="en-US" altLang="zh-CN" sz="3200">
              <a:solidFill>
                <a:schemeClr val="tx2"/>
              </a:solidFill>
              <a:latin typeface="楷体_GB2312" pitchFamily="49" charset="-122"/>
              <a:ea typeface="楷体_GB2312" pitchFamily="49" charset="-122"/>
            </a:endParaRPr>
          </a:p>
          <a:p>
            <a:pPr algn="l" eaLnBrk="1" hangingPunct="1"/>
            <a:r>
              <a:rPr lang="zh-CN" altLang="en-US" sz="3200">
                <a:solidFill>
                  <a:schemeClr val="tx2"/>
                </a:solidFill>
                <a:latin typeface="楷体_GB2312" pitchFamily="49" charset="-122"/>
                <a:ea typeface="楷体_GB2312" pitchFamily="49" charset="-122"/>
              </a:rPr>
              <a:t>（</a:t>
            </a:r>
            <a:r>
              <a:rPr lang="en-US" altLang="zh-CN" sz="3200">
                <a:solidFill>
                  <a:schemeClr val="tx2"/>
                </a:solidFill>
                <a:latin typeface="楷体_GB2312" pitchFamily="49" charset="-122"/>
                <a:ea typeface="楷体_GB2312" pitchFamily="49" charset="-122"/>
              </a:rPr>
              <a:t>1</a:t>
            </a:r>
            <a:r>
              <a:rPr lang="zh-CN" altLang="en-US" sz="3200">
                <a:solidFill>
                  <a:schemeClr val="tx2"/>
                </a:solidFill>
                <a:latin typeface="楷体_GB2312" pitchFamily="49" charset="-122"/>
                <a:ea typeface="楷体_GB2312" pitchFamily="49" charset="-122"/>
              </a:rPr>
              <a:t>）单向总线</a:t>
            </a:r>
          </a:p>
        </p:txBody>
      </p:sp>
      <p:pic>
        <p:nvPicPr>
          <p:cNvPr id="140292" name="图片 5" descr="单向总线.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2786063"/>
            <a:ext cx="7215187"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13556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2.8</a:t>
            </a:r>
            <a:r>
              <a:rPr kumimoji="1" lang="zh-CN" altLang="en-US" sz="2800" kern="0" dirty="0">
                <a:solidFill>
                  <a:schemeClr val="tx2"/>
                </a:solidFill>
                <a:latin typeface="黑体" pitchFamily="2" charset="-122"/>
                <a:ea typeface="黑体" pitchFamily="2" charset="-122"/>
                <a:cs typeface="+mj-cs"/>
              </a:rPr>
              <a:t> 总线</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0291" name="TextBox 3"/>
          <p:cNvSpPr txBox="1">
            <a:spLocks noChangeArrowheads="1"/>
          </p:cNvSpPr>
          <p:nvPr/>
        </p:nvSpPr>
        <p:spPr bwMode="auto">
          <a:xfrm>
            <a:off x="714375" y="1714500"/>
            <a:ext cx="80010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单向总线只能沿一个方向发生和接受数据，</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如上图中</a:t>
            </a:r>
            <a:r>
              <a:rPr lang="en-US" altLang="zh-CN" sz="3200" dirty="0" err="1">
                <a:solidFill>
                  <a:schemeClr val="tx2"/>
                </a:solidFill>
                <a:latin typeface="楷体_GB2312" pitchFamily="49" charset="-122"/>
                <a:ea typeface="楷体_GB2312" pitchFamily="49" charset="-122"/>
              </a:rPr>
              <a:t>Aout</a:t>
            </a:r>
            <a:r>
              <a:rPr lang="zh-CN" altLang="en-US" sz="3200" dirty="0">
                <a:solidFill>
                  <a:schemeClr val="tx2"/>
                </a:solidFill>
                <a:latin typeface="楷体_GB2312" pitchFamily="49" charset="-122"/>
                <a:ea typeface="楷体_GB2312" pitchFamily="49" charset="-122"/>
              </a:rPr>
              <a:t>和</a:t>
            </a:r>
            <a:r>
              <a:rPr lang="en-US" altLang="zh-CN" sz="3200" dirty="0">
                <a:solidFill>
                  <a:schemeClr val="tx2"/>
                </a:solidFill>
                <a:latin typeface="楷体_GB2312" pitchFamily="49" charset="-122"/>
                <a:ea typeface="楷体_GB2312" pitchFamily="49" charset="-122"/>
              </a:rPr>
              <a:t>Bout</a:t>
            </a:r>
            <a:r>
              <a:rPr lang="zh-CN" altLang="en-US" sz="3200" dirty="0">
                <a:solidFill>
                  <a:schemeClr val="tx2"/>
                </a:solidFill>
                <a:latin typeface="楷体_GB2312" pitchFamily="49" charset="-122"/>
                <a:ea typeface="楷体_GB2312" pitchFamily="49" charset="-122"/>
              </a:rPr>
              <a:t>分别负责发送一个比他数据，在接收端两个 对应的</a:t>
            </a:r>
            <a:r>
              <a:rPr lang="en-US" altLang="zh-CN" sz="3200" dirty="0">
                <a:solidFill>
                  <a:schemeClr val="tx2"/>
                </a:solidFill>
                <a:latin typeface="楷体_GB2312" pitchFamily="49" charset="-122"/>
                <a:ea typeface="楷体_GB2312" pitchFamily="49" charset="-122"/>
              </a:rPr>
              <a:t>D</a:t>
            </a:r>
            <a:r>
              <a:rPr lang="zh-CN" altLang="en-US" sz="3200" dirty="0">
                <a:solidFill>
                  <a:schemeClr val="tx2"/>
                </a:solidFill>
                <a:latin typeface="楷体_GB2312" pitchFamily="49" charset="-122"/>
                <a:ea typeface="楷体_GB2312" pitchFamily="49" charset="-122"/>
              </a:rPr>
              <a:t>触发器的</a:t>
            </a:r>
            <a:r>
              <a:rPr lang="en-US" altLang="zh-CN" sz="3200" dirty="0" err="1">
                <a:solidFill>
                  <a:schemeClr val="tx2"/>
                </a:solidFill>
                <a:latin typeface="楷体_GB2312" pitchFamily="49" charset="-122"/>
                <a:ea typeface="楷体_GB2312" pitchFamily="49" charset="-122"/>
              </a:rPr>
              <a:t>Cin</a:t>
            </a:r>
            <a:r>
              <a:rPr lang="zh-CN" altLang="en-US" sz="3200" dirty="0">
                <a:solidFill>
                  <a:schemeClr val="tx2"/>
                </a:solidFill>
                <a:latin typeface="楷体_GB2312" pitchFamily="49" charset="-122"/>
                <a:ea typeface="楷体_GB2312" pitchFamily="49" charset="-122"/>
              </a:rPr>
              <a:t>和</a:t>
            </a:r>
            <a:r>
              <a:rPr lang="en-US" altLang="zh-CN" sz="3200" dirty="0">
                <a:solidFill>
                  <a:schemeClr val="tx2"/>
                </a:solidFill>
                <a:latin typeface="楷体_GB2312" pitchFamily="49" charset="-122"/>
                <a:ea typeface="楷体_GB2312" pitchFamily="49" charset="-122"/>
              </a:rPr>
              <a:t>Din</a:t>
            </a:r>
            <a:r>
              <a:rPr lang="zh-CN" altLang="en-US" sz="3200" dirty="0">
                <a:solidFill>
                  <a:schemeClr val="tx2"/>
                </a:solidFill>
                <a:latin typeface="楷体_GB2312" pitchFamily="49" charset="-122"/>
                <a:ea typeface="楷体_GB2312" pitchFamily="49" charset="-122"/>
              </a:rPr>
              <a:t>端负责接收发来的数据，存入寄存器中。</a:t>
            </a:r>
          </a:p>
        </p:txBody>
      </p:sp>
    </p:spTree>
    <p:extLst>
      <p:ext uri="{BB962C8B-B14F-4D97-AF65-F5344CB8AC3E}">
        <p14:creationId xmlns:p14="http://schemas.microsoft.com/office/powerpoint/2010/main" val="169347221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2.8</a:t>
            </a:r>
            <a:r>
              <a:rPr kumimoji="1" lang="zh-CN" altLang="en-US" sz="2800" kern="0" dirty="0">
                <a:solidFill>
                  <a:schemeClr val="tx2"/>
                </a:solidFill>
                <a:latin typeface="黑体" pitchFamily="2" charset="-122"/>
                <a:ea typeface="黑体" pitchFamily="2" charset="-122"/>
                <a:cs typeface="+mj-cs"/>
              </a:rPr>
              <a:t> 总线</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1315" name="TextBox 3"/>
          <p:cNvSpPr txBox="1">
            <a:spLocks noChangeArrowheads="1"/>
          </p:cNvSpPr>
          <p:nvPr/>
        </p:nvSpPr>
        <p:spPr bwMode="auto">
          <a:xfrm>
            <a:off x="714375" y="171450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）双向总线</a:t>
            </a:r>
          </a:p>
        </p:txBody>
      </p:sp>
      <p:pic>
        <p:nvPicPr>
          <p:cNvPr id="141316" name="图片 4" descr="双向总线.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2357438"/>
            <a:ext cx="7500938"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53170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2.8</a:t>
            </a:r>
            <a:r>
              <a:rPr kumimoji="1" lang="zh-CN" altLang="en-US" sz="2800" kern="0" dirty="0">
                <a:solidFill>
                  <a:schemeClr val="tx2"/>
                </a:solidFill>
                <a:latin typeface="黑体" pitchFamily="2" charset="-122"/>
                <a:ea typeface="黑体" pitchFamily="2" charset="-122"/>
                <a:cs typeface="+mj-cs"/>
              </a:rPr>
              <a:t> 总线</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1315" name="TextBox 3"/>
          <p:cNvSpPr txBox="1">
            <a:spLocks noChangeArrowheads="1"/>
          </p:cNvSpPr>
          <p:nvPr/>
        </p:nvSpPr>
        <p:spPr bwMode="auto">
          <a:xfrm>
            <a:off x="714375" y="1714500"/>
            <a:ext cx="80010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双向总线：每一端都可以发送和接收数据，故而在每一端都有发送装置和接收装置，如上图</a:t>
            </a:r>
            <a:r>
              <a:rPr lang="en-US" altLang="zh-CN" sz="3200" dirty="0" err="1">
                <a:solidFill>
                  <a:schemeClr val="tx2"/>
                </a:solidFill>
                <a:latin typeface="楷体_GB2312" pitchFamily="49" charset="-122"/>
                <a:ea typeface="楷体_GB2312" pitchFamily="49" charset="-122"/>
              </a:rPr>
              <a:t>Aout</a:t>
            </a:r>
            <a:r>
              <a:rPr lang="zh-CN" altLang="en-US" sz="3200" dirty="0">
                <a:solidFill>
                  <a:schemeClr val="tx2"/>
                </a:solidFill>
                <a:latin typeface="楷体_GB2312" pitchFamily="49" charset="-122"/>
                <a:ea typeface="楷体_GB2312" pitchFamily="49" charset="-122"/>
              </a:rPr>
              <a:t>负责向</a:t>
            </a:r>
            <a:r>
              <a:rPr lang="en-US" altLang="zh-CN" sz="3200" dirty="0">
                <a:solidFill>
                  <a:schemeClr val="tx2"/>
                </a:solidFill>
                <a:latin typeface="楷体_GB2312" pitchFamily="49" charset="-122"/>
                <a:ea typeface="楷体_GB2312" pitchFamily="49" charset="-122"/>
              </a:rPr>
              <a:t>Bin</a:t>
            </a:r>
            <a:r>
              <a:rPr lang="zh-CN" altLang="en-US" sz="3200" dirty="0">
                <a:solidFill>
                  <a:schemeClr val="tx2"/>
                </a:solidFill>
                <a:latin typeface="楷体_GB2312" pitchFamily="49" charset="-122"/>
                <a:ea typeface="楷体_GB2312" pitchFamily="49" charset="-122"/>
              </a:rPr>
              <a:t>发送数据，</a:t>
            </a:r>
            <a:r>
              <a:rPr lang="en-US" altLang="zh-CN" sz="3200" dirty="0">
                <a:solidFill>
                  <a:schemeClr val="tx2"/>
                </a:solidFill>
                <a:latin typeface="楷体_GB2312" pitchFamily="49" charset="-122"/>
                <a:ea typeface="楷体_GB2312" pitchFamily="49" charset="-122"/>
              </a:rPr>
              <a:t>Bin</a:t>
            </a:r>
            <a:r>
              <a:rPr lang="zh-CN" altLang="en-US" sz="3200" dirty="0">
                <a:solidFill>
                  <a:schemeClr val="tx2"/>
                </a:solidFill>
                <a:latin typeface="楷体_GB2312" pitchFamily="49" charset="-122"/>
                <a:ea typeface="楷体_GB2312" pitchFamily="49" charset="-122"/>
              </a:rPr>
              <a:t>负责接收</a:t>
            </a:r>
            <a:r>
              <a:rPr lang="en-US" altLang="zh-CN" sz="3200" dirty="0" err="1">
                <a:solidFill>
                  <a:schemeClr val="tx2"/>
                </a:solidFill>
                <a:latin typeface="楷体_GB2312" pitchFamily="49" charset="-122"/>
                <a:ea typeface="楷体_GB2312" pitchFamily="49" charset="-122"/>
              </a:rPr>
              <a:t>Aout</a:t>
            </a:r>
            <a:r>
              <a:rPr lang="zh-CN" altLang="en-US" sz="3200" dirty="0">
                <a:solidFill>
                  <a:schemeClr val="tx2"/>
                </a:solidFill>
                <a:latin typeface="楷体_GB2312" pitchFamily="49" charset="-122"/>
                <a:ea typeface="楷体_GB2312" pitchFamily="49" charset="-122"/>
              </a:rPr>
              <a:t>发送来的数据；</a:t>
            </a:r>
            <a:r>
              <a:rPr lang="en-US" altLang="zh-CN" sz="3200" dirty="0">
                <a:solidFill>
                  <a:schemeClr val="tx2"/>
                </a:solidFill>
                <a:latin typeface="楷体_GB2312" pitchFamily="49" charset="-122"/>
                <a:ea typeface="楷体_GB2312" pitchFamily="49" charset="-122"/>
              </a:rPr>
              <a:t>Bout</a:t>
            </a:r>
            <a:r>
              <a:rPr lang="zh-CN" altLang="en-US" sz="3200" dirty="0">
                <a:solidFill>
                  <a:schemeClr val="tx2"/>
                </a:solidFill>
                <a:latin typeface="楷体_GB2312" pitchFamily="49" charset="-122"/>
                <a:ea typeface="楷体_GB2312" pitchFamily="49" charset="-122"/>
              </a:rPr>
              <a:t>向</a:t>
            </a:r>
            <a:r>
              <a:rPr lang="en-US" altLang="zh-CN" sz="3200" dirty="0" err="1">
                <a:solidFill>
                  <a:schemeClr val="tx2"/>
                </a:solidFill>
                <a:latin typeface="楷体_GB2312" pitchFamily="49" charset="-122"/>
                <a:ea typeface="楷体_GB2312" pitchFamily="49" charset="-122"/>
              </a:rPr>
              <a:t>Ain</a:t>
            </a:r>
            <a:r>
              <a:rPr lang="zh-CN" altLang="en-US" sz="3200" dirty="0">
                <a:solidFill>
                  <a:schemeClr val="tx2"/>
                </a:solidFill>
                <a:latin typeface="楷体_GB2312" pitchFamily="49" charset="-122"/>
                <a:ea typeface="楷体_GB2312" pitchFamily="49" charset="-122"/>
              </a:rPr>
              <a:t>发送数据，</a:t>
            </a:r>
            <a:r>
              <a:rPr lang="en-US" altLang="zh-CN" sz="3200" dirty="0" err="1">
                <a:solidFill>
                  <a:schemeClr val="tx2"/>
                </a:solidFill>
                <a:latin typeface="楷体_GB2312" pitchFamily="49" charset="-122"/>
                <a:ea typeface="楷体_GB2312" pitchFamily="49" charset="-122"/>
              </a:rPr>
              <a:t>Ain</a:t>
            </a:r>
            <a:r>
              <a:rPr lang="zh-CN" altLang="en-US" sz="3200" dirty="0">
                <a:solidFill>
                  <a:schemeClr val="tx2"/>
                </a:solidFill>
                <a:latin typeface="楷体_GB2312" pitchFamily="49" charset="-122"/>
                <a:ea typeface="楷体_GB2312" pitchFamily="49" charset="-122"/>
              </a:rPr>
              <a:t>负责接收</a:t>
            </a:r>
            <a:r>
              <a:rPr lang="en-US" altLang="zh-CN" sz="3200" dirty="0">
                <a:solidFill>
                  <a:schemeClr val="tx2"/>
                </a:solidFill>
                <a:latin typeface="楷体_GB2312" pitchFamily="49" charset="-122"/>
                <a:ea typeface="楷体_GB2312" pitchFamily="49" charset="-122"/>
              </a:rPr>
              <a:t>Bout</a:t>
            </a:r>
            <a:r>
              <a:rPr lang="zh-CN" altLang="en-US" sz="3200" dirty="0">
                <a:solidFill>
                  <a:schemeClr val="tx2"/>
                </a:solidFill>
                <a:latin typeface="楷体_GB2312" pitchFamily="49" charset="-122"/>
                <a:ea typeface="楷体_GB2312" pitchFamily="49" charset="-122"/>
              </a:rPr>
              <a:t>发送来</a:t>
            </a:r>
            <a:r>
              <a:rPr lang="zh-CN" altLang="en-US" sz="3200">
                <a:solidFill>
                  <a:schemeClr val="tx2"/>
                </a:solidFill>
                <a:latin typeface="楷体_GB2312" pitchFamily="49" charset="-122"/>
                <a:ea typeface="楷体_GB2312" pitchFamily="49" charset="-122"/>
              </a:rPr>
              <a:t>的数据。</a:t>
            </a:r>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42133426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mc:AlternateContent xmlns:mc="http://schemas.openxmlformats.org/markup-compatibility/2006" xmlns:a14="http://schemas.microsoft.com/office/drawing/2010/main">
        <mc:Choice Requires="a14">
          <p:sp>
            <p:nvSpPr>
              <p:cNvPr id="142339" name="TextBox 3"/>
              <p:cNvSpPr txBox="1">
                <a:spLocks noChangeArrowheads="1"/>
              </p:cNvSpPr>
              <p:nvPr/>
            </p:nvSpPr>
            <p:spPr bwMode="auto">
              <a:xfrm>
                <a:off x="611560" y="1181100"/>
                <a:ext cx="8434932" cy="5509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单元加法电路</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半</a:t>
                </a:r>
                <a:r>
                  <a:rPr lang="zh-CN" altLang="en-US" sz="3200" dirty="0">
                    <a:solidFill>
                      <a:schemeClr val="tx2"/>
                    </a:solidFill>
                    <a:latin typeface="楷体_GB2312" pitchFamily="49" charset="-122"/>
                    <a:ea typeface="楷体_GB2312" pitchFamily="49" charset="-122"/>
                  </a:rPr>
                  <a:t>加器组成（二进制加法）</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只考虑本位的被加数和加数的相加，</a:t>
                </a:r>
                <a:r>
                  <a:rPr lang="zh-CN" altLang="en-US" sz="3200" dirty="0">
                    <a:solidFill>
                      <a:srgbClr val="FF0000"/>
                    </a:solidFill>
                    <a:latin typeface="楷体_GB2312" pitchFamily="49" charset="-122"/>
                    <a:ea typeface="楷体_GB2312" pitchFamily="49" charset="-122"/>
                  </a:rPr>
                  <a:t>不考虑两个因素：</a:t>
                </a:r>
                <a:r>
                  <a:rPr lang="en-US" altLang="zh-CN" sz="3200" dirty="0">
                    <a:solidFill>
                      <a:srgbClr val="FF0000"/>
                    </a:solidFill>
                    <a:latin typeface="楷体_GB2312" pitchFamily="49" charset="-122"/>
                    <a:ea typeface="楷体_GB2312" pitchFamily="49" charset="-122"/>
                  </a:rPr>
                  <a:t>1</a:t>
                </a:r>
                <a:r>
                  <a:rPr lang="zh-CN" altLang="en-US" sz="3200" dirty="0">
                    <a:solidFill>
                      <a:srgbClr val="FF0000"/>
                    </a:solidFill>
                    <a:latin typeface="楷体_GB2312" pitchFamily="49" charset="-122"/>
                    <a:ea typeface="楷体_GB2312" pitchFamily="49" charset="-122"/>
                  </a:rPr>
                  <a:t>）较低位来的进位 </a:t>
                </a:r>
                <a:r>
                  <a:rPr lang="en-US" altLang="zh-CN" sz="3200" dirty="0">
                    <a:solidFill>
                      <a:srgbClr val="FF0000"/>
                    </a:solidFill>
                    <a:latin typeface="楷体_GB2312" pitchFamily="49" charset="-122"/>
                    <a:ea typeface="楷体_GB2312" pitchFamily="49" charset="-122"/>
                  </a:rPr>
                  <a:t>2</a:t>
                </a:r>
                <a:r>
                  <a:rPr lang="zh-CN" altLang="en-US" sz="3200" dirty="0">
                    <a:solidFill>
                      <a:srgbClr val="FF0000"/>
                    </a:solidFill>
                    <a:latin typeface="楷体_GB2312" pitchFamily="49" charset="-122"/>
                    <a:ea typeface="楷体_GB2312" pitchFamily="49" charset="-122"/>
                  </a:rPr>
                  <a:t>）本位相加后的进位。</a:t>
                </a:r>
                <a:endParaRPr lang="en-US" altLang="zh-CN" sz="3200" dirty="0">
                  <a:solidFill>
                    <a:srgbClr val="FF0000"/>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Y</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宋体" pitchFamily="2" charset="-122"/>
                    <a:ea typeface="宋体" pitchFamily="2" charset="-122"/>
                  </a:rPr>
                  <a:t>⊕B</a:t>
                </a:r>
                <a:r>
                  <a:rPr lang="en-US" altLang="zh-CN" sz="3200" baseline="-25000" dirty="0" err="1">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（异或计算）          </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ea typeface="楷体_GB2312" pitchFamily="49" charset="-122"/>
                  </a:rPr>
                  <a:t> </a:t>
                </a:r>
                <a14:m>
                  <m:oMath xmlns:m="http://schemas.openxmlformats.org/officeDocument/2006/math">
                    <m:r>
                      <a:rPr lang="en-US" altLang="zh-CN" sz="3200" i="1">
                        <a:solidFill>
                          <a:schemeClr val="tx2"/>
                        </a:solidFill>
                        <a:latin typeface="Cambria Math"/>
                        <a:ea typeface="楷体_GB2312" pitchFamily="49" charset="-122"/>
                      </a:rPr>
                      <m:t> </m:t>
                    </m:r>
                  </m:oMath>
                </a14:m>
                <a:r>
                  <a:rPr lang="en-US" altLang="zh-CN" sz="3200" dirty="0">
                    <a:solidFill>
                      <a:schemeClr val="tx2"/>
                    </a:solidFill>
                    <a:latin typeface="宋体" pitchFamily="2" charset="-122"/>
                    <a:ea typeface="宋体" pitchFamily="2" charset="-122"/>
                  </a:rPr>
                  <a:t>B</a:t>
                </a:r>
                <a:r>
                  <a:rPr lang="en-US" altLang="zh-CN" sz="3200" baseline="-25000" dirty="0">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（与计算，也可以表示为</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ea typeface="楷体_GB2312" pitchFamily="49" charset="-122"/>
                  </a:rPr>
                  <a:t> </a:t>
                </a:r>
                <a14:m>
                  <m:oMath xmlns:m="http://schemas.openxmlformats.org/officeDocument/2006/math">
                    <m:r>
                      <a:rPr lang="en-US" altLang="zh-CN" sz="3200" i="1">
                        <a:solidFill>
                          <a:schemeClr val="tx2"/>
                        </a:solidFill>
                        <a:latin typeface="Cambria Math"/>
                        <a:ea typeface="楷体_GB2312" pitchFamily="49" charset="-122"/>
                      </a:rPr>
                      <m:t>&amp; </m:t>
                    </m:r>
                  </m:oMath>
                </a14:m>
                <a:r>
                  <a:rPr lang="en-US" altLang="zh-CN" sz="3200" dirty="0">
                    <a:solidFill>
                      <a:schemeClr val="tx2"/>
                    </a:solidFill>
                    <a:latin typeface="宋体" pitchFamily="2" charset="-122"/>
                    <a:ea typeface="宋体" pitchFamily="2" charset="-122"/>
                  </a:rPr>
                  <a:t>B</a:t>
                </a:r>
                <a:r>
                  <a:rPr lang="en-US" altLang="zh-CN" sz="3200" baseline="-25000" dirty="0">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Y</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本位和</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本位进位</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宋体" pitchFamily="2" charset="-122"/>
                    <a:ea typeface="宋体" pitchFamily="2" charset="-122"/>
                  </a:rPr>
                  <a:t>B</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本位被加数和加数</a:t>
                </a:r>
              </a:p>
            </p:txBody>
          </p:sp>
        </mc:Choice>
        <mc:Fallback xmlns="">
          <p:sp>
            <p:nvSpPr>
              <p:cNvPr id="142339" name="TextBox 3"/>
              <p:cNvSpPr txBox="1">
                <a:spLocks noRot="1" noChangeAspect="1" noMove="1" noResize="1" noEditPoints="1" noAdjustHandles="1" noChangeArrowheads="1" noChangeShapeType="1" noTextEdit="1"/>
              </p:cNvSpPr>
              <p:nvPr/>
            </p:nvSpPr>
            <p:spPr bwMode="auto">
              <a:xfrm>
                <a:off x="611560" y="1181100"/>
                <a:ext cx="8434932" cy="5509200"/>
              </a:xfrm>
              <a:prstGeom prst="rect">
                <a:avLst/>
              </a:prstGeom>
              <a:blipFill rotWithShape="1">
                <a:blip r:embed="rId3"/>
                <a:stretch>
                  <a:fillRect l="-1806" t="-1440" r="-795" b="-27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42340" name="图片 5" descr="半加器.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3212976"/>
            <a:ext cx="2053656" cy="31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434963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mc:AlternateContent xmlns:mc="http://schemas.openxmlformats.org/markup-compatibility/2006" xmlns:a14="http://schemas.microsoft.com/office/drawing/2010/main">
        <mc:Choice Requires="a14">
          <p:sp>
            <p:nvSpPr>
              <p:cNvPr id="142339" name="TextBox 3"/>
              <p:cNvSpPr txBox="1">
                <a:spLocks noChangeArrowheads="1"/>
              </p:cNvSpPr>
              <p:nvPr/>
            </p:nvSpPr>
            <p:spPr bwMode="auto">
              <a:xfrm>
                <a:off x="318530" y="770384"/>
                <a:ext cx="8506940" cy="6001643"/>
              </a:xfrm>
              <a:prstGeom prst="rect">
                <a:avLst/>
              </a:prstGeom>
              <a:solidFill>
                <a:schemeClr val="accent1"/>
              </a:solidFill>
              <a:ln>
                <a:noFill/>
              </a:ln>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单元加法电路</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半</a:t>
                </a:r>
                <a:r>
                  <a:rPr lang="zh-CN" altLang="en-US" sz="3200" dirty="0">
                    <a:solidFill>
                      <a:schemeClr val="tx2"/>
                    </a:solidFill>
                    <a:latin typeface="楷体_GB2312" pitchFamily="49" charset="-122"/>
                    <a:ea typeface="楷体_GB2312" pitchFamily="49" charset="-122"/>
                  </a:rPr>
                  <a:t>加器组成（二进制加法）</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Y</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宋体" pitchFamily="2" charset="-122"/>
                    <a:ea typeface="宋体" pitchFamily="2" charset="-122"/>
                  </a:rPr>
                  <a:t>⊕B</a:t>
                </a:r>
                <a:r>
                  <a:rPr lang="en-US" altLang="zh-CN" sz="3200" baseline="-25000" dirty="0" err="1">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（异或计算）          </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ea typeface="楷体_GB2312" pitchFamily="49" charset="-122"/>
                  </a:rPr>
                  <a:t> </a:t>
                </a:r>
                <a14:m>
                  <m:oMath xmlns:m="http://schemas.openxmlformats.org/officeDocument/2006/math">
                    <m:r>
                      <a:rPr lang="en-US" altLang="zh-CN" sz="3200" i="1">
                        <a:solidFill>
                          <a:schemeClr val="tx2"/>
                        </a:solidFill>
                        <a:latin typeface="Cambria Math"/>
                        <a:ea typeface="楷体_GB2312" pitchFamily="49" charset="-122"/>
                      </a:rPr>
                      <m:t> </m:t>
                    </m:r>
                  </m:oMath>
                </a14:m>
                <a:r>
                  <a:rPr lang="en-US" altLang="zh-CN" sz="3200" dirty="0">
                    <a:solidFill>
                      <a:schemeClr val="tx2"/>
                    </a:solidFill>
                    <a:latin typeface="宋体" pitchFamily="2" charset="-122"/>
                    <a:ea typeface="宋体" pitchFamily="2" charset="-122"/>
                  </a:rPr>
                  <a:t>B</a:t>
                </a:r>
                <a:r>
                  <a:rPr lang="en-US" altLang="zh-CN" sz="3200" baseline="-25000" dirty="0">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（与计算，也可以表示为</a:t>
                </a:r>
                <a:endParaRPr lang="en-US" altLang="zh-CN" sz="3200" baseline="-25000" dirty="0">
                  <a:solidFill>
                    <a:schemeClr val="tx2"/>
                  </a:solidFill>
                  <a:latin typeface="楷体_GB2312" pitchFamily="49" charset="-122"/>
                  <a:ea typeface="楷体_GB2312" pitchFamily="49" charset="-122"/>
                </a:endParaRPr>
              </a:p>
              <a:p>
                <a:pPr eaLnBrk="1" hangingPunct="1"/>
                <a:r>
                  <a:rPr lang="en-US" altLang="zh-CN" sz="3200" dirty="0">
                    <a:solidFill>
                      <a:schemeClr val="tx2"/>
                    </a:solidFill>
                    <a:latin typeface="楷体_GB2312" pitchFamily="49" charset="-122"/>
                    <a:ea typeface="楷体_GB2312" pitchFamily="49" charset="-122"/>
                  </a:rPr>
                  <a:t>           </a:t>
                </a:r>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baseline="-250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ea typeface="楷体_GB2312" pitchFamily="49" charset="-122"/>
                  </a:rPr>
                  <a:t> </a:t>
                </a:r>
                <a14:m>
                  <m:oMath xmlns:m="http://schemas.openxmlformats.org/officeDocument/2006/math">
                    <m:r>
                      <a:rPr lang="en-US" altLang="zh-CN" sz="3200" i="1">
                        <a:solidFill>
                          <a:schemeClr val="tx2"/>
                        </a:solidFill>
                        <a:latin typeface="Cambria Math"/>
                        <a:ea typeface="楷体_GB2312" pitchFamily="49" charset="-122"/>
                      </a:rPr>
                      <m:t>&amp; </m:t>
                    </m:r>
                  </m:oMath>
                </a14:m>
                <a:r>
                  <a:rPr lang="en-US" altLang="zh-CN" sz="3200" dirty="0">
                    <a:solidFill>
                      <a:schemeClr val="tx2"/>
                    </a:solidFill>
                    <a:latin typeface="宋体" pitchFamily="2" charset="-122"/>
                    <a:ea typeface="宋体" pitchFamily="2" charset="-122"/>
                  </a:rPr>
                  <a:t>B</a:t>
                </a:r>
                <a:r>
                  <a:rPr lang="en-US" altLang="zh-CN" sz="3200" baseline="-25000" dirty="0">
                    <a:solidFill>
                      <a:schemeClr val="tx2"/>
                    </a:solidFill>
                    <a:latin typeface="楷体_GB2312" pitchFamily="49" charset="-122"/>
                    <a:ea typeface="楷体_GB2312" pitchFamily="49" charset="-122"/>
                  </a:rPr>
                  <a:t>i</a:t>
                </a:r>
                <a:r>
                  <a:rPr lang="zh-CN" altLang="en-US" sz="3200" baseline="-25000" dirty="0">
                    <a:solidFill>
                      <a:schemeClr val="tx2"/>
                    </a:solidFill>
                    <a:latin typeface="楷体_GB2312" pitchFamily="49" charset="-122"/>
                    <a:ea typeface="楷体_GB2312" pitchFamily="49" charset="-122"/>
                  </a:rPr>
                  <a:t> ）</a:t>
                </a:r>
                <a:endParaRPr lang="en-US" altLang="zh-CN" sz="3200" baseline="-250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Y</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本位和</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本位进位</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宋体" pitchFamily="2" charset="-122"/>
                    <a:ea typeface="宋体" pitchFamily="2" charset="-122"/>
                  </a:rPr>
                  <a:t>B</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宋体" pitchFamily="2" charset="-122"/>
                    <a:ea typeface="宋体" pitchFamily="2" charset="-122"/>
                  </a:rPr>
                  <a:t>—</a:t>
                </a:r>
                <a:r>
                  <a:rPr lang="zh-CN" altLang="en-US" sz="3200" dirty="0">
                    <a:solidFill>
                      <a:schemeClr val="tx2"/>
                    </a:solidFill>
                    <a:latin typeface="楷体_GB2312" pitchFamily="49" charset="-122"/>
                    <a:ea typeface="楷体_GB2312" pitchFamily="49" charset="-122"/>
                  </a:rPr>
                  <a:t>本位被加数和加数，</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00B050"/>
                    </a:solidFill>
                    <a:latin typeface="楷体_GB2312" pitchFamily="49" charset="-122"/>
                    <a:ea typeface="楷体_GB2312" pitchFamily="49" charset="-122"/>
                  </a:rPr>
                  <a:t>例如：</a:t>
                </a:r>
                <a:r>
                  <a:rPr lang="en-US" altLang="zh-CN" sz="3200" dirty="0">
                    <a:solidFill>
                      <a:srgbClr val="00B050"/>
                    </a:solidFill>
                    <a:latin typeface="楷体_GB2312" pitchFamily="49" charset="-122"/>
                    <a:ea typeface="楷体_GB2312" pitchFamily="49" charset="-122"/>
                  </a:rPr>
                  <a:t>A</a:t>
                </a:r>
                <a:r>
                  <a:rPr lang="en-US" altLang="zh-CN" sz="3200" baseline="-25000" dirty="0">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=1</a:t>
                </a:r>
                <a:r>
                  <a:rPr lang="zh-CN" altLang="en-US" sz="3200" dirty="0">
                    <a:solidFill>
                      <a:srgbClr val="00B05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B</a:t>
                </a:r>
                <a:r>
                  <a:rPr lang="en-US" altLang="zh-CN" sz="3200" baseline="-25000" dirty="0">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=1,</a:t>
                </a:r>
              </a:p>
              <a:p>
                <a:pPr algn="l" eaLnBrk="1" hangingPunct="1"/>
                <a:r>
                  <a:rPr lang="en-US" altLang="zh-CN" sz="3200" dirty="0" err="1">
                    <a:solidFill>
                      <a:srgbClr val="00B050"/>
                    </a:solidFill>
                    <a:latin typeface="楷体_GB2312" pitchFamily="49" charset="-122"/>
                    <a:ea typeface="楷体_GB2312" pitchFamily="49" charset="-122"/>
                  </a:rPr>
                  <a:t>A</a:t>
                </a:r>
                <a:r>
                  <a:rPr lang="en-US" altLang="zh-CN" sz="3200" baseline="-25000" dirty="0" err="1">
                    <a:solidFill>
                      <a:srgbClr val="00B050"/>
                    </a:solidFill>
                    <a:ea typeface="楷体_GB2312" pitchFamily="49" charset="-122"/>
                  </a:rPr>
                  <a:t>i</a:t>
                </a:r>
                <a:r>
                  <a:rPr lang="en-US" altLang="zh-CN" sz="3200" dirty="0" err="1">
                    <a:solidFill>
                      <a:srgbClr val="00B050"/>
                    </a:solidFill>
                    <a:latin typeface="楷体_GB2312" pitchFamily="49" charset="-122"/>
                    <a:ea typeface="楷体_GB2312" pitchFamily="49" charset="-122"/>
                  </a:rPr>
                  <a:t>+B</a:t>
                </a:r>
                <a:r>
                  <a:rPr lang="en-US" altLang="zh-CN" sz="3200" baseline="-25000" dirty="0" err="1">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a:t>
                </a:r>
                <a:r>
                  <a:rPr lang="en-US" altLang="zh-CN" sz="3200" dirty="0" err="1">
                    <a:solidFill>
                      <a:srgbClr val="00B050"/>
                    </a:solidFill>
                    <a:latin typeface="楷体_GB2312" pitchFamily="49" charset="-122"/>
                    <a:ea typeface="楷体_GB2312" pitchFamily="49" charset="-122"/>
                  </a:rPr>
                  <a:t>C</a:t>
                </a:r>
                <a:r>
                  <a:rPr lang="en-US" altLang="zh-CN" sz="3200" baseline="-25000" dirty="0" err="1">
                    <a:solidFill>
                      <a:srgbClr val="00B050"/>
                    </a:solidFill>
                    <a:ea typeface="楷体_GB2312" pitchFamily="49" charset="-122"/>
                  </a:rPr>
                  <a:t>i</a:t>
                </a:r>
                <a:r>
                  <a:rPr lang="en-US" altLang="zh-CN" sz="3200" dirty="0" err="1">
                    <a:solidFill>
                      <a:srgbClr val="00B050"/>
                    </a:solidFill>
                    <a:latin typeface="楷体_GB2312" pitchFamily="49" charset="-122"/>
                    <a:ea typeface="楷体_GB2312" pitchFamily="49" charset="-122"/>
                  </a:rPr>
                  <a:t>Y</a:t>
                </a:r>
                <a:r>
                  <a:rPr lang="en-US" altLang="zh-CN" sz="3200" baseline="-25000" dirty="0" err="1">
                    <a:solidFill>
                      <a:srgbClr val="00B050"/>
                    </a:solidFill>
                    <a:ea typeface="楷体_GB2312" pitchFamily="49" charset="-122"/>
                  </a:rPr>
                  <a:t>i</a:t>
                </a:r>
                <a:endParaRPr lang="en-US" altLang="zh-CN" sz="3200" baseline="-25000" dirty="0">
                  <a:solidFill>
                    <a:srgbClr val="00B050"/>
                  </a:solidFill>
                  <a:ea typeface="楷体_GB2312" pitchFamily="49" charset="-122"/>
                </a:endParaRPr>
              </a:p>
              <a:p>
                <a:pPr eaLnBrk="1" hangingPunct="1"/>
                <a:r>
                  <a:rPr lang="en-US" altLang="zh-CN" sz="3200" dirty="0">
                    <a:solidFill>
                      <a:srgbClr val="00B050"/>
                    </a:solidFill>
                    <a:latin typeface="楷体_GB2312" pitchFamily="49" charset="-122"/>
                    <a:ea typeface="楷体_GB2312" pitchFamily="49" charset="-122"/>
                  </a:rPr>
                  <a:t>C</a:t>
                </a:r>
                <a:r>
                  <a:rPr lang="en-US" altLang="zh-CN" sz="3200" baseline="-25000" dirty="0">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=A</a:t>
                </a:r>
                <a:r>
                  <a:rPr lang="en-US" altLang="zh-CN" sz="3200" baseline="-25000" dirty="0">
                    <a:solidFill>
                      <a:srgbClr val="00B050"/>
                    </a:solidFill>
                    <a:ea typeface="楷体_GB2312" pitchFamily="49" charset="-122"/>
                  </a:rPr>
                  <a:t>i</a:t>
                </a:r>
                <a:r>
                  <a:rPr lang="zh-CN" altLang="en-US" sz="3200" dirty="0">
                    <a:solidFill>
                      <a:srgbClr val="00B050"/>
                    </a:solidFill>
                    <a:latin typeface="楷体_GB2312" pitchFamily="49" charset="-122"/>
                    <a:ea typeface="楷体_GB2312" pitchFamily="49" charset="-122"/>
                  </a:rPr>
                  <a:t>与</a:t>
                </a:r>
                <a:r>
                  <a:rPr lang="en-US" altLang="zh-CN" sz="3200" dirty="0">
                    <a:solidFill>
                      <a:srgbClr val="00B050"/>
                    </a:solidFill>
                    <a:latin typeface="楷体_GB2312" pitchFamily="49" charset="-122"/>
                    <a:ea typeface="楷体_GB2312" pitchFamily="49" charset="-122"/>
                  </a:rPr>
                  <a:t>B</a:t>
                </a:r>
                <a:r>
                  <a:rPr lang="en-US" altLang="zh-CN" sz="3200" baseline="-25000" dirty="0">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=1</a:t>
                </a:r>
                <a:r>
                  <a:rPr lang="zh-CN" altLang="en-US" sz="3200" dirty="0">
                    <a:solidFill>
                      <a:srgbClr val="00B050"/>
                    </a:solidFill>
                    <a:latin typeface="楷体_GB2312" pitchFamily="49" charset="-122"/>
                    <a:ea typeface="楷体_GB2312" pitchFamily="49" charset="-122"/>
                  </a:rPr>
                  <a:t>与</a:t>
                </a:r>
                <a:r>
                  <a:rPr lang="en-US" altLang="zh-CN" sz="3200" dirty="0">
                    <a:solidFill>
                      <a:srgbClr val="00B050"/>
                    </a:solidFill>
                    <a:latin typeface="楷体_GB2312" pitchFamily="49" charset="-122"/>
                    <a:ea typeface="楷体_GB2312" pitchFamily="49" charset="-122"/>
                  </a:rPr>
                  <a:t>1=1</a:t>
                </a:r>
                <a:r>
                  <a:rPr lang="zh-CN" altLang="en-US" sz="3200" dirty="0">
                    <a:solidFill>
                      <a:srgbClr val="00B050"/>
                    </a:solidFill>
                    <a:latin typeface="楷体_GB2312" pitchFamily="49" charset="-122"/>
                    <a:ea typeface="楷体_GB2312" pitchFamily="49" charset="-122"/>
                  </a:rPr>
                  <a:t>，</a:t>
                </a:r>
                <a:r>
                  <a:rPr lang="en-US" altLang="zh-CN" sz="3200" dirty="0">
                    <a:solidFill>
                      <a:srgbClr val="00B050"/>
                    </a:solidFill>
                    <a:latin typeface="楷体_GB2312" pitchFamily="49" charset="-122"/>
                    <a:ea typeface="楷体_GB2312" pitchFamily="49" charset="-122"/>
                  </a:rPr>
                  <a:t>Y</a:t>
                </a:r>
                <a:r>
                  <a:rPr lang="en-US" altLang="zh-CN" sz="3200" baseline="-25000" dirty="0">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a:t>
                </a:r>
                <a:r>
                  <a:rPr lang="en-US" altLang="zh-CN" sz="3200" dirty="0" err="1">
                    <a:solidFill>
                      <a:srgbClr val="00B050"/>
                    </a:solidFill>
                    <a:latin typeface="楷体_GB2312" pitchFamily="49" charset="-122"/>
                    <a:ea typeface="楷体_GB2312" pitchFamily="49" charset="-122"/>
                  </a:rPr>
                  <a:t>A</a:t>
                </a:r>
                <a:r>
                  <a:rPr lang="en-US" altLang="zh-CN" sz="3200" baseline="-25000" dirty="0" err="1">
                    <a:solidFill>
                      <a:srgbClr val="00B050"/>
                    </a:solidFill>
                    <a:ea typeface="楷体_GB2312" pitchFamily="49" charset="-122"/>
                  </a:rPr>
                  <a:t>i</a:t>
                </a:r>
                <a:r>
                  <a:rPr lang="en-US" altLang="zh-CN" sz="3200" dirty="0" err="1">
                    <a:solidFill>
                      <a:srgbClr val="00B050"/>
                    </a:solidFill>
                    <a:latin typeface="宋体" pitchFamily="2" charset="-122"/>
                    <a:ea typeface="宋体" pitchFamily="2" charset="-122"/>
                  </a:rPr>
                  <a:t>⊕</a:t>
                </a:r>
                <a:r>
                  <a:rPr lang="en-US" altLang="zh-CN" sz="3200" dirty="0" err="1">
                    <a:solidFill>
                      <a:srgbClr val="00B050"/>
                    </a:solidFill>
                    <a:latin typeface="楷体_GB2312" pitchFamily="49" charset="-122"/>
                    <a:ea typeface="楷体_GB2312" pitchFamily="49" charset="-122"/>
                  </a:rPr>
                  <a:t>B</a:t>
                </a:r>
                <a:r>
                  <a:rPr lang="en-US" altLang="zh-CN" sz="3200" baseline="-25000" dirty="0" err="1">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=1</a:t>
                </a:r>
                <a:r>
                  <a:rPr lang="en-US" altLang="zh-CN" sz="3200" dirty="0">
                    <a:solidFill>
                      <a:srgbClr val="00B050"/>
                    </a:solidFill>
                    <a:latin typeface="宋体" pitchFamily="2" charset="-122"/>
                    <a:ea typeface="宋体" pitchFamily="2" charset="-122"/>
                  </a:rPr>
                  <a:t>⊕</a:t>
                </a:r>
                <a:r>
                  <a:rPr lang="en-US" altLang="zh-CN" sz="3200" dirty="0">
                    <a:solidFill>
                      <a:srgbClr val="00B050"/>
                    </a:solidFill>
                    <a:latin typeface="楷体_GB2312" pitchFamily="49" charset="-122"/>
                    <a:ea typeface="楷体_GB2312" pitchFamily="49" charset="-122"/>
                  </a:rPr>
                  <a:t>1=0,</a:t>
                </a:r>
                <a:r>
                  <a:rPr lang="zh-CN" altLang="en-US" sz="3200" dirty="0">
                    <a:solidFill>
                      <a:srgbClr val="00B050"/>
                    </a:solidFill>
                    <a:latin typeface="楷体_GB2312" pitchFamily="49" charset="-122"/>
                    <a:ea typeface="楷体_GB2312" pitchFamily="49" charset="-122"/>
                  </a:rPr>
                  <a:t>所以</a:t>
                </a:r>
                <a:r>
                  <a:rPr lang="en-US" altLang="zh-CN" sz="3200" dirty="0" err="1">
                    <a:solidFill>
                      <a:srgbClr val="00B050"/>
                    </a:solidFill>
                    <a:latin typeface="楷体_GB2312" pitchFamily="49" charset="-122"/>
                    <a:ea typeface="楷体_GB2312" pitchFamily="49" charset="-122"/>
                  </a:rPr>
                  <a:t>A</a:t>
                </a:r>
                <a:r>
                  <a:rPr lang="en-US" altLang="zh-CN" sz="3200" baseline="-25000" dirty="0" err="1">
                    <a:solidFill>
                      <a:srgbClr val="00B050"/>
                    </a:solidFill>
                    <a:ea typeface="楷体_GB2312" pitchFamily="49" charset="-122"/>
                  </a:rPr>
                  <a:t>i</a:t>
                </a:r>
                <a:r>
                  <a:rPr lang="en-US" altLang="zh-CN" sz="3200" dirty="0" err="1">
                    <a:solidFill>
                      <a:srgbClr val="00B050"/>
                    </a:solidFill>
                    <a:latin typeface="楷体_GB2312" pitchFamily="49" charset="-122"/>
                    <a:ea typeface="楷体_GB2312" pitchFamily="49" charset="-122"/>
                  </a:rPr>
                  <a:t>+B</a:t>
                </a:r>
                <a:r>
                  <a:rPr lang="en-US" altLang="zh-CN" sz="3200" baseline="-25000" dirty="0" err="1">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a:t>
                </a:r>
                <a:r>
                  <a:rPr lang="en-US" altLang="zh-CN" sz="3200" dirty="0" err="1">
                    <a:solidFill>
                      <a:srgbClr val="00B050"/>
                    </a:solidFill>
                    <a:latin typeface="楷体_GB2312" pitchFamily="49" charset="-122"/>
                    <a:ea typeface="楷体_GB2312" pitchFamily="49" charset="-122"/>
                  </a:rPr>
                  <a:t>C</a:t>
                </a:r>
                <a:r>
                  <a:rPr lang="en-US" altLang="zh-CN" sz="3200" baseline="-25000" dirty="0" err="1">
                    <a:solidFill>
                      <a:srgbClr val="00B050"/>
                    </a:solidFill>
                    <a:ea typeface="楷体_GB2312" pitchFamily="49" charset="-122"/>
                  </a:rPr>
                  <a:t>i</a:t>
                </a:r>
                <a:r>
                  <a:rPr lang="en-US" altLang="zh-CN" sz="3200" dirty="0" err="1">
                    <a:solidFill>
                      <a:srgbClr val="00B050"/>
                    </a:solidFill>
                    <a:latin typeface="楷体_GB2312" pitchFamily="49" charset="-122"/>
                    <a:ea typeface="楷体_GB2312" pitchFamily="49" charset="-122"/>
                  </a:rPr>
                  <a:t>Y</a:t>
                </a:r>
                <a:r>
                  <a:rPr lang="en-US" altLang="zh-CN" sz="3200" baseline="-25000" dirty="0" err="1">
                    <a:solidFill>
                      <a:srgbClr val="00B050"/>
                    </a:solidFill>
                    <a:ea typeface="楷体_GB2312" pitchFamily="49" charset="-122"/>
                  </a:rPr>
                  <a:t>i</a:t>
                </a:r>
                <a:r>
                  <a:rPr lang="en-US" altLang="zh-CN" sz="3200" dirty="0">
                    <a:solidFill>
                      <a:srgbClr val="00B050"/>
                    </a:solidFill>
                    <a:latin typeface="楷体_GB2312" pitchFamily="49" charset="-122"/>
                    <a:ea typeface="楷体_GB2312" pitchFamily="49" charset="-122"/>
                  </a:rPr>
                  <a:t>=10</a:t>
                </a:r>
              </a:p>
            </p:txBody>
          </p:sp>
        </mc:Choice>
        <mc:Fallback xmlns="">
          <p:sp>
            <p:nvSpPr>
              <p:cNvPr id="142339" name="TextBox 3"/>
              <p:cNvSpPr txBox="1">
                <a:spLocks noRot="1" noChangeAspect="1" noMove="1" noResize="1" noEditPoints="1" noAdjustHandles="1" noChangeArrowheads="1" noChangeShapeType="1" noTextEdit="1"/>
              </p:cNvSpPr>
              <p:nvPr/>
            </p:nvSpPr>
            <p:spPr bwMode="auto">
              <a:xfrm>
                <a:off x="318530" y="770384"/>
                <a:ext cx="8506940" cy="6001643"/>
              </a:xfrm>
              <a:prstGeom prst="rect">
                <a:avLst/>
              </a:prstGeom>
              <a:blipFill>
                <a:blip r:embed="rId3"/>
                <a:stretch>
                  <a:fillRect l="-1791" t="-1320" b="-2335"/>
                </a:stretch>
              </a:blipFill>
              <a:ln>
                <a:noFill/>
              </a:ln>
            </p:spPr>
            <p:txBody>
              <a:bodyPr/>
              <a:lstStyle/>
              <a:p>
                <a:r>
                  <a:rPr lang="zh-CN" altLang="en-US">
                    <a:noFill/>
                  </a:rPr>
                  <a:t> </a:t>
                </a:r>
              </a:p>
            </p:txBody>
          </p:sp>
        </mc:Fallback>
      </mc:AlternateContent>
      <p:pic>
        <p:nvPicPr>
          <p:cNvPr id="142340" name="图片 5" descr="半加器.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76256" y="2060848"/>
            <a:ext cx="1714500" cy="259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440483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3363" name="TextBox 3"/>
          <p:cNvSpPr txBox="1">
            <a:spLocks noChangeArrowheads="1"/>
          </p:cNvSpPr>
          <p:nvPr/>
        </p:nvSpPr>
        <p:spPr bwMode="auto">
          <a:xfrm>
            <a:off x="163140" y="836712"/>
            <a:ext cx="8991600" cy="3026470"/>
          </a:xfrm>
          <a:prstGeom prst="rect">
            <a:avLst/>
          </a:prstGeom>
          <a:solidFill>
            <a:schemeClr val="accent1"/>
          </a:solidFill>
          <a:ln>
            <a:noFill/>
          </a:ln>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2</a:t>
            </a:r>
            <a:r>
              <a:rPr lang="zh-CN" altLang="en-US" sz="2800" dirty="0">
                <a:solidFill>
                  <a:schemeClr val="tx2"/>
                </a:solidFill>
                <a:latin typeface="楷体_GB2312" pitchFamily="49" charset="-122"/>
                <a:ea typeface="楷体_GB2312" pitchFamily="49" charset="-122"/>
              </a:rPr>
              <a:t>）</a:t>
            </a:r>
            <a:r>
              <a:rPr lang="zh-CN" altLang="en-US" sz="2800" dirty="0">
                <a:solidFill>
                  <a:srgbClr val="FF0000"/>
                </a:solidFill>
                <a:latin typeface="楷体_GB2312" pitchFamily="49" charset="-122"/>
                <a:ea typeface="楷体_GB2312" pitchFamily="49" charset="-122"/>
              </a:rPr>
              <a:t>全</a:t>
            </a:r>
            <a:r>
              <a:rPr lang="zh-CN" altLang="en-US" sz="2800" dirty="0">
                <a:solidFill>
                  <a:schemeClr val="tx2"/>
                </a:solidFill>
                <a:latin typeface="楷体_GB2312" pitchFamily="49" charset="-122"/>
                <a:ea typeface="楷体_GB2312" pitchFamily="49" charset="-122"/>
              </a:rPr>
              <a:t>加器组成（二进制加法）</a:t>
            </a:r>
            <a:endParaRPr lang="en-US" altLang="zh-CN" sz="2800" dirty="0">
              <a:solidFill>
                <a:schemeClr val="tx2"/>
              </a:solidFill>
              <a:latin typeface="楷体_GB2312" pitchFamily="49" charset="-122"/>
              <a:ea typeface="楷体_GB2312" pitchFamily="49" charset="-122"/>
            </a:endParaRPr>
          </a:p>
          <a:p>
            <a:pPr eaLnBrk="1" hangingPunct="1"/>
            <a:r>
              <a:rPr lang="zh-CN" altLang="en-US" sz="2800" dirty="0">
                <a:solidFill>
                  <a:schemeClr val="tx2"/>
                </a:solidFill>
                <a:latin typeface="楷体_GB2312" pitchFamily="49" charset="-122"/>
                <a:ea typeface="楷体_GB2312" pitchFamily="49" charset="-122"/>
              </a:rPr>
              <a:t>不但考虑本位的被加数和加数的相加，还考虑较低位来的进位，则 </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楷体_GB2312" pitchFamily="49" charset="-122"/>
                <a:ea typeface="楷体_GB2312" pitchFamily="49" charset="-122"/>
              </a:rPr>
              <a:t>= </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楷体_GB2312" pitchFamily="49" charset="-122"/>
                <a:ea typeface="楷体_GB2312" pitchFamily="49" charset="-122"/>
              </a:rPr>
              <a:t>S</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形如该式，不是“与”</a:t>
            </a:r>
            <a:r>
              <a:rPr lang="en-US" altLang="zh-CN" sz="2800" dirty="0">
                <a:solidFill>
                  <a:schemeClr val="tx2"/>
                </a:solidFill>
                <a:latin typeface="楷体_GB2312" pitchFamily="49" charset="-122"/>
                <a:ea typeface="楷体_GB2312" pitchFamily="49" charset="-122"/>
              </a:rPr>
              <a:t>) </a:t>
            </a:r>
            <a:r>
              <a:rPr lang="zh-CN" altLang="en-US" sz="2800" baseline="-250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其中：</a:t>
            </a:r>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本位和，</a:t>
            </a:r>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baseline="-25000" dirty="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 </a:t>
            </a:r>
            <a:endParaRPr lang="en-US" altLang="zh-CN" sz="2800" dirty="0">
              <a:solidFill>
                <a:schemeClr val="tx2"/>
              </a:solidFill>
              <a:latin typeface="楷体_GB2312" pitchFamily="49" charset="-122"/>
              <a:ea typeface="楷体_GB2312" pitchFamily="49" charset="-122"/>
            </a:endParaRPr>
          </a:p>
          <a:p>
            <a:pPr eaLnBrk="1" hangingPunct="1"/>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本位进位，</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baseline="-25000" dirty="0">
                <a:solidFill>
                  <a:schemeClr val="tx2"/>
                </a:solidFill>
                <a:latin typeface="楷体_GB2312" pitchFamily="49" charset="-122"/>
                <a:ea typeface="楷体_GB2312" pitchFamily="49" charset="-122"/>
              </a:rPr>
              <a:t> </a:t>
            </a:r>
            <a:r>
              <a:rPr lang="en-US" altLang="zh-CN"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zh-CN" altLang="en-US" sz="2800" baseline="-25000" dirty="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本位被加数和加数；</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低位进位；。</a:t>
            </a:r>
            <a:endParaRPr lang="en-US" altLang="zh-CN" sz="2800" dirty="0">
              <a:solidFill>
                <a:schemeClr val="tx2"/>
              </a:solidFill>
              <a:latin typeface="楷体_GB2312" pitchFamily="49" charset="-122"/>
              <a:ea typeface="楷体_GB2312" pitchFamily="49" charset="-122"/>
            </a:endParaRPr>
          </a:p>
          <a:p>
            <a:pPr algn="l" eaLnBrk="1" hangingPunct="1"/>
            <a:endParaRPr lang="en-US" altLang="zh-CN" sz="2800" baseline="-25000" dirty="0">
              <a:solidFill>
                <a:schemeClr val="tx2"/>
              </a:solidFill>
              <a:latin typeface="楷体_GB2312" pitchFamily="49" charset="-122"/>
              <a:ea typeface="楷体_GB2312" pitchFamily="49" charset="-122"/>
            </a:endParaRPr>
          </a:p>
        </p:txBody>
      </p:sp>
      <p:pic>
        <p:nvPicPr>
          <p:cNvPr id="143364" name="图片 4" descr="全加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612641"/>
            <a:ext cx="3600400" cy="3187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全加器简符.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97760" y="3429000"/>
            <a:ext cx="3706688" cy="2978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1301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3363" name="TextBox 3"/>
          <p:cNvSpPr txBox="1">
            <a:spLocks noChangeArrowheads="1"/>
          </p:cNvSpPr>
          <p:nvPr/>
        </p:nvSpPr>
        <p:spPr bwMode="auto">
          <a:xfrm>
            <a:off x="315144" y="908720"/>
            <a:ext cx="8676456" cy="4893647"/>
          </a:xfrm>
          <a:prstGeom prst="rect">
            <a:avLst/>
          </a:prstGeom>
          <a:solidFill>
            <a:schemeClr val="accent1"/>
          </a:solidFill>
          <a:ln>
            <a:noFill/>
          </a:ln>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2</a:t>
            </a:r>
            <a:r>
              <a:rPr lang="zh-CN" altLang="en-US" sz="2800" dirty="0">
                <a:solidFill>
                  <a:schemeClr val="tx2"/>
                </a:solidFill>
                <a:latin typeface="楷体_GB2312" pitchFamily="49" charset="-122"/>
                <a:ea typeface="楷体_GB2312" pitchFamily="49" charset="-122"/>
              </a:rPr>
              <a:t>）</a:t>
            </a:r>
            <a:r>
              <a:rPr lang="zh-CN" altLang="en-US" sz="2800" dirty="0">
                <a:solidFill>
                  <a:srgbClr val="FF0000"/>
                </a:solidFill>
                <a:latin typeface="楷体_GB2312" pitchFamily="49" charset="-122"/>
                <a:ea typeface="楷体_GB2312" pitchFamily="49" charset="-122"/>
              </a:rPr>
              <a:t>全</a:t>
            </a:r>
            <a:r>
              <a:rPr lang="zh-CN" altLang="en-US" sz="2800" dirty="0">
                <a:solidFill>
                  <a:schemeClr val="tx2"/>
                </a:solidFill>
                <a:latin typeface="楷体_GB2312" pitchFamily="49" charset="-122"/>
                <a:ea typeface="楷体_GB2312" pitchFamily="49" charset="-122"/>
              </a:rPr>
              <a:t>加器组成（二进制加法）</a:t>
            </a:r>
            <a:endParaRPr lang="en-US" altLang="zh-CN" sz="2800" dirty="0">
              <a:solidFill>
                <a:schemeClr val="tx2"/>
              </a:solidFill>
              <a:latin typeface="楷体_GB2312" pitchFamily="49" charset="-122"/>
              <a:ea typeface="楷体_GB2312" pitchFamily="49" charset="-122"/>
            </a:endParaRPr>
          </a:p>
          <a:p>
            <a:pPr eaLnBrk="1" hangingPunct="1"/>
            <a:r>
              <a:rPr lang="zh-CN" altLang="en-US" sz="2800" dirty="0">
                <a:solidFill>
                  <a:schemeClr val="tx2"/>
                </a:solidFill>
                <a:latin typeface="楷体_GB2312" pitchFamily="49" charset="-122"/>
                <a:ea typeface="楷体_GB2312" pitchFamily="49" charset="-122"/>
              </a:rPr>
              <a:t>不但考虑本位的被加数和加数的相加，还考虑较低位来的进位，则 </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楷体_GB2312" pitchFamily="49" charset="-122"/>
                <a:ea typeface="楷体_GB2312" pitchFamily="49" charset="-122"/>
              </a:rPr>
              <a:t>= </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楷体_GB2312" pitchFamily="49" charset="-122"/>
                <a:ea typeface="楷体_GB2312" pitchFamily="49" charset="-122"/>
              </a:rPr>
              <a:t>S</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形如该式，不是“与”</a:t>
            </a:r>
            <a:r>
              <a:rPr lang="en-US" altLang="zh-CN" sz="2800" dirty="0">
                <a:solidFill>
                  <a:schemeClr val="tx2"/>
                </a:solidFill>
                <a:latin typeface="楷体_GB2312" pitchFamily="49" charset="-122"/>
                <a:ea typeface="楷体_GB2312" pitchFamily="49" charset="-122"/>
              </a:rPr>
              <a:t>) </a:t>
            </a:r>
            <a:r>
              <a:rPr lang="zh-CN" altLang="en-US" sz="2800" baseline="-250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其中：</a:t>
            </a:r>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本位和，</a:t>
            </a:r>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baseline="-25000" dirty="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 </a:t>
            </a:r>
            <a:endParaRPr lang="en-US" altLang="zh-CN" sz="2800" dirty="0">
              <a:solidFill>
                <a:schemeClr val="tx2"/>
              </a:solidFill>
              <a:latin typeface="楷体_GB2312" pitchFamily="49" charset="-122"/>
              <a:ea typeface="楷体_GB2312" pitchFamily="49" charset="-122"/>
            </a:endParaRPr>
          </a:p>
          <a:p>
            <a:pPr eaLnBrk="1" hangingPunct="1"/>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本位进位，</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baseline="-25000" dirty="0">
                <a:solidFill>
                  <a:schemeClr val="tx2"/>
                </a:solidFill>
                <a:latin typeface="楷体_GB2312" pitchFamily="49" charset="-122"/>
                <a:ea typeface="楷体_GB2312" pitchFamily="49" charset="-122"/>
              </a:rPr>
              <a:t> </a:t>
            </a:r>
            <a:r>
              <a:rPr lang="en-US" altLang="zh-CN"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zh-CN" altLang="en-US" sz="2800" baseline="-25000" dirty="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本位被加数和加数；</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宋体" pitchFamily="2" charset="-122"/>
                <a:ea typeface="宋体" pitchFamily="2" charset="-122"/>
              </a:rPr>
              <a:t>:</a:t>
            </a:r>
            <a:r>
              <a:rPr lang="zh-CN" altLang="en-US" sz="2800" dirty="0">
                <a:solidFill>
                  <a:schemeClr val="tx2"/>
                </a:solidFill>
                <a:latin typeface="楷体_GB2312" pitchFamily="49" charset="-122"/>
                <a:ea typeface="楷体_GB2312" pitchFamily="49" charset="-122"/>
              </a:rPr>
              <a:t>低位进位；。</a:t>
            </a:r>
            <a:endParaRPr lang="en-US" altLang="zh-CN" sz="2800" dirty="0">
              <a:solidFill>
                <a:schemeClr val="tx2"/>
              </a:solidFill>
              <a:latin typeface="楷体_GB2312" pitchFamily="49" charset="-122"/>
              <a:ea typeface="楷体_GB2312" pitchFamily="49" charset="-122"/>
            </a:endParaRPr>
          </a:p>
          <a:p>
            <a:pPr eaLnBrk="1" hangingPunct="1"/>
            <a:r>
              <a:rPr lang="zh-CN" altLang="en-US" sz="2800" dirty="0">
                <a:solidFill>
                  <a:schemeClr val="tx2"/>
                </a:solidFill>
                <a:latin typeface="楷体_GB2312" pitchFamily="49" charset="-122"/>
                <a:ea typeface="楷体_GB2312" pitchFamily="49" charset="-122"/>
              </a:rPr>
              <a:t>例如：设 </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=1</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=1,C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楷体_GB2312" pitchFamily="49" charset="-122"/>
                <a:ea typeface="楷体_GB2312" pitchFamily="49" charset="-122"/>
              </a:rPr>
              <a:t>=1</a:t>
            </a:r>
            <a:r>
              <a:rPr lang="zh-CN" altLang="en-US" sz="2800" dirty="0">
                <a:solidFill>
                  <a:schemeClr val="tx2"/>
                </a:solidFill>
                <a:latin typeface="楷体_GB2312" pitchFamily="49" charset="-122"/>
                <a:ea typeface="楷体_GB2312" pitchFamily="49" charset="-122"/>
              </a:rPr>
              <a:t>；则 </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楷体_GB2312" pitchFamily="49" charset="-122"/>
                <a:ea typeface="楷体_GB2312" pitchFamily="49" charset="-122"/>
              </a:rPr>
              <a:t>= </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楷体_GB2312" pitchFamily="49" charset="-122"/>
                <a:ea typeface="楷体_GB2312" pitchFamily="49" charset="-122"/>
              </a:rPr>
              <a:t>S</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形如该式，不是“与”</a:t>
            </a:r>
            <a:r>
              <a:rPr lang="en-US" altLang="zh-CN" sz="2800" dirty="0">
                <a:solidFill>
                  <a:schemeClr val="tx2"/>
                </a:solidFill>
                <a:latin typeface="楷体_GB2312" pitchFamily="49" charset="-122"/>
                <a:ea typeface="楷体_GB2312" pitchFamily="49" charset="-122"/>
              </a:rPr>
              <a:t>) </a:t>
            </a:r>
            <a:r>
              <a:rPr lang="zh-CN" altLang="en-US" sz="2800" baseline="-250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而 </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baseline="-25000" dirty="0">
                <a:solidFill>
                  <a:schemeClr val="tx2"/>
                </a:solidFill>
                <a:latin typeface="楷体_GB2312" pitchFamily="49" charset="-122"/>
                <a:ea typeface="楷体_GB2312" pitchFamily="49" charset="-122"/>
              </a:rPr>
              <a:t> </a:t>
            </a:r>
            <a:r>
              <a:rPr lang="en-US" altLang="zh-CN" sz="2800" dirty="0">
                <a:solidFill>
                  <a:schemeClr val="tx2"/>
                </a:solidFill>
                <a:latin typeface="楷体_GB2312" pitchFamily="49" charset="-122"/>
                <a:ea typeface="楷体_GB2312" pitchFamily="49" charset="-122"/>
              </a:rPr>
              <a:t>+</a:t>
            </a:r>
            <a:r>
              <a:rPr lang="en-US" altLang="zh-CN" sz="2800" dirty="0" err="1">
                <a:solidFill>
                  <a:schemeClr val="tx2"/>
                </a:solidFill>
                <a:latin typeface="楷体_GB2312" pitchFamily="49" charset="-122"/>
                <a:ea typeface="楷体_GB2312" pitchFamily="49" charset="-122"/>
              </a:rPr>
              <a:t>A</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宋体" pitchFamily="2" charset="-122"/>
                <a:ea typeface="宋体" pitchFamily="2" charset="-122"/>
              </a:rPr>
              <a:t>B</a:t>
            </a:r>
            <a:r>
              <a:rPr lang="en-US" altLang="zh-CN" sz="2800" baseline="-25000" dirty="0" err="1">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1</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1</a:t>
            </a:r>
            <a:r>
              <a:rPr lang="zh-CN" altLang="en-US" sz="2800" dirty="0">
                <a:solidFill>
                  <a:schemeClr val="tx2"/>
                </a:solidFill>
                <a:latin typeface="楷体_GB2312" pitchFamily="49" charset="-122"/>
                <a:ea typeface="楷体_GB2312" pitchFamily="49" charset="-122"/>
              </a:rPr>
              <a:t>）与</a:t>
            </a:r>
            <a:r>
              <a:rPr lang="en-US" altLang="zh-CN" sz="2800" dirty="0">
                <a:solidFill>
                  <a:schemeClr val="tx2"/>
                </a:solidFill>
                <a:latin typeface="楷体_GB2312" pitchFamily="49" charset="-122"/>
                <a:ea typeface="楷体_GB2312" pitchFamily="49" charset="-122"/>
              </a:rPr>
              <a:t>1+1</a:t>
            </a:r>
            <a:r>
              <a:rPr lang="zh-CN" altLang="en-US" sz="2800" dirty="0">
                <a:solidFill>
                  <a:schemeClr val="tx2"/>
                </a:solidFill>
                <a:latin typeface="楷体_GB2312" pitchFamily="49" charset="-122"/>
                <a:ea typeface="楷体_GB2312" pitchFamily="49" charset="-122"/>
              </a:rPr>
              <a:t>与</a:t>
            </a:r>
            <a:r>
              <a:rPr lang="en-US" altLang="zh-CN" sz="2800" dirty="0">
                <a:solidFill>
                  <a:schemeClr val="tx2"/>
                </a:solidFill>
                <a:latin typeface="楷体_GB2312" pitchFamily="49" charset="-122"/>
                <a:ea typeface="楷体_GB2312" pitchFamily="49" charset="-122"/>
              </a:rPr>
              <a:t>1=1</a:t>
            </a:r>
            <a:r>
              <a:rPr lang="zh-CN" altLang="en-US" sz="2800" dirty="0">
                <a:solidFill>
                  <a:schemeClr val="tx2"/>
                </a:solidFill>
                <a:latin typeface="楷体_GB2312" pitchFamily="49" charset="-122"/>
                <a:ea typeface="楷体_GB2312" pitchFamily="49" charset="-122"/>
              </a:rPr>
              <a:t>；</a:t>
            </a:r>
            <a:endParaRPr lang="en-US" altLang="zh-CN" sz="2800" dirty="0">
              <a:solidFill>
                <a:schemeClr val="tx2"/>
              </a:solidFill>
              <a:latin typeface="楷体_GB2312" pitchFamily="49" charset="-122"/>
              <a:ea typeface="楷体_GB2312" pitchFamily="49" charset="-122"/>
            </a:endParaRPr>
          </a:p>
          <a:p>
            <a:pPr eaLnBrk="1" hangingPunct="1"/>
            <a:r>
              <a:rPr lang="en-US" altLang="zh-CN" sz="2800" dirty="0">
                <a:solidFill>
                  <a:schemeClr val="tx2"/>
                </a:solidFill>
                <a:latin typeface="楷体_GB2312" pitchFamily="49" charset="-122"/>
                <a:ea typeface="楷体_GB2312" pitchFamily="49" charset="-122"/>
              </a:rPr>
              <a:t>S</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zh-CN" altLang="en-US" sz="2800" dirty="0">
                <a:solidFill>
                  <a:schemeClr val="tx2"/>
                </a:solidFill>
                <a:latin typeface="楷体_GB2312" pitchFamily="49" charset="-122"/>
                <a:ea typeface="楷体_GB2312" pitchFamily="49" charset="-122"/>
              </a:rPr>
              <a:t> </a:t>
            </a:r>
            <a:r>
              <a:rPr lang="en-US" altLang="zh-CN" sz="2800" dirty="0">
                <a:solidFill>
                  <a:schemeClr val="tx2"/>
                </a:solidFill>
                <a:latin typeface="楷体_GB2312" pitchFamily="49" charset="-122"/>
                <a:ea typeface="楷体_GB2312" pitchFamily="49" charset="-122"/>
              </a:rPr>
              <a:t>=1</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1</a:t>
            </a:r>
            <a:r>
              <a:rPr lang="en-US" altLang="zh-CN" sz="2800" dirty="0">
                <a:solidFill>
                  <a:schemeClr val="tx2"/>
                </a:solidFill>
                <a:latin typeface="宋体" pitchFamily="2" charset="-122"/>
                <a:ea typeface="宋体" pitchFamily="2" charset="-122"/>
              </a:rPr>
              <a:t>⊕</a:t>
            </a:r>
            <a:r>
              <a:rPr lang="en-US" altLang="zh-CN" sz="2800" dirty="0">
                <a:solidFill>
                  <a:schemeClr val="tx2"/>
                </a:solidFill>
                <a:latin typeface="楷体_GB2312" pitchFamily="49" charset="-122"/>
                <a:ea typeface="楷体_GB2312" pitchFamily="49" charset="-122"/>
              </a:rPr>
              <a:t>1=1</a:t>
            </a:r>
          </a:p>
          <a:p>
            <a:pPr eaLnBrk="1" hangingPunct="1"/>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所以</a:t>
            </a:r>
            <a:r>
              <a:rPr lang="en-US" altLang="zh-CN" sz="2800" dirty="0">
                <a:solidFill>
                  <a:schemeClr val="tx2"/>
                </a:solidFill>
                <a:latin typeface="楷体_GB2312" pitchFamily="49" charset="-122"/>
                <a:ea typeface="楷体_GB2312" pitchFamily="49" charset="-122"/>
              </a:rPr>
              <a:t>A</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+B</a:t>
            </a:r>
            <a:r>
              <a:rPr lang="en-US" altLang="zh-CN" sz="2800" baseline="-25000" dirty="0">
                <a:solidFill>
                  <a:schemeClr val="tx2"/>
                </a:solidFill>
                <a:latin typeface="楷体_GB2312" pitchFamily="49" charset="-122"/>
                <a:ea typeface="楷体_GB2312" pitchFamily="49" charset="-122"/>
              </a:rPr>
              <a:t>i</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i-1</a:t>
            </a:r>
            <a:r>
              <a:rPr lang="en-US" altLang="zh-CN" sz="2800" dirty="0">
                <a:solidFill>
                  <a:schemeClr val="tx2"/>
                </a:solidFill>
                <a:latin typeface="楷体_GB2312" pitchFamily="49" charset="-122"/>
                <a:ea typeface="楷体_GB2312" pitchFamily="49" charset="-122"/>
              </a:rPr>
              <a:t>= </a:t>
            </a:r>
            <a:r>
              <a:rPr lang="en-US" altLang="zh-CN" sz="2800" dirty="0" err="1">
                <a:solidFill>
                  <a:schemeClr val="tx2"/>
                </a:solidFill>
                <a:latin typeface="楷体_GB2312" pitchFamily="49" charset="-122"/>
                <a:ea typeface="楷体_GB2312" pitchFamily="49" charset="-122"/>
              </a:rPr>
              <a:t>C</a:t>
            </a:r>
            <a:r>
              <a:rPr lang="en-US" altLang="zh-CN" sz="2800" baseline="-25000" dirty="0" err="1">
                <a:solidFill>
                  <a:schemeClr val="tx2"/>
                </a:solidFill>
                <a:latin typeface="楷体_GB2312" pitchFamily="49" charset="-122"/>
                <a:ea typeface="楷体_GB2312" pitchFamily="49" charset="-122"/>
              </a:rPr>
              <a:t>i</a:t>
            </a:r>
            <a:r>
              <a:rPr lang="en-US" altLang="zh-CN" sz="2800" dirty="0" err="1">
                <a:solidFill>
                  <a:schemeClr val="tx2"/>
                </a:solidFill>
                <a:latin typeface="楷体_GB2312" pitchFamily="49" charset="-122"/>
                <a:ea typeface="楷体_GB2312" pitchFamily="49" charset="-122"/>
              </a:rPr>
              <a:t>S</a:t>
            </a:r>
            <a:r>
              <a:rPr lang="en-US" altLang="zh-CN" sz="2800" baseline="-25000" dirty="0" err="1">
                <a:solidFill>
                  <a:schemeClr val="tx2"/>
                </a:solidFill>
                <a:latin typeface="楷体_GB2312" pitchFamily="49" charset="-122"/>
                <a:ea typeface="楷体_GB2312" pitchFamily="49" charset="-122"/>
              </a:rPr>
              <a:t>i</a:t>
            </a:r>
            <a:r>
              <a:rPr lang="en-US" altLang="zh-CN" sz="2800" baseline="-25000" dirty="0">
                <a:solidFill>
                  <a:schemeClr val="tx2"/>
                </a:solidFill>
                <a:latin typeface="楷体_GB2312" pitchFamily="49" charset="-122"/>
                <a:ea typeface="楷体_GB2312" pitchFamily="49" charset="-122"/>
              </a:rPr>
              <a:t> </a:t>
            </a:r>
            <a:r>
              <a:rPr lang="en-US" altLang="zh-CN" sz="2800" dirty="0">
                <a:solidFill>
                  <a:schemeClr val="tx2"/>
                </a:solidFill>
                <a:latin typeface="楷体_GB2312" pitchFamily="49" charset="-122"/>
                <a:ea typeface="楷体_GB2312" pitchFamily="49" charset="-122"/>
              </a:rPr>
              <a:t>=11</a:t>
            </a:r>
          </a:p>
        </p:txBody>
      </p:sp>
      <p:pic>
        <p:nvPicPr>
          <p:cNvPr id="7" name="图片 6" descr="全加器简符.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4437112"/>
            <a:ext cx="3312368" cy="2305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3563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4387" name="TextBox 3"/>
          <p:cNvSpPr txBox="1">
            <a:spLocks noChangeArrowheads="1"/>
          </p:cNvSpPr>
          <p:nvPr/>
        </p:nvSpPr>
        <p:spPr bwMode="auto">
          <a:xfrm>
            <a:off x="116904" y="1714500"/>
            <a:ext cx="89916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2.n</a:t>
            </a:r>
            <a:r>
              <a:rPr lang="zh-CN" altLang="en-US" sz="3200" dirty="0">
                <a:solidFill>
                  <a:schemeClr val="tx2"/>
                </a:solidFill>
                <a:latin typeface="楷体_GB2312" pitchFamily="49" charset="-122"/>
                <a:ea typeface="楷体_GB2312" pitchFamily="49" charset="-122"/>
              </a:rPr>
              <a:t>位加法器的组成</a:t>
            </a:r>
            <a:endParaRPr lang="en-US" altLang="zh-CN" sz="3200" dirty="0">
              <a:solidFill>
                <a:schemeClr val="tx2"/>
              </a:solidFill>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N</a:t>
            </a:r>
            <a:r>
              <a:rPr lang="zh-CN" altLang="en-US" sz="3200" dirty="0">
                <a:solidFill>
                  <a:schemeClr val="tx2"/>
                </a:solidFill>
                <a:latin typeface="楷体_GB2312" pitchFamily="49" charset="-122"/>
                <a:ea typeface="楷体_GB2312" pitchFamily="49" charset="-122"/>
              </a:rPr>
              <a:t>位加法器有两种实现方法：串行加法器和并行加法器，他们都是采用全加器实现的。</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0070C0"/>
                </a:solidFill>
                <a:latin typeface="楷体_GB2312" pitchFamily="49" charset="-122"/>
                <a:ea typeface="楷体_GB2312" pitchFamily="49" charset="-122"/>
              </a:rPr>
              <a:t>举例说明</a:t>
            </a:r>
            <a:r>
              <a:rPr lang="en-US" altLang="zh-CN" sz="3200" dirty="0">
                <a:solidFill>
                  <a:srgbClr val="0070C0"/>
                </a:solidFill>
                <a:latin typeface="楷体_GB2312" pitchFamily="49" charset="-122"/>
                <a:ea typeface="楷体_GB2312" pitchFamily="49" charset="-122"/>
              </a:rPr>
              <a:t>n</a:t>
            </a:r>
            <a:r>
              <a:rPr lang="zh-CN" altLang="en-US" sz="3200" dirty="0">
                <a:solidFill>
                  <a:srgbClr val="0070C0"/>
                </a:solidFill>
                <a:latin typeface="楷体_GB2312" pitchFamily="49" charset="-122"/>
                <a:ea typeface="楷体_GB2312" pitchFamily="49" charset="-122"/>
              </a:rPr>
              <a:t>位加法器：</a:t>
            </a:r>
            <a:endParaRPr lang="en-US" altLang="zh-CN" sz="3200" dirty="0">
              <a:solidFill>
                <a:srgbClr val="0070C0"/>
              </a:solidFill>
              <a:latin typeface="楷体_GB2312" pitchFamily="49" charset="-122"/>
              <a:ea typeface="楷体_GB2312" pitchFamily="49" charset="-122"/>
            </a:endParaRPr>
          </a:p>
          <a:p>
            <a:pPr algn="l" eaLnBrk="1" hangingPunct="1"/>
            <a:r>
              <a:rPr lang="zh-CN" altLang="en-US" sz="3200" dirty="0">
                <a:solidFill>
                  <a:srgbClr val="0070C0"/>
                </a:solidFill>
                <a:latin typeface="楷体_GB2312" pitchFamily="49" charset="-122"/>
                <a:ea typeface="楷体_GB2312" pitchFamily="49" charset="-122"/>
              </a:rPr>
              <a:t>如</a:t>
            </a:r>
            <a:r>
              <a:rPr lang="en-US" altLang="zh-CN" sz="3200" dirty="0">
                <a:solidFill>
                  <a:srgbClr val="0070C0"/>
                </a:solidFill>
                <a:latin typeface="楷体_GB2312" pitchFamily="49" charset="-122"/>
                <a:ea typeface="楷体_GB2312" pitchFamily="49" charset="-122"/>
              </a:rPr>
              <a:t>c</a:t>
            </a:r>
            <a:r>
              <a:rPr lang="zh-CN" altLang="en-US" sz="3200" dirty="0">
                <a:solidFill>
                  <a:srgbClr val="0070C0"/>
                </a:solidFill>
                <a:latin typeface="楷体_GB2312" pitchFamily="49" charset="-122"/>
                <a:ea typeface="楷体_GB2312" pitchFamily="49" charset="-122"/>
              </a:rPr>
              <a:t>语言中</a:t>
            </a:r>
            <a:r>
              <a:rPr lang="en-US" altLang="zh-CN" sz="3200" dirty="0" err="1">
                <a:solidFill>
                  <a:srgbClr val="0070C0"/>
                </a:solidFill>
                <a:latin typeface="楷体_GB2312" pitchFamily="49" charset="-122"/>
                <a:ea typeface="楷体_GB2312" pitchFamily="49" charset="-122"/>
              </a:rPr>
              <a:t>int</a:t>
            </a:r>
            <a:r>
              <a:rPr lang="en-US" altLang="zh-CN" sz="3200" dirty="0">
                <a:solidFill>
                  <a:srgbClr val="0070C0"/>
                </a:solidFill>
                <a:latin typeface="楷体_GB2312" pitchFamily="49" charset="-122"/>
                <a:ea typeface="楷体_GB2312" pitchFamily="49" charset="-122"/>
              </a:rPr>
              <a:t> </a:t>
            </a:r>
            <a:r>
              <a:rPr lang="en-US" altLang="zh-CN" sz="3200" dirty="0" err="1">
                <a:solidFill>
                  <a:srgbClr val="0070C0"/>
                </a:solidFill>
                <a:latin typeface="楷体_GB2312" pitchFamily="49" charset="-122"/>
                <a:ea typeface="楷体_GB2312" pitchFamily="49" charset="-122"/>
              </a:rPr>
              <a:t>a,b</a:t>
            </a:r>
            <a:r>
              <a:rPr lang="en-US" altLang="zh-CN" sz="3200" dirty="0">
                <a:solidFill>
                  <a:srgbClr val="0070C0"/>
                </a:solidFill>
                <a:latin typeface="楷体_GB2312" pitchFamily="49" charset="-122"/>
                <a:ea typeface="楷体_GB2312" pitchFamily="49" charset="-122"/>
              </a:rPr>
              <a:t>;</a:t>
            </a:r>
            <a:r>
              <a:rPr lang="zh-CN" altLang="en-US" sz="3200" dirty="0">
                <a:solidFill>
                  <a:srgbClr val="0070C0"/>
                </a:solidFill>
                <a:latin typeface="楷体_GB2312" pitchFamily="49" charset="-122"/>
                <a:ea typeface="楷体_GB2312" pitchFamily="49" charset="-122"/>
              </a:rPr>
              <a:t>在</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位机器上，</a:t>
            </a:r>
            <a:r>
              <a:rPr lang="en-US" altLang="zh-CN" sz="3200" dirty="0">
                <a:solidFill>
                  <a:srgbClr val="0070C0"/>
                </a:solidFill>
                <a:latin typeface="楷体_GB2312" pitchFamily="49" charset="-122"/>
                <a:ea typeface="楷体_GB2312" pitchFamily="49" charset="-122"/>
              </a:rPr>
              <a:t>a</a:t>
            </a:r>
            <a:r>
              <a:rPr lang="zh-CN" altLang="en-US" sz="3200" dirty="0">
                <a:solidFill>
                  <a:srgbClr val="0070C0"/>
                </a:solidFill>
                <a:latin typeface="楷体_GB2312" pitchFamily="49" charset="-122"/>
                <a:ea typeface="楷体_GB2312" pitchFamily="49" charset="-122"/>
              </a:rPr>
              <a:t>和</a:t>
            </a:r>
            <a:r>
              <a:rPr lang="en-US" altLang="zh-CN" sz="3200" dirty="0">
                <a:solidFill>
                  <a:srgbClr val="0070C0"/>
                </a:solidFill>
                <a:latin typeface="楷体_GB2312" pitchFamily="49" charset="-122"/>
                <a:ea typeface="楷体_GB2312" pitchFamily="49" charset="-122"/>
              </a:rPr>
              <a:t>b</a:t>
            </a:r>
            <a:r>
              <a:rPr lang="zh-CN" altLang="en-US" sz="3200" dirty="0">
                <a:solidFill>
                  <a:srgbClr val="0070C0"/>
                </a:solidFill>
                <a:latin typeface="楷体_GB2312" pitchFamily="49" charset="-122"/>
                <a:ea typeface="楷体_GB2312" pitchFamily="49" charset="-122"/>
              </a:rPr>
              <a:t>变量所占二进制位数都是</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位，那么求</a:t>
            </a:r>
            <a:r>
              <a:rPr lang="en-US" altLang="zh-CN" sz="3200" dirty="0" err="1">
                <a:solidFill>
                  <a:srgbClr val="0070C0"/>
                </a:solidFill>
                <a:latin typeface="楷体_GB2312" pitchFamily="49" charset="-122"/>
                <a:ea typeface="楷体_GB2312" pitchFamily="49" charset="-122"/>
              </a:rPr>
              <a:t>a+b</a:t>
            </a:r>
            <a:r>
              <a:rPr lang="zh-CN" altLang="en-US" sz="3200" dirty="0">
                <a:solidFill>
                  <a:srgbClr val="0070C0"/>
                </a:solidFill>
                <a:latin typeface="楷体_GB2312" pitchFamily="49" charset="-122"/>
                <a:ea typeface="楷体_GB2312" pitchFamily="49" charset="-122"/>
              </a:rPr>
              <a:t>的过程就是：两个</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位的二进制数相加，这就是</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位加法，实现</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位加法的电路就叫</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位加法器。</a:t>
            </a:r>
            <a:endParaRPr lang="en-US" altLang="zh-CN" sz="3200" dirty="0">
              <a:solidFill>
                <a:srgbClr val="0070C0"/>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77052269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4387" name="TextBox 3"/>
          <p:cNvSpPr txBox="1">
            <a:spLocks noChangeArrowheads="1"/>
          </p:cNvSpPr>
          <p:nvPr/>
        </p:nvSpPr>
        <p:spPr bwMode="auto">
          <a:xfrm>
            <a:off x="467544" y="1714500"/>
            <a:ext cx="824783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2.n</a:t>
            </a:r>
            <a:r>
              <a:rPr lang="zh-CN" altLang="en-US" sz="3200" dirty="0">
                <a:solidFill>
                  <a:schemeClr val="tx2"/>
                </a:solidFill>
                <a:latin typeface="楷体_GB2312" pitchFamily="49" charset="-122"/>
                <a:ea typeface="楷体_GB2312" pitchFamily="49" charset="-122"/>
              </a:rPr>
              <a:t>位加法器的组成</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串行</a:t>
            </a:r>
            <a:r>
              <a:rPr lang="zh-CN" altLang="en-US" sz="3200" dirty="0">
                <a:solidFill>
                  <a:schemeClr val="tx2"/>
                </a:solidFill>
                <a:latin typeface="楷体_GB2312" pitchFamily="49" charset="-122"/>
                <a:ea typeface="楷体_GB2312" pitchFamily="49" charset="-122"/>
              </a:rPr>
              <a:t>加法器</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    所谓的串行加法器，是指</a:t>
            </a:r>
            <a:r>
              <a:rPr lang="zh-CN" altLang="en-US" sz="3200" dirty="0">
                <a:solidFill>
                  <a:srgbClr val="FF0000"/>
                </a:solidFill>
                <a:latin typeface="楷体_GB2312" pitchFamily="49" charset="-122"/>
                <a:ea typeface="楷体_GB2312" pitchFamily="49" charset="-122"/>
              </a:rPr>
              <a:t>两个二进制数相加的过程是从低位至高位逐位进行</a:t>
            </a:r>
            <a:r>
              <a:rPr lang="zh-CN" altLang="en-US" sz="3200" dirty="0">
                <a:solidFill>
                  <a:schemeClr val="tx2"/>
                </a:solidFill>
                <a:latin typeface="楷体_GB2312" pitchFamily="49" charset="-122"/>
                <a:ea typeface="楷体_GB2312" pitchFamily="49" charset="-122"/>
              </a:rPr>
              <a:t>，同人工进行两个多位数相加的过程一样。</a:t>
            </a:r>
            <a:r>
              <a:rPr lang="zh-CN" altLang="en-US" sz="3200" dirty="0">
                <a:solidFill>
                  <a:srgbClr val="0070C0"/>
                </a:solidFill>
                <a:latin typeface="楷体_GB2312" pitchFamily="49" charset="-122"/>
                <a:ea typeface="楷体_GB2312" pitchFamily="49" charset="-122"/>
              </a:rPr>
              <a:t>举例：两个</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位二进制数相加，是低位向高位两两逐位相加，产生进位后转至高位继续两两逐位相加，直到</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个脉冲之后计算完成</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位的加法。</a:t>
            </a:r>
            <a:endParaRPr lang="en-US" altLang="zh-CN" sz="3200" dirty="0">
              <a:solidFill>
                <a:srgbClr val="0070C0"/>
              </a:solidFill>
              <a:latin typeface="楷体_GB2312" pitchFamily="49" charset="-122"/>
              <a:ea typeface="楷体_GB2312" pitchFamily="49" charset="-122"/>
            </a:endParaRPr>
          </a:p>
        </p:txBody>
      </p:sp>
    </p:spTree>
    <p:extLst>
      <p:ext uri="{BB962C8B-B14F-4D97-AF65-F5344CB8AC3E}">
        <p14:creationId xmlns:p14="http://schemas.microsoft.com/office/powerpoint/2010/main" val="296131421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pic>
        <p:nvPicPr>
          <p:cNvPr id="145411" name="图片 5" descr="串行加法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143000"/>
            <a:ext cx="6624736" cy="4906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7912586" y="2118988"/>
            <a:ext cx="519628" cy="3170099"/>
          </a:xfrm>
          <a:prstGeom prst="rect">
            <a:avLst/>
          </a:prstGeom>
        </p:spPr>
        <p:txBody>
          <a:bodyPr wrap="square">
            <a:spAutoFit/>
          </a:bodyPr>
          <a:lstStyle/>
          <a:p>
            <a:r>
              <a:rPr lang="zh-CN" altLang="en-US" sz="4000" b="1" dirty="0">
                <a:solidFill>
                  <a:srgbClr val="FF0000"/>
                </a:solidFill>
                <a:latin typeface="楷体_GB2312" pitchFamily="49" charset="-122"/>
                <a:ea typeface="楷体_GB2312" pitchFamily="49" charset="-122"/>
              </a:rPr>
              <a:t>串行</a:t>
            </a:r>
            <a:r>
              <a:rPr lang="zh-CN" altLang="en-US" sz="4000" b="1" dirty="0">
                <a:solidFill>
                  <a:schemeClr val="tx2"/>
                </a:solidFill>
                <a:latin typeface="楷体_GB2312" pitchFamily="49" charset="-122"/>
                <a:ea typeface="楷体_GB2312" pitchFamily="49" charset="-122"/>
              </a:rPr>
              <a:t>加法器</a:t>
            </a:r>
            <a:endParaRPr lang="en-US" altLang="zh-CN" sz="40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59704765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3" name="TextBox 2"/>
          <p:cNvSpPr txBox="1"/>
          <p:nvPr/>
        </p:nvSpPr>
        <p:spPr>
          <a:xfrm>
            <a:off x="179512" y="1772816"/>
            <a:ext cx="8812088" cy="4031873"/>
          </a:xfrm>
          <a:prstGeom prst="rect">
            <a:avLst/>
          </a:prstGeom>
          <a:noFill/>
        </p:spPr>
        <p:txBody>
          <a:bodyPr wrap="square" rtlCol="0">
            <a:spAutoFit/>
          </a:bodyPr>
          <a:lstStyle/>
          <a:p>
            <a:r>
              <a:rPr lang="en-US" altLang="zh-CN" sz="3200" b="1" dirty="0">
                <a:solidFill>
                  <a:schemeClr val="tx2"/>
                </a:solidFill>
                <a:latin typeface="楷体_GB2312" pitchFamily="49" charset="-122"/>
                <a:ea typeface="楷体_GB2312" pitchFamily="49" charset="-122"/>
              </a:rPr>
              <a:t>A</a:t>
            </a:r>
            <a:r>
              <a:rPr lang="zh-CN" altLang="en-US" sz="3200" b="1" dirty="0">
                <a:solidFill>
                  <a:schemeClr val="tx2"/>
                </a:solidFill>
                <a:latin typeface="楷体_GB2312" pitchFamily="49" charset="-122"/>
                <a:ea typeface="楷体_GB2312" pitchFamily="49" charset="-122"/>
              </a:rPr>
              <a:t>寄存器：存储参与计算的数</a:t>
            </a:r>
            <a:r>
              <a:rPr lang="en-US" altLang="zh-CN" sz="3200" b="1" dirty="0">
                <a:solidFill>
                  <a:schemeClr val="tx2"/>
                </a:solidFill>
                <a:latin typeface="楷体_GB2312" pitchFamily="49" charset="-122"/>
                <a:ea typeface="楷体_GB2312" pitchFamily="49" charset="-122"/>
              </a:rPr>
              <a:t>A</a:t>
            </a:r>
          </a:p>
          <a:p>
            <a:r>
              <a:rPr lang="en-US" altLang="zh-CN" sz="3200" b="1" dirty="0">
                <a:solidFill>
                  <a:schemeClr val="tx2"/>
                </a:solidFill>
                <a:latin typeface="楷体_GB2312" pitchFamily="49" charset="-122"/>
                <a:ea typeface="楷体_GB2312" pitchFamily="49" charset="-122"/>
              </a:rPr>
              <a:t>B</a:t>
            </a:r>
            <a:r>
              <a:rPr lang="zh-CN" altLang="en-US" sz="3200" b="1" dirty="0">
                <a:solidFill>
                  <a:schemeClr val="tx2"/>
                </a:solidFill>
                <a:latin typeface="楷体_GB2312" pitchFamily="49" charset="-122"/>
                <a:ea typeface="楷体_GB2312" pitchFamily="49" charset="-122"/>
              </a:rPr>
              <a:t>寄存器：存储参与计算的数</a:t>
            </a:r>
            <a:r>
              <a:rPr lang="en-US" altLang="zh-CN" sz="3200" b="1" dirty="0">
                <a:solidFill>
                  <a:schemeClr val="tx2"/>
                </a:solidFill>
                <a:latin typeface="楷体_GB2312" pitchFamily="49" charset="-122"/>
                <a:ea typeface="楷体_GB2312" pitchFamily="49" charset="-122"/>
              </a:rPr>
              <a:t>B</a:t>
            </a:r>
          </a:p>
          <a:p>
            <a:r>
              <a:rPr lang="en-US" altLang="zh-CN" sz="3200" b="1" dirty="0">
                <a:solidFill>
                  <a:schemeClr val="tx2"/>
                </a:solidFill>
                <a:latin typeface="楷体_GB2312" pitchFamily="49" charset="-122"/>
                <a:ea typeface="楷体_GB2312" pitchFamily="49" charset="-122"/>
              </a:rPr>
              <a:t>S</a:t>
            </a:r>
            <a:r>
              <a:rPr lang="zh-CN" altLang="en-US" sz="3200" b="1" dirty="0">
                <a:solidFill>
                  <a:schemeClr val="tx2"/>
                </a:solidFill>
                <a:latin typeface="楷体_GB2312" pitchFamily="49" charset="-122"/>
                <a:ea typeface="楷体_GB2312" pitchFamily="49" charset="-122"/>
              </a:rPr>
              <a:t>寄存器：存储计算结果：</a:t>
            </a:r>
            <a:r>
              <a:rPr lang="en-US" altLang="zh-CN" sz="3200" b="1" dirty="0">
                <a:solidFill>
                  <a:schemeClr val="tx2"/>
                </a:solidFill>
                <a:latin typeface="楷体_GB2312" pitchFamily="49" charset="-122"/>
                <a:ea typeface="楷体_GB2312" pitchFamily="49" charset="-122"/>
              </a:rPr>
              <a:t>S=A+B</a:t>
            </a:r>
          </a:p>
          <a:p>
            <a:r>
              <a:rPr lang="zh-CN" altLang="en-US" sz="3200" b="1" dirty="0">
                <a:solidFill>
                  <a:schemeClr val="tx2"/>
                </a:solidFill>
                <a:latin typeface="楷体_GB2312" pitchFamily="49" charset="-122"/>
                <a:ea typeface="楷体_GB2312" pitchFamily="49" charset="-122"/>
              </a:rPr>
              <a:t>每次工作脉冲，都从</a:t>
            </a:r>
            <a:r>
              <a:rPr lang="en-US" altLang="zh-CN" sz="3200" b="1" dirty="0">
                <a:solidFill>
                  <a:schemeClr val="tx2"/>
                </a:solidFill>
                <a:latin typeface="楷体_GB2312" pitchFamily="49" charset="-122"/>
                <a:ea typeface="楷体_GB2312" pitchFamily="49" charset="-122"/>
              </a:rPr>
              <a:t>A</a:t>
            </a:r>
            <a:r>
              <a:rPr lang="zh-CN" altLang="en-US" sz="3200" b="1" dirty="0">
                <a:solidFill>
                  <a:schemeClr val="tx2"/>
                </a:solidFill>
                <a:latin typeface="楷体_GB2312" pitchFamily="49" charset="-122"/>
                <a:ea typeface="楷体_GB2312" pitchFamily="49" charset="-122"/>
              </a:rPr>
              <a:t>寄存器和</a:t>
            </a:r>
            <a:r>
              <a:rPr lang="en-US" altLang="zh-CN" sz="3200" b="1" dirty="0">
                <a:solidFill>
                  <a:schemeClr val="tx2"/>
                </a:solidFill>
                <a:latin typeface="楷体_GB2312" pitchFamily="49" charset="-122"/>
                <a:ea typeface="楷体_GB2312" pitchFamily="49" charset="-122"/>
              </a:rPr>
              <a:t>B</a:t>
            </a:r>
            <a:r>
              <a:rPr lang="zh-CN" altLang="en-US" sz="3200" b="1" dirty="0">
                <a:solidFill>
                  <a:schemeClr val="tx2"/>
                </a:solidFill>
                <a:latin typeface="楷体_GB2312" pitchFamily="49" charset="-122"/>
                <a:ea typeface="楷体_GB2312" pitchFamily="49" charset="-122"/>
              </a:rPr>
              <a:t>寄存器中取出</a:t>
            </a:r>
            <a:r>
              <a:rPr lang="en-US" altLang="zh-CN" sz="3200" b="1" dirty="0">
                <a:solidFill>
                  <a:schemeClr val="tx2"/>
                </a:solidFill>
                <a:latin typeface="楷体_GB2312" pitchFamily="49" charset="-122"/>
                <a:ea typeface="楷体_GB2312" pitchFamily="49" charset="-122"/>
              </a:rPr>
              <a:t>Ai</a:t>
            </a:r>
            <a:r>
              <a:rPr lang="zh-CN" altLang="en-US" sz="3200" b="1" dirty="0">
                <a:solidFill>
                  <a:schemeClr val="tx2"/>
                </a:solidFill>
                <a:latin typeface="楷体_GB2312" pitchFamily="49" charset="-122"/>
                <a:ea typeface="楷体_GB2312" pitchFamily="49" charset="-122"/>
              </a:rPr>
              <a:t>和</a:t>
            </a:r>
            <a:r>
              <a:rPr lang="en-US" altLang="zh-CN" sz="3200" b="1" dirty="0">
                <a:solidFill>
                  <a:schemeClr val="tx2"/>
                </a:solidFill>
                <a:latin typeface="楷体_GB2312" pitchFamily="49" charset="-122"/>
                <a:ea typeface="楷体_GB2312" pitchFamily="49" charset="-122"/>
              </a:rPr>
              <a:t>Bi</a:t>
            </a:r>
            <a:r>
              <a:rPr lang="zh-CN" altLang="en-US" sz="3200" b="1" dirty="0">
                <a:solidFill>
                  <a:schemeClr val="tx2"/>
                </a:solidFill>
                <a:latin typeface="楷体_GB2312" pitchFamily="49" charset="-122"/>
                <a:ea typeface="楷体_GB2312" pitchFamily="49" charset="-122"/>
              </a:rPr>
              <a:t>，送入全加器芯片中进行计算，产生的本位结果</a:t>
            </a:r>
            <a:r>
              <a:rPr lang="en-US" altLang="zh-CN" sz="3200" b="1" dirty="0">
                <a:solidFill>
                  <a:schemeClr val="tx2"/>
                </a:solidFill>
                <a:latin typeface="楷体_GB2312" pitchFamily="49" charset="-122"/>
                <a:ea typeface="楷体_GB2312" pitchFamily="49" charset="-122"/>
              </a:rPr>
              <a:t>Si</a:t>
            </a:r>
            <a:r>
              <a:rPr lang="zh-CN" altLang="en-US" sz="3200" b="1" dirty="0">
                <a:solidFill>
                  <a:schemeClr val="tx2"/>
                </a:solidFill>
                <a:latin typeface="楷体_GB2312" pitchFamily="49" charset="-122"/>
                <a:ea typeface="楷体_GB2312" pitchFamily="49" charset="-122"/>
              </a:rPr>
              <a:t>写入</a:t>
            </a:r>
            <a:r>
              <a:rPr lang="en-US" altLang="zh-CN" sz="3200" b="1" dirty="0">
                <a:solidFill>
                  <a:schemeClr val="tx2"/>
                </a:solidFill>
                <a:latin typeface="楷体_GB2312" pitchFamily="49" charset="-122"/>
                <a:ea typeface="楷体_GB2312" pitchFamily="49" charset="-122"/>
              </a:rPr>
              <a:t>S</a:t>
            </a:r>
            <a:r>
              <a:rPr lang="zh-CN" altLang="en-US" sz="3200" b="1" dirty="0">
                <a:solidFill>
                  <a:schemeClr val="tx2"/>
                </a:solidFill>
                <a:latin typeface="楷体_GB2312" pitchFamily="49" charset="-122"/>
                <a:ea typeface="楷体_GB2312" pitchFamily="49" charset="-122"/>
              </a:rPr>
              <a:t>寄存器，进位</a:t>
            </a:r>
            <a:r>
              <a:rPr lang="en-US" altLang="zh-CN" sz="3200" b="1" dirty="0" err="1">
                <a:solidFill>
                  <a:schemeClr val="tx2"/>
                </a:solidFill>
                <a:latin typeface="楷体_GB2312" pitchFamily="49" charset="-122"/>
                <a:ea typeface="楷体_GB2312" pitchFamily="49" charset="-122"/>
              </a:rPr>
              <a:t>Ci</a:t>
            </a:r>
            <a:r>
              <a:rPr lang="zh-CN" altLang="en-US" sz="3200" b="1" dirty="0">
                <a:solidFill>
                  <a:schemeClr val="tx2"/>
                </a:solidFill>
                <a:latin typeface="楷体_GB2312" pitchFamily="49" charset="-122"/>
                <a:ea typeface="楷体_GB2312" pitchFamily="49" charset="-122"/>
              </a:rPr>
              <a:t>则重新被送入全加器</a:t>
            </a:r>
            <a:r>
              <a:rPr lang="en-US" altLang="zh-CN" sz="3200" b="1" dirty="0">
                <a:solidFill>
                  <a:schemeClr val="tx2"/>
                </a:solidFill>
                <a:latin typeface="楷体_GB2312" pitchFamily="49" charset="-122"/>
                <a:ea typeface="楷体_GB2312" pitchFamily="49" charset="-122"/>
              </a:rPr>
              <a:t>Ci-1</a:t>
            </a:r>
            <a:r>
              <a:rPr lang="zh-CN" altLang="en-US" sz="3200" b="1" dirty="0">
                <a:solidFill>
                  <a:schemeClr val="tx2"/>
                </a:solidFill>
                <a:latin typeface="楷体_GB2312" pitchFamily="49" charset="-122"/>
                <a:ea typeface="楷体_GB2312" pitchFamily="49" charset="-122"/>
              </a:rPr>
              <a:t>作为下一次计算的进位。这样</a:t>
            </a:r>
            <a:r>
              <a:rPr lang="en-US" altLang="zh-CN" sz="3200" b="1" dirty="0">
                <a:solidFill>
                  <a:schemeClr val="tx2"/>
                </a:solidFill>
                <a:latin typeface="楷体_GB2312" pitchFamily="49" charset="-122"/>
                <a:ea typeface="楷体_GB2312" pitchFamily="49" charset="-122"/>
              </a:rPr>
              <a:t>n</a:t>
            </a:r>
            <a:r>
              <a:rPr lang="zh-CN" altLang="en-US" sz="3200" b="1" dirty="0">
                <a:solidFill>
                  <a:schemeClr val="tx2"/>
                </a:solidFill>
                <a:latin typeface="楷体_GB2312" pitchFamily="49" charset="-122"/>
                <a:ea typeface="楷体_GB2312" pitchFamily="49" charset="-122"/>
              </a:rPr>
              <a:t>次脉冲之后即可实现</a:t>
            </a:r>
            <a:r>
              <a:rPr lang="en-US" altLang="zh-CN" sz="3200" b="1" dirty="0">
                <a:solidFill>
                  <a:schemeClr val="tx2"/>
                </a:solidFill>
                <a:latin typeface="楷体_GB2312" pitchFamily="49" charset="-122"/>
                <a:ea typeface="楷体_GB2312" pitchFamily="49" charset="-122"/>
              </a:rPr>
              <a:t>n</a:t>
            </a:r>
            <a:r>
              <a:rPr lang="zh-CN" altLang="en-US" sz="3200" b="1" dirty="0">
                <a:solidFill>
                  <a:schemeClr val="tx2"/>
                </a:solidFill>
                <a:latin typeface="楷体_GB2312" pitchFamily="49" charset="-122"/>
                <a:ea typeface="楷体_GB2312" pitchFamily="49" charset="-122"/>
              </a:rPr>
              <a:t>位加法计算。</a:t>
            </a:r>
          </a:p>
        </p:txBody>
      </p:sp>
    </p:spTree>
    <p:extLst>
      <p:ext uri="{BB962C8B-B14F-4D97-AF65-F5344CB8AC3E}">
        <p14:creationId xmlns:p14="http://schemas.microsoft.com/office/powerpoint/2010/main" val="142349377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3" name="TextBox 2"/>
          <p:cNvSpPr txBox="1"/>
          <p:nvPr/>
        </p:nvSpPr>
        <p:spPr>
          <a:xfrm>
            <a:off x="755576" y="2060848"/>
            <a:ext cx="7920880" cy="2062103"/>
          </a:xfrm>
          <a:prstGeom prst="rect">
            <a:avLst/>
          </a:prstGeom>
          <a:noFill/>
        </p:spPr>
        <p:txBody>
          <a:bodyPr wrap="square" rtlCol="0">
            <a:spAutoFit/>
          </a:bodyPr>
          <a:lstStyle/>
          <a:p>
            <a:r>
              <a:rPr lang="zh-CN" altLang="en-US" sz="3200" b="1" dirty="0">
                <a:solidFill>
                  <a:schemeClr val="tx2"/>
                </a:solidFill>
                <a:latin typeface="楷体_GB2312" pitchFamily="49" charset="-122"/>
                <a:ea typeface="楷体_GB2312" pitchFamily="49" charset="-122"/>
              </a:rPr>
              <a:t>可以看出，串行加法器必须一位一位的计算，低位计算完成之后才能得到本位的进位从而开始高位的加法计算，这样就比较慢。</a:t>
            </a:r>
          </a:p>
        </p:txBody>
      </p:sp>
    </p:spTree>
    <p:extLst>
      <p:ext uri="{BB962C8B-B14F-4D97-AF65-F5344CB8AC3E}">
        <p14:creationId xmlns:p14="http://schemas.microsoft.com/office/powerpoint/2010/main" val="29977623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7459" name="TextBox 3"/>
          <p:cNvSpPr txBox="1">
            <a:spLocks noChangeArrowheads="1"/>
          </p:cNvSpPr>
          <p:nvPr/>
        </p:nvSpPr>
        <p:spPr bwMode="auto">
          <a:xfrm>
            <a:off x="323528" y="1556792"/>
            <a:ext cx="8668072" cy="3539430"/>
          </a:xfrm>
          <a:prstGeom prst="rect">
            <a:avLst/>
          </a:prstGeom>
          <a:solidFill>
            <a:schemeClr val="accent1"/>
          </a:solidFill>
          <a:ln>
            <a:noFill/>
          </a:ln>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并行</a:t>
            </a:r>
            <a:r>
              <a:rPr lang="zh-CN" altLang="en-US" sz="3200" dirty="0">
                <a:solidFill>
                  <a:schemeClr val="tx2"/>
                </a:solidFill>
                <a:latin typeface="楷体_GB2312" pitchFamily="49" charset="-122"/>
                <a:ea typeface="楷体_GB2312" pitchFamily="49" charset="-122"/>
              </a:rPr>
              <a:t>加法器</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并行加法器设法改变每一位计算所需低位的进位的产生方式，从而使得每一位的加法计算可以同时进行。</a:t>
            </a:r>
            <a:r>
              <a:rPr lang="zh-CN" altLang="en-US" sz="3200" dirty="0">
                <a:solidFill>
                  <a:srgbClr val="0070C0"/>
                </a:solidFill>
                <a:latin typeface="楷体_GB2312" pitchFamily="49" charset="-122"/>
                <a:ea typeface="楷体_GB2312" pitchFamily="49" charset="-122"/>
              </a:rPr>
              <a:t>举例：两个</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位二进制数相加，是每一位同时两两相加，</a:t>
            </a:r>
            <a:r>
              <a:rPr lang="en-US" altLang="zh-CN" sz="3200" dirty="0">
                <a:solidFill>
                  <a:srgbClr val="0070C0"/>
                </a:solidFill>
                <a:latin typeface="楷体_GB2312" pitchFamily="49" charset="-122"/>
                <a:ea typeface="楷体_GB2312" pitchFamily="49" charset="-122"/>
              </a:rPr>
              <a:t>1</a:t>
            </a:r>
            <a:r>
              <a:rPr lang="zh-CN" altLang="en-US" sz="3200" dirty="0">
                <a:solidFill>
                  <a:srgbClr val="0070C0"/>
                </a:solidFill>
                <a:latin typeface="楷体_GB2312" pitchFamily="49" charset="-122"/>
                <a:ea typeface="楷体_GB2312" pitchFamily="49" charset="-122"/>
              </a:rPr>
              <a:t>个脉冲之后计算完成所有</a:t>
            </a:r>
            <a:r>
              <a:rPr lang="en-US" altLang="zh-CN" sz="3200" dirty="0">
                <a:solidFill>
                  <a:srgbClr val="0070C0"/>
                </a:solidFill>
                <a:latin typeface="楷体_GB2312" pitchFamily="49" charset="-122"/>
                <a:ea typeface="楷体_GB2312" pitchFamily="49" charset="-122"/>
              </a:rPr>
              <a:t>32</a:t>
            </a:r>
            <a:r>
              <a:rPr lang="zh-CN" altLang="en-US" sz="3200" dirty="0">
                <a:solidFill>
                  <a:srgbClr val="0070C0"/>
                </a:solidFill>
                <a:latin typeface="楷体_GB2312" pitchFamily="49" charset="-122"/>
                <a:ea typeface="楷体_GB2312" pitchFamily="49" charset="-122"/>
              </a:rPr>
              <a:t>位的加法。</a:t>
            </a:r>
            <a:endParaRPr lang="en-US" altLang="zh-CN" sz="3200" dirty="0">
              <a:solidFill>
                <a:srgbClr val="0070C0"/>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40113882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7459" name="TextBox 3"/>
          <p:cNvSpPr txBox="1">
            <a:spLocks noChangeArrowheads="1"/>
          </p:cNvSpPr>
          <p:nvPr/>
        </p:nvSpPr>
        <p:spPr bwMode="auto">
          <a:xfrm>
            <a:off x="323528" y="1556792"/>
            <a:ext cx="8668072" cy="5016758"/>
          </a:xfrm>
          <a:prstGeom prst="rect">
            <a:avLst/>
          </a:prstGeom>
          <a:solidFill>
            <a:schemeClr val="accent1"/>
          </a:solidFill>
          <a:ln>
            <a:noFill/>
          </a:ln>
        </p:spPr>
        <p:txBody>
          <a:bodyPr wrap="square">
            <a:spAutoFit/>
          </a:bodyPr>
          <a:lstStyle>
            <a:lvl1pPr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zh-CN" altLang="en-US" sz="3200" dirty="0">
                <a:solidFill>
                  <a:srgbClr val="FF0000"/>
                </a:solidFill>
                <a:latin typeface="楷体_GB2312" pitchFamily="49" charset="-122"/>
                <a:ea typeface="楷体_GB2312" pitchFamily="49" charset="-122"/>
              </a:rPr>
              <a:t>并行</a:t>
            </a:r>
            <a:r>
              <a:rPr lang="zh-CN" altLang="en-US" sz="3200" dirty="0">
                <a:solidFill>
                  <a:schemeClr val="tx2"/>
                </a:solidFill>
                <a:latin typeface="楷体_GB2312" pitchFamily="49" charset="-122"/>
                <a:ea typeface="楷体_GB2312" pitchFamily="49" charset="-122"/>
              </a:rPr>
              <a:t>加法器</a:t>
            </a:r>
            <a:endParaRPr lang="en-US" altLang="zh-CN" sz="3200" dirty="0">
              <a:solidFill>
                <a:schemeClr val="tx2"/>
              </a:solidFill>
              <a:latin typeface="楷体_GB2312" pitchFamily="49" charset="-122"/>
              <a:ea typeface="楷体_GB2312" pitchFamily="49" charset="-122"/>
            </a:endParaRPr>
          </a:p>
          <a:p>
            <a:pPr eaLnBrk="1" hangingPunct="1"/>
            <a:r>
              <a:rPr lang="zh-CN" altLang="en-US" sz="3200" dirty="0">
                <a:solidFill>
                  <a:schemeClr val="tx2"/>
                </a:solidFill>
                <a:latin typeface="楷体_GB2312" pitchFamily="49" charset="-122"/>
                <a:ea typeface="楷体_GB2312" pitchFamily="49" charset="-122"/>
              </a:rPr>
              <a:t>并行加法器设法改变每一位计算所需低位的进位的产生方式，从而使得每一位的加法计算可以同时进行。</a:t>
            </a:r>
            <a:endParaRPr lang="en-US" altLang="zh-CN" sz="3200" dirty="0">
              <a:solidFill>
                <a:schemeClr val="tx2"/>
              </a:solidFill>
              <a:latin typeface="楷体_GB2312" pitchFamily="49" charset="-122"/>
              <a:ea typeface="楷体_GB2312" pitchFamily="49" charset="-122"/>
            </a:endParaRPr>
          </a:p>
          <a:p>
            <a:pPr algn="l" eaLnBrk="1" hangingPunct="1"/>
            <a:r>
              <a:rPr lang="zh-CN" altLang="en-US" sz="3200" dirty="0">
                <a:solidFill>
                  <a:srgbClr val="0070C0"/>
                </a:solidFill>
                <a:latin typeface="楷体_GB2312" pitchFamily="49" charset="-122"/>
                <a:ea typeface="楷体_GB2312" pitchFamily="49" charset="-122"/>
              </a:rPr>
              <a:t>并行加法器使用进位链方式来计算低位进位，进位链能够同时产生每一位的低位进位，再采用并行加法器进行并行加法计算，从而提高加法计算速度。</a:t>
            </a:r>
            <a:endParaRPr lang="en-US" altLang="zh-CN" sz="3200" dirty="0">
              <a:solidFill>
                <a:srgbClr val="0070C0"/>
              </a:solidFill>
              <a:latin typeface="楷体_GB2312" pitchFamily="49" charset="-122"/>
              <a:ea typeface="楷体_GB2312" pitchFamily="49" charset="-122"/>
            </a:endParaRPr>
          </a:p>
          <a:p>
            <a:pPr algn="l" eaLnBrk="1" hangingPunct="1"/>
            <a:r>
              <a:rPr lang="zh-CN" altLang="en-US" sz="3200" dirty="0">
                <a:solidFill>
                  <a:schemeClr val="tx2"/>
                </a:solidFill>
                <a:latin typeface="楷体_GB2312" pitchFamily="49" charset="-122"/>
                <a:ea typeface="楷体_GB2312" pitchFamily="49" charset="-122"/>
              </a:rPr>
              <a:t>并行加法器结构如下图：</a:t>
            </a:r>
            <a:endParaRPr lang="en-US" altLang="zh-CN" sz="3200" dirty="0">
              <a:solidFill>
                <a:schemeClr val="tx2"/>
              </a:solidFill>
              <a:latin typeface="楷体_GB2312" pitchFamily="49" charset="-122"/>
              <a:ea typeface="楷体_GB2312" pitchFamily="49" charset="-122"/>
            </a:endParaRPr>
          </a:p>
          <a:p>
            <a:pPr algn="l" eaLnBrk="1" hangingPunct="1"/>
            <a:endParaRPr lang="en-US" altLang="zh-CN"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27212346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grpSp>
        <p:nvGrpSpPr>
          <p:cNvPr id="3" name="组合 2"/>
          <p:cNvGrpSpPr/>
          <p:nvPr/>
        </p:nvGrpSpPr>
        <p:grpSpPr>
          <a:xfrm>
            <a:off x="395536" y="2814638"/>
            <a:ext cx="8434388" cy="2543175"/>
            <a:chOff x="571500" y="2814638"/>
            <a:chExt cx="8434388" cy="2543175"/>
          </a:xfrm>
        </p:grpSpPr>
        <p:pic>
          <p:nvPicPr>
            <p:cNvPr id="147460" name="图片 4" descr="并行加法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0" y="2814638"/>
              <a:ext cx="8154988"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全加器-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57938" y="2814638"/>
              <a:ext cx="26479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矩形 6"/>
          <p:cNvSpPr/>
          <p:nvPr/>
        </p:nvSpPr>
        <p:spPr>
          <a:xfrm>
            <a:off x="1494751" y="1765045"/>
            <a:ext cx="6308486" cy="707886"/>
          </a:xfrm>
          <a:prstGeom prst="rect">
            <a:avLst/>
          </a:prstGeom>
        </p:spPr>
        <p:txBody>
          <a:bodyPr wrap="square">
            <a:spAutoFit/>
          </a:bodyPr>
          <a:lstStyle/>
          <a:p>
            <a:pPr algn="ctr"/>
            <a:r>
              <a:rPr lang="zh-CN" altLang="en-US" sz="4000" b="1" dirty="0">
                <a:solidFill>
                  <a:srgbClr val="FF0000"/>
                </a:solidFill>
                <a:latin typeface="楷体_GB2312" pitchFamily="49" charset="-122"/>
                <a:ea typeface="楷体_GB2312" pitchFamily="49" charset="-122"/>
              </a:rPr>
              <a:t>并行</a:t>
            </a:r>
            <a:r>
              <a:rPr lang="zh-CN" altLang="en-US" sz="4000" b="1" dirty="0">
                <a:solidFill>
                  <a:schemeClr val="tx2"/>
                </a:solidFill>
                <a:latin typeface="楷体_GB2312" pitchFamily="49" charset="-122"/>
                <a:ea typeface="楷体_GB2312" pitchFamily="49" charset="-122"/>
              </a:rPr>
              <a:t>加法器</a:t>
            </a:r>
            <a:endParaRPr lang="en-US" altLang="zh-CN" sz="40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3127431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2.9</a:t>
            </a:r>
            <a:r>
              <a:rPr kumimoji="1" lang="zh-CN" altLang="en-US" sz="2800" kern="0" dirty="0">
                <a:solidFill>
                  <a:schemeClr val="tx2"/>
                </a:solidFill>
                <a:latin typeface="黑体" pitchFamily="2" charset="-122"/>
                <a:ea typeface="黑体" pitchFamily="2" charset="-122"/>
                <a:cs typeface="+mj-cs"/>
              </a:rPr>
              <a:t> 二进制加法器</a:t>
            </a:r>
            <a:endParaRPr kumimoji="1" lang="zh-CN" altLang="en-US" sz="2000" kern="0" dirty="0">
              <a:solidFill>
                <a:schemeClr val="tx2"/>
              </a:solidFill>
              <a:latin typeface="楷体_GB2312" pitchFamily="49" charset="-122"/>
              <a:ea typeface="楷体_GB2312" pitchFamily="49" charset="-122"/>
              <a:cs typeface="+mj-cs"/>
            </a:endParaRPr>
          </a:p>
        </p:txBody>
      </p:sp>
      <p:pic>
        <p:nvPicPr>
          <p:cNvPr id="148483" name="图片 3" descr="并行加法器C3-C0.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276872"/>
            <a:ext cx="8312150"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14931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grpSp>
        <p:nvGrpSpPr>
          <p:cNvPr id="3" name="组合 2"/>
          <p:cNvGrpSpPr/>
          <p:nvPr/>
        </p:nvGrpSpPr>
        <p:grpSpPr>
          <a:xfrm>
            <a:off x="395536" y="2814638"/>
            <a:ext cx="8434388" cy="2543175"/>
            <a:chOff x="571500" y="2814638"/>
            <a:chExt cx="8434388" cy="2543175"/>
          </a:xfrm>
        </p:grpSpPr>
        <p:pic>
          <p:nvPicPr>
            <p:cNvPr id="147460" name="图片 4" descr="并行加法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0" y="2814638"/>
              <a:ext cx="8154988"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全加器-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57938" y="2814638"/>
              <a:ext cx="26479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矩形 6"/>
          <p:cNvSpPr/>
          <p:nvPr/>
        </p:nvSpPr>
        <p:spPr>
          <a:xfrm>
            <a:off x="1494751" y="1765045"/>
            <a:ext cx="6308486" cy="707886"/>
          </a:xfrm>
          <a:prstGeom prst="rect">
            <a:avLst/>
          </a:prstGeom>
        </p:spPr>
        <p:txBody>
          <a:bodyPr wrap="square">
            <a:spAutoFit/>
          </a:bodyPr>
          <a:lstStyle/>
          <a:p>
            <a:pPr algn="ctr"/>
            <a:r>
              <a:rPr lang="zh-CN" altLang="en-US" sz="4000" b="1" dirty="0">
                <a:solidFill>
                  <a:schemeClr val="tx2"/>
                </a:solidFill>
                <a:latin typeface="楷体_GB2312" pitchFamily="49" charset="-122"/>
                <a:ea typeface="楷体_GB2312" pitchFamily="49" charset="-122"/>
              </a:rPr>
              <a:t>进位链</a:t>
            </a:r>
            <a:endParaRPr lang="en-US" altLang="zh-CN" sz="4000" b="1" dirty="0">
              <a:solidFill>
                <a:schemeClr val="tx2"/>
              </a:solidFill>
              <a:latin typeface="楷体_GB2312" pitchFamily="49" charset="-122"/>
              <a:ea typeface="楷体_GB2312" pitchFamily="49" charset="-122"/>
            </a:endParaRPr>
          </a:p>
        </p:txBody>
      </p:sp>
      <p:sp>
        <p:nvSpPr>
          <p:cNvPr id="8" name="矩形 7"/>
          <p:cNvSpPr/>
          <p:nvPr/>
        </p:nvSpPr>
        <p:spPr>
          <a:xfrm>
            <a:off x="1318787" y="5517232"/>
            <a:ext cx="6308486" cy="707886"/>
          </a:xfrm>
          <a:prstGeom prst="rect">
            <a:avLst/>
          </a:prstGeom>
        </p:spPr>
        <p:txBody>
          <a:bodyPr wrap="square">
            <a:spAutoFit/>
          </a:bodyPr>
          <a:lstStyle/>
          <a:p>
            <a:pPr algn="ctr"/>
            <a:r>
              <a:rPr lang="zh-CN" altLang="en-US" sz="4000" b="1" dirty="0">
                <a:solidFill>
                  <a:schemeClr val="tx2"/>
                </a:solidFill>
                <a:latin typeface="楷体_GB2312" pitchFamily="49" charset="-122"/>
                <a:ea typeface="楷体_GB2312" pitchFamily="49" charset="-122"/>
              </a:rPr>
              <a:t>图</a:t>
            </a:r>
            <a:r>
              <a:rPr lang="en-US" altLang="zh-CN" sz="4000" b="1" dirty="0">
                <a:solidFill>
                  <a:schemeClr val="tx2"/>
                </a:solidFill>
                <a:latin typeface="楷体_GB2312" pitchFamily="49" charset="-122"/>
                <a:ea typeface="楷体_GB2312" pitchFamily="49" charset="-122"/>
              </a:rPr>
              <a:t>2.10</a:t>
            </a:r>
            <a:r>
              <a:rPr lang="zh-CN" altLang="en-US" sz="4000" b="1" dirty="0">
                <a:solidFill>
                  <a:schemeClr val="tx2"/>
                </a:solidFill>
                <a:latin typeface="楷体_GB2312" pitchFamily="49" charset="-122"/>
                <a:ea typeface="楷体_GB2312" pitchFamily="49" charset="-122"/>
              </a:rPr>
              <a:t>：四位全加法器</a:t>
            </a:r>
            <a:endParaRPr lang="en-US" altLang="zh-CN" sz="40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99032066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49507" name="矩形 3"/>
          <p:cNvSpPr>
            <a:spLocks noChangeArrowheads="1"/>
          </p:cNvSpPr>
          <p:nvPr/>
        </p:nvSpPr>
        <p:spPr bwMode="auto">
          <a:xfrm>
            <a:off x="438944" y="2492896"/>
            <a:ext cx="8424936" cy="3046988"/>
          </a:xfrm>
          <a:prstGeom prst="rect">
            <a:avLst/>
          </a:prstGeom>
          <a:solidFill>
            <a:schemeClr val="accent1"/>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buFont typeface="Wingdings" pitchFamily="2" charset="2"/>
              <a:buNone/>
            </a:pPr>
            <a:r>
              <a:rPr lang="zh-CN" altLang="en-US" sz="3200" dirty="0">
                <a:solidFill>
                  <a:schemeClr val="tx2"/>
                </a:solidFill>
                <a:latin typeface="楷体_GB2312" pitchFamily="49" charset="-122"/>
                <a:ea typeface="楷体_GB2312" pitchFamily="49" charset="-122"/>
              </a:rPr>
              <a:t>    由</a:t>
            </a:r>
            <a:r>
              <a:rPr lang="en-US" altLang="zh-CN" sz="3200" dirty="0">
                <a:solidFill>
                  <a:schemeClr val="tx2"/>
                </a:solidFill>
                <a:latin typeface="楷体_GB2312" pitchFamily="49" charset="-122"/>
                <a:ea typeface="楷体_GB2312" pitchFamily="49" charset="-122"/>
              </a:rPr>
              <a:t>n</a:t>
            </a:r>
            <a:r>
              <a:rPr lang="zh-CN" altLang="en-US" sz="3200" dirty="0">
                <a:solidFill>
                  <a:schemeClr val="tx2"/>
                </a:solidFill>
                <a:latin typeface="楷体_GB2312" pitchFamily="49" charset="-122"/>
                <a:ea typeface="楷体_GB2312" pitchFamily="49" charset="-122"/>
              </a:rPr>
              <a:t>个全加器对两个加数（如</a:t>
            </a:r>
            <a:r>
              <a:rPr lang="en-US" altLang="zh-CN" sz="3200" dirty="0">
                <a:solidFill>
                  <a:schemeClr val="tx2"/>
                </a:solidFill>
                <a:latin typeface="楷体_GB2312" pitchFamily="49" charset="-122"/>
                <a:ea typeface="楷体_GB2312" pitchFamily="49" charset="-122"/>
              </a:rPr>
              <a:t>32</a:t>
            </a:r>
            <a:r>
              <a:rPr lang="zh-CN" altLang="en-US" sz="3200" dirty="0">
                <a:solidFill>
                  <a:schemeClr val="tx2"/>
                </a:solidFill>
                <a:latin typeface="楷体_GB2312" pitchFamily="49" charset="-122"/>
                <a:ea typeface="楷体_GB2312" pitchFamily="49" charset="-122"/>
              </a:rPr>
              <a:t>位的两个加数）的各个位分别进行运算，低位全加器的进位输出</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i-1</a:t>
            </a:r>
            <a:r>
              <a:rPr lang="zh-CN" altLang="en-US" sz="3200" dirty="0">
                <a:solidFill>
                  <a:schemeClr val="tx2"/>
                </a:solidFill>
                <a:latin typeface="楷体_GB2312" pitchFamily="49" charset="-122"/>
                <a:ea typeface="楷体_GB2312" pitchFamily="49" charset="-122"/>
              </a:rPr>
              <a:t>接相邻高位全加器的进位输入</a:t>
            </a:r>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。各位加法器只对本位的输入进行运算，高位的进位输入必须等待低位运算结束后逐级传输，所以</a:t>
            </a:r>
            <a:r>
              <a:rPr lang="zh-CN" altLang="en-US" sz="3200" dirty="0">
                <a:solidFill>
                  <a:srgbClr val="FF0000"/>
                </a:solidFill>
                <a:latin typeface="楷体_GB2312" pitchFamily="49" charset="-122"/>
                <a:ea typeface="楷体_GB2312" pitchFamily="49" charset="-122"/>
              </a:rPr>
              <a:t>运算速度受位数影响（并串皆如此）</a:t>
            </a:r>
            <a:r>
              <a:rPr lang="zh-CN" altLang="en-US" sz="3200" dirty="0">
                <a:solidFill>
                  <a:schemeClr val="tx2"/>
                </a:solidFill>
                <a:latin typeface="楷体_GB2312" pitchFamily="49" charset="-122"/>
                <a:ea typeface="楷体_GB2312" pitchFamily="49" charset="-122"/>
              </a:rPr>
              <a:t>。</a:t>
            </a:r>
          </a:p>
        </p:txBody>
      </p:sp>
      <p:sp>
        <p:nvSpPr>
          <p:cNvPr id="4" name="矩形 3"/>
          <p:cNvSpPr>
            <a:spLocks noChangeArrowheads="1"/>
          </p:cNvSpPr>
          <p:nvPr/>
        </p:nvSpPr>
        <p:spPr bwMode="auto">
          <a:xfrm>
            <a:off x="438944" y="1628800"/>
            <a:ext cx="8424936" cy="584775"/>
          </a:xfrm>
          <a:prstGeom prst="rect">
            <a:avLst/>
          </a:prstGeom>
          <a:solidFill>
            <a:schemeClr val="accent1"/>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buFont typeface="Wingdings" pitchFamily="2" charset="2"/>
              <a:buNone/>
            </a:pPr>
            <a:r>
              <a:rPr lang="zh-CN" altLang="en-US" sz="3200" dirty="0">
                <a:solidFill>
                  <a:schemeClr val="tx2"/>
                </a:solidFill>
                <a:latin typeface="楷体_GB2312" pitchFamily="49" charset="-122"/>
                <a:ea typeface="楷体_GB2312" pitchFamily="49" charset="-122"/>
              </a:rPr>
              <a:t>进位链产生的原因：逐级进位的低效性</a:t>
            </a:r>
          </a:p>
        </p:txBody>
      </p:sp>
    </p:spTree>
    <p:extLst>
      <p:ext uri="{BB962C8B-B14F-4D97-AF65-F5344CB8AC3E}">
        <p14:creationId xmlns:p14="http://schemas.microsoft.com/office/powerpoint/2010/main" val="307761662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grpSp>
        <p:nvGrpSpPr>
          <p:cNvPr id="3" name="组合 2"/>
          <p:cNvGrpSpPr/>
          <p:nvPr/>
        </p:nvGrpSpPr>
        <p:grpSpPr>
          <a:xfrm>
            <a:off x="152400" y="44624"/>
            <a:ext cx="8434388" cy="2543175"/>
            <a:chOff x="571500" y="2814638"/>
            <a:chExt cx="8434388" cy="2543175"/>
          </a:xfrm>
        </p:grpSpPr>
        <p:pic>
          <p:nvPicPr>
            <p:cNvPr id="147460" name="图片 4" descr="并行加法器.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0" y="2814638"/>
              <a:ext cx="8154988"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全加器-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57938" y="2814638"/>
              <a:ext cx="26479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矩形 1"/>
          <p:cNvSpPr>
            <a:spLocks noChangeArrowheads="1"/>
          </p:cNvSpPr>
          <p:nvPr/>
        </p:nvSpPr>
        <p:spPr bwMode="auto">
          <a:xfrm>
            <a:off x="1187624" y="2658703"/>
            <a:ext cx="7429500" cy="3506601"/>
          </a:xfrm>
          <a:prstGeom prst="rect">
            <a:avLst/>
          </a:prstGeom>
          <a:solidFill>
            <a:srgbClr val="66FF99"/>
          </a:solidFill>
          <a:ln>
            <a:noFill/>
          </a:ln>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S</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 </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zh-CN" altLang="en-US" sz="3200" dirty="0">
                <a:solidFill>
                  <a:schemeClr val="tx2"/>
                </a:solidFill>
                <a:latin typeface="楷体_GB2312" pitchFamily="49" charset="-122"/>
                <a:ea typeface="楷体_GB2312" pitchFamily="49" charset="-122"/>
              </a:rPr>
              <a:t>设：传递函数      </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楷体_GB2312" pitchFamily="49" charset="-122"/>
                <a:ea typeface="楷体_GB2312" pitchFamily="49" charset="-122"/>
              </a:rPr>
              <a:t>⊕B</a:t>
            </a:r>
            <a:r>
              <a:rPr lang="en-US" altLang="zh-CN" sz="3200" baseline="-25000" dirty="0" err="1">
                <a:solidFill>
                  <a:schemeClr val="tx2"/>
                </a:solidFill>
                <a:latin typeface="楷体_GB2312" pitchFamily="49" charset="-122"/>
                <a:ea typeface="楷体_GB2312" pitchFamily="49" charset="-122"/>
              </a:rPr>
              <a:t>i</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zh-CN" altLang="en-US" sz="3200" dirty="0">
                <a:solidFill>
                  <a:schemeClr val="tx2"/>
                </a:solidFill>
                <a:latin typeface="楷体_GB2312" pitchFamily="49" charset="-122"/>
                <a:ea typeface="楷体_GB2312" pitchFamily="49" charset="-122"/>
              </a:rPr>
              <a:t>    进位产生函数  </a:t>
            </a:r>
            <a:r>
              <a:rPr lang="en-US" altLang="zh-CN" sz="3200" dirty="0" err="1">
                <a:solidFill>
                  <a:schemeClr val="tx2"/>
                </a:solidFill>
                <a:latin typeface="楷体_GB2312" pitchFamily="49" charset="-122"/>
                <a:ea typeface="楷体_GB2312" pitchFamily="49" charset="-122"/>
              </a:rPr>
              <a:t>G</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楷体_GB2312" pitchFamily="49" charset="-122"/>
                <a:ea typeface="楷体_GB2312" pitchFamily="49" charset="-122"/>
              </a:rPr>
              <a:t>B</a:t>
            </a:r>
            <a:r>
              <a:rPr lang="en-US" altLang="zh-CN" sz="3200" baseline="-25000" dirty="0" err="1">
                <a:solidFill>
                  <a:schemeClr val="tx2"/>
                </a:solidFill>
                <a:latin typeface="楷体_GB2312" pitchFamily="49" charset="-122"/>
                <a:ea typeface="楷体_GB2312" pitchFamily="49" charset="-122"/>
              </a:rPr>
              <a:t>i</a:t>
            </a:r>
            <a:endParaRPr lang="en-US" altLang="zh-CN" sz="3200" baseline="-250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baseline="-25000" dirty="0">
              <a:solidFill>
                <a:schemeClr val="tx2"/>
              </a:solidFill>
              <a:latin typeface="楷体_GB2312" pitchFamily="49" charset="-122"/>
              <a:ea typeface="楷体_GB2312" pitchFamily="49" charset="-122"/>
            </a:endParaRPr>
          </a:p>
          <a:p>
            <a:pPr eaLnBrk="1" hangingPunct="1">
              <a:lnSpc>
                <a:spcPct val="80000"/>
              </a:lnSpc>
            </a:pPr>
            <a:r>
              <a:rPr lang="en-US" altLang="zh-CN" sz="3200" dirty="0">
                <a:solidFill>
                  <a:srgbClr val="006600"/>
                </a:solidFill>
                <a:latin typeface="楷体_GB2312" pitchFamily="49" charset="-122"/>
                <a:ea typeface="楷体_GB2312" pitchFamily="49" charset="-122"/>
              </a:rPr>
              <a:t>    </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是初始进位值，一般是</a:t>
            </a:r>
            <a:r>
              <a:rPr lang="en-US" altLang="zh-CN" sz="3200" dirty="0">
                <a:solidFill>
                  <a:schemeClr val="tx2"/>
                </a:solidFill>
                <a:latin typeface="楷体_GB2312" pitchFamily="49" charset="-122"/>
                <a:ea typeface="楷体_GB2312" pitchFamily="49" charset="-122"/>
              </a:rPr>
              <a:t>0</a:t>
            </a:r>
          </a:p>
        </p:txBody>
      </p:sp>
      <p:sp>
        <p:nvSpPr>
          <p:cNvPr id="9" name="TextBox 3"/>
          <p:cNvSpPr txBox="1">
            <a:spLocks noChangeArrowheads="1"/>
          </p:cNvSpPr>
          <p:nvPr/>
        </p:nvSpPr>
        <p:spPr bwMode="auto">
          <a:xfrm>
            <a:off x="323528" y="2731815"/>
            <a:ext cx="7556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同时进位</a:t>
            </a:r>
          </a:p>
        </p:txBody>
      </p:sp>
    </p:spTree>
    <p:extLst>
      <p:ext uri="{BB962C8B-B14F-4D97-AF65-F5344CB8AC3E}">
        <p14:creationId xmlns:p14="http://schemas.microsoft.com/office/powerpoint/2010/main" val="377707294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矩形 1"/>
          <p:cNvSpPr>
            <a:spLocks noChangeArrowheads="1"/>
          </p:cNvSpPr>
          <p:nvPr/>
        </p:nvSpPr>
        <p:spPr bwMode="auto">
          <a:xfrm>
            <a:off x="1765412" y="980728"/>
            <a:ext cx="6984776" cy="1668462"/>
          </a:xfrm>
          <a:prstGeom prst="rect">
            <a:avLst/>
          </a:prstGeom>
          <a:solidFill>
            <a:srgbClr val="66FF99"/>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a:t>
            </a:r>
            <a:r>
              <a:rPr lang="en-US" altLang="zh-CN" sz="3200" dirty="0">
                <a:solidFill>
                  <a:srgbClr val="00B0F0"/>
                </a:solidFill>
                <a:latin typeface="楷体_GB2312" pitchFamily="49" charset="-122"/>
                <a:ea typeface="楷体_GB2312" pitchFamily="49" charset="-122"/>
              </a:rPr>
              <a:t>P</a:t>
            </a:r>
            <a:r>
              <a:rPr lang="en-US" altLang="zh-CN" sz="3200" baseline="-25000" dirty="0">
                <a:solidFill>
                  <a:srgbClr val="00B0F0"/>
                </a:solidFill>
                <a:latin typeface="楷体_GB2312" pitchFamily="49" charset="-122"/>
                <a:ea typeface="楷体_GB2312" pitchFamily="49" charset="-122"/>
              </a:rPr>
              <a:t>i</a:t>
            </a:r>
            <a:r>
              <a:rPr lang="en-US" altLang="zh-CN" sz="3200" dirty="0">
                <a:solidFill>
                  <a:srgbClr val="00B0F0"/>
                </a:solidFill>
                <a:latin typeface="楷体_GB2312" pitchFamily="49" charset="-122"/>
                <a:ea typeface="楷体_GB2312" pitchFamily="49" charset="-122"/>
              </a:rPr>
              <a:t>=</a:t>
            </a:r>
            <a:r>
              <a:rPr lang="en-US" altLang="zh-CN" sz="3200" dirty="0" err="1">
                <a:solidFill>
                  <a:srgbClr val="00B0F0"/>
                </a:solidFill>
                <a:latin typeface="楷体_GB2312" pitchFamily="49" charset="-122"/>
                <a:ea typeface="楷体_GB2312" pitchFamily="49" charset="-122"/>
              </a:rPr>
              <a:t>A</a:t>
            </a:r>
            <a:r>
              <a:rPr lang="en-US" altLang="zh-CN" sz="3200" baseline="-25000" dirty="0" err="1">
                <a:solidFill>
                  <a:srgbClr val="00B0F0"/>
                </a:solidFill>
                <a:latin typeface="楷体_GB2312" pitchFamily="49" charset="-122"/>
                <a:ea typeface="楷体_GB2312" pitchFamily="49" charset="-122"/>
              </a:rPr>
              <a:t>i</a:t>
            </a:r>
            <a:r>
              <a:rPr lang="en-US" altLang="zh-CN" sz="3200" dirty="0" err="1">
                <a:solidFill>
                  <a:srgbClr val="00B0F0"/>
                </a:solidFill>
                <a:latin typeface="楷体_GB2312" pitchFamily="49" charset="-122"/>
                <a:ea typeface="楷体_GB2312" pitchFamily="49" charset="-122"/>
              </a:rPr>
              <a:t>⊕B</a:t>
            </a:r>
            <a:r>
              <a:rPr lang="en-US" altLang="zh-CN" sz="3200" baseline="-25000" dirty="0" err="1">
                <a:solidFill>
                  <a:srgbClr val="00B0F0"/>
                </a:solidFill>
                <a:latin typeface="楷体_GB2312" pitchFamily="49" charset="-122"/>
                <a:ea typeface="楷体_GB2312" pitchFamily="49" charset="-122"/>
              </a:rPr>
              <a:t>i</a:t>
            </a:r>
            <a:endParaRPr lang="en-US" altLang="zh-CN" sz="3200" dirty="0">
              <a:solidFill>
                <a:srgbClr val="00B0F0"/>
              </a:solidFill>
              <a:latin typeface="楷体_GB2312" pitchFamily="49" charset="-122"/>
              <a:ea typeface="楷体_GB2312" pitchFamily="49" charset="-122"/>
            </a:endParaRPr>
          </a:p>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zh-CN" altLang="en-US" sz="3200" dirty="0">
                <a:solidFill>
                  <a:schemeClr val="tx2"/>
                </a:solidFill>
                <a:latin typeface="楷体_GB2312" pitchFamily="49" charset="-122"/>
                <a:ea typeface="楷体_GB2312" pitchFamily="49" charset="-122"/>
              </a:rPr>
              <a:t>；</a:t>
            </a:r>
            <a:r>
              <a:rPr lang="en-US" altLang="zh-CN" sz="3200" dirty="0" err="1">
                <a:solidFill>
                  <a:srgbClr val="00B0F0"/>
                </a:solidFill>
                <a:latin typeface="楷体_GB2312" pitchFamily="49" charset="-122"/>
                <a:ea typeface="楷体_GB2312" pitchFamily="49" charset="-122"/>
              </a:rPr>
              <a:t>G</a:t>
            </a:r>
            <a:r>
              <a:rPr lang="en-US" altLang="zh-CN" sz="3200" baseline="-25000" dirty="0" err="1">
                <a:solidFill>
                  <a:srgbClr val="00B0F0"/>
                </a:solidFill>
                <a:latin typeface="楷体_GB2312" pitchFamily="49" charset="-122"/>
                <a:ea typeface="楷体_GB2312" pitchFamily="49" charset="-122"/>
              </a:rPr>
              <a:t>i</a:t>
            </a:r>
            <a:r>
              <a:rPr lang="en-US" altLang="zh-CN" sz="3200" dirty="0">
                <a:solidFill>
                  <a:srgbClr val="00B0F0"/>
                </a:solidFill>
                <a:latin typeface="楷体_GB2312" pitchFamily="49" charset="-122"/>
                <a:ea typeface="楷体_GB2312" pitchFamily="49" charset="-122"/>
              </a:rPr>
              <a:t>=</a:t>
            </a:r>
            <a:r>
              <a:rPr lang="en-US" altLang="zh-CN" sz="3200" dirty="0" err="1">
                <a:solidFill>
                  <a:srgbClr val="00B0F0"/>
                </a:solidFill>
                <a:latin typeface="楷体_GB2312" pitchFamily="49" charset="-122"/>
                <a:ea typeface="楷体_GB2312" pitchFamily="49" charset="-122"/>
              </a:rPr>
              <a:t>A</a:t>
            </a:r>
            <a:r>
              <a:rPr lang="en-US" altLang="zh-CN" sz="3200" baseline="-25000" dirty="0" err="1">
                <a:solidFill>
                  <a:srgbClr val="00B0F0"/>
                </a:solidFill>
                <a:latin typeface="楷体_GB2312" pitchFamily="49" charset="-122"/>
                <a:ea typeface="楷体_GB2312" pitchFamily="49" charset="-122"/>
              </a:rPr>
              <a:t>i</a:t>
            </a:r>
            <a:r>
              <a:rPr lang="en-US" altLang="zh-CN" sz="3200" dirty="0" err="1">
                <a:solidFill>
                  <a:srgbClr val="00B0F0"/>
                </a:solidFill>
                <a:latin typeface="楷体_GB2312" pitchFamily="49" charset="-122"/>
                <a:ea typeface="楷体_GB2312" pitchFamily="49" charset="-122"/>
              </a:rPr>
              <a:t>B</a:t>
            </a:r>
            <a:r>
              <a:rPr lang="en-US" altLang="zh-CN" sz="3200" baseline="-25000" dirty="0" err="1">
                <a:solidFill>
                  <a:srgbClr val="00B0F0"/>
                </a:solidFill>
                <a:latin typeface="楷体_GB2312" pitchFamily="49" charset="-122"/>
                <a:ea typeface="楷体_GB2312" pitchFamily="49" charset="-122"/>
              </a:rPr>
              <a:t>i</a:t>
            </a:r>
            <a:endParaRPr lang="en-US" altLang="zh-CN" sz="3200" dirty="0">
              <a:solidFill>
                <a:srgbClr val="00B0F0"/>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rgbClr val="006600"/>
                </a:solidFill>
                <a:latin typeface="楷体_GB2312" pitchFamily="49" charset="-122"/>
                <a:ea typeface="楷体_GB2312" pitchFamily="49" charset="-122"/>
              </a:rPr>
              <a:t>                                 </a:t>
            </a:r>
            <a:endParaRPr lang="en-US" altLang="zh-CN" sz="3200" dirty="0">
              <a:solidFill>
                <a:srgbClr val="422BEF"/>
              </a:solidFill>
              <a:latin typeface="楷体_GB2312" pitchFamily="49" charset="-122"/>
              <a:ea typeface="楷体_GB2312" pitchFamily="49" charset="-122"/>
            </a:endParaRP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5" name="TextBox 4"/>
          <p:cNvSpPr txBox="1">
            <a:spLocks noChangeArrowheads="1"/>
          </p:cNvSpPr>
          <p:nvPr/>
        </p:nvSpPr>
        <p:spPr bwMode="auto">
          <a:xfrm>
            <a:off x="3347864" y="4437112"/>
            <a:ext cx="3168352" cy="1668463"/>
          </a:xfrm>
          <a:prstGeom prst="rect">
            <a:avLst/>
          </a:prstGeom>
          <a:solidFill>
            <a:srgbClr val="FFFF00"/>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m</a:t>
            </a:r>
          </a:p>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endParaRPr lang="zh-CN" altLang="en-US" dirty="0"/>
          </a:p>
        </p:txBody>
      </p:sp>
      <p:sp>
        <p:nvSpPr>
          <p:cNvPr id="2" name="下箭头 1"/>
          <p:cNvSpPr/>
          <p:nvPr/>
        </p:nvSpPr>
        <p:spPr bwMode="auto">
          <a:xfrm>
            <a:off x="3419872" y="3573016"/>
            <a:ext cx="576064" cy="576064"/>
          </a:xfrm>
          <a:prstGeom prst="downArrow">
            <a:avLst/>
          </a:prstGeom>
          <a:no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4" name="下箭头 3"/>
          <p:cNvSpPr/>
          <p:nvPr/>
        </p:nvSpPr>
        <p:spPr bwMode="auto">
          <a:xfrm>
            <a:off x="4255144" y="2780928"/>
            <a:ext cx="1060696" cy="1728192"/>
          </a:xfrm>
          <a:prstGeom prst="downArrow">
            <a:avLst/>
          </a:prstGeom>
          <a:solidFill>
            <a:srgbClr val="00B0F0"/>
          </a:solidFill>
          <a:ln w="9525"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66FF"/>
              </a:solidFill>
              <a:effectLst/>
              <a:latin typeface="Arial" charset="0"/>
              <a:ea typeface="华文新魏" pitchFamily="2" charset="-122"/>
            </a:endParaRPr>
          </a:p>
        </p:txBody>
      </p:sp>
      <p:sp>
        <p:nvSpPr>
          <p:cNvPr id="7" name="TextBox 3"/>
          <p:cNvSpPr txBox="1">
            <a:spLocks noChangeArrowheads="1"/>
          </p:cNvSpPr>
          <p:nvPr/>
        </p:nvSpPr>
        <p:spPr bwMode="auto">
          <a:xfrm>
            <a:off x="438064" y="2985626"/>
            <a:ext cx="1368152" cy="3046988"/>
          </a:xfrm>
          <a:prstGeom prst="rect">
            <a:avLst/>
          </a:prstGeom>
          <a:solidFill>
            <a:srgbClr val="FF0000"/>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zh-CN" altLang="en-US" sz="3200" dirty="0">
                <a:solidFill>
                  <a:schemeClr val="tx2"/>
                </a:solidFill>
                <a:latin typeface="楷体_GB2312" pitchFamily="49" charset="-122"/>
                <a:ea typeface="楷体_GB2312" pitchFamily="49" charset="-122"/>
              </a:rPr>
              <a:t>计算每级加法器的进位值</a:t>
            </a:r>
            <a:r>
              <a:rPr lang="en-US" altLang="zh-CN" sz="3200" dirty="0" err="1">
                <a:solidFill>
                  <a:schemeClr val="tx2"/>
                </a:solidFill>
                <a:latin typeface="楷体_GB2312" pitchFamily="49" charset="-122"/>
                <a:ea typeface="楷体_GB2312" pitchFamily="49" charset="-122"/>
              </a:rPr>
              <a:t>Ci</a:t>
            </a:r>
            <a:endParaRPr lang="zh-CN" altLang="en-US" sz="32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6060343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down)">
                                      <p:cBhvr>
                                        <p:cTn id="10" dur="500"/>
                                        <p:tgtEl>
                                          <p:spTgt spid="5">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wipe(down)">
                                      <p:cBhvr>
                                        <p:cTn id="16" dur="500"/>
                                        <p:tgtEl>
                                          <p:spTgt spid="5">
                                            <p:txEl>
                                              <p:pRg st="2" end="2"/>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down)">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矩形 1"/>
          <p:cNvSpPr>
            <a:spLocks noChangeArrowheads="1"/>
          </p:cNvSpPr>
          <p:nvPr/>
        </p:nvSpPr>
        <p:spPr bwMode="auto">
          <a:xfrm>
            <a:off x="683568" y="762000"/>
            <a:ext cx="7429500" cy="1668462"/>
          </a:xfrm>
          <a:prstGeom prst="rect">
            <a:avLst/>
          </a:prstGeom>
          <a:solidFill>
            <a:srgbClr val="FFFF00"/>
          </a:solidFill>
          <a:ln>
            <a:noFill/>
          </a:ln>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0</a:t>
            </a:r>
            <a:r>
              <a:rPr lang="en-US" altLang="zh-CN" sz="3200" dirty="0">
                <a:solidFill>
                  <a:srgbClr val="00B0F0"/>
                </a:solidFill>
                <a:latin typeface="楷体_GB2312" pitchFamily="49" charset="-122"/>
                <a:ea typeface="楷体_GB2312" pitchFamily="49" charset="-122"/>
              </a:rPr>
              <a:t>=G</a:t>
            </a:r>
            <a:r>
              <a:rPr lang="en-US" altLang="zh-CN" sz="3200" baseline="-25000" dirty="0">
                <a:solidFill>
                  <a:srgbClr val="00B0F0"/>
                </a:solidFill>
                <a:latin typeface="楷体_GB2312" pitchFamily="49" charset="-122"/>
                <a:ea typeface="楷体_GB2312" pitchFamily="49" charset="-122"/>
              </a:rPr>
              <a:t>0</a:t>
            </a:r>
            <a:r>
              <a:rPr lang="en-US" altLang="zh-CN" sz="3200" dirty="0">
                <a:solidFill>
                  <a:srgbClr val="00B0F0"/>
                </a:solidFill>
                <a:latin typeface="楷体_GB2312" pitchFamily="49" charset="-122"/>
                <a:ea typeface="楷体_GB2312" pitchFamily="49" charset="-122"/>
              </a:rPr>
              <a:t>+P</a:t>
            </a:r>
            <a:r>
              <a:rPr lang="en-US" altLang="zh-CN" sz="3200" baseline="-25000" dirty="0">
                <a:solidFill>
                  <a:srgbClr val="00B0F0"/>
                </a:solidFill>
                <a:latin typeface="楷体_GB2312" pitchFamily="49" charset="-122"/>
                <a:ea typeface="楷体_GB2312" pitchFamily="49" charset="-122"/>
              </a:rPr>
              <a:t>0</a:t>
            </a: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m</a:t>
            </a:r>
          </a:p>
          <a:p>
            <a:pPr algn="l" eaLnBrk="1" hangingPunct="1">
              <a:lnSpc>
                <a:spcPct val="80000"/>
              </a:lnSpc>
            </a:pP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1</a:t>
            </a:r>
            <a:r>
              <a:rPr lang="en-US" altLang="zh-CN" sz="3200" dirty="0">
                <a:solidFill>
                  <a:srgbClr val="00B0F0"/>
                </a:solidFill>
                <a:latin typeface="楷体_GB2312" pitchFamily="49" charset="-122"/>
                <a:ea typeface="楷体_GB2312" pitchFamily="49" charset="-122"/>
              </a:rPr>
              <a:t>=G</a:t>
            </a:r>
            <a:r>
              <a:rPr lang="en-US" altLang="zh-CN" sz="3200" baseline="-25000" dirty="0">
                <a:solidFill>
                  <a:srgbClr val="00B0F0"/>
                </a:solidFill>
                <a:latin typeface="楷体_GB2312" pitchFamily="49" charset="-122"/>
                <a:ea typeface="楷体_GB2312" pitchFamily="49" charset="-122"/>
              </a:rPr>
              <a:t>1</a:t>
            </a:r>
            <a:r>
              <a:rPr lang="en-US" altLang="zh-CN" sz="3200" dirty="0">
                <a:solidFill>
                  <a:srgbClr val="00B0F0"/>
                </a:solidFill>
                <a:latin typeface="楷体_GB2312" pitchFamily="49" charset="-122"/>
                <a:ea typeface="楷体_GB2312" pitchFamily="49" charset="-122"/>
              </a:rPr>
              <a:t>+P</a:t>
            </a:r>
            <a:r>
              <a:rPr lang="en-US" altLang="zh-CN" sz="3200" baseline="-25000" dirty="0">
                <a:solidFill>
                  <a:srgbClr val="00B0F0"/>
                </a:solidFill>
                <a:latin typeface="楷体_GB2312" pitchFamily="49" charset="-122"/>
                <a:ea typeface="楷体_GB2312" pitchFamily="49" charset="-122"/>
              </a:rPr>
              <a:t>1</a:t>
            </a: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0</a:t>
            </a:r>
            <a:endParaRPr lang="en-US" altLang="zh-CN" sz="3200" dirty="0">
              <a:solidFill>
                <a:srgbClr val="00B0F0"/>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2</a:t>
            </a:r>
            <a:r>
              <a:rPr lang="en-US" altLang="zh-CN" sz="3200" dirty="0">
                <a:solidFill>
                  <a:srgbClr val="00B0F0"/>
                </a:solidFill>
                <a:latin typeface="楷体_GB2312" pitchFamily="49" charset="-122"/>
                <a:ea typeface="楷体_GB2312" pitchFamily="49" charset="-122"/>
              </a:rPr>
              <a:t>=G</a:t>
            </a:r>
            <a:r>
              <a:rPr lang="en-US" altLang="zh-CN" sz="3200" baseline="-25000" dirty="0">
                <a:solidFill>
                  <a:srgbClr val="00B0F0"/>
                </a:solidFill>
                <a:latin typeface="楷体_GB2312" pitchFamily="49" charset="-122"/>
                <a:ea typeface="楷体_GB2312" pitchFamily="49" charset="-122"/>
              </a:rPr>
              <a:t>2</a:t>
            </a:r>
            <a:r>
              <a:rPr lang="en-US" altLang="zh-CN" sz="3200" dirty="0">
                <a:solidFill>
                  <a:srgbClr val="00B0F0"/>
                </a:solidFill>
                <a:latin typeface="楷体_GB2312" pitchFamily="49" charset="-122"/>
                <a:ea typeface="楷体_GB2312" pitchFamily="49" charset="-122"/>
              </a:rPr>
              <a:t>+P</a:t>
            </a:r>
            <a:r>
              <a:rPr lang="en-US" altLang="zh-CN" sz="3200" baseline="-25000" dirty="0">
                <a:solidFill>
                  <a:srgbClr val="00B0F0"/>
                </a:solidFill>
                <a:latin typeface="楷体_GB2312" pitchFamily="49" charset="-122"/>
                <a:ea typeface="楷体_GB2312" pitchFamily="49" charset="-122"/>
              </a:rPr>
              <a:t>2</a:t>
            </a: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1</a:t>
            </a:r>
            <a:endParaRPr lang="en-US" altLang="zh-CN" sz="3200" dirty="0">
              <a:solidFill>
                <a:srgbClr val="00B0F0"/>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3</a:t>
            </a:r>
            <a:r>
              <a:rPr lang="en-US" altLang="zh-CN" sz="3200" dirty="0">
                <a:solidFill>
                  <a:srgbClr val="00B0F0"/>
                </a:solidFill>
                <a:latin typeface="楷体_GB2312" pitchFamily="49" charset="-122"/>
                <a:ea typeface="楷体_GB2312" pitchFamily="49" charset="-122"/>
              </a:rPr>
              <a:t>=G</a:t>
            </a:r>
            <a:r>
              <a:rPr lang="en-US" altLang="zh-CN" sz="3200" baseline="-25000" dirty="0">
                <a:solidFill>
                  <a:srgbClr val="00B0F0"/>
                </a:solidFill>
                <a:latin typeface="楷体_GB2312" pitchFamily="49" charset="-122"/>
                <a:ea typeface="楷体_GB2312" pitchFamily="49" charset="-122"/>
              </a:rPr>
              <a:t>3</a:t>
            </a:r>
            <a:r>
              <a:rPr lang="en-US" altLang="zh-CN" sz="3200" dirty="0">
                <a:solidFill>
                  <a:srgbClr val="00B0F0"/>
                </a:solidFill>
                <a:latin typeface="楷体_GB2312" pitchFamily="49" charset="-122"/>
                <a:ea typeface="楷体_GB2312" pitchFamily="49" charset="-122"/>
              </a:rPr>
              <a:t>+P</a:t>
            </a:r>
            <a:r>
              <a:rPr lang="en-US" altLang="zh-CN" sz="3200" baseline="-25000" dirty="0">
                <a:solidFill>
                  <a:srgbClr val="00B0F0"/>
                </a:solidFill>
                <a:latin typeface="楷体_GB2312" pitchFamily="49" charset="-122"/>
                <a:ea typeface="楷体_GB2312" pitchFamily="49" charset="-122"/>
              </a:rPr>
              <a:t>3</a:t>
            </a:r>
            <a:r>
              <a:rPr lang="en-US" altLang="zh-CN" sz="3200" dirty="0">
                <a:solidFill>
                  <a:srgbClr val="00B0F0"/>
                </a:solidFill>
                <a:latin typeface="楷体_GB2312" pitchFamily="49" charset="-122"/>
                <a:ea typeface="楷体_GB2312" pitchFamily="49" charset="-122"/>
              </a:rPr>
              <a:t>C</a:t>
            </a:r>
            <a:r>
              <a:rPr lang="en-US" altLang="zh-CN" sz="3200" baseline="-25000" dirty="0">
                <a:solidFill>
                  <a:srgbClr val="00B0F0"/>
                </a:solidFill>
                <a:latin typeface="楷体_GB2312" pitchFamily="49" charset="-122"/>
                <a:ea typeface="楷体_GB2312" pitchFamily="49" charset="-122"/>
              </a:rPr>
              <a:t>2  </a:t>
            </a:r>
            <a:r>
              <a:rPr lang="zh-CN" altLang="en-US" sz="3200" dirty="0">
                <a:solidFill>
                  <a:schemeClr val="tx2"/>
                </a:solidFill>
                <a:latin typeface="楷体_GB2312" pitchFamily="49" charset="-122"/>
                <a:ea typeface="楷体_GB2312" pitchFamily="49" charset="-122"/>
              </a:rPr>
              <a:t>逐级将</a:t>
            </a:r>
            <a:r>
              <a:rPr lang="en-US" altLang="zh-CN" sz="3200" dirty="0">
                <a:solidFill>
                  <a:schemeClr val="tx2"/>
                </a:solidFill>
                <a:latin typeface="楷体_GB2312" pitchFamily="49" charset="-122"/>
                <a:ea typeface="楷体_GB2312" pitchFamily="49" charset="-122"/>
              </a:rPr>
              <a:t>Ci-1</a:t>
            </a:r>
            <a:r>
              <a:rPr lang="zh-CN" altLang="en-US" sz="3200" dirty="0">
                <a:solidFill>
                  <a:schemeClr val="tx2"/>
                </a:solidFill>
                <a:latin typeface="楷体_GB2312" pitchFamily="49" charset="-122"/>
                <a:ea typeface="楷体_GB2312" pitchFamily="49" charset="-122"/>
              </a:rPr>
              <a:t>代入</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a:t>
            </a:r>
          </a:p>
        </p:txBody>
      </p:sp>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5" name="TextBox 4"/>
          <p:cNvSpPr txBox="1">
            <a:spLocks noChangeArrowheads="1"/>
          </p:cNvSpPr>
          <p:nvPr/>
        </p:nvSpPr>
        <p:spPr bwMode="auto">
          <a:xfrm>
            <a:off x="67767" y="2708920"/>
            <a:ext cx="8968729" cy="3243965"/>
          </a:xfrm>
          <a:prstGeom prst="rect">
            <a:avLst/>
          </a:prstGeom>
          <a:solidFill>
            <a:srgbClr val="FFFF66"/>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  </a:t>
            </a:r>
            <a:r>
              <a:rPr lang="en-US" altLang="zh-CN" sz="3200" dirty="0">
                <a:solidFill>
                  <a:srgbClr val="66FF99"/>
                </a:solidFill>
                <a:latin typeface="楷体_GB2312" pitchFamily="49" charset="-122"/>
                <a:ea typeface="楷体_GB2312" pitchFamily="49" charset="-122"/>
              </a:rPr>
              <a:t>C</a:t>
            </a:r>
            <a:r>
              <a:rPr lang="en-US" altLang="zh-CN" sz="3200" baseline="-25000" dirty="0">
                <a:solidFill>
                  <a:srgbClr val="66FF99"/>
                </a:solidFill>
                <a:latin typeface="楷体_GB2312" pitchFamily="49" charset="-122"/>
                <a:ea typeface="楷体_GB2312" pitchFamily="49" charset="-122"/>
              </a:rPr>
              <a:t>m</a:t>
            </a:r>
          </a:p>
          <a:p>
            <a:pPr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zh-CN" altLang="en-US"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 </a:t>
            </a:r>
            <a:r>
              <a:rPr lang="en-US" altLang="zh-CN" sz="3200" dirty="0">
                <a:solidFill>
                  <a:srgbClr val="66FF99"/>
                </a:solidFill>
                <a:latin typeface="楷体_GB2312" pitchFamily="49" charset="-122"/>
                <a:ea typeface="楷体_GB2312" pitchFamily="49" charset="-122"/>
              </a:rPr>
              <a:t>C</a:t>
            </a:r>
            <a:r>
              <a:rPr lang="en-US" altLang="zh-CN" sz="3200" baseline="-25000" dirty="0">
                <a:solidFill>
                  <a:srgbClr val="66FF99"/>
                </a:solidFill>
                <a:latin typeface="楷体_GB2312" pitchFamily="49" charset="-122"/>
                <a:ea typeface="楷体_GB2312" pitchFamily="49" charset="-122"/>
              </a:rPr>
              <a:t>m</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eaLnBrk="1" hangingPunct="1">
              <a:lnSpc>
                <a:spcPct val="80000"/>
              </a:lnSpc>
            </a:pP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 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66FF99"/>
                </a:solidFill>
                <a:latin typeface="楷体_GB2312" pitchFamily="49" charset="-122"/>
                <a:ea typeface="楷体_GB2312" pitchFamily="49" charset="-122"/>
              </a:rPr>
              <a:t>C</a:t>
            </a:r>
            <a:r>
              <a:rPr lang="en-US" altLang="zh-CN" sz="3200" baseline="-25000" dirty="0">
                <a:solidFill>
                  <a:srgbClr val="66FF99"/>
                </a:solidFill>
                <a:latin typeface="楷体_GB2312" pitchFamily="49" charset="-122"/>
                <a:ea typeface="楷体_GB2312" pitchFamily="49" charset="-122"/>
              </a:rPr>
              <a:t>m</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 =G</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G</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2</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1</a:t>
            </a:r>
            <a:r>
              <a:rPr lang="en-US" altLang="zh-CN" sz="3200" dirty="0">
                <a:solidFill>
                  <a:srgbClr val="FF0000"/>
                </a:solidFill>
                <a:latin typeface="楷体_GB2312" pitchFamily="49" charset="-122"/>
                <a:ea typeface="楷体_GB2312" pitchFamily="49" charset="-122"/>
              </a:rPr>
              <a:t>P</a:t>
            </a:r>
            <a:r>
              <a:rPr lang="en-US" altLang="zh-CN" sz="3200" baseline="-25000" dirty="0">
                <a:solidFill>
                  <a:srgbClr val="FF0000"/>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eaLnBrk="1" hangingPunct="1">
              <a:lnSpc>
                <a:spcPct val="80000"/>
              </a:lnSpc>
            </a:pPr>
            <a:r>
              <a:rPr lang="zh-CN" altLang="en-US" sz="3200" dirty="0">
                <a:solidFill>
                  <a:schemeClr val="tx2"/>
                </a:solidFill>
                <a:latin typeface="楷体_GB2312" pitchFamily="49" charset="-122"/>
                <a:ea typeface="楷体_GB2312" pitchFamily="49" charset="-122"/>
              </a:rPr>
              <a:t>  </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66FF99"/>
                </a:solidFill>
                <a:latin typeface="楷体_GB2312" pitchFamily="49" charset="-122"/>
                <a:ea typeface="楷体_GB2312" pitchFamily="49" charset="-122"/>
              </a:rPr>
              <a:t>C</a:t>
            </a:r>
            <a:r>
              <a:rPr lang="en-US" altLang="zh-CN" sz="3200" baseline="-25000" dirty="0">
                <a:solidFill>
                  <a:srgbClr val="66FF99"/>
                </a:solidFill>
                <a:latin typeface="楷体_GB2312" pitchFamily="49" charset="-122"/>
                <a:ea typeface="楷体_GB2312" pitchFamily="49" charset="-122"/>
              </a:rPr>
              <a:t>m </a:t>
            </a:r>
            <a:endParaRPr lang="zh-CN" altLang="en-US" dirty="0"/>
          </a:p>
        </p:txBody>
      </p:sp>
    </p:spTree>
    <p:extLst>
      <p:ext uri="{BB962C8B-B14F-4D97-AF65-F5344CB8AC3E}">
        <p14:creationId xmlns:p14="http://schemas.microsoft.com/office/powerpoint/2010/main" val="991368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down)">
                                      <p:cBhvr>
                                        <p:cTn id="10" dur="500"/>
                                        <p:tgtEl>
                                          <p:spTgt spid="5">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wipe(down)">
                                      <p:cBhvr>
                                        <p:cTn id="16" dur="500"/>
                                        <p:tgtEl>
                                          <p:spTgt spid="5">
                                            <p:txEl>
                                              <p:pRg st="2" end="2"/>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down)">
                                      <p:cBhvr>
                                        <p:cTn id="19" dur="500"/>
                                        <p:tgtEl>
                                          <p:spTgt spid="5">
                                            <p:txEl>
                                              <p:pRg st="3" end="3"/>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down)">
                                      <p:cBhvr>
                                        <p:cTn id="22" dur="500"/>
                                        <p:tgtEl>
                                          <p:spTgt spid="5">
                                            <p:txEl>
                                              <p:pRg st="4" end="4"/>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wipe(down)">
                                      <p:cBhvr>
                                        <p:cTn id="25"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3603" name="TextBox 4"/>
          <p:cNvSpPr txBox="1">
            <a:spLocks noChangeArrowheads="1"/>
          </p:cNvSpPr>
          <p:nvPr/>
        </p:nvSpPr>
        <p:spPr bwMode="auto">
          <a:xfrm>
            <a:off x="745752" y="1529960"/>
            <a:ext cx="7786688" cy="2653034"/>
          </a:xfrm>
          <a:prstGeom prst="rect">
            <a:avLst/>
          </a:prstGeom>
          <a:solidFill>
            <a:srgbClr val="FFFF66"/>
          </a:solidFill>
          <a:ln>
            <a:noFill/>
          </a:ln>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zh-CN" altLang="en-US" sz="3200" dirty="0">
                <a:solidFill>
                  <a:schemeClr val="tx2"/>
                </a:solidFill>
                <a:latin typeface="楷体_GB2312" pitchFamily="49" charset="-122"/>
                <a:ea typeface="楷体_GB2312" pitchFamily="49" charset="-122"/>
              </a:rPr>
              <a:t>最后得到每一级的进位值</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为：</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p>
          <a:p>
            <a:pPr algn="l" eaLnBrk="1" hangingPunct="1">
              <a:lnSpc>
                <a:spcPct val="80000"/>
              </a:lnSpc>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G</a:t>
            </a:r>
            <a:r>
              <a:rPr lang="en-US" altLang="zh-CN" sz="3200" baseline="-25000" dirty="0">
                <a:solidFill>
                  <a:schemeClr val="tx2"/>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0</a:t>
            </a:r>
            <a:r>
              <a:rPr lang="en-US" altLang="zh-CN" sz="3200" dirty="0">
                <a:solidFill>
                  <a:srgbClr val="FF0000"/>
                </a:solidFill>
                <a:latin typeface="楷体_GB2312" pitchFamily="49" charset="-122"/>
                <a:ea typeface="楷体_GB2312" pitchFamily="49" charset="-122"/>
              </a:rPr>
              <a:t>C</a:t>
            </a:r>
            <a:r>
              <a:rPr lang="en-US" altLang="zh-CN" sz="3200" baseline="-25000" dirty="0">
                <a:solidFill>
                  <a:srgbClr val="FF0000"/>
                </a:solidFill>
                <a:latin typeface="楷体_GB2312" pitchFamily="49" charset="-122"/>
                <a:ea typeface="楷体_GB2312" pitchFamily="49" charset="-122"/>
              </a:rPr>
              <a:t>m</a:t>
            </a:r>
            <a:endParaRPr lang="en-US" altLang="zh-CN" sz="3200" baseline="-250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zh-CN" altLang="en-US" dirty="0"/>
          </a:p>
        </p:txBody>
      </p:sp>
      <p:sp>
        <p:nvSpPr>
          <p:cNvPr id="4" name="TextBox 4"/>
          <p:cNvSpPr txBox="1">
            <a:spLocks noChangeArrowheads="1"/>
          </p:cNvSpPr>
          <p:nvPr/>
        </p:nvSpPr>
        <p:spPr bwMode="auto">
          <a:xfrm>
            <a:off x="107504" y="4137115"/>
            <a:ext cx="8884096" cy="1668149"/>
          </a:xfrm>
          <a:prstGeom prst="rect">
            <a:avLst/>
          </a:prstGeom>
          <a:solidFill>
            <a:srgbClr val="66FF99"/>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zh-CN" altLang="en-US" sz="3200" dirty="0">
                <a:solidFill>
                  <a:schemeClr val="tx2"/>
                </a:solidFill>
                <a:latin typeface="楷体_GB2312" pitchFamily="49" charset="-122"/>
                <a:ea typeface="楷体_GB2312" pitchFamily="49" charset="-122"/>
              </a:rPr>
              <a:t>可见</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仅与</a:t>
            </a:r>
            <a:r>
              <a:rPr lang="en-US" altLang="zh-CN" sz="3200" dirty="0">
                <a:solidFill>
                  <a:schemeClr val="tx2"/>
                </a:solidFill>
                <a:latin typeface="楷体_GB2312" pitchFamily="49" charset="-122"/>
                <a:ea typeface="楷体_GB2312" pitchFamily="49" charset="-122"/>
              </a:rPr>
              <a:t>Pi</a:t>
            </a:r>
            <a:r>
              <a:rPr lang="zh-CN" altLang="en-US" sz="3200" dirty="0">
                <a:solidFill>
                  <a:schemeClr val="tx2"/>
                </a:solidFill>
                <a:latin typeface="楷体_GB2312" pitchFamily="49" charset="-122"/>
                <a:ea typeface="楷体_GB2312" pitchFamily="49" charset="-122"/>
              </a:rPr>
              <a:t>和</a:t>
            </a:r>
            <a:r>
              <a:rPr lang="en-US" altLang="zh-CN" sz="3200" dirty="0" err="1">
                <a:solidFill>
                  <a:schemeClr val="tx2"/>
                </a:solidFill>
                <a:latin typeface="楷体_GB2312" pitchFamily="49" charset="-122"/>
                <a:ea typeface="楷体_GB2312" pitchFamily="49" charset="-122"/>
              </a:rPr>
              <a:t>Gi</a:t>
            </a:r>
            <a:r>
              <a:rPr lang="zh-CN" altLang="en-US" sz="3200" dirty="0">
                <a:solidFill>
                  <a:schemeClr val="tx2"/>
                </a:solidFill>
                <a:latin typeface="楷体_GB2312" pitchFamily="49" charset="-122"/>
                <a:ea typeface="楷体_GB2312" pitchFamily="49" charset="-122"/>
              </a:rPr>
              <a:t>相关，也与</a:t>
            </a:r>
            <a:r>
              <a:rPr lang="en-US" altLang="zh-CN" sz="3200" dirty="0">
                <a:solidFill>
                  <a:schemeClr val="tx2"/>
                </a:solidFill>
                <a:latin typeface="楷体_GB2312" pitchFamily="49" charset="-122"/>
                <a:ea typeface="楷体_GB2312" pitchFamily="49" charset="-122"/>
              </a:rPr>
              <a:t>Cm</a:t>
            </a:r>
            <a:r>
              <a:rPr lang="zh-CN" altLang="en-US" sz="3200" dirty="0">
                <a:solidFill>
                  <a:schemeClr val="tx2"/>
                </a:solidFill>
                <a:latin typeface="楷体_GB2312" pitchFamily="49" charset="-122"/>
                <a:ea typeface="楷体_GB2312" pitchFamily="49" charset="-122"/>
              </a:rPr>
              <a:t>相关</a:t>
            </a:r>
            <a:r>
              <a:rPr lang="en-US" altLang="zh-CN" sz="3200" dirty="0">
                <a:solidFill>
                  <a:schemeClr val="tx2"/>
                </a:solidFill>
                <a:latin typeface="楷体_GB2312" pitchFamily="49" charset="-122"/>
                <a:ea typeface="楷体_GB2312" pitchFamily="49" charset="-122"/>
              </a:rPr>
              <a:t>(Cm</a:t>
            </a:r>
            <a:r>
              <a:rPr lang="zh-CN" altLang="en-US" sz="3200" dirty="0">
                <a:solidFill>
                  <a:schemeClr val="tx2"/>
                </a:solidFill>
                <a:latin typeface="楷体_GB2312" pitchFamily="49" charset="-122"/>
                <a:ea typeface="楷体_GB2312" pitchFamily="49" charset="-122"/>
              </a:rPr>
              <a:t>是初始进位值，是已知的</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而</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和</a:t>
            </a:r>
            <a:r>
              <a:rPr lang="en-US" altLang="zh-CN" sz="3200" dirty="0" err="1">
                <a:solidFill>
                  <a:schemeClr val="tx2"/>
                </a:solidFill>
                <a:latin typeface="楷体_GB2312" pitchFamily="49" charset="-122"/>
                <a:ea typeface="楷体_GB2312" pitchFamily="49" charset="-122"/>
              </a:rPr>
              <a:t>G</a:t>
            </a:r>
            <a:r>
              <a:rPr lang="en-US" altLang="zh-CN" sz="3200" baseline="-25000" dirty="0" err="1">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的定义为</a:t>
            </a:r>
            <a:r>
              <a:rPr lang="en-US" altLang="zh-CN" sz="3200" dirty="0">
                <a:solidFill>
                  <a:schemeClr val="tx2"/>
                </a:solidFill>
                <a:latin typeface="楷体_GB2312" pitchFamily="49" charset="-122"/>
                <a:ea typeface="楷体_GB2312" pitchFamily="49" charset="-122"/>
              </a:rPr>
              <a:t>P</a:t>
            </a:r>
            <a:r>
              <a:rPr lang="en-US" altLang="zh-CN" sz="3200" baseline="-25000" dirty="0">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楷体_GB2312" pitchFamily="49" charset="-122"/>
                <a:ea typeface="楷体_GB2312" pitchFamily="49" charset="-122"/>
              </a:rPr>
              <a:t>⊕B</a:t>
            </a:r>
            <a:r>
              <a:rPr lang="en-US" altLang="zh-CN" sz="3200" baseline="-25000" dirty="0" err="1">
                <a:solidFill>
                  <a:schemeClr val="tx2"/>
                </a:solidFill>
                <a:latin typeface="楷体_GB2312" pitchFamily="49" charset="-122"/>
                <a:ea typeface="楷体_GB2312" pitchFamily="49" charset="-122"/>
              </a:rPr>
              <a:t>i</a:t>
            </a:r>
            <a:endParaRPr lang="en-US" altLang="zh-CN" sz="3200" dirty="0">
              <a:solidFill>
                <a:schemeClr val="tx2"/>
              </a:solidFill>
              <a:latin typeface="楷体_GB2312" pitchFamily="49" charset="-122"/>
              <a:ea typeface="楷体_GB2312" pitchFamily="49" charset="-122"/>
            </a:endParaRPr>
          </a:p>
          <a:p>
            <a:pPr eaLnBrk="1" hangingPunct="1">
              <a:lnSpc>
                <a:spcPct val="80000"/>
              </a:lnSpc>
            </a:pPr>
            <a:r>
              <a:rPr lang="en-US" altLang="zh-CN" sz="3200" dirty="0" err="1">
                <a:solidFill>
                  <a:schemeClr val="tx2"/>
                </a:solidFill>
                <a:latin typeface="楷体_GB2312" pitchFamily="49" charset="-122"/>
                <a:ea typeface="楷体_GB2312" pitchFamily="49" charset="-122"/>
              </a:rPr>
              <a:t>G</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en-US" altLang="zh-CN" sz="3200" dirty="0" err="1">
                <a:solidFill>
                  <a:schemeClr val="tx2"/>
                </a:solidFill>
                <a:latin typeface="楷体_GB2312" pitchFamily="49" charset="-122"/>
                <a:ea typeface="楷体_GB2312" pitchFamily="49" charset="-122"/>
              </a:rPr>
              <a:t>A</a:t>
            </a:r>
            <a:r>
              <a:rPr lang="en-US" altLang="zh-CN" sz="3200" baseline="-25000" dirty="0" err="1">
                <a:solidFill>
                  <a:schemeClr val="tx2"/>
                </a:solidFill>
                <a:latin typeface="楷体_GB2312" pitchFamily="49" charset="-122"/>
                <a:ea typeface="楷体_GB2312" pitchFamily="49" charset="-122"/>
              </a:rPr>
              <a:t>i</a:t>
            </a:r>
            <a:r>
              <a:rPr lang="en-US" altLang="zh-CN" sz="3200" dirty="0" err="1">
                <a:solidFill>
                  <a:schemeClr val="tx2"/>
                </a:solidFill>
                <a:latin typeface="楷体_GB2312" pitchFamily="49" charset="-122"/>
                <a:ea typeface="楷体_GB2312" pitchFamily="49" charset="-122"/>
              </a:rPr>
              <a:t>B</a:t>
            </a:r>
            <a:r>
              <a:rPr lang="en-US" altLang="zh-CN" sz="3200" baseline="-25000" dirty="0" err="1">
                <a:solidFill>
                  <a:schemeClr val="tx2"/>
                </a:solidFill>
                <a:latin typeface="楷体_GB2312" pitchFamily="49" charset="-122"/>
                <a:ea typeface="楷体_GB2312" pitchFamily="49" charset="-122"/>
              </a:rPr>
              <a:t>i</a:t>
            </a:r>
            <a:r>
              <a:rPr lang="en-US" altLang="zh-CN" sz="3200" dirty="0">
                <a:solidFill>
                  <a:schemeClr val="tx2"/>
                </a:solidFill>
                <a:latin typeface="楷体_GB2312" pitchFamily="49" charset="-122"/>
                <a:ea typeface="楷体_GB2312" pitchFamily="49" charset="-122"/>
              </a:rPr>
              <a:t>,</a:t>
            </a:r>
            <a:r>
              <a:rPr lang="zh-CN" altLang="en-US" sz="3200" dirty="0">
                <a:solidFill>
                  <a:schemeClr val="tx2"/>
                </a:solidFill>
                <a:latin typeface="楷体_GB2312" pitchFamily="49" charset="-122"/>
                <a:ea typeface="楷体_GB2312" pitchFamily="49" charset="-122"/>
              </a:rPr>
              <a:t>可见</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仅与</a:t>
            </a:r>
            <a:r>
              <a:rPr lang="en-US" altLang="zh-CN" sz="3200" dirty="0">
                <a:solidFill>
                  <a:schemeClr val="tx2"/>
                </a:solidFill>
                <a:latin typeface="楷体_GB2312" pitchFamily="49" charset="-122"/>
                <a:ea typeface="楷体_GB2312" pitchFamily="49" charset="-122"/>
              </a:rPr>
              <a:t>A</a:t>
            </a:r>
            <a:r>
              <a:rPr lang="en-US" altLang="zh-CN" sz="3200" baseline="-25000" dirty="0">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和</a:t>
            </a:r>
            <a:r>
              <a:rPr lang="en-US" altLang="zh-CN" sz="3200" dirty="0">
                <a:solidFill>
                  <a:schemeClr val="tx2"/>
                </a:solidFill>
                <a:latin typeface="楷体_GB2312" pitchFamily="49" charset="-122"/>
                <a:ea typeface="楷体_GB2312" pitchFamily="49" charset="-122"/>
              </a:rPr>
              <a:t>B</a:t>
            </a:r>
            <a:r>
              <a:rPr lang="en-US" altLang="zh-CN" sz="3200" baseline="-25000" dirty="0">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相关，与每一位的进位</a:t>
            </a:r>
            <a:r>
              <a:rPr lang="en-US" altLang="zh-CN" sz="3200" dirty="0" err="1">
                <a:solidFill>
                  <a:schemeClr val="tx2"/>
                </a:solidFill>
                <a:latin typeface="楷体_GB2312" pitchFamily="49" charset="-122"/>
                <a:ea typeface="楷体_GB2312" pitchFamily="49" charset="-122"/>
              </a:rPr>
              <a:t>C</a:t>
            </a:r>
            <a:r>
              <a:rPr lang="en-US" altLang="zh-CN" sz="3200" baseline="-25000" dirty="0" err="1">
                <a:solidFill>
                  <a:schemeClr val="tx2"/>
                </a:solidFill>
                <a:latin typeface="楷体_GB2312" pitchFamily="49" charset="-122"/>
                <a:ea typeface="楷体_GB2312" pitchFamily="49" charset="-122"/>
              </a:rPr>
              <a:t>i</a:t>
            </a:r>
            <a:r>
              <a:rPr lang="zh-CN" altLang="en-US" sz="3200" dirty="0">
                <a:solidFill>
                  <a:schemeClr val="tx2"/>
                </a:solidFill>
                <a:latin typeface="楷体_GB2312" pitchFamily="49" charset="-122"/>
                <a:ea typeface="楷体_GB2312" pitchFamily="49" charset="-122"/>
              </a:rPr>
              <a:t>是无关的。</a:t>
            </a:r>
            <a:endParaRPr lang="zh-CN" altLang="en-US" dirty="0"/>
          </a:p>
        </p:txBody>
      </p:sp>
    </p:spTree>
    <p:extLst>
      <p:ext uri="{BB962C8B-B14F-4D97-AF65-F5344CB8AC3E}">
        <p14:creationId xmlns:p14="http://schemas.microsoft.com/office/powerpoint/2010/main" val="268828852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3603" name="TextBox 4"/>
          <p:cNvSpPr txBox="1">
            <a:spLocks noChangeArrowheads="1"/>
          </p:cNvSpPr>
          <p:nvPr/>
        </p:nvSpPr>
        <p:spPr bwMode="auto">
          <a:xfrm>
            <a:off x="714375" y="1873264"/>
            <a:ext cx="7786688" cy="383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zh-CN" altLang="en-US" sz="3200" dirty="0">
                <a:solidFill>
                  <a:schemeClr val="tx2"/>
                </a:solidFill>
                <a:latin typeface="楷体_GB2312" pitchFamily="49" charset="-122"/>
                <a:ea typeface="楷体_GB2312" pitchFamily="49" charset="-122"/>
              </a:rPr>
              <a:t>所以每一位的进位的产生实际上也是可以直接同时求出来的。</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r>
              <a:rPr lang="zh-CN" altLang="en-US" sz="3200" dirty="0">
                <a:solidFill>
                  <a:schemeClr val="tx2"/>
                </a:solidFill>
                <a:latin typeface="楷体_GB2312" pitchFamily="49" charset="-122"/>
                <a:ea typeface="楷体_GB2312" pitchFamily="49" charset="-122"/>
              </a:rPr>
              <a:t>这样就使得每一位加法计算所需要的进位不必等待低位计算完成而得到。</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r>
              <a:rPr lang="zh-CN" altLang="en-US" sz="3200" dirty="0">
                <a:solidFill>
                  <a:schemeClr val="tx2"/>
                </a:solidFill>
                <a:latin typeface="楷体_GB2312" pitchFamily="49" charset="-122"/>
                <a:ea typeface="楷体_GB2312" pitchFamily="49" charset="-122"/>
              </a:rPr>
              <a:t>代价是必须为每一位的计算都设置一个全加器，且要设置复杂的电路同时计算出各位的进位</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zh-CN" altLang="en-US" dirty="0"/>
          </a:p>
        </p:txBody>
      </p:sp>
    </p:spTree>
    <p:extLst>
      <p:ext uri="{BB962C8B-B14F-4D97-AF65-F5344CB8AC3E}">
        <p14:creationId xmlns:p14="http://schemas.microsoft.com/office/powerpoint/2010/main" val="423057218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传递函数-进位函数.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544" y="3212976"/>
            <a:ext cx="7992888" cy="2772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5" name="TextBox 4"/>
          <p:cNvSpPr txBox="1">
            <a:spLocks noChangeArrowheads="1"/>
          </p:cNvSpPr>
          <p:nvPr/>
        </p:nvSpPr>
        <p:spPr bwMode="auto">
          <a:xfrm>
            <a:off x="1331640" y="1597543"/>
            <a:ext cx="20002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zh-CN" altLang="en-US" sz="2000" dirty="0">
                <a:solidFill>
                  <a:schemeClr val="tx2"/>
                </a:solidFill>
                <a:latin typeface="楷体_GB2312" pitchFamily="49" charset="-122"/>
                <a:ea typeface="楷体_GB2312" pitchFamily="49" charset="-122"/>
              </a:rPr>
              <a:t>传递函数      </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i</a:t>
            </a:r>
            <a:r>
              <a:rPr lang="en-US" altLang="zh-CN" sz="2000" dirty="0">
                <a:solidFill>
                  <a:schemeClr val="tx2"/>
                </a:solidFill>
                <a:latin typeface="楷体_GB2312" pitchFamily="49" charset="-122"/>
                <a:ea typeface="楷体_GB2312" pitchFamily="49" charset="-122"/>
              </a:rPr>
              <a:t>=</a:t>
            </a:r>
            <a:r>
              <a:rPr lang="en-US" altLang="zh-CN" sz="2000" dirty="0" err="1">
                <a:solidFill>
                  <a:schemeClr val="tx2"/>
                </a:solidFill>
                <a:latin typeface="楷体_GB2312" pitchFamily="49" charset="-122"/>
                <a:ea typeface="楷体_GB2312" pitchFamily="49" charset="-122"/>
              </a:rPr>
              <a:t>A</a:t>
            </a:r>
            <a:r>
              <a:rPr lang="en-US" altLang="zh-CN" sz="2000" baseline="-25000" dirty="0" err="1">
                <a:solidFill>
                  <a:schemeClr val="tx2"/>
                </a:solidFill>
                <a:latin typeface="楷体_GB2312" pitchFamily="49" charset="-122"/>
                <a:ea typeface="楷体_GB2312" pitchFamily="49" charset="-122"/>
              </a:rPr>
              <a:t>i</a:t>
            </a:r>
            <a:r>
              <a:rPr lang="en-US" altLang="zh-CN" sz="2000" dirty="0" err="1">
                <a:solidFill>
                  <a:schemeClr val="tx2"/>
                </a:solidFill>
                <a:latin typeface="楷体_GB2312" pitchFamily="49" charset="-122"/>
                <a:ea typeface="楷体_GB2312" pitchFamily="49" charset="-122"/>
              </a:rPr>
              <a:t>⊕B</a:t>
            </a:r>
            <a:r>
              <a:rPr lang="en-US" altLang="zh-CN" sz="2000" baseline="-25000" dirty="0" err="1">
                <a:solidFill>
                  <a:schemeClr val="tx2"/>
                </a:solidFill>
                <a:latin typeface="楷体_GB2312" pitchFamily="49" charset="-122"/>
                <a:ea typeface="楷体_GB2312" pitchFamily="49" charset="-122"/>
              </a:rPr>
              <a:t>i</a:t>
            </a:r>
            <a:endParaRPr lang="en-US" altLang="zh-CN" sz="20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zh-CN" altLang="en-US" sz="2000" dirty="0">
                <a:solidFill>
                  <a:schemeClr val="tx2"/>
                </a:solidFill>
                <a:latin typeface="楷体_GB2312" pitchFamily="49" charset="-122"/>
                <a:ea typeface="楷体_GB2312" pitchFamily="49" charset="-122"/>
              </a:rPr>
              <a:t>进位产生函数  </a:t>
            </a:r>
            <a:r>
              <a:rPr lang="en-US" altLang="zh-CN" sz="2000" dirty="0" err="1">
                <a:solidFill>
                  <a:schemeClr val="tx2"/>
                </a:solidFill>
                <a:latin typeface="楷体_GB2312" pitchFamily="49" charset="-122"/>
                <a:ea typeface="楷体_GB2312" pitchFamily="49" charset="-122"/>
              </a:rPr>
              <a:t>G</a:t>
            </a:r>
            <a:r>
              <a:rPr lang="en-US" altLang="zh-CN" sz="2000" baseline="-25000" dirty="0" err="1">
                <a:solidFill>
                  <a:schemeClr val="tx2"/>
                </a:solidFill>
                <a:latin typeface="楷体_GB2312" pitchFamily="49" charset="-122"/>
                <a:ea typeface="楷体_GB2312" pitchFamily="49" charset="-122"/>
              </a:rPr>
              <a:t>i</a:t>
            </a:r>
            <a:r>
              <a:rPr lang="en-US" altLang="zh-CN" sz="2000" dirty="0">
                <a:solidFill>
                  <a:schemeClr val="tx2"/>
                </a:solidFill>
                <a:latin typeface="楷体_GB2312" pitchFamily="49" charset="-122"/>
                <a:ea typeface="楷体_GB2312" pitchFamily="49" charset="-122"/>
              </a:rPr>
              <a:t>=</a:t>
            </a:r>
            <a:r>
              <a:rPr lang="en-US" altLang="zh-CN" sz="2000" dirty="0" err="1">
                <a:solidFill>
                  <a:schemeClr val="tx2"/>
                </a:solidFill>
                <a:latin typeface="楷体_GB2312" pitchFamily="49" charset="-122"/>
                <a:ea typeface="楷体_GB2312" pitchFamily="49" charset="-122"/>
              </a:rPr>
              <a:t>A</a:t>
            </a:r>
            <a:r>
              <a:rPr lang="en-US" altLang="zh-CN" sz="2000" baseline="-25000" dirty="0" err="1">
                <a:solidFill>
                  <a:schemeClr val="tx2"/>
                </a:solidFill>
                <a:latin typeface="楷体_GB2312" pitchFamily="49" charset="-122"/>
                <a:ea typeface="楷体_GB2312" pitchFamily="49" charset="-122"/>
              </a:rPr>
              <a:t>i</a:t>
            </a:r>
            <a:r>
              <a:rPr lang="en-US" altLang="zh-CN" sz="2000" dirty="0" err="1">
                <a:solidFill>
                  <a:schemeClr val="tx2"/>
                </a:solidFill>
                <a:latin typeface="楷体_GB2312" pitchFamily="49" charset="-122"/>
                <a:ea typeface="楷体_GB2312" pitchFamily="49" charset="-122"/>
              </a:rPr>
              <a:t>B</a:t>
            </a:r>
            <a:r>
              <a:rPr lang="en-US" altLang="zh-CN" sz="2000" baseline="-25000" dirty="0" err="1">
                <a:solidFill>
                  <a:schemeClr val="tx2"/>
                </a:solidFill>
                <a:latin typeface="楷体_GB2312" pitchFamily="49" charset="-122"/>
                <a:ea typeface="楷体_GB2312" pitchFamily="49" charset="-122"/>
              </a:rPr>
              <a:t>i</a:t>
            </a:r>
            <a:endParaRPr lang="zh-CN" altLang="en-US" sz="2000" dirty="0"/>
          </a:p>
        </p:txBody>
      </p:sp>
      <p:sp>
        <p:nvSpPr>
          <p:cNvPr id="7" name="TextBox 6"/>
          <p:cNvSpPr txBox="1">
            <a:spLocks noChangeArrowheads="1"/>
          </p:cNvSpPr>
          <p:nvPr/>
        </p:nvSpPr>
        <p:spPr bwMode="auto">
          <a:xfrm>
            <a:off x="3879393" y="1603028"/>
            <a:ext cx="20002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zh-CN" altLang="en-US" sz="2000" dirty="0">
                <a:solidFill>
                  <a:schemeClr val="tx2"/>
                </a:solidFill>
                <a:latin typeface="楷体_GB2312" pitchFamily="49" charset="-122"/>
                <a:ea typeface="楷体_GB2312" pitchFamily="49" charset="-122"/>
              </a:rPr>
              <a:t>传递函数计算的逻辑电路如下所示：</a:t>
            </a:r>
            <a:endParaRPr lang="zh-CN" altLang="en-US" sz="2000" dirty="0"/>
          </a:p>
        </p:txBody>
      </p:sp>
    </p:spTree>
    <p:extLst>
      <p:ext uri="{BB962C8B-B14F-4D97-AF65-F5344CB8AC3E}">
        <p14:creationId xmlns:p14="http://schemas.microsoft.com/office/powerpoint/2010/main" val="3903173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图片 1" descr="四位并行进位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7" y="3140968"/>
            <a:ext cx="9111191" cy="357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7" name="TextBox 6"/>
          <p:cNvSpPr txBox="1">
            <a:spLocks noChangeArrowheads="1"/>
          </p:cNvSpPr>
          <p:nvPr/>
        </p:nvSpPr>
        <p:spPr bwMode="auto">
          <a:xfrm>
            <a:off x="7308304" y="1628634"/>
            <a:ext cx="123795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zh-CN" altLang="en-US" sz="2000" dirty="0">
                <a:solidFill>
                  <a:schemeClr val="tx2"/>
                </a:solidFill>
                <a:latin typeface="楷体_GB2312" pitchFamily="49" charset="-122"/>
                <a:ea typeface="楷体_GB2312" pitchFamily="49" charset="-122"/>
              </a:rPr>
              <a:t>进位值</a:t>
            </a:r>
            <a:r>
              <a:rPr lang="en-US" altLang="zh-CN" sz="2000" dirty="0" err="1">
                <a:solidFill>
                  <a:schemeClr val="tx2"/>
                </a:solidFill>
                <a:latin typeface="楷体_GB2312" pitchFamily="49" charset="-122"/>
                <a:ea typeface="楷体_GB2312" pitchFamily="49" charset="-122"/>
              </a:rPr>
              <a:t>Ci</a:t>
            </a:r>
            <a:r>
              <a:rPr lang="zh-CN" altLang="en-US" sz="2000" dirty="0">
                <a:solidFill>
                  <a:schemeClr val="tx2"/>
                </a:solidFill>
                <a:latin typeface="楷体_GB2312" pitchFamily="49" charset="-122"/>
                <a:ea typeface="楷体_GB2312" pitchFamily="49" charset="-122"/>
              </a:rPr>
              <a:t>计算的逻辑电路如下所示：</a:t>
            </a:r>
            <a:endParaRPr lang="zh-CN" altLang="en-US" sz="2000" dirty="0"/>
          </a:p>
        </p:txBody>
      </p:sp>
      <p:sp>
        <p:nvSpPr>
          <p:cNvPr id="8" name="TextBox 4">
            <a:extLst>
              <a:ext uri="{FF2B5EF4-FFF2-40B4-BE49-F238E27FC236}">
                <a16:creationId xmlns:a16="http://schemas.microsoft.com/office/drawing/2014/main" id="{FC5D50A3-D062-4D29-979F-9FCBD26E7FC8}"/>
              </a:ext>
            </a:extLst>
          </p:cNvPr>
          <p:cNvSpPr txBox="1">
            <a:spLocks noChangeArrowheads="1"/>
          </p:cNvSpPr>
          <p:nvPr/>
        </p:nvSpPr>
        <p:spPr bwMode="auto">
          <a:xfrm>
            <a:off x="179512" y="908720"/>
            <a:ext cx="6876256" cy="1865126"/>
          </a:xfrm>
          <a:prstGeom prst="rect">
            <a:avLst/>
          </a:prstGeom>
          <a:solidFill>
            <a:srgbClr val="FFFF66"/>
          </a:solidFill>
          <a:ln w="38100">
            <a:solidFill>
              <a:srgbClr val="00B0F0"/>
            </a:solid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pPr>
            <a:r>
              <a:rPr lang="zh-CN" altLang="en-US" sz="3200" dirty="0">
                <a:solidFill>
                  <a:schemeClr val="tx2"/>
                </a:solidFill>
                <a:latin typeface="楷体_GB2312" pitchFamily="49" charset="-122"/>
                <a:ea typeface="楷体_GB2312" pitchFamily="49" charset="-122"/>
              </a:rPr>
              <a:t>最后得到每一级的进位值</a:t>
            </a:r>
            <a:r>
              <a:rPr lang="en-US" altLang="zh-CN" sz="3200" dirty="0" err="1">
                <a:solidFill>
                  <a:schemeClr val="tx2"/>
                </a:solidFill>
                <a:latin typeface="楷体_GB2312" pitchFamily="49" charset="-122"/>
                <a:ea typeface="楷体_GB2312" pitchFamily="49" charset="-122"/>
              </a:rPr>
              <a:t>Ci</a:t>
            </a:r>
            <a:r>
              <a:rPr lang="zh-CN" altLang="en-US" sz="3200" dirty="0">
                <a:solidFill>
                  <a:schemeClr val="tx2"/>
                </a:solidFill>
                <a:latin typeface="楷体_GB2312" pitchFamily="49" charset="-122"/>
                <a:ea typeface="楷体_GB2312" pitchFamily="49" charset="-122"/>
              </a:rPr>
              <a:t>为：</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pPr>
            <a:r>
              <a:rPr lang="en-US" altLang="zh-CN" sz="2400" dirty="0">
                <a:solidFill>
                  <a:schemeClr val="tx2"/>
                </a:solidFill>
                <a:latin typeface="楷体_GB2312" pitchFamily="49" charset="-122"/>
                <a:ea typeface="楷体_GB2312" pitchFamily="49" charset="-122"/>
              </a:rPr>
              <a:t>C</a:t>
            </a:r>
            <a:r>
              <a:rPr lang="en-US" altLang="zh-CN" sz="2400" baseline="-25000" dirty="0">
                <a:solidFill>
                  <a:schemeClr val="tx2"/>
                </a:solidFill>
                <a:latin typeface="楷体_GB2312" pitchFamily="49" charset="-122"/>
                <a:ea typeface="楷体_GB2312" pitchFamily="49" charset="-122"/>
              </a:rPr>
              <a:t>0</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0</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0</a:t>
            </a:r>
            <a:r>
              <a:rPr lang="en-US" altLang="zh-CN" sz="2400" dirty="0">
                <a:solidFill>
                  <a:srgbClr val="FF0000"/>
                </a:solidFill>
                <a:latin typeface="楷体_GB2312" pitchFamily="49" charset="-122"/>
                <a:ea typeface="楷体_GB2312" pitchFamily="49" charset="-122"/>
              </a:rPr>
              <a:t>C</a:t>
            </a:r>
            <a:r>
              <a:rPr lang="en-US" altLang="zh-CN" sz="2400" baseline="-25000" dirty="0">
                <a:solidFill>
                  <a:srgbClr val="FF0000"/>
                </a:solidFill>
                <a:latin typeface="楷体_GB2312" pitchFamily="49" charset="-122"/>
                <a:ea typeface="楷体_GB2312" pitchFamily="49" charset="-122"/>
              </a:rPr>
              <a:t>m</a:t>
            </a:r>
          </a:p>
          <a:p>
            <a:pPr algn="l" eaLnBrk="1" hangingPunct="1">
              <a:lnSpc>
                <a:spcPct val="80000"/>
              </a:lnSpc>
            </a:pPr>
            <a:r>
              <a:rPr lang="en-US" altLang="zh-CN" sz="2400" dirty="0">
                <a:solidFill>
                  <a:schemeClr val="tx2"/>
                </a:solidFill>
                <a:latin typeface="楷体_GB2312" pitchFamily="49" charset="-122"/>
                <a:ea typeface="楷体_GB2312" pitchFamily="49" charset="-122"/>
              </a:rPr>
              <a:t>C</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0</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0</a:t>
            </a:r>
            <a:r>
              <a:rPr lang="en-US" altLang="zh-CN" sz="2400" dirty="0">
                <a:solidFill>
                  <a:srgbClr val="FF0000"/>
                </a:solidFill>
                <a:latin typeface="楷体_GB2312" pitchFamily="49" charset="-122"/>
                <a:ea typeface="楷体_GB2312" pitchFamily="49" charset="-122"/>
              </a:rPr>
              <a:t>C</a:t>
            </a:r>
            <a:r>
              <a:rPr lang="en-US" altLang="zh-CN" sz="2400" baseline="-25000" dirty="0">
                <a:solidFill>
                  <a:srgbClr val="FF0000"/>
                </a:solidFill>
                <a:latin typeface="楷体_GB2312" pitchFamily="49" charset="-122"/>
                <a:ea typeface="楷体_GB2312" pitchFamily="49" charset="-122"/>
              </a:rPr>
              <a:t>m</a:t>
            </a:r>
            <a:endParaRPr lang="en-US" altLang="zh-CN" sz="24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2400" dirty="0">
                <a:solidFill>
                  <a:schemeClr val="tx2"/>
                </a:solidFill>
                <a:latin typeface="楷体_GB2312" pitchFamily="49" charset="-122"/>
                <a:ea typeface="楷体_GB2312" pitchFamily="49" charset="-122"/>
              </a:rPr>
              <a:t>C</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0</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0</a:t>
            </a:r>
            <a:r>
              <a:rPr lang="en-US" altLang="zh-CN" sz="2400" dirty="0">
                <a:solidFill>
                  <a:srgbClr val="FF0000"/>
                </a:solidFill>
                <a:latin typeface="楷体_GB2312" pitchFamily="49" charset="-122"/>
                <a:ea typeface="楷体_GB2312" pitchFamily="49" charset="-122"/>
              </a:rPr>
              <a:t>C</a:t>
            </a:r>
            <a:r>
              <a:rPr lang="en-US" altLang="zh-CN" sz="2400" baseline="-25000" dirty="0">
                <a:solidFill>
                  <a:srgbClr val="FF0000"/>
                </a:solidFill>
                <a:latin typeface="楷体_GB2312" pitchFamily="49" charset="-122"/>
                <a:ea typeface="楷体_GB2312" pitchFamily="49" charset="-122"/>
              </a:rPr>
              <a:t>m</a:t>
            </a:r>
            <a:endParaRPr lang="en-US" altLang="zh-CN" sz="24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en-US" altLang="zh-CN" sz="2400" dirty="0">
                <a:solidFill>
                  <a:schemeClr val="tx2"/>
                </a:solidFill>
                <a:latin typeface="楷体_GB2312" pitchFamily="49" charset="-122"/>
                <a:ea typeface="楷体_GB2312" pitchFamily="49" charset="-122"/>
              </a:rPr>
              <a:t>C</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G</a:t>
            </a:r>
            <a:r>
              <a:rPr lang="en-US" altLang="zh-CN" sz="2400" baseline="-25000" dirty="0">
                <a:solidFill>
                  <a:schemeClr val="tx2"/>
                </a:solidFill>
                <a:latin typeface="楷体_GB2312" pitchFamily="49" charset="-122"/>
                <a:ea typeface="楷体_GB2312" pitchFamily="49" charset="-122"/>
              </a:rPr>
              <a:t>0</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3</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2</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1</a:t>
            </a:r>
            <a:r>
              <a:rPr lang="en-US" altLang="zh-CN" sz="2400" dirty="0">
                <a:solidFill>
                  <a:schemeClr val="tx2"/>
                </a:solidFill>
                <a:latin typeface="楷体_GB2312" pitchFamily="49" charset="-122"/>
                <a:ea typeface="楷体_GB2312" pitchFamily="49" charset="-122"/>
              </a:rPr>
              <a:t>P</a:t>
            </a:r>
            <a:r>
              <a:rPr lang="en-US" altLang="zh-CN" sz="2400" baseline="-25000" dirty="0">
                <a:solidFill>
                  <a:schemeClr val="tx2"/>
                </a:solidFill>
                <a:latin typeface="楷体_GB2312" pitchFamily="49" charset="-122"/>
                <a:ea typeface="楷体_GB2312" pitchFamily="49" charset="-122"/>
              </a:rPr>
              <a:t>0</a:t>
            </a:r>
            <a:r>
              <a:rPr lang="en-US" altLang="zh-CN" sz="2400" dirty="0">
                <a:solidFill>
                  <a:srgbClr val="FF0000"/>
                </a:solidFill>
                <a:latin typeface="楷体_GB2312" pitchFamily="49" charset="-122"/>
                <a:ea typeface="楷体_GB2312" pitchFamily="49" charset="-122"/>
              </a:rPr>
              <a:t>C</a:t>
            </a:r>
            <a:r>
              <a:rPr lang="en-US" altLang="zh-CN" sz="2400" baseline="-25000" dirty="0">
                <a:solidFill>
                  <a:srgbClr val="FF0000"/>
                </a:solidFill>
                <a:latin typeface="楷体_GB2312" pitchFamily="49" charset="-122"/>
                <a:ea typeface="楷体_GB2312" pitchFamily="49" charset="-122"/>
              </a:rPr>
              <a:t>m</a:t>
            </a:r>
            <a:endParaRPr lang="en-US" altLang="zh-CN" sz="2400" baseline="-250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zh-CN" altLang="en-US" dirty="0"/>
          </a:p>
        </p:txBody>
      </p:sp>
    </p:spTree>
    <p:extLst>
      <p:ext uri="{BB962C8B-B14F-4D97-AF65-F5344CB8AC3E}">
        <p14:creationId xmlns:p14="http://schemas.microsoft.com/office/powerpoint/2010/main" val="25581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6675" name="TextBox 5"/>
          <p:cNvSpPr txBox="1">
            <a:spLocks noChangeArrowheads="1"/>
          </p:cNvSpPr>
          <p:nvPr/>
        </p:nvSpPr>
        <p:spPr bwMode="auto">
          <a:xfrm>
            <a:off x="1187624" y="1628800"/>
            <a:ext cx="6500813" cy="442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2.</a:t>
            </a:r>
            <a:r>
              <a:rPr lang="zh-CN" altLang="en-US" sz="3200" dirty="0">
                <a:solidFill>
                  <a:schemeClr val="tx2"/>
                </a:solidFill>
                <a:latin typeface="楷体_GB2312" pitchFamily="49" charset="-122"/>
                <a:ea typeface="楷体_GB2312" pitchFamily="49" charset="-122"/>
              </a:rPr>
              <a:t>单级分组跳跃进位</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r>
              <a:rPr lang="zh-CN" altLang="en-US" sz="3200" dirty="0">
                <a:solidFill>
                  <a:schemeClr val="tx2"/>
                </a:solidFill>
                <a:latin typeface="楷体_GB2312" pitchFamily="49" charset="-122"/>
                <a:ea typeface="楷体_GB2312" pitchFamily="49" charset="-122"/>
              </a:rPr>
              <a:t>构成一个十六位的加法器</a:t>
            </a: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algn="l" eaLnBrk="1" hangingPunct="1">
              <a:lnSpc>
                <a:spcPct val="80000"/>
              </a:lnSpc>
              <a:buFont typeface="Wingdings" pitchFamily="2" charset="2"/>
              <a:buNone/>
            </a:pPr>
            <a:endParaRPr lang="en-US" altLang="zh-CN" sz="3200" dirty="0">
              <a:solidFill>
                <a:schemeClr val="tx2"/>
              </a:solidFill>
              <a:latin typeface="楷体_GB2312" pitchFamily="49" charset="-122"/>
              <a:ea typeface="楷体_GB2312" pitchFamily="49" charset="-122"/>
            </a:endParaRPr>
          </a:p>
          <a:p>
            <a:pPr eaLnBrk="1" hangingPunct="1">
              <a:lnSpc>
                <a:spcPct val="80000"/>
              </a:lnSpc>
            </a:pPr>
            <a:r>
              <a:rPr lang="zh-CN" altLang="en-US" sz="3200" dirty="0">
                <a:solidFill>
                  <a:schemeClr val="tx2"/>
                </a:solidFill>
                <a:latin typeface="楷体_GB2312" pitchFamily="49" charset="-122"/>
                <a:ea typeface="楷体_GB2312" pitchFamily="49" charset="-122"/>
              </a:rPr>
              <a:t>其中每个独立芯片内含有四个全加器，构成一个并行的四位全加法器，如图</a:t>
            </a:r>
            <a:r>
              <a:rPr lang="en-US" altLang="zh-CN" sz="3200" dirty="0">
                <a:solidFill>
                  <a:schemeClr val="tx2"/>
                </a:solidFill>
                <a:latin typeface="楷体_GB2312" pitchFamily="49" charset="-122"/>
                <a:ea typeface="楷体_GB2312" pitchFamily="49" charset="-122"/>
              </a:rPr>
              <a:t>2.10</a:t>
            </a:r>
          </a:p>
        </p:txBody>
      </p:sp>
      <p:pic>
        <p:nvPicPr>
          <p:cNvPr id="156676" name="图片 11" descr="并行进位16位加法器简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7188" y="2708920"/>
            <a:ext cx="842962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406073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7699" name="TextBox 5"/>
          <p:cNvSpPr txBox="1">
            <a:spLocks noChangeArrowheads="1"/>
          </p:cNvSpPr>
          <p:nvPr/>
        </p:nvSpPr>
        <p:spPr bwMode="auto">
          <a:xfrm>
            <a:off x="1285875" y="1714500"/>
            <a:ext cx="65008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a:solidFill>
                  <a:schemeClr val="tx2"/>
                </a:solidFill>
                <a:latin typeface="楷体_GB2312" pitchFamily="49" charset="-122"/>
                <a:ea typeface="楷体_GB2312" pitchFamily="49" charset="-122"/>
              </a:rPr>
              <a:t>3.</a:t>
            </a:r>
            <a:r>
              <a:rPr lang="zh-CN" altLang="en-US" sz="3200">
                <a:solidFill>
                  <a:schemeClr val="tx2"/>
                </a:solidFill>
                <a:latin typeface="楷体_GB2312" pitchFamily="49" charset="-122"/>
                <a:ea typeface="楷体_GB2312" pitchFamily="49" charset="-122"/>
              </a:rPr>
              <a:t>多级分组跳跃进位</a:t>
            </a:r>
            <a:endParaRPr lang="en-US" altLang="zh-CN" sz="3200">
              <a:solidFill>
                <a:schemeClr val="tx2"/>
              </a:solidFill>
              <a:latin typeface="楷体_GB2312" pitchFamily="49" charset="-122"/>
              <a:ea typeface="楷体_GB2312" pitchFamily="49" charset="-122"/>
            </a:endParaRPr>
          </a:p>
        </p:txBody>
      </p:sp>
      <p:pic>
        <p:nvPicPr>
          <p:cNvPr id="157700" name="图片 11" descr="并行进位16位加法器简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214563"/>
            <a:ext cx="842962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1" name="TextBox 4"/>
          <p:cNvSpPr txBox="1">
            <a:spLocks noChangeArrowheads="1"/>
          </p:cNvSpPr>
          <p:nvPr/>
        </p:nvSpPr>
        <p:spPr bwMode="auto">
          <a:xfrm>
            <a:off x="611560" y="4293096"/>
            <a:ext cx="7706916" cy="1323439"/>
          </a:xfrm>
          <a:prstGeom prst="rect">
            <a:avLst/>
          </a:prstGeom>
          <a:solidFill>
            <a:srgbClr val="FFC000"/>
          </a:solidFill>
          <a:ln w="38100">
            <a:solidFill>
              <a:srgbClr val="66FF99"/>
            </a:solid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0</a:t>
            </a:r>
            <a:r>
              <a:rPr lang="en-US" altLang="zh-CN" sz="2000" dirty="0">
                <a:solidFill>
                  <a:srgbClr val="FF0000"/>
                </a:solidFill>
                <a:latin typeface="楷体_GB2312" pitchFamily="49" charset="-122"/>
                <a:ea typeface="楷体_GB2312" pitchFamily="49" charset="-122"/>
              </a:rPr>
              <a:t>C</a:t>
            </a:r>
            <a:r>
              <a:rPr lang="en-US" altLang="zh-CN" sz="2000" baseline="-25000" dirty="0">
                <a:solidFill>
                  <a:srgbClr val="FF0000"/>
                </a:solidFill>
                <a:latin typeface="楷体_GB2312" pitchFamily="49" charset="-122"/>
                <a:ea typeface="楷体_GB2312" pitchFamily="49" charset="-122"/>
              </a:rPr>
              <a:t>m</a:t>
            </a:r>
            <a:endParaRPr lang="zh-CN" altLang="en-US" sz="2000" dirty="0">
              <a:solidFill>
                <a:srgbClr val="FF0000"/>
              </a:solidFill>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6</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6</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6</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5</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4</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6</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4</a:t>
            </a:r>
            <a:r>
              <a:rPr lang="en-US" altLang="zh-CN" sz="2000" dirty="0">
                <a:solidFill>
                  <a:srgbClr val="FF0000"/>
                </a:solidFill>
                <a:latin typeface="楷体_GB2312" pitchFamily="49" charset="-122"/>
                <a:ea typeface="楷体_GB2312" pitchFamily="49" charset="-122"/>
              </a:rPr>
              <a:t>C</a:t>
            </a:r>
            <a:r>
              <a:rPr lang="en-US" altLang="zh-CN" sz="2000" baseline="-25000" dirty="0">
                <a:solidFill>
                  <a:srgbClr val="FF0000"/>
                </a:solidFill>
                <a:latin typeface="楷体_GB2312" pitchFamily="49" charset="-122"/>
                <a:ea typeface="楷体_GB2312" pitchFamily="49" charset="-122"/>
              </a:rPr>
              <a:t>3</a:t>
            </a:r>
            <a:endParaRPr lang="zh-CN" altLang="en-US" sz="2000" dirty="0">
              <a:solidFill>
                <a:srgbClr val="FF0000"/>
              </a:solidFill>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10</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10</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9</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10</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9</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8</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10</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9</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8</a:t>
            </a:r>
            <a:r>
              <a:rPr lang="en-US" altLang="zh-CN" sz="2000" dirty="0">
                <a:solidFill>
                  <a:srgbClr val="FF0000"/>
                </a:solidFill>
                <a:latin typeface="楷体_GB2312" pitchFamily="49" charset="-122"/>
                <a:ea typeface="楷体_GB2312" pitchFamily="49" charset="-122"/>
              </a:rPr>
              <a:t>C</a:t>
            </a:r>
            <a:r>
              <a:rPr lang="en-US" altLang="zh-CN" sz="2000" baseline="-25000" dirty="0">
                <a:solidFill>
                  <a:srgbClr val="FF0000"/>
                </a:solidFill>
                <a:latin typeface="楷体_GB2312" pitchFamily="49" charset="-122"/>
                <a:ea typeface="楷体_GB2312" pitchFamily="49" charset="-122"/>
              </a:rPr>
              <a:t>7</a:t>
            </a:r>
            <a:endParaRPr lang="zh-CN" altLang="en-US" sz="2000" dirty="0">
              <a:solidFill>
                <a:srgbClr val="FF0000"/>
              </a:solidFill>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14</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14</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14</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13</a:t>
            </a:r>
            <a:r>
              <a:rPr lang="en-US" altLang="zh-CN" sz="2000" dirty="0">
                <a:solidFill>
                  <a:schemeClr val="tx2"/>
                </a:solidFill>
                <a:latin typeface="楷体_GB2312" pitchFamily="49" charset="-122"/>
                <a:ea typeface="楷体_GB2312" pitchFamily="49" charset="-122"/>
              </a:rPr>
              <a:t>G</a:t>
            </a:r>
            <a:r>
              <a:rPr lang="en-US" altLang="zh-CN" sz="2000" baseline="-25000" dirty="0">
                <a:solidFill>
                  <a:schemeClr val="tx2"/>
                </a:solidFill>
                <a:latin typeface="楷体_GB2312" pitchFamily="49" charset="-122"/>
                <a:ea typeface="楷体_GB2312" pitchFamily="49" charset="-122"/>
              </a:rPr>
              <a:t>12</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14</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13</a:t>
            </a:r>
            <a:r>
              <a:rPr lang="en-US" altLang="zh-CN" sz="2000" dirty="0">
                <a:solidFill>
                  <a:schemeClr val="tx2"/>
                </a:solidFill>
                <a:latin typeface="楷体_GB2312" pitchFamily="49" charset="-122"/>
                <a:ea typeface="楷体_GB2312" pitchFamily="49" charset="-122"/>
              </a:rPr>
              <a:t>P</a:t>
            </a:r>
            <a:r>
              <a:rPr lang="en-US" altLang="zh-CN" sz="2000" baseline="-25000" dirty="0">
                <a:solidFill>
                  <a:schemeClr val="tx2"/>
                </a:solidFill>
                <a:latin typeface="楷体_GB2312" pitchFamily="49" charset="-122"/>
                <a:ea typeface="楷体_GB2312" pitchFamily="49" charset="-122"/>
              </a:rPr>
              <a:t>12</a:t>
            </a:r>
            <a:r>
              <a:rPr lang="en-US" altLang="zh-CN" sz="2000" dirty="0">
                <a:solidFill>
                  <a:srgbClr val="FF0000"/>
                </a:solidFill>
                <a:latin typeface="楷体_GB2312" pitchFamily="49" charset="-122"/>
                <a:ea typeface="楷体_GB2312" pitchFamily="49" charset="-122"/>
              </a:rPr>
              <a:t>C</a:t>
            </a:r>
            <a:r>
              <a:rPr lang="en-US" altLang="zh-CN" sz="2000" baseline="-25000" dirty="0">
                <a:solidFill>
                  <a:srgbClr val="FF0000"/>
                </a:solidFill>
                <a:latin typeface="楷体_GB2312" pitchFamily="49" charset="-122"/>
                <a:ea typeface="楷体_GB2312" pitchFamily="49" charset="-122"/>
              </a:rPr>
              <a:t>11</a:t>
            </a:r>
            <a:endParaRPr lang="zh-CN" altLang="en-US" sz="2000" dirty="0">
              <a:solidFill>
                <a:srgbClr val="FF0000"/>
              </a:solidFill>
              <a:latin typeface="楷体_GB2312" pitchFamily="49" charset="-122"/>
              <a:ea typeface="楷体_GB2312" pitchFamily="49" charset="-122"/>
            </a:endParaRPr>
          </a:p>
        </p:txBody>
      </p:sp>
    </p:spTree>
    <p:extLst>
      <p:ext uri="{BB962C8B-B14F-4D97-AF65-F5344CB8AC3E}">
        <p14:creationId xmlns:p14="http://schemas.microsoft.com/office/powerpoint/2010/main" val="265055315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8723" name="TextBox 5"/>
          <p:cNvSpPr txBox="1">
            <a:spLocks noChangeArrowheads="1"/>
          </p:cNvSpPr>
          <p:nvPr/>
        </p:nvSpPr>
        <p:spPr bwMode="auto">
          <a:xfrm>
            <a:off x="1285875" y="1714500"/>
            <a:ext cx="65008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a:solidFill>
                  <a:schemeClr val="tx2"/>
                </a:solidFill>
                <a:latin typeface="楷体_GB2312" pitchFamily="49" charset="-122"/>
                <a:ea typeface="楷体_GB2312" pitchFamily="49" charset="-122"/>
              </a:rPr>
              <a:t>3.</a:t>
            </a:r>
            <a:r>
              <a:rPr lang="zh-CN" altLang="en-US" sz="3200">
                <a:solidFill>
                  <a:schemeClr val="tx2"/>
                </a:solidFill>
                <a:latin typeface="楷体_GB2312" pitchFamily="49" charset="-122"/>
                <a:ea typeface="楷体_GB2312" pitchFamily="49" charset="-122"/>
              </a:rPr>
              <a:t>多级分组跳跃进位</a:t>
            </a:r>
            <a:endParaRPr lang="en-US" altLang="zh-CN" sz="3200">
              <a:solidFill>
                <a:schemeClr val="tx2"/>
              </a:solidFill>
              <a:latin typeface="楷体_GB2312" pitchFamily="49" charset="-122"/>
              <a:ea typeface="楷体_GB2312" pitchFamily="49" charset="-122"/>
            </a:endParaRPr>
          </a:p>
        </p:txBody>
      </p:sp>
      <p:pic>
        <p:nvPicPr>
          <p:cNvPr id="158724" name="图片 11" descr="并行进位16位加法器简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214563"/>
            <a:ext cx="842962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5" name="TextBox 4"/>
          <p:cNvSpPr txBox="1">
            <a:spLocks noChangeArrowheads="1"/>
          </p:cNvSpPr>
          <p:nvPr/>
        </p:nvSpPr>
        <p:spPr bwMode="auto">
          <a:xfrm>
            <a:off x="71500" y="4337809"/>
            <a:ext cx="9000999" cy="1323439"/>
          </a:xfrm>
          <a:prstGeom prst="rect">
            <a:avLst/>
          </a:prstGeom>
          <a:solidFill>
            <a:srgbClr val="FFC000"/>
          </a:solidFill>
          <a:ln w="38100">
            <a:solidFill>
              <a:srgbClr val="66FF99"/>
            </a:solidFill>
          </a:ln>
        </p:spPr>
        <p:txBody>
          <a:bodyPr wrap="square">
            <a:spAutoFit/>
          </a:bodyPr>
          <a:lstStyle>
            <a:defPPr>
              <a:defRPr lang="zh-CN"/>
            </a:defPPr>
            <a:lvl1pPr>
              <a:defRPr sz="2000" b="1">
                <a:solidFill>
                  <a:schemeClr val="tx2"/>
                </a:solidFill>
                <a:latin typeface="楷体_GB2312" pitchFamily="49" charset="-122"/>
                <a:ea typeface="楷体_GB2312" pitchFamily="49"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r>
              <a:rPr lang="en-US" altLang="zh-CN" dirty="0"/>
              <a:t>C3=G3+P3G2+P3P2G1+P3P2P1G0+P3P2P1P0Cm</a:t>
            </a:r>
            <a:endParaRPr lang="zh-CN" altLang="en-US" dirty="0"/>
          </a:p>
          <a:p>
            <a:r>
              <a:rPr lang="en-US" altLang="zh-CN" dirty="0"/>
              <a:t>C7=G7+P7G6+P7P6G5+P7P6P5G4+P7P6P5P4C3</a:t>
            </a:r>
            <a:endParaRPr lang="zh-CN" altLang="en-US" dirty="0"/>
          </a:p>
          <a:p>
            <a:r>
              <a:rPr lang="en-US" altLang="zh-CN" dirty="0"/>
              <a:t>C11=G11+P11G10+P11P10G9+P11P10P9G8+P11P10P9P8C7</a:t>
            </a:r>
            <a:endParaRPr lang="zh-CN" altLang="en-US" dirty="0"/>
          </a:p>
          <a:p>
            <a:r>
              <a:rPr lang="en-US" altLang="zh-CN" dirty="0"/>
              <a:t>C15=G15+P15G14+P15P14G13+P15P14P13G12+P15P14P13P12C11</a:t>
            </a:r>
            <a:endParaRPr lang="zh-CN" altLang="en-US" dirty="0"/>
          </a:p>
        </p:txBody>
      </p:sp>
      <p:sp>
        <p:nvSpPr>
          <p:cNvPr id="158726" name="矩形 6"/>
          <p:cNvSpPr>
            <a:spLocks noChangeArrowheads="1"/>
          </p:cNvSpPr>
          <p:nvPr/>
        </p:nvSpPr>
        <p:spPr bwMode="auto">
          <a:xfrm>
            <a:off x="1214438" y="4214813"/>
            <a:ext cx="37147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Tree>
    <p:extLst>
      <p:ext uri="{BB962C8B-B14F-4D97-AF65-F5344CB8AC3E}">
        <p14:creationId xmlns:p14="http://schemas.microsoft.com/office/powerpoint/2010/main" val="207342031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59747" name="TextBox 5"/>
          <p:cNvSpPr txBox="1">
            <a:spLocks noChangeArrowheads="1"/>
          </p:cNvSpPr>
          <p:nvPr/>
        </p:nvSpPr>
        <p:spPr bwMode="auto">
          <a:xfrm>
            <a:off x="1285875" y="1714500"/>
            <a:ext cx="65008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lnSpc>
                <a:spcPct val="80000"/>
              </a:lnSpc>
              <a:buFont typeface="Wingdings" pitchFamily="2" charset="2"/>
              <a:buNone/>
            </a:pPr>
            <a:r>
              <a:rPr lang="en-US" altLang="zh-CN" sz="3200" dirty="0">
                <a:solidFill>
                  <a:schemeClr val="tx2"/>
                </a:solidFill>
                <a:latin typeface="楷体_GB2312" pitchFamily="49" charset="-122"/>
                <a:ea typeface="楷体_GB2312" pitchFamily="49" charset="-122"/>
              </a:rPr>
              <a:t>3.</a:t>
            </a:r>
            <a:r>
              <a:rPr lang="zh-CN" altLang="en-US" sz="3200" dirty="0">
                <a:solidFill>
                  <a:schemeClr val="tx2"/>
                </a:solidFill>
                <a:latin typeface="楷体_GB2312" pitchFamily="49" charset="-122"/>
                <a:ea typeface="楷体_GB2312" pitchFamily="49" charset="-122"/>
              </a:rPr>
              <a:t>多级分组跳跃进位</a:t>
            </a:r>
            <a:endParaRPr lang="en-US" altLang="zh-CN" sz="3200" dirty="0">
              <a:solidFill>
                <a:schemeClr val="tx2"/>
              </a:solidFill>
              <a:latin typeface="楷体_GB2312" pitchFamily="49" charset="-122"/>
              <a:ea typeface="楷体_GB2312" pitchFamily="49" charset="-122"/>
            </a:endParaRPr>
          </a:p>
        </p:txBody>
      </p:sp>
      <p:pic>
        <p:nvPicPr>
          <p:cNvPr id="159748" name="图片 11" descr="并行进位16位加法器简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214563"/>
            <a:ext cx="842962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9" name="TextBox 4"/>
          <p:cNvSpPr txBox="1">
            <a:spLocks noChangeArrowheads="1"/>
          </p:cNvSpPr>
          <p:nvPr/>
        </p:nvSpPr>
        <p:spPr bwMode="auto">
          <a:xfrm>
            <a:off x="224997" y="4354651"/>
            <a:ext cx="1714500" cy="1077218"/>
          </a:xfrm>
          <a:prstGeom prst="rect">
            <a:avLst/>
          </a:prstGeom>
          <a:solidFill>
            <a:srgbClr val="A7E8FF"/>
          </a:solidFill>
          <a:ln w="19050">
            <a:solidFill>
              <a:schemeClr val="tx1"/>
            </a:solidFill>
          </a:ln>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3</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D</a:t>
            </a:r>
            <a:r>
              <a:rPr lang="en-US" altLang="zh-CN" baseline="-25000" dirty="0">
                <a:solidFill>
                  <a:srgbClr val="FF000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T</a:t>
            </a:r>
            <a:r>
              <a:rPr lang="en-US" altLang="zh-CN" baseline="-25000" dirty="0">
                <a:solidFill>
                  <a:srgbClr val="0070C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m</a:t>
            </a:r>
            <a:endParaRPr lang="zh-CN" altLang="en-US" dirty="0">
              <a:latin typeface="楷体_GB2312" pitchFamily="49" charset="-122"/>
              <a:ea typeface="楷体_GB2312" pitchFamily="49" charset="-122"/>
            </a:endParaRPr>
          </a:p>
          <a:p>
            <a:pPr algn="l" eaLnBrk="1" hangingPunct="1"/>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7</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D</a:t>
            </a:r>
            <a:r>
              <a:rPr lang="en-US" altLang="zh-CN" baseline="-25000" dirty="0">
                <a:solidFill>
                  <a:srgbClr val="FF0000"/>
                </a:solidFill>
                <a:latin typeface="楷体_GB2312" pitchFamily="49" charset="-122"/>
                <a:ea typeface="楷体_GB2312" pitchFamily="49" charset="-122"/>
              </a:rPr>
              <a:t>1</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T</a:t>
            </a:r>
            <a:r>
              <a:rPr lang="en-US" altLang="zh-CN" baseline="-25000" dirty="0">
                <a:solidFill>
                  <a:srgbClr val="0070C0"/>
                </a:solidFill>
                <a:latin typeface="楷体_GB2312" pitchFamily="49" charset="-122"/>
                <a:ea typeface="楷体_GB2312" pitchFamily="49" charset="-122"/>
              </a:rPr>
              <a:t>1</a:t>
            </a:r>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3</a:t>
            </a:r>
            <a:endParaRPr lang="zh-CN" altLang="en-US" dirty="0">
              <a:latin typeface="楷体_GB2312" pitchFamily="49" charset="-122"/>
              <a:ea typeface="楷体_GB2312" pitchFamily="49" charset="-122"/>
            </a:endParaRPr>
          </a:p>
          <a:p>
            <a:pPr algn="l" eaLnBrk="1" hangingPunct="1"/>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11</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D</a:t>
            </a:r>
            <a:r>
              <a:rPr lang="en-US" altLang="zh-CN" baseline="-25000" dirty="0">
                <a:solidFill>
                  <a:srgbClr val="FF0000"/>
                </a:solidFill>
                <a:latin typeface="楷体_GB2312" pitchFamily="49" charset="-122"/>
                <a:ea typeface="楷体_GB2312" pitchFamily="49" charset="-122"/>
              </a:rPr>
              <a:t>2</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T</a:t>
            </a:r>
            <a:r>
              <a:rPr lang="en-US" altLang="zh-CN" baseline="-25000" dirty="0">
                <a:solidFill>
                  <a:srgbClr val="0070C0"/>
                </a:solidFill>
                <a:latin typeface="楷体_GB2312" pitchFamily="49" charset="-122"/>
                <a:ea typeface="楷体_GB2312" pitchFamily="49" charset="-122"/>
              </a:rPr>
              <a:t>2</a:t>
            </a:r>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7</a:t>
            </a:r>
            <a:endParaRPr lang="zh-CN" altLang="en-US" dirty="0">
              <a:latin typeface="楷体_GB2312" pitchFamily="49" charset="-122"/>
              <a:ea typeface="楷体_GB2312" pitchFamily="49" charset="-122"/>
            </a:endParaRPr>
          </a:p>
          <a:p>
            <a:pPr algn="l" eaLnBrk="1" hangingPunct="1"/>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15</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D</a:t>
            </a:r>
            <a:r>
              <a:rPr lang="en-US" altLang="zh-CN" baseline="-25000" dirty="0">
                <a:solidFill>
                  <a:srgbClr val="FF0000"/>
                </a:solidFill>
                <a:latin typeface="楷体_GB2312" pitchFamily="49" charset="-122"/>
                <a:ea typeface="楷体_GB2312" pitchFamily="49" charset="-122"/>
              </a:rPr>
              <a:t>3</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T</a:t>
            </a:r>
            <a:r>
              <a:rPr lang="en-US" altLang="zh-CN" baseline="-25000" dirty="0">
                <a:solidFill>
                  <a:srgbClr val="0070C0"/>
                </a:solidFill>
                <a:latin typeface="楷体_GB2312" pitchFamily="49" charset="-122"/>
                <a:ea typeface="楷体_GB2312" pitchFamily="49" charset="-122"/>
              </a:rPr>
              <a:t>3</a:t>
            </a:r>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11</a:t>
            </a:r>
            <a:endParaRPr lang="zh-CN" altLang="en-US" dirty="0">
              <a:latin typeface="楷体_GB2312" pitchFamily="49" charset="-122"/>
              <a:ea typeface="楷体_GB2312" pitchFamily="49" charset="-122"/>
            </a:endParaRPr>
          </a:p>
        </p:txBody>
      </p:sp>
      <p:sp>
        <p:nvSpPr>
          <p:cNvPr id="159750" name="矩形 6"/>
          <p:cNvSpPr>
            <a:spLocks noChangeArrowheads="1"/>
          </p:cNvSpPr>
          <p:nvPr/>
        </p:nvSpPr>
        <p:spPr bwMode="auto">
          <a:xfrm>
            <a:off x="1214438" y="4214813"/>
            <a:ext cx="37147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59751" name="TextBox 7"/>
          <p:cNvSpPr txBox="1">
            <a:spLocks noChangeArrowheads="1"/>
          </p:cNvSpPr>
          <p:nvPr/>
        </p:nvSpPr>
        <p:spPr bwMode="auto">
          <a:xfrm>
            <a:off x="1979712" y="4293096"/>
            <a:ext cx="4659411" cy="1200329"/>
          </a:xfrm>
          <a:prstGeom prst="rect">
            <a:avLst/>
          </a:prstGeom>
          <a:solidFill>
            <a:srgbClr val="66FF99"/>
          </a:solidFill>
          <a:ln w="28575">
            <a:solidFill>
              <a:schemeClr val="tx1"/>
            </a:solid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1800" dirty="0">
                <a:solidFill>
                  <a:srgbClr val="FF0000"/>
                </a:solidFill>
                <a:latin typeface="楷体_GB2312" pitchFamily="49" charset="-122"/>
                <a:ea typeface="楷体_GB2312" pitchFamily="49" charset="-122"/>
              </a:rPr>
              <a:t>D</a:t>
            </a:r>
            <a:r>
              <a:rPr lang="en-US" altLang="zh-CN" sz="1800" baseline="-25000" dirty="0">
                <a:solidFill>
                  <a:srgbClr val="FF0000"/>
                </a:solidFill>
                <a:latin typeface="楷体_GB2312" pitchFamily="49" charset="-122"/>
                <a:ea typeface="楷体_GB2312" pitchFamily="49" charset="-122"/>
              </a:rPr>
              <a:t>0</a:t>
            </a:r>
            <a:r>
              <a:rPr lang="en-US" altLang="zh-CN" sz="1800" dirty="0">
                <a:solidFill>
                  <a:schemeClr val="tx2"/>
                </a:solidFill>
                <a:latin typeface="楷体_GB2312" pitchFamily="49" charset="-122"/>
                <a:ea typeface="楷体_GB2312" pitchFamily="49" charset="-122"/>
              </a:rPr>
              <a:t>=</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3</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3</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2</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3</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2</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3</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2</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0</a:t>
            </a:r>
            <a:r>
              <a:rPr lang="zh-CN" altLang="en-US" sz="1800" baseline="-25000" dirty="0">
                <a:solidFill>
                  <a:srgbClr val="FF0000"/>
                </a:solidFill>
                <a:latin typeface="楷体_GB2312" pitchFamily="49" charset="-122"/>
                <a:ea typeface="楷体_GB2312" pitchFamily="49" charset="-122"/>
              </a:rPr>
              <a:t>     </a:t>
            </a:r>
            <a:r>
              <a:rPr lang="en-US" altLang="zh-CN" sz="1800" dirty="0">
                <a:solidFill>
                  <a:srgbClr val="FF0000"/>
                </a:solidFill>
                <a:latin typeface="楷体_GB2312" pitchFamily="49" charset="-122"/>
                <a:ea typeface="楷体_GB2312" pitchFamily="49" charset="-122"/>
              </a:rPr>
              <a:t>D</a:t>
            </a:r>
            <a:r>
              <a:rPr lang="en-US" altLang="zh-CN" sz="1800" baseline="-25000" dirty="0">
                <a:solidFill>
                  <a:srgbClr val="FF0000"/>
                </a:solidFill>
                <a:latin typeface="楷体_GB2312" pitchFamily="49" charset="-122"/>
                <a:ea typeface="楷体_GB2312" pitchFamily="49" charset="-122"/>
              </a:rPr>
              <a:t>1</a:t>
            </a:r>
            <a:r>
              <a:rPr lang="en-US" altLang="zh-CN" sz="1800" dirty="0">
                <a:solidFill>
                  <a:schemeClr val="tx2"/>
                </a:solidFill>
                <a:latin typeface="楷体_GB2312" pitchFamily="49" charset="-122"/>
                <a:ea typeface="楷体_GB2312" pitchFamily="49" charset="-122"/>
              </a:rPr>
              <a:t>=</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7</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7</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6</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7</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6</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5</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7</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6</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5</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4</a:t>
            </a:r>
            <a:r>
              <a:rPr lang="zh-CN" altLang="en-US" sz="1800" baseline="-25000" dirty="0">
                <a:solidFill>
                  <a:srgbClr val="FF0000"/>
                </a:solidFill>
                <a:latin typeface="楷体_GB2312" pitchFamily="49" charset="-122"/>
                <a:ea typeface="楷体_GB2312" pitchFamily="49" charset="-122"/>
              </a:rPr>
              <a:t>    </a:t>
            </a:r>
            <a:r>
              <a:rPr lang="en-US" altLang="zh-CN" sz="1800" dirty="0">
                <a:solidFill>
                  <a:srgbClr val="FF0000"/>
                </a:solidFill>
                <a:latin typeface="楷体_GB2312" pitchFamily="49" charset="-122"/>
                <a:ea typeface="楷体_GB2312" pitchFamily="49" charset="-122"/>
              </a:rPr>
              <a:t>D</a:t>
            </a:r>
            <a:r>
              <a:rPr lang="en-US" altLang="zh-CN" sz="1800" baseline="-25000" dirty="0">
                <a:solidFill>
                  <a:srgbClr val="FF0000"/>
                </a:solidFill>
                <a:latin typeface="楷体_GB2312" pitchFamily="49" charset="-122"/>
                <a:ea typeface="楷体_GB2312" pitchFamily="49" charset="-122"/>
              </a:rPr>
              <a:t>2</a:t>
            </a:r>
            <a:r>
              <a:rPr lang="en-US" altLang="zh-CN" sz="1800" dirty="0">
                <a:solidFill>
                  <a:schemeClr val="tx2"/>
                </a:solidFill>
                <a:latin typeface="楷体_GB2312" pitchFamily="49" charset="-122"/>
                <a:ea typeface="楷体_GB2312" pitchFamily="49" charset="-122"/>
              </a:rPr>
              <a:t>=</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11</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11</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10</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11</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10</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9</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11</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10</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9</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8</a:t>
            </a:r>
          </a:p>
          <a:p>
            <a:pPr algn="l" eaLnBrk="1" hangingPunct="1"/>
            <a:r>
              <a:rPr lang="en-US" altLang="zh-CN" sz="1800" dirty="0">
                <a:solidFill>
                  <a:srgbClr val="FF0000"/>
                </a:solidFill>
                <a:latin typeface="楷体_GB2312" pitchFamily="49" charset="-122"/>
                <a:ea typeface="楷体_GB2312" pitchFamily="49" charset="-122"/>
              </a:rPr>
              <a:t>D</a:t>
            </a:r>
            <a:r>
              <a:rPr lang="en-US" altLang="zh-CN" sz="1800" baseline="-25000" dirty="0">
                <a:solidFill>
                  <a:srgbClr val="FF0000"/>
                </a:solidFill>
                <a:latin typeface="楷体_GB2312" pitchFamily="49" charset="-122"/>
                <a:ea typeface="楷体_GB2312" pitchFamily="49" charset="-122"/>
              </a:rPr>
              <a:t>3</a:t>
            </a:r>
            <a:r>
              <a:rPr lang="en-US" altLang="zh-CN" sz="1800" dirty="0">
                <a:solidFill>
                  <a:schemeClr val="tx2"/>
                </a:solidFill>
                <a:latin typeface="楷体_GB2312" pitchFamily="49" charset="-122"/>
                <a:ea typeface="楷体_GB2312" pitchFamily="49" charset="-122"/>
              </a:rPr>
              <a:t>=</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15</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15</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14</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15</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14</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13</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15</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14</a:t>
            </a:r>
            <a:r>
              <a:rPr lang="en-US" altLang="zh-CN" sz="1800" dirty="0">
                <a:solidFill>
                  <a:srgbClr val="FF0000"/>
                </a:solidFill>
                <a:latin typeface="楷体_GB2312" pitchFamily="49" charset="-122"/>
                <a:ea typeface="楷体_GB2312" pitchFamily="49" charset="-122"/>
              </a:rPr>
              <a:t>P</a:t>
            </a:r>
            <a:r>
              <a:rPr lang="en-US" altLang="zh-CN" sz="1800" baseline="-25000" dirty="0">
                <a:solidFill>
                  <a:srgbClr val="FF0000"/>
                </a:solidFill>
                <a:latin typeface="楷体_GB2312" pitchFamily="49" charset="-122"/>
                <a:ea typeface="楷体_GB2312" pitchFamily="49" charset="-122"/>
              </a:rPr>
              <a:t>13</a:t>
            </a:r>
            <a:r>
              <a:rPr lang="en-US" altLang="zh-CN" sz="1800" dirty="0">
                <a:solidFill>
                  <a:srgbClr val="FF0000"/>
                </a:solidFill>
                <a:latin typeface="楷体_GB2312" pitchFamily="49" charset="-122"/>
                <a:ea typeface="楷体_GB2312" pitchFamily="49" charset="-122"/>
              </a:rPr>
              <a:t>G</a:t>
            </a:r>
            <a:r>
              <a:rPr lang="en-US" altLang="zh-CN" sz="1800" baseline="-25000" dirty="0">
                <a:solidFill>
                  <a:srgbClr val="FF0000"/>
                </a:solidFill>
                <a:latin typeface="楷体_GB2312" pitchFamily="49" charset="-122"/>
                <a:ea typeface="楷体_GB2312" pitchFamily="49" charset="-122"/>
              </a:rPr>
              <a:t>12</a:t>
            </a:r>
            <a:endParaRPr lang="zh-CN" altLang="en-US" sz="1800" dirty="0">
              <a:latin typeface="楷体_GB2312" pitchFamily="49" charset="-122"/>
              <a:ea typeface="楷体_GB2312" pitchFamily="49" charset="-122"/>
            </a:endParaRPr>
          </a:p>
        </p:txBody>
      </p:sp>
      <p:sp>
        <p:nvSpPr>
          <p:cNvPr id="159752" name="TextBox 8"/>
          <p:cNvSpPr txBox="1">
            <a:spLocks noChangeArrowheads="1"/>
          </p:cNvSpPr>
          <p:nvPr/>
        </p:nvSpPr>
        <p:spPr bwMode="auto">
          <a:xfrm>
            <a:off x="6719553" y="4293096"/>
            <a:ext cx="2244935" cy="120032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1800" dirty="0">
                <a:solidFill>
                  <a:srgbClr val="0070C0"/>
                </a:solidFill>
                <a:latin typeface="楷体_GB2312" pitchFamily="49" charset="-122"/>
                <a:ea typeface="楷体_GB2312" pitchFamily="49" charset="-122"/>
              </a:rPr>
              <a:t>T</a:t>
            </a:r>
            <a:r>
              <a:rPr lang="en-US" altLang="zh-CN" sz="1800" baseline="-25000" dirty="0">
                <a:solidFill>
                  <a:srgbClr val="0070C0"/>
                </a:solidFill>
                <a:latin typeface="楷体_GB2312" pitchFamily="49" charset="-122"/>
                <a:ea typeface="楷体_GB2312" pitchFamily="49" charset="-122"/>
              </a:rPr>
              <a:t>0</a:t>
            </a:r>
            <a:r>
              <a:rPr lang="en-US" altLang="zh-CN" sz="1800" dirty="0">
                <a:solidFill>
                  <a:schemeClr val="tx2"/>
                </a:solidFill>
                <a:latin typeface="楷体_GB2312" pitchFamily="49" charset="-122"/>
                <a:ea typeface="楷体_GB2312" pitchFamily="49" charset="-122"/>
              </a:rPr>
              <a:t>=</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3</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2</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0</a:t>
            </a:r>
            <a:endParaRPr lang="zh-CN" altLang="en-US" sz="1800" dirty="0">
              <a:latin typeface="楷体_GB2312" pitchFamily="49" charset="-122"/>
              <a:ea typeface="楷体_GB2312" pitchFamily="49" charset="-122"/>
            </a:endParaRPr>
          </a:p>
          <a:p>
            <a:pPr algn="l" eaLnBrk="1" hangingPunct="1"/>
            <a:r>
              <a:rPr lang="en-US" altLang="zh-CN" sz="1800" dirty="0">
                <a:solidFill>
                  <a:srgbClr val="0070C0"/>
                </a:solidFill>
                <a:latin typeface="楷体_GB2312" pitchFamily="49" charset="-122"/>
                <a:ea typeface="楷体_GB2312" pitchFamily="49" charset="-122"/>
              </a:rPr>
              <a:t>T</a:t>
            </a:r>
            <a:r>
              <a:rPr lang="en-US" altLang="zh-CN" sz="1800" baseline="-25000" dirty="0">
                <a:solidFill>
                  <a:srgbClr val="0070C0"/>
                </a:solidFill>
                <a:latin typeface="楷体_GB2312" pitchFamily="49" charset="-122"/>
                <a:ea typeface="楷体_GB2312" pitchFamily="49" charset="-122"/>
              </a:rPr>
              <a:t>1</a:t>
            </a:r>
            <a:r>
              <a:rPr lang="en-US" altLang="zh-CN" sz="1800" dirty="0">
                <a:solidFill>
                  <a:schemeClr val="tx2"/>
                </a:solidFill>
                <a:latin typeface="楷体_GB2312" pitchFamily="49" charset="-122"/>
                <a:ea typeface="楷体_GB2312" pitchFamily="49" charset="-122"/>
              </a:rPr>
              <a:t>=</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7</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6</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5</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4</a:t>
            </a:r>
            <a:endParaRPr lang="zh-CN" altLang="en-US" sz="1800" dirty="0">
              <a:latin typeface="楷体_GB2312" pitchFamily="49" charset="-122"/>
              <a:ea typeface="楷体_GB2312" pitchFamily="49" charset="-122"/>
            </a:endParaRPr>
          </a:p>
          <a:p>
            <a:pPr algn="l" eaLnBrk="1" hangingPunct="1"/>
            <a:r>
              <a:rPr lang="en-US" altLang="zh-CN" sz="1800" dirty="0">
                <a:solidFill>
                  <a:srgbClr val="0070C0"/>
                </a:solidFill>
                <a:latin typeface="楷体_GB2312" pitchFamily="49" charset="-122"/>
                <a:ea typeface="楷体_GB2312" pitchFamily="49" charset="-122"/>
              </a:rPr>
              <a:t>T</a:t>
            </a:r>
            <a:r>
              <a:rPr lang="en-US" altLang="zh-CN" sz="1800" baseline="-25000" dirty="0">
                <a:solidFill>
                  <a:srgbClr val="0070C0"/>
                </a:solidFill>
                <a:latin typeface="楷体_GB2312" pitchFamily="49" charset="-122"/>
                <a:ea typeface="楷体_GB2312" pitchFamily="49" charset="-122"/>
              </a:rPr>
              <a:t>2</a:t>
            </a:r>
            <a:r>
              <a:rPr lang="en-US" altLang="zh-CN" sz="1800" dirty="0">
                <a:solidFill>
                  <a:schemeClr val="tx2"/>
                </a:solidFill>
                <a:latin typeface="楷体_GB2312" pitchFamily="49" charset="-122"/>
                <a:ea typeface="楷体_GB2312" pitchFamily="49" charset="-122"/>
              </a:rPr>
              <a:t>=</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11</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10</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9</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8</a:t>
            </a:r>
            <a:endParaRPr lang="zh-CN" altLang="en-US" sz="1800" dirty="0">
              <a:latin typeface="楷体_GB2312" pitchFamily="49" charset="-122"/>
              <a:ea typeface="楷体_GB2312" pitchFamily="49" charset="-122"/>
            </a:endParaRPr>
          </a:p>
          <a:p>
            <a:pPr algn="l" eaLnBrk="1" hangingPunct="1"/>
            <a:r>
              <a:rPr lang="en-US" altLang="zh-CN" sz="1800" dirty="0">
                <a:solidFill>
                  <a:srgbClr val="0070C0"/>
                </a:solidFill>
                <a:latin typeface="楷体_GB2312" pitchFamily="49" charset="-122"/>
                <a:ea typeface="楷体_GB2312" pitchFamily="49" charset="-122"/>
              </a:rPr>
              <a:t>T</a:t>
            </a:r>
            <a:r>
              <a:rPr lang="en-US" altLang="zh-CN" sz="1800" baseline="-25000" dirty="0">
                <a:solidFill>
                  <a:srgbClr val="0070C0"/>
                </a:solidFill>
                <a:latin typeface="楷体_GB2312" pitchFamily="49" charset="-122"/>
                <a:ea typeface="楷体_GB2312" pitchFamily="49" charset="-122"/>
              </a:rPr>
              <a:t>3</a:t>
            </a:r>
            <a:r>
              <a:rPr lang="en-US" altLang="zh-CN" sz="1800" dirty="0">
                <a:solidFill>
                  <a:schemeClr val="tx2"/>
                </a:solidFill>
                <a:latin typeface="楷体_GB2312" pitchFamily="49" charset="-122"/>
                <a:ea typeface="楷体_GB2312" pitchFamily="49" charset="-122"/>
              </a:rPr>
              <a:t>=</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15</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14</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13</a:t>
            </a:r>
            <a:r>
              <a:rPr lang="en-US" altLang="zh-CN" sz="1800" dirty="0">
                <a:solidFill>
                  <a:srgbClr val="0070C0"/>
                </a:solidFill>
                <a:latin typeface="楷体_GB2312" pitchFamily="49" charset="-122"/>
                <a:ea typeface="楷体_GB2312" pitchFamily="49" charset="-122"/>
              </a:rPr>
              <a:t>P</a:t>
            </a:r>
            <a:r>
              <a:rPr lang="en-US" altLang="zh-CN" sz="1800" baseline="-25000" dirty="0">
                <a:solidFill>
                  <a:srgbClr val="0070C0"/>
                </a:solidFill>
                <a:latin typeface="楷体_GB2312" pitchFamily="49" charset="-122"/>
                <a:ea typeface="楷体_GB2312" pitchFamily="49" charset="-122"/>
              </a:rPr>
              <a:t>12</a:t>
            </a:r>
            <a:endParaRPr lang="zh-CN" altLang="en-US" sz="1800" dirty="0"/>
          </a:p>
        </p:txBody>
      </p:sp>
    </p:spTree>
    <p:extLst>
      <p:ext uri="{BB962C8B-B14F-4D97-AF65-F5344CB8AC3E}">
        <p14:creationId xmlns:p14="http://schemas.microsoft.com/office/powerpoint/2010/main" val="395515986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60771" name="TextBox 4"/>
          <p:cNvSpPr txBox="1">
            <a:spLocks noChangeArrowheads="1"/>
          </p:cNvSpPr>
          <p:nvPr/>
        </p:nvSpPr>
        <p:spPr bwMode="auto">
          <a:xfrm>
            <a:off x="539552" y="1942901"/>
            <a:ext cx="5929313" cy="2062163"/>
          </a:xfrm>
          <a:prstGeom prst="rect">
            <a:avLst/>
          </a:prstGeom>
          <a:solidFill>
            <a:srgbClr val="A7E8FF"/>
          </a:solidFill>
          <a:ln>
            <a:noFill/>
          </a:ln>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D</a:t>
            </a:r>
            <a:r>
              <a:rPr lang="en-US" altLang="zh-CN" sz="3200" baseline="-25000" dirty="0">
                <a:solidFill>
                  <a:srgbClr val="FF000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a:t>
            </a:r>
            <a:r>
              <a:rPr lang="en-US" altLang="zh-CN" sz="3200" dirty="0">
                <a:solidFill>
                  <a:srgbClr val="0070C0"/>
                </a:solidFill>
                <a:latin typeface="楷体_GB2312" pitchFamily="49" charset="-122"/>
                <a:ea typeface="楷体_GB2312" pitchFamily="49" charset="-122"/>
              </a:rPr>
              <a:t>T</a:t>
            </a:r>
            <a:r>
              <a:rPr lang="en-US" altLang="zh-CN" sz="3200" baseline="-25000" dirty="0">
                <a:solidFill>
                  <a:srgbClr val="0070C0"/>
                </a:solidFill>
                <a:latin typeface="楷体_GB2312" pitchFamily="49" charset="-122"/>
                <a:ea typeface="楷体_GB2312" pitchFamily="49" charset="-122"/>
              </a:rPr>
              <a:t>0</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m</a:t>
            </a:r>
            <a:endParaRPr lang="zh-CN" altLang="en-US" sz="3200" dirty="0">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7</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D</a:t>
            </a:r>
            <a:r>
              <a:rPr lang="en-US" altLang="zh-CN" sz="3200" baseline="-25000" dirty="0">
                <a:solidFill>
                  <a:srgbClr val="FF000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a:t>
            </a:r>
            <a:r>
              <a:rPr lang="en-US" altLang="zh-CN" sz="3200" dirty="0">
                <a:solidFill>
                  <a:srgbClr val="0070C0"/>
                </a:solidFill>
                <a:latin typeface="楷体_GB2312" pitchFamily="49" charset="-122"/>
                <a:ea typeface="楷体_GB2312" pitchFamily="49" charset="-122"/>
              </a:rPr>
              <a:t>T</a:t>
            </a:r>
            <a:r>
              <a:rPr lang="en-US" altLang="zh-CN" sz="3200" baseline="-25000" dirty="0">
                <a:solidFill>
                  <a:srgbClr val="0070C0"/>
                </a:solidFill>
                <a:latin typeface="楷体_GB2312" pitchFamily="49" charset="-122"/>
                <a:ea typeface="楷体_GB2312" pitchFamily="49" charset="-122"/>
              </a:rPr>
              <a:t>1</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3</a:t>
            </a:r>
            <a:endParaRPr lang="zh-CN" altLang="en-US" sz="3200" dirty="0">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11</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D</a:t>
            </a:r>
            <a:r>
              <a:rPr lang="en-US" altLang="zh-CN" sz="3200" baseline="-25000" dirty="0">
                <a:solidFill>
                  <a:srgbClr val="FF0000"/>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a:t>
            </a:r>
            <a:r>
              <a:rPr lang="en-US" altLang="zh-CN" sz="3200" dirty="0">
                <a:solidFill>
                  <a:srgbClr val="0070C0"/>
                </a:solidFill>
                <a:latin typeface="楷体_GB2312" pitchFamily="49" charset="-122"/>
                <a:ea typeface="楷体_GB2312" pitchFamily="49" charset="-122"/>
              </a:rPr>
              <a:t>T</a:t>
            </a:r>
            <a:r>
              <a:rPr lang="en-US" altLang="zh-CN" sz="3200" baseline="-25000" dirty="0">
                <a:solidFill>
                  <a:srgbClr val="0070C0"/>
                </a:solidFill>
                <a:latin typeface="楷体_GB2312" pitchFamily="49" charset="-122"/>
                <a:ea typeface="楷体_GB2312" pitchFamily="49" charset="-122"/>
              </a:rPr>
              <a:t>2</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7</a:t>
            </a:r>
            <a:endParaRPr lang="zh-CN" altLang="en-US" sz="3200" dirty="0">
              <a:latin typeface="楷体_GB2312" pitchFamily="49" charset="-122"/>
              <a:ea typeface="楷体_GB2312" pitchFamily="49" charset="-122"/>
            </a:endParaRPr>
          </a:p>
          <a:p>
            <a:pPr algn="l" eaLnBrk="1" hangingPunct="1"/>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15</a:t>
            </a:r>
            <a:r>
              <a:rPr lang="en-US" altLang="zh-CN" sz="3200" dirty="0">
                <a:solidFill>
                  <a:schemeClr val="tx2"/>
                </a:solidFill>
                <a:latin typeface="楷体_GB2312" pitchFamily="49" charset="-122"/>
                <a:ea typeface="楷体_GB2312" pitchFamily="49" charset="-122"/>
              </a:rPr>
              <a:t>=</a:t>
            </a:r>
            <a:r>
              <a:rPr lang="en-US" altLang="zh-CN" sz="3200" dirty="0">
                <a:solidFill>
                  <a:srgbClr val="FF0000"/>
                </a:solidFill>
                <a:latin typeface="楷体_GB2312" pitchFamily="49" charset="-122"/>
                <a:ea typeface="楷体_GB2312" pitchFamily="49" charset="-122"/>
              </a:rPr>
              <a:t>D</a:t>
            </a:r>
            <a:r>
              <a:rPr lang="en-US" altLang="zh-CN" sz="3200" baseline="-25000" dirty="0">
                <a:solidFill>
                  <a:srgbClr val="FF0000"/>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a:t>
            </a:r>
            <a:r>
              <a:rPr lang="en-US" altLang="zh-CN" sz="3200" dirty="0">
                <a:solidFill>
                  <a:srgbClr val="0070C0"/>
                </a:solidFill>
                <a:latin typeface="楷体_GB2312" pitchFamily="49" charset="-122"/>
                <a:ea typeface="楷体_GB2312" pitchFamily="49" charset="-122"/>
              </a:rPr>
              <a:t>T</a:t>
            </a:r>
            <a:r>
              <a:rPr lang="en-US" altLang="zh-CN" sz="3200" baseline="-25000" dirty="0">
                <a:solidFill>
                  <a:srgbClr val="0070C0"/>
                </a:solidFill>
                <a:latin typeface="楷体_GB2312" pitchFamily="49" charset="-122"/>
                <a:ea typeface="楷体_GB2312" pitchFamily="49" charset="-122"/>
              </a:rPr>
              <a:t>3</a:t>
            </a:r>
            <a:r>
              <a:rPr lang="en-US" altLang="zh-CN" sz="3200" dirty="0">
                <a:solidFill>
                  <a:schemeClr val="tx2"/>
                </a:solidFill>
                <a:latin typeface="楷体_GB2312" pitchFamily="49" charset="-122"/>
                <a:ea typeface="楷体_GB2312" pitchFamily="49" charset="-122"/>
              </a:rPr>
              <a:t>C</a:t>
            </a:r>
            <a:r>
              <a:rPr lang="en-US" altLang="zh-CN" sz="3200" baseline="-25000" dirty="0">
                <a:solidFill>
                  <a:schemeClr val="tx2"/>
                </a:solidFill>
                <a:latin typeface="楷体_GB2312" pitchFamily="49" charset="-122"/>
                <a:ea typeface="楷体_GB2312" pitchFamily="49" charset="-122"/>
              </a:rPr>
              <a:t>11</a:t>
            </a:r>
            <a:endParaRPr lang="zh-CN" altLang="en-US" sz="3200" dirty="0">
              <a:latin typeface="楷体_GB2312" pitchFamily="49" charset="-122"/>
              <a:ea typeface="楷体_GB2312" pitchFamily="49" charset="-122"/>
            </a:endParaRPr>
          </a:p>
        </p:txBody>
      </p:sp>
      <p:sp>
        <p:nvSpPr>
          <p:cNvPr id="160772" name="矩形 6"/>
          <p:cNvSpPr>
            <a:spLocks noChangeArrowheads="1"/>
          </p:cNvSpPr>
          <p:nvPr/>
        </p:nvSpPr>
        <p:spPr bwMode="auto">
          <a:xfrm>
            <a:off x="1214438" y="4214813"/>
            <a:ext cx="37147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60773" name="TextBox 10"/>
          <p:cNvSpPr txBox="1">
            <a:spLocks noChangeArrowheads="1"/>
          </p:cNvSpPr>
          <p:nvPr/>
        </p:nvSpPr>
        <p:spPr bwMode="auto">
          <a:xfrm>
            <a:off x="539552" y="4348163"/>
            <a:ext cx="8208912" cy="1815882"/>
          </a:xfrm>
          <a:prstGeom prst="rect">
            <a:avLst/>
          </a:prstGeom>
          <a:solidFill>
            <a:srgbClr val="A7E8FF"/>
          </a:solidFill>
          <a:ln>
            <a:no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3</a:t>
            </a:r>
            <a:r>
              <a:rPr lang="en-US" altLang="zh-CN" sz="2800" dirty="0">
                <a:solidFill>
                  <a:schemeClr val="tx2"/>
                </a:solidFill>
                <a:latin typeface="楷体_GB2312" pitchFamily="49" charset="-122"/>
                <a:ea typeface="楷体_GB2312" pitchFamily="49" charset="-122"/>
              </a:rPr>
              <a:t>=</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m</a:t>
            </a:r>
            <a:endParaRPr lang="zh-CN" altLang="en-US" sz="2800" dirty="0">
              <a:latin typeface="楷体_GB2312" pitchFamily="49" charset="-122"/>
              <a:ea typeface="楷体_GB2312" pitchFamily="49" charset="-122"/>
            </a:endParaRPr>
          </a:p>
          <a:p>
            <a:pPr algn="l" eaLnBrk="1" hangingPunct="1"/>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7</a:t>
            </a:r>
            <a:r>
              <a:rPr lang="en-US" altLang="zh-CN" sz="2800" dirty="0">
                <a:solidFill>
                  <a:schemeClr val="tx2"/>
                </a:solidFill>
                <a:latin typeface="楷体_GB2312" pitchFamily="49" charset="-122"/>
                <a:ea typeface="楷体_GB2312" pitchFamily="49" charset="-122"/>
              </a:rPr>
              <a:t>=</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1</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m</a:t>
            </a:r>
            <a:endParaRPr lang="zh-CN" altLang="en-US" sz="2800" dirty="0">
              <a:latin typeface="楷体_GB2312" pitchFamily="49" charset="-122"/>
              <a:ea typeface="楷体_GB2312" pitchFamily="49" charset="-122"/>
            </a:endParaRPr>
          </a:p>
          <a:p>
            <a:pPr algn="l" eaLnBrk="1" hangingPunct="1"/>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11</a:t>
            </a:r>
            <a:r>
              <a:rPr lang="en-US" altLang="zh-CN" sz="2800" dirty="0">
                <a:solidFill>
                  <a:schemeClr val="tx2"/>
                </a:solidFill>
                <a:latin typeface="楷体_GB2312" pitchFamily="49" charset="-122"/>
                <a:ea typeface="楷体_GB2312" pitchFamily="49" charset="-122"/>
              </a:rPr>
              <a:t>=</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2</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1</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m</a:t>
            </a:r>
            <a:endParaRPr lang="zh-CN" altLang="en-US" sz="2800" dirty="0">
              <a:latin typeface="楷体_GB2312" pitchFamily="49" charset="-122"/>
              <a:ea typeface="楷体_GB2312" pitchFamily="49" charset="-122"/>
            </a:endParaRPr>
          </a:p>
          <a:p>
            <a:pPr algn="l" eaLnBrk="1" hangingPunct="1"/>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15</a:t>
            </a:r>
            <a:r>
              <a:rPr lang="en-US" altLang="zh-CN" sz="2800" dirty="0">
                <a:solidFill>
                  <a:schemeClr val="tx2"/>
                </a:solidFill>
                <a:latin typeface="楷体_GB2312" pitchFamily="49" charset="-122"/>
                <a:ea typeface="楷体_GB2312" pitchFamily="49" charset="-122"/>
              </a:rPr>
              <a:t>=</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3</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3</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2</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3</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1</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3</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FF0000"/>
                </a:solidFill>
                <a:latin typeface="楷体_GB2312" pitchFamily="49" charset="-122"/>
                <a:ea typeface="楷体_GB2312" pitchFamily="49" charset="-122"/>
              </a:rPr>
              <a:t>D</a:t>
            </a:r>
            <a:r>
              <a:rPr lang="en-US" altLang="zh-CN" sz="2800" baseline="-25000" dirty="0">
                <a:solidFill>
                  <a:srgbClr val="FF000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3</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2</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1</a:t>
            </a:r>
            <a:r>
              <a:rPr lang="en-US" altLang="zh-CN" sz="2800" dirty="0">
                <a:solidFill>
                  <a:srgbClr val="0070C0"/>
                </a:solidFill>
                <a:latin typeface="楷体_GB2312" pitchFamily="49" charset="-122"/>
                <a:ea typeface="楷体_GB2312" pitchFamily="49" charset="-122"/>
              </a:rPr>
              <a:t>T</a:t>
            </a:r>
            <a:r>
              <a:rPr lang="en-US" altLang="zh-CN" sz="2800" baseline="-25000" dirty="0">
                <a:solidFill>
                  <a:srgbClr val="0070C0"/>
                </a:solidFill>
                <a:latin typeface="楷体_GB2312" pitchFamily="49" charset="-122"/>
                <a:ea typeface="楷体_GB2312" pitchFamily="49" charset="-122"/>
              </a:rPr>
              <a:t>0</a:t>
            </a:r>
            <a:r>
              <a:rPr lang="en-US" altLang="zh-CN" sz="2800" dirty="0">
                <a:solidFill>
                  <a:schemeClr val="tx2"/>
                </a:solidFill>
                <a:latin typeface="楷体_GB2312" pitchFamily="49" charset="-122"/>
                <a:ea typeface="楷体_GB2312" pitchFamily="49" charset="-122"/>
              </a:rPr>
              <a:t>C</a:t>
            </a:r>
            <a:r>
              <a:rPr lang="en-US" altLang="zh-CN" sz="2800" baseline="-25000" dirty="0">
                <a:solidFill>
                  <a:schemeClr val="tx2"/>
                </a:solidFill>
                <a:latin typeface="楷体_GB2312" pitchFamily="49" charset="-122"/>
                <a:ea typeface="楷体_GB2312" pitchFamily="49" charset="-122"/>
              </a:rPr>
              <a:t>m</a:t>
            </a:r>
            <a:endParaRPr lang="zh-CN" altLang="en-US" sz="2800" dirty="0"/>
          </a:p>
        </p:txBody>
      </p:sp>
    </p:spTree>
    <p:extLst>
      <p:ext uri="{BB962C8B-B14F-4D97-AF65-F5344CB8AC3E}">
        <p14:creationId xmlns:p14="http://schemas.microsoft.com/office/powerpoint/2010/main" val="49900654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61795" name="矩形 6"/>
          <p:cNvSpPr>
            <a:spLocks noChangeArrowheads="1"/>
          </p:cNvSpPr>
          <p:nvPr/>
        </p:nvSpPr>
        <p:spPr bwMode="auto">
          <a:xfrm>
            <a:off x="1214438" y="4214813"/>
            <a:ext cx="37147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sp>
        <p:nvSpPr>
          <p:cNvPr id="161796" name="TextBox 10"/>
          <p:cNvSpPr txBox="1">
            <a:spLocks noChangeArrowheads="1"/>
          </p:cNvSpPr>
          <p:nvPr/>
        </p:nvSpPr>
        <p:spPr bwMode="auto">
          <a:xfrm>
            <a:off x="1357313" y="1428750"/>
            <a:ext cx="6383039" cy="1323975"/>
          </a:xfrm>
          <a:prstGeom prst="rect">
            <a:avLst/>
          </a:prstGeom>
          <a:solidFill>
            <a:srgbClr val="A7E8FF"/>
          </a:solidFill>
          <a:ln w="28575">
            <a:solidFill>
              <a:schemeClr val="tx1"/>
            </a:solidFill>
          </a:ln>
        </p:spPr>
        <p:txBody>
          <a:bodyPr wrap="square">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m</a:t>
            </a:r>
            <a:endParaRPr lang="zh-CN" altLang="en-US" sz="2000" dirty="0">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7</a:t>
            </a:r>
            <a:r>
              <a:rPr lang="en-US" altLang="zh-CN" sz="2000" dirty="0">
                <a:solidFill>
                  <a:schemeClr val="tx2"/>
                </a:solidFill>
                <a:latin typeface="楷体_GB2312" pitchFamily="49" charset="-122"/>
                <a:ea typeface="楷体_GB2312" pitchFamily="49" charset="-122"/>
              </a:rPr>
              <a:t>=</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m</a:t>
            </a:r>
            <a:endParaRPr lang="zh-CN" altLang="en-US" sz="2000" dirty="0">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11</a:t>
            </a:r>
            <a:r>
              <a:rPr lang="en-US" altLang="zh-CN" sz="2000" dirty="0">
                <a:solidFill>
                  <a:schemeClr val="tx2"/>
                </a:solidFill>
                <a:latin typeface="楷体_GB2312" pitchFamily="49" charset="-122"/>
                <a:ea typeface="楷体_GB2312" pitchFamily="49" charset="-122"/>
              </a:rPr>
              <a:t>=</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m</a:t>
            </a:r>
            <a:endParaRPr lang="zh-CN" altLang="en-US" sz="2000" dirty="0">
              <a:latin typeface="楷体_GB2312" pitchFamily="49" charset="-122"/>
              <a:ea typeface="楷体_GB2312" pitchFamily="49" charset="-122"/>
            </a:endParaRPr>
          </a:p>
          <a:p>
            <a:pPr algn="l" eaLnBrk="1" hangingPunct="1"/>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15</a:t>
            </a:r>
            <a:r>
              <a:rPr lang="en-US" altLang="zh-CN" sz="2000" dirty="0">
                <a:solidFill>
                  <a:schemeClr val="tx2"/>
                </a:solidFill>
                <a:latin typeface="楷体_GB2312" pitchFamily="49" charset="-122"/>
                <a:ea typeface="楷体_GB2312" pitchFamily="49" charset="-122"/>
              </a:rPr>
              <a:t>=</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3</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3</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2</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3</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1</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3</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FF0000"/>
                </a:solidFill>
                <a:latin typeface="楷体_GB2312" pitchFamily="49" charset="-122"/>
                <a:ea typeface="楷体_GB2312" pitchFamily="49" charset="-122"/>
              </a:rPr>
              <a:t>D</a:t>
            </a:r>
            <a:r>
              <a:rPr lang="en-US" altLang="zh-CN" sz="2000" baseline="-25000" dirty="0">
                <a:solidFill>
                  <a:srgbClr val="FF000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3</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2</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1</a:t>
            </a:r>
            <a:r>
              <a:rPr lang="en-US" altLang="zh-CN" sz="2000" dirty="0">
                <a:solidFill>
                  <a:srgbClr val="0070C0"/>
                </a:solidFill>
                <a:latin typeface="楷体_GB2312" pitchFamily="49" charset="-122"/>
                <a:ea typeface="楷体_GB2312" pitchFamily="49" charset="-122"/>
              </a:rPr>
              <a:t>T</a:t>
            </a:r>
            <a:r>
              <a:rPr lang="en-US" altLang="zh-CN" sz="2000" baseline="-25000" dirty="0">
                <a:solidFill>
                  <a:srgbClr val="0070C0"/>
                </a:solidFill>
                <a:latin typeface="楷体_GB2312" pitchFamily="49" charset="-122"/>
                <a:ea typeface="楷体_GB2312" pitchFamily="49" charset="-122"/>
              </a:rPr>
              <a:t>0</a:t>
            </a:r>
            <a:r>
              <a:rPr lang="en-US" altLang="zh-CN" sz="2000" dirty="0">
                <a:solidFill>
                  <a:schemeClr val="tx2"/>
                </a:solidFill>
                <a:latin typeface="楷体_GB2312" pitchFamily="49" charset="-122"/>
                <a:ea typeface="楷体_GB2312" pitchFamily="49" charset="-122"/>
              </a:rPr>
              <a:t>C</a:t>
            </a:r>
            <a:r>
              <a:rPr lang="en-US" altLang="zh-CN" sz="2000" baseline="-25000" dirty="0">
                <a:solidFill>
                  <a:schemeClr val="tx2"/>
                </a:solidFill>
                <a:latin typeface="楷体_GB2312" pitchFamily="49" charset="-122"/>
                <a:ea typeface="楷体_GB2312" pitchFamily="49" charset="-122"/>
              </a:rPr>
              <a:t>m</a:t>
            </a:r>
            <a:endParaRPr lang="zh-CN" altLang="en-US" sz="2000" dirty="0"/>
          </a:p>
        </p:txBody>
      </p:sp>
      <p:pic>
        <p:nvPicPr>
          <p:cNvPr id="161797" name="图片 5" descr="四位超前进位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3068960"/>
            <a:ext cx="6525914" cy="360251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56533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2.10</a:t>
            </a:r>
            <a:r>
              <a:rPr kumimoji="1" lang="zh-CN" altLang="en-US" sz="2800" kern="0" dirty="0">
                <a:solidFill>
                  <a:schemeClr val="tx2"/>
                </a:solidFill>
                <a:latin typeface="黑体" pitchFamily="2" charset="-122"/>
                <a:ea typeface="黑体" pitchFamily="2" charset="-122"/>
                <a:cs typeface="+mj-cs"/>
              </a:rPr>
              <a:t> 进位链</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62819" name="矩形 6"/>
          <p:cNvSpPr>
            <a:spLocks noChangeArrowheads="1"/>
          </p:cNvSpPr>
          <p:nvPr/>
        </p:nvSpPr>
        <p:spPr bwMode="auto">
          <a:xfrm>
            <a:off x="1214438" y="4214813"/>
            <a:ext cx="37147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type="none" w="sm" len="sm"/>
                <a:tailEnd type="none" w="sm" len="sm"/>
              </a14:hiddenLine>
            </a:ext>
          </a:extLst>
        </p:spPr>
        <p:txBody>
          <a:bodyPr anchor="b">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eaLnBrk="1" hangingPunct="1"/>
            <a:endParaRPr lang="zh-CN" altLang="en-US"/>
          </a:p>
        </p:txBody>
      </p:sp>
      <p:pic>
        <p:nvPicPr>
          <p:cNvPr id="162820" name="图片 7" descr="四位并行进位链.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601" y="836712"/>
            <a:ext cx="6336706"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1" name="图片 8" descr="四位并行进位链(D-T).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9351" y="3933056"/>
            <a:ext cx="6212922"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2" name="TextBox 9"/>
          <p:cNvSpPr txBox="1">
            <a:spLocks noChangeArrowheads="1"/>
          </p:cNvSpPr>
          <p:nvPr/>
        </p:nvSpPr>
        <p:spPr bwMode="auto">
          <a:xfrm>
            <a:off x="6492954" y="3068960"/>
            <a:ext cx="25003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3</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1</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1</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3</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2</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1</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C</a:t>
            </a:r>
            <a:r>
              <a:rPr lang="en-US" altLang="zh-CN" baseline="-25000" dirty="0">
                <a:solidFill>
                  <a:schemeClr val="tx2"/>
                </a:solidFill>
                <a:latin typeface="楷体_GB2312" pitchFamily="49" charset="-122"/>
                <a:ea typeface="楷体_GB2312" pitchFamily="49" charset="-122"/>
              </a:rPr>
              <a:t>m</a:t>
            </a:r>
          </a:p>
          <a:p>
            <a:pPr algn="l" eaLnBrk="1" hangingPunct="1"/>
            <a:r>
              <a:rPr lang="en-US" altLang="zh-CN" dirty="0">
                <a:solidFill>
                  <a:srgbClr val="FF0000"/>
                </a:solidFill>
                <a:latin typeface="楷体_GB2312" pitchFamily="49" charset="-122"/>
                <a:ea typeface="楷体_GB2312" pitchFamily="49" charset="-122"/>
              </a:rPr>
              <a:t>D</a:t>
            </a:r>
            <a:r>
              <a:rPr lang="en-US" altLang="zh-CN" baseline="-25000" dirty="0">
                <a:solidFill>
                  <a:srgbClr val="FF000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1</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P</a:t>
            </a:r>
            <a:r>
              <a:rPr lang="en-US" altLang="zh-CN" baseline="-25000" dirty="0">
                <a:solidFill>
                  <a:srgbClr val="FF0000"/>
                </a:solidFill>
                <a:latin typeface="楷体_GB2312" pitchFamily="49" charset="-122"/>
                <a:ea typeface="楷体_GB2312" pitchFamily="49" charset="-122"/>
              </a:rPr>
              <a:t>1</a:t>
            </a:r>
            <a:r>
              <a:rPr lang="en-US" altLang="zh-CN" dirty="0">
                <a:solidFill>
                  <a:srgbClr val="FF0000"/>
                </a:solidFill>
                <a:latin typeface="楷体_GB2312" pitchFamily="49" charset="-122"/>
                <a:ea typeface="楷体_GB2312" pitchFamily="49" charset="-122"/>
              </a:rPr>
              <a:t>G</a:t>
            </a:r>
            <a:r>
              <a:rPr lang="en-US" altLang="zh-CN" baseline="-25000" dirty="0">
                <a:solidFill>
                  <a:srgbClr val="FF0000"/>
                </a:solidFill>
                <a:latin typeface="楷体_GB2312" pitchFamily="49" charset="-122"/>
                <a:ea typeface="楷体_GB2312" pitchFamily="49" charset="-122"/>
              </a:rPr>
              <a:t>0</a:t>
            </a:r>
          </a:p>
          <a:p>
            <a:pPr algn="l" eaLnBrk="1" hangingPunct="1"/>
            <a:r>
              <a:rPr lang="en-US" altLang="zh-CN" dirty="0">
                <a:solidFill>
                  <a:srgbClr val="0070C0"/>
                </a:solidFill>
                <a:latin typeface="楷体_GB2312" pitchFamily="49" charset="-122"/>
                <a:ea typeface="楷体_GB2312" pitchFamily="49" charset="-122"/>
              </a:rPr>
              <a:t>T</a:t>
            </a:r>
            <a:r>
              <a:rPr lang="en-US" altLang="zh-CN" baseline="-25000" dirty="0">
                <a:solidFill>
                  <a:srgbClr val="0070C0"/>
                </a:solidFill>
                <a:latin typeface="楷体_GB2312" pitchFamily="49" charset="-122"/>
                <a:ea typeface="楷体_GB2312" pitchFamily="49" charset="-122"/>
              </a:rPr>
              <a:t>0</a:t>
            </a:r>
            <a:r>
              <a:rPr lang="en-US" altLang="zh-CN" dirty="0">
                <a:solidFill>
                  <a:schemeClr val="tx2"/>
                </a:solidFill>
                <a:latin typeface="楷体_GB2312" pitchFamily="49" charset="-122"/>
                <a:ea typeface="楷体_GB2312" pitchFamily="49" charset="-122"/>
              </a:rPr>
              <a:t>=</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3</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2</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1</a:t>
            </a:r>
            <a:r>
              <a:rPr lang="en-US" altLang="zh-CN" dirty="0">
                <a:solidFill>
                  <a:srgbClr val="0070C0"/>
                </a:solidFill>
                <a:latin typeface="楷体_GB2312" pitchFamily="49" charset="-122"/>
                <a:ea typeface="楷体_GB2312" pitchFamily="49" charset="-122"/>
              </a:rPr>
              <a:t>P</a:t>
            </a:r>
            <a:r>
              <a:rPr lang="en-US" altLang="zh-CN" baseline="-25000" dirty="0">
                <a:solidFill>
                  <a:srgbClr val="0070C0"/>
                </a:solidFill>
                <a:latin typeface="楷体_GB2312" pitchFamily="49" charset="-122"/>
                <a:ea typeface="楷体_GB2312" pitchFamily="49" charset="-122"/>
              </a:rPr>
              <a:t>0</a:t>
            </a:r>
            <a:endParaRPr lang="zh-CN" altLang="en-US" dirty="0">
              <a:latin typeface="楷体_GB2312" pitchFamily="49" charset="-122"/>
              <a:ea typeface="楷体_GB2312" pitchFamily="49" charset="-122"/>
            </a:endParaRPr>
          </a:p>
          <a:p>
            <a:pPr algn="l" eaLnBrk="1" hangingPunct="1"/>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val="58576042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9" y="1988840"/>
            <a:ext cx="5904656" cy="4251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sp>
        <p:nvSpPr>
          <p:cNvPr id="2" name="矩形 1"/>
          <p:cNvSpPr/>
          <p:nvPr/>
        </p:nvSpPr>
        <p:spPr>
          <a:xfrm>
            <a:off x="1187624" y="1467922"/>
            <a:ext cx="5756704" cy="584775"/>
          </a:xfrm>
          <a:prstGeom prst="rect">
            <a:avLst/>
          </a:prstGeom>
        </p:spPr>
        <p:txBody>
          <a:bodyPr wrap="none">
            <a:spAutoFit/>
          </a:bodyPr>
          <a:lstStyle/>
          <a:p>
            <a:pPr marL="514350" indent="-514350">
              <a:defRPr/>
            </a:pPr>
            <a:r>
              <a:rPr lang="en-US" altLang="zh-CN" sz="3200" b="1" dirty="0">
                <a:solidFill>
                  <a:schemeClr val="tx2"/>
                </a:solidFill>
                <a:latin typeface="楷体_GB2312" pitchFamily="49" charset="-122"/>
                <a:ea typeface="楷体_GB2312" pitchFamily="49" charset="-122"/>
              </a:rPr>
              <a:t>1.</a:t>
            </a:r>
            <a:r>
              <a:rPr lang="zh-CN" altLang="en-US" sz="3200" b="1" dirty="0">
                <a:solidFill>
                  <a:schemeClr val="tx2"/>
                </a:solidFill>
                <a:latin typeface="楷体_GB2312" pitchFamily="49" charset="-122"/>
                <a:ea typeface="楷体_GB2312" pitchFamily="49" charset="-122"/>
              </a:rPr>
              <a:t>四位</a:t>
            </a:r>
            <a:r>
              <a:rPr lang="en-US" altLang="zh-CN" sz="3200" b="1" dirty="0">
                <a:solidFill>
                  <a:schemeClr val="tx2"/>
                </a:solidFill>
                <a:latin typeface="楷体_GB2312" pitchFamily="49" charset="-122"/>
                <a:ea typeface="楷体_GB2312" pitchFamily="49" charset="-122"/>
              </a:rPr>
              <a:t>ALU SN74181</a:t>
            </a:r>
            <a:r>
              <a:rPr lang="zh-CN" altLang="en-US" sz="3200" b="1" dirty="0">
                <a:solidFill>
                  <a:schemeClr val="tx2"/>
                </a:solidFill>
                <a:latin typeface="楷体_GB2312" pitchFamily="49" charset="-122"/>
                <a:ea typeface="楷体_GB2312" pitchFamily="49" charset="-122"/>
              </a:rPr>
              <a:t>逻辑图如下</a:t>
            </a:r>
            <a:endParaRPr lang="en-US" altLang="zh-CN" sz="32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24479927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714375" y="1571625"/>
            <a:ext cx="8001000" cy="2554545"/>
          </a:xfrm>
          <a:prstGeom prst="rect">
            <a:avLst/>
          </a:prstGeom>
          <a:noFill/>
          <a:ln w="9525">
            <a:noFill/>
            <a:miter lim="800000"/>
            <a:headEnd/>
            <a:tailEnd/>
          </a:ln>
        </p:spPr>
        <p:txBody>
          <a:bodyPr>
            <a:spAutoFit/>
          </a:bodyPr>
          <a:lstStyle/>
          <a:p>
            <a:pPr marL="514350" indent="-514350" algn="l">
              <a:defRPr/>
            </a:pPr>
            <a:r>
              <a:rPr lang="en-US" altLang="zh-CN" sz="3200" b="1" dirty="0">
                <a:solidFill>
                  <a:schemeClr val="tx2"/>
                </a:solidFill>
                <a:latin typeface="楷体_GB2312" pitchFamily="49" charset="-122"/>
                <a:ea typeface="楷体_GB2312" pitchFamily="49" charset="-122"/>
              </a:rPr>
              <a:t>   SN74181</a:t>
            </a:r>
            <a:r>
              <a:rPr lang="zh-CN" altLang="en-US" sz="3200" b="1" dirty="0">
                <a:solidFill>
                  <a:schemeClr val="tx2"/>
                </a:solidFill>
                <a:latin typeface="楷体_GB2312" pitchFamily="49" charset="-122"/>
                <a:ea typeface="楷体_GB2312" pitchFamily="49" charset="-122"/>
              </a:rPr>
              <a:t>型</a:t>
            </a:r>
            <a:r>
              <a:rPr lang="en-US" altLang="zh-CN" sz="3200" b="1" dirty="0">
                <a:solidFill>
                  <a:schemeClr val="tx2"/>
                </a:solidFill>
                <a:latin typeface="楷体_GB2312" pitchFamily="49" charset="-122"/>
                <a:ea typeface="楷体_GB2312" pitchFamily="49" charset="-122"/>
              </a:rPr>
              <a:t>ALU</a:t>
            </a:r>
            <a:r>
              <a:rPr lang="zh-CN" altLang="en-US" sz="3200" b="1" dirty="0">
                <a:solidFill>
                  <a:schemeClr val="tx2"/>
                </a:solidFill>
                <a:latin typeface="楷体_GB2312" pitchFamily="49" charset="-122"/>
                <a:ea typeface="楷体_GB2312" pitchFamily="49" charset="-122"/>
              </a:rPr>
              <a:t>在正逻辑下的功能表如下，在功能表中，“加”表示算术加，“</a:t>
            </a:r>
            <a:r>
              <a:rPr lang="en-US" altLang="zh-CN" sz="3200" b="1" dirty="0">
                <a:solidFill>
                  <a:schemeClr val="tx2"/>
                </a:solidFill>
                <a:latin typeface="楷体_GB2312" pitchFamily="49" charset="-122"/>
                <a:ea typeface="楷体_GB2312" pitchFamily="49" charset="-122"/>
              </a:rPr>
              <a:t>+”</a:t>
            </a:r>
            <a:r>
              <a:rPr lang="zh-CN" altLang="en-US" sz="3200" b="1" dirty="0">
                <a:solidFill>
                  <a:schemeClr val="tx2"/>
                </a:solidFill>
                <a:latin typeface="楷体_GB2312" pitchFamily="49" charset="-122"/>
                <a:ea typeface="楷体_GB2312" pitchFamily="49" charset="-122"/>
              </a:rPr>
              <a:t>表示逻辑加。它能执行</a:t>
            </a:r>
            <a:r>
              <a:rPr lang="en-US" altLang="zh-CN" sz="3200" b="1" dirty="0">
                <a:solidFill>
                  <a:schemeClr val="tx2"/>
                </a:solidFill>
                <a:latin typeface="楷体_GB2312" pitchFamily="49" charset="-122"/>
                <a:ea typeface="楷体_GB2312" pitchFamily="49" charset="-122"/>
              </a:rPr>
              <a:t>16</a:t>
            </a:r>
            <a:r>
              <a:rPr lang="zh-CN" altLang="en-US" sz="3200" b="1" dirty="0">
                <a:solidFill>
                  <a:schemeClr val="tx2"/>
                </a:solidFill>
                <a:latin typeface="楷体_GB2312" pitchFamily="49" charset="-122"/>
                <a:ea typeface="楷体_GB2312" pitchFamily="49" charset="-122"/>
              </a:rPr>
              <a:t>种算术运算和</a:t>
            </a:r>
            <a:r>
              <a:rPr lang="en-US" altLang="zh-CN" sz="3200" b="1" dirty="0">
                <a:solidFill>
                  <a:schemeClr val="tx2"/>
                </a:solidFill>
                <a:latin typeface="楷体_GB2312" pitchFamily="49" charset="-122"/>
                <a:ea typeface="楷体_GB2312" pitchFamily="49" charset="-122"/>
              </a:rPr>
              <a:t>16</a:t>
            </a:r>
            <a:r>
              <a:rPr lang="zh-CN" altLang="en-US" sz="3200" b="1" dirty="0">
                <a:solidFill>
                  <a:schemeClr val="tx2"/>
                </a:solidFill>
                <a:latin typeface="楷体_GB2312" pitchFamily="49" charset="-122"/>
                <a:ea typeface="楷体_GB2312" pitchFamily="49" charset="-122"/>
              </a:rPr>
              <a:t>种逻辑运算，</a:t>
            </a:r>
            <a:r>
              <a:rPr lang="en-US" altLang="zh-CN" sz="3200" b="1" dirty="0">
                <a:solidFill>
                  <a:schemeClr val="tx2"/>
                </a:solidFill>
                <a:latin typeface="楷体_GB2312" pitchFamily="49" charset="-122"/>
                <a:ea typeface="楷体_GB2312" pitchFamily="49" charset="-122"/>
              </a:rPr>
              <a:t>M</a:t>
            </a:r>
            <a:r>
              <a:rPr lang="zh-CN" altLang="en-US" sz="3200" b="1" dirty="0">
                <a:solidFill>
                  <a:schemeClr val="tx2"/>
                </a:solidFill>
                <a:latin typeface="楷体_GB2312" pitchFamily="49" charset="-122"/>
                <a:ea typeface="楷体_GB2312" pitchFamily="49" charset="-122"/>
              </a:rPr>
              <a:t>是状态控制端，当</a:t>
            </a:r>
            <a:r>
              <a:rPr lang="en-US" altLang="zh-CN" sz="3200" b="1" dirty="0">
                <a:solidFill>
                  <a:schemeClr val="tx2"/>
                </a:solidFill>
                <a:latin typeface="楷体_GB2312" pitchFamily="49" charset="-122"/>
                <a:ea typeface="楷体_GB2312" pitchFamily="49" charset="-122"/>
              </a:rPr>
              <a:t>M=H</a:t>
            </a:r>
            <a:r>
              <a:rPr lang="zh-CN" altLang="en-US" sz="3200" b="1" dirty="0">
                <a:solidFill>
                  <a:schemeClr val="tx2"/>
                </a:solidFill>
                <a:latin typeface="楷体_GB2312" pitchFamily="49" charset="-122"/>
                <a:ea typeface="楷体_GB2312" pitchFamily="49" charset="-122"/>
              </a:rPr>
              <a:t>，执行逻辑运算；</a:t>
            </a: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spTree>
    <p:extLst>
      <p:ext uri="{BB962C8B-B14F-4D97-AF65-F5344CB8AC3E}">
        <p14:creationId xmlns:p14="http://schemas.microsoft.com/office/powerpoint/2010/main" val="158527818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714375" y="1571625"/>
            <a:ext cx="8001000" cy="3046988"/>
          </a:xfrm>
          <a:prstGeom prst="rect">
            <a:avLst/>
          </a:prstGeom>
          <a:noFill/>
          <a:ln w="9525">
            <a:noFill/>
            <a:miter lim="800000"/>
            <a:headEnd/>
            <a:tailEnd/>
          </a:ln>
        </p:spPr>
        <p:txBody>
          <a:bodyPr>
            <a:spAutoFit/>
          </a:bodyPr>
          <a:lstStyle/>
          <a:p>
            <a:pPr marL="514350" indent="-514350" algn="l">
              <a:defRPr/>
            </a:pPr>
            <a:r>
              <a:rPr lang="en-US" altLang="zh-CN" sz="3200" b="1" dirty="0">
                <a:solidFill>
                  <a:schemeClr val="tx2"/>
                </a:solidFill>
                <a:latin typeface="楷体_GB2312" pitchFamily="49" charset="-122"/>
                <a:ea typeface="楷体_GB2312" pitchFamily="49" charset="-122"/>
              </a:rPr>
              <a:t>	M=L</a:t>
            </a:r>
            <a:r>
              <a:rPr lang="zh-CN" altLang="en-US" sz="3200" b="1" dirty="0">
                <a:solidFill>
                  <a:schemeClr val="tx2"/>
                </a:solidFill>
                <a:latin typeface="楷体_GB2312" pitchFamily="49" charset="-122"/>
                <a:ea typeface="楷体_GB2312" pitchFamily="49" charset="-122"/>
              </a:rPr>
              <a:t>，执行算术运算，</a:t>
            </a:r>
            <a:r>
              <a:rPr lang="en-US" altLang="zh-CN" sz="3200" b="1" dirty="0">
                <a:solidFill>
                  <a:schemeClr val="tx2"/>
                </a:solidFill>
                <a:latin typeface="楷体_GB2312" pitchFamily="49" charset="-122"/>
                <a:ea typeface="楷体_GB2312" pitchFamily="49" charset="-122"/>
              </a:rPr>
              <a:t>S0-S3</a:t>
            </a:r>
            <a:r>
              <a:rPr lang="zh-CN" altLang="en-US" sz="3200" b="1" dirty="0">
                <a:solidFill>
                  <a:schemeClr val="tx2"/>
                </a:solidFill>
                <a:latin typeface="楷体_GB2312" pitchFamily="49" charset="-122"/>
                <a:ea typeface="楷体_GB2312" pitchFamily="49" charset="-122"/>
              </a:rPr>
              <a:t>是运算选择控制端，它决定电路执行哪种算术运算或哪种逻辑运算。</a:t>
            </a:r>
            <a:r>
              <a:rPr lang="en-US" altLang="zh-CN" sz="3200" b="1" dirty="0">
                <a:solidFill>
                  <a:schemeClr val="tx2"/>
                </a:solidFill>
                <a:latin typeface="楷体_GB2312" pitchFamily="49" charset="-122"/>
                <a:ea typeface="楷体_GB2312" pitchFamily="49" charset="-122"/>
              </a:rPr>
              <a:t>A3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A0</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B3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B0</a:t>
            </a:r>
            <a:r>
              <a:rPr lang="zh-CN" altLang="en-US" sz="3200" b="1" dirty="0">
                <a:solidFill>
                  <a:schemeClr val="tx2"/>
                </a:solidFill>
                <a:latin typeface="楷体_GB2312" pitchFamily="49" charset="-122"/>
                <a:ea typeface="楷体_GB2312" pitchFamily="49" charset="-122"/>
              </a:rPr>
              <a:t>是参加运算的两个数，</a:t>
            </a:r>
            <a:r>
              <a:rPr lang="en-US" altLang="zh-CN" sz="3200" b="1" dirty="0" err="1">
                <a:solidFill>
                  <a:schemeClr val="tx2"/>
                </a:solidFill>
                <a:latin typeface="楷体_GB2312" pitchFamily="49" charset="-122"/>
                <a:ea typeface="楷体_GB2312" pitchFamily="49" charset="-122"/>
              </a:rPr>
              <a:t>Cn</a:t>
            </a:r>
            <a:r>
              <a:rPr lang="zh-CN" altLang="en-US" sz="3200" b="1" dirty="0">
                <a:solidFill>
                  <a:schemeClr val="tx2"/>
                </a:solidFill>
                <a:latin typeface="楷体_GB2312" pitchFamily="49" charset="-122"/>
                <a:ea typeface="楷体_GB2312" pitchFamily="49" charset="-122"/>
              </a:rPr>
              <a:t>是</a:t>
            </a:r>
            <a:r>
              <a:rPr lang="en-US" altLang="zh-CN" sz="3200" b="1" dirty="0">
                <a:solidFill>
                  <a:schemeClr val="tx2"/>
                </a:solidFill>
                <a:latin typeface="楷体_GB2312" pitchFamily="49" charset="-122"/>
                <a:ea typeface="楷体_GB2312" pitchFamily="49" charset="-122"/>
              </a:rPr>
              <a:t>ALU</a:t>
            </a:r>
            <a:r>
              <a:rPr lang="zh-CN" altLang="en-US" sz="3200" b="1" dirty="0">
                <a:solidFill>
                  <a:schemeClr val="tx2"/>
                </a:solidFill>
                <a:latin typeface="楷体_GB2312" pitchFamily="49" charset="-122"/>
                <a:ea typeface="楷体_GB2312" pitchFamily="49" charset="-122"/>
              </a:rPr>
              <a:t>的最低位进位输入，</a:t>
            </a:r>
            <a:r>
              <a:rPr lang="en-US" altLang="zh-CN" sz="3200" b="1" dirty="0">
                <a:solidFill>
                  <a:schemeClr val="tx2"/>
                </a:solidFill>
                <a:latin typeface="楷体_GB2312" pitchFamily="49" charset="-122"/>
                <a:ea typeface="楷体_GB2312" pitchFamily="49" charset="-122"/>
              </a:rPr>
              <a:t>F3</a:t>
            </a:r>
            <a:r>
              <a:rPr lang="zh-CN" altLang="en-US" sz="3200" b="1" dirty="0">
                <a:solidFill>
                  <a:schemeClr val="tx2"/>
                </a:solidFill>
                <a:latin typeface="楷体_GB2312" pitchFamily="49" charset="-122"/>
                <a:ea typeface="楷体_GB2312" pitchFamily="49" charset="-122"/>
              </a:rPr>
              <a:t>～</a:t>
            </a:r>
            <a:r>
              <a:rPr lang="en-US" altLang="zh-CN" sz="3200" b="1" dirty="0">
                <a:solidFill>
                  <a:schemeClr val="tx2"/>
                </a:solidFill>
                <a:latin typeface="楷体_GB2312" pitchFamily="49" charset="-122"/>
                <a:ea typeface="楷体_GB2312" pitchFamily="49" charset="-122"/>
              </a:rPr>
              <a:t>F0</a:t>
            </a:r>
            <a:r>
              <a:rPr lang="zh-CN" altLang="en-US" sz="3200" b="1" dirty="0">
                <a:solidFill>
                  <a:schemeClr val="tx2"/>
                </a:solidFill>
                <a:latin typeface="楷体_GB2312" pitchFamily="49" charset="-122"/>
                <a:ea typeface="楷体_GB2312" pitchFamily="49" charset="-122"/>
              </a:rPr>
              <a:t>是运算结果，注脚</a:t>
            </a:r>
            <a:r>
              <a:rPr lang="en-US" altLang="zh-CN" sz="3200" b="1" dirty="0">
                <a:solidFill>
                  <a:schemeClr val="tx2"/>
                </a:solidFill>
                <a:latin typeface="楷体_GB2312" pitchFamily="49" charset="-122"/>
                <a:ea typeface="楷体_GB2312" pitchFamily="49" charset="-122"/>
              </a:rPr>
              <a:t>3</a:t>
            </a:r>
            <a:r>
              <a:rPr lang="zh-CN" altLang="en-US" sz="3200" b="1" dirty="0">
                <a:solidFill>
                  <a:schemeClr val="tx2"/>
                </a:solidFill>
                <a:latin typeface="楷体_GB2312" pitchFamily="49" charset="-122"/>
                <a:ea typeface="楷体_GB2312" pitchFamily="49" charset="-122"/>
              </a:rPr>
              <a:t>表示最高位。</a:t>
            </a:r>
          </a:p>
        </p:txBody>
      </p:sp>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spTree>
    <p:extLst>
      <p:ext uri="{BB962C8B-B14F-4D97-AF65-F5344CB8AC3E}">
        <p14:creationId xmlns:p14="http://schemas.microsoft.com/office/powerpoint/2010/main" val="227747902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graphicFrame>
        <p:nvGraphicFramePr>
          <p:cNvPr id="6" name="Group 955"/>
          <p:cNvGraphicFramePr>
            <a:graphicFrameLocks noGrp="1"/>
          </p:cNvGraphicFramePr>
          <p:nvPr/>
        </p:nvGraphicFramePr>
        <p:xfrm>
          <a:off x="428625" y="1714500"/>
          <a:ext cx="8418513" cy="4419600"/>
        </p:xfrm>
        <a:graphic>
          <a:graphicData uri="http://schemas.openxmlformats.org/drawingml/2006/table">
            <a:tbl>
              <a:tblPr/>
              <a:tblGrid>
                <a:gridCol w="6762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7863">
                  <a:extLst>
                    <a:ext uri="{9D8B030D-6E8A-4147-A177-3AD203B41FA5}">
                      <a16:colId xmlns:a16="http://schemas.microsoft.com/office/drawing/2014/main" val="20002"/>
                    </a:ext>
                  </a:extLst>
                </a:gridCol>
                <a:gridCol w="676275">
                  <a:extLst>
                    <a:ext uri="{9D8B030D-6E8A-4147-A177-3AD203B41FA5}">
                      <a16:colId xmlns:a16="http://schemas.microsoft.com/office/drawing/2014/main" val="20003"/>
                    </a:ext>
                  </a:extLst>
                </a:gridCol>
                <a:gridCol w="1322387">
                  <a:extLst>
                    <a:ext uri="{9D8B030D-6E8A-4147-A177-3AD203B41FA5}">
                      <a16:colId xmlns:a16="http://schemas.microsoft.com/office/drawing/2014/main" val="20004"/>
                    </a:ext>
                  </a:extLst>
                </a:gridCol>
                <a:gridCol w="2195513">
                  <a:extLst>
                    <a:ext uri="{9D8B030D-6E8A-4147-A177-3AD203B41FA5}">
                      <a16:colId xmlns:a16="http://schemas.microsoft.com/office/drawing/2014/main" val="20005"/>
                    </a:ext>
                  </a:extLst>
                </a:gridCol>
                <a:gridCol w="2193925">
                  <a:extLst>
                    <a:ext uri="{9D8B030D-6E8A-4147-A177-3AD203B41FA5}">
                      <a16:colId xmlns:a16="http://schemas.microsoft.com/office/drawing/2014/main" val="20006"/>
                    </a:ext>
                  </a:extLst>
                </a:gridCol>
              </a:tblGrid>
              <a:tr h="358775">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3</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正     逻     辑</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5877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M=H</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逻辑运算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M=L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算术运算</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35877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A+1</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7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r>
                        <a:rPr kumimoji="0" lang="en-US" altLang="zh-CN" sz="2400" b="1" i="0" u="none" strike="noStrike" cap="none" normalizeH="0" baseline="0">
                          <a:ln>
                            <a:noFill/>
                          </a:ln>
                          <a:solidFill>
                            <a:schemeClr val="tx1"/>
                          </a:solidFill>
                          <a:effectLst/>
                          <a:latin typeface="Arial" pitchFamily="34" charset="0"/>
                          <a:ea typeface="宋体" pitchFamily="2" charset="-122"/>
                        </a:rPr>
                        <a:t>·</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00792730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537"/>
          <p:cNvGraphicFramePr>
            <a:graphicFrameLocks noGrp="1"/>
          </p:cNvGraphicFramePr>
          <p:nvPr>
            <p:extLst>
              <p:ext uri="{D42A27DB-BD31-4B8C-83A1-F6EECF244321}">
                <p14:modId xmlns:p14="http://schemas.microsoft.com/office/powerpoint/2010/main" val="3967424191"/>
              </p:ext>
            </p:extLst>
          </p:nvPr>
        </p:nvGraphicFramePr>
        <p:xfrm>
          <a:off x="462285" y="1714500"/>
          <a:ext cx="8358187" cy="4429128"/>
        </p:xfrm>
        <a:graphic>
          <a:graphicData uri="http://schemas.openxmlformats.org/drawingml/2006/table">
            <a:tbl>
              <a:tblPr/>
              <a:tblGrid>
                <a:gridCol w="725487">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44538">
                  <a:extLst>
                    <a:ext uri="{9D8B030D-6E8A-4147-A177-3AD203B41FA5}">
                      <a16:colId xmlns:a16="http://schemas.microsoft.com/office/drawing/2014/main" val="20002"/>
                    </a:ext>
                  </a:extLst>
                </a:gridCol>
                <a:gridCol w="725487">
                  <a:extLst>
                    <a:ext uri="{9D8B030D-6E8A-4147-A177-3AD203B41FA5}">
                      <a16:colId xmlns:a16="http://schemas.microsoft.com/office/drawing/2014/main" val="20003"/>
                    </a:ext>
                  </a:extLst>
                </a:gridCol>
                <a:gridCol w="1246188">
                  <a:extLst>
                    <a:ext uri="{9D8B030D-6E8A-4147-A177-3AD203B41FA5}">
                      <a16:colId xmlns:a16="http://schemas.microsoft.com/office/drawing/2014/main" val="20004"/>
                    </a:ext>
                  </a:extLst>
                </a:gridCol>
                <a:gridCol w="2085975">
                  <a:extLst>
                    <a:ext uri="{9D8B030D-6E8A-4147-A177-3AD203B41FA5}">
                      <a16:colId xmlns:a16="http://schemas.microsoft.com/office/drawing/2014/main" val="20005"/>
                    </a:ext>
                  </a:extLst>
                </a:gridCol>
                <a:gridCol w="2125662">
                  <a:extLst>
                    <a:ext uri="{9D8B030D-6E8A-4147-A177-3AD203B41FA5}">
                      <a16:colId xmlns:a16="http://schemas.microsoft.com/office/drawing/2014/main" val="20006"/>
                    </a:ext>
                  </a:extLst>
                </a:gridCol>
              </a:tblGrid>
              <a:tr h="396932">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3</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2</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1</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0</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正    逻    辑</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9629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M=H</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逻辑运算</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M=L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算术运算 </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39693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    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pt-BR"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加</a:t>
                      </a:r>
                      <a:r>
                        <a:rPr kumimoji="0" lang="pt-B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48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减</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spTree>
    <p:extLst>
      <p:ext uri="{BB962C8B-B14F-4D97-AF65-F5344CB8AC3E}">
        <p14:creationId xmlns:p14="http://schemas.microsoft.com/office/powerpoint/2010/main" val="30324657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524000" y="381000"/>
            <a:ext cx="7467600" cy="762000"/>
          </a:xfrm>
          <a:prstGeom prst="rect">
            <a:avLst/>
          </a:prstGeom>
        </p:spPr>
        <p:txBody>
          <a:bodyPr/>
          <a:lstStyle/>
          <a:p>
            <a:pPr algn="ctr">
              <a:defRPr/>
            </a:pPr>
            <a:r>
              <a:rPr kumimoji="1" lang="en-US" altLang="zh-CN" sz="2800" kern="0" dirty="0">
                <a:solidFill>
                  <a:schemeClr val="tx2"/>
                </a:solidFill>
                <a:latin typeface="黑体" pitchFamily="2" charset="-122"/>
                <a:ea typeface="黑体" pitchFamily="2" charset="-122"/>
                <a:cs typeface="+mj-cs"/>
              </a:rPr>
              <a:t>2.11</a:t>
            </a:r>
            <a:r>
              <a:rPr kumimoji="1" lang="zh-CN" altLang="en-US" sz="2800" kern="0" dirty="0">
                <a:solidFill>
                  <a:schemeClr val="tx2"/>
                </a:solidFill>
                <a:latin typeface="黑体" pitchFamily="2" charset="-122"/>
                <a:ea typeface="黑体" pitchFamily="2" charset="-122"/>
                <a:cs typeface="+mj-cs"/>
              </a:rPr>
              <a:t> </a:t>
            </a:r>
            <a:r>
              <a:rPr kumimoji="1" lang="en-US" altLang="zh-CN" sz="2800" kern="0" dirty="0">
                <a:solidFill>
                  <a:schemeClr val="tx2"/>
                </a:solidFill>
                <a:latin typeface="黑体" pitchFamily="2" charset="-122"/>
                <a:ea typeface="黑体" pitchFamily="2" charset="-122"/>
                <a:cs typeface="+mj-cs"/>
              </a:rPr>
              <a:t>SN74181</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69987" name="TextBox 4"/>
          <p:cNvSpPr txBox="1">
            <a:spLocks noChangeArrowheads="1"/>
          </p:cNvSpPr>
          <p:nvPr/>
        </p:nvSpPr>
        <p:spPr bwMode="auto">
          <a:xfrm>
            <a:off x="785813" y="1714500"/>
            <a:ext cx="3071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200">
                <a:solidFill>
                  <a:schemeClr val="tx2"/>
                </a:solidFill>
                <a:latin typeface="楷体_GB2312" pitchFamily="49" charset="-122"/>
                <a:ea typeface="楷体_GB2312" pitchFamily="49" charset="-122"/>
              </a:rPr>
              <a:t>2.</a:t>
            </a:r>
            <a:r>
              <a:rPr lang="zh-CN" altLang="en-US" sz="3200">
                <a:solidFill>
                  <a:schemeClr val="tx2"/>
                </a:solidFill>
                <a:latin typeface="楷体_GB2312" pitchFamily="49" charset="-122"/>
                <a:ea typeface="楷体_GB2312" pitchFamily="49" charset="-122"/>
              </a:rPr>
              <a:t>构成</a:t>
            </a:r>
            <a:r>
              <a:rPr lang="en-US" altLang="zh-CN" sz="3200">
                <a:solidFill>
                  <a:schemeClr val="tx2"/>
                </a:solidFill>
                <a:latin typeface="楷体_GB2312" pitchFamily="49" charset="-122"/>
                <a:ea typeface="楷体_GB2312" pitchFamily="49" charset="-122"/>
              </a:rPr>
              <a:t>16</a:t>
            </a:r>
            <a:r>
              <a:rPr lang="zh-CN" altLang="en-US" sz="3200">
                <a:solidFill>
                  <a:schemeClr val="tx2"/>
                </a:solidFill>
                <a:latin typeface="楷体_GB2312" pitchFamily="49" charset="-122"/>
                <a:ea typeface="楷体_GB2312" pitchFamily="49" charset="-122"/>
              </a:rPr>
              <a:t> 位</a:t>
            </a:r>
            <a:r>
              <a:rPr lang="en-US" altLang="zh-CN" sz="3200">
                <a:solidFill>
                  <a:schemeClr val="tx2"/>
                </a:solidFill>
                <a:latin typeface="楷体_GB2312" pitchFamily="49" charset="-122"/>
                <a:ea typeface="楷体_GB2312" pitchFamily="49" charset="-122"/>
              </a:rPr>
              <a:t>ALU</a:t>
            </a:r>
            <a:endParaRPr lang="zh-CN" altLang="en-US" sz="3200">
              <a:solidFill>
                <a:schemeClr val="tx2"/>
              </a:solidFill>
              <a:latin typeface="楷体_GB2312" pitchFamily="49" charset="-122"/>
              <a:ea typeface="楷体_GB2312" pitchFamily="49" charset="-122"/>
            </a:endParaRPr>
          </a:p>
        </p:txBody>
      </p:sp>
      <p:pic>
        <p:nvPicPr>
          <p:cNvPr id="169988" name="图片 5" descr="图2.10.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375" y="2805113"/>
            <a:ext cx="7307263"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9" name="TextBox 6"/>
          <p:cNvSpPr txBox="1">
            <a:spLocks noChangeArrowheads="1"/>
          </p:cNvSpPr>
          <p:nvPr/>
        </p:nvSpPr>
        <p:spPr bwMode="auto">
          <a:xfrm>
            <a:off x="6215063" y="4090988"/>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r>
              <a:rPr lang="en-US" altLang="zh-CN"/>
              <a:t>74181</a:t>
            </a:r>
            <a:endParaRPr lang="zh-CN" altLang="en-US"/>
          </a:p>
        </p:txBody>
      </p:sp>
      <p:sp>
        <p:nvSpPr>
          <p:cNvPr id="169990" name="TextBox 7"/>
          <p:cNvSpPr txBox="1">
            <a:spLocks noChangeArrowheads="1"/>
          </p:cNvSpPr>
          <p:nvPr/>
        </p:nvSpPr>
        <p:spPr bwMode="auto">
          <a:xfrm>
            <a:off x="4643438" y="4090988"/>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r>
              <a:rPr lang="en-US" altLang="zh-CN"/>
              <a:t>74181</a:t>
            </a:r>
            <a:endParaRPr lang="zh-CN" altLang="en-US"/>
          </a:p>
        </p:txBody>
      </p:sp>
      <p:sp>
        <p:nvSpPr>
          <p:cNvPr id="169991" name="TextBox 8"/>
          <p:cNvSpPr txBox="1">
            <a:spLocks noChangeArrowheads="1"/>
          </p:cNvSpPr>
          <p:nvPr/>
        </p:nvSpPr>
        <p:spPr bwMode="auto">
          <a:xfrm>
            <a:off x="3143250" y="4090988"/>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r>
              <a:rPr lang="en-US" altLang="zh-CN"/>
              <a:t>74181</a:t>
            </a:r>
            <a:endParaRPr lang="zh-CN" altLang="en-US"/>
          </a:p>
        </p:txBody>
      </p:sp>
      <p:sp>
        <p:nvSpPr>
          <p:cNvPr id="169992" name="TextBox 9"/>
          <p:cNvSpPr txBox="1">
            <a:spLocks noChangeArrowheads="1"/>
          </p:cNvSpPr>
          <p:nvPr/>
        </p:nvSpPr>
        <p:spPr bwMode="auto">
          <a:xfrm>
            <a:off x="1571625" y="4090988"/>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ctr" eaLnBrk="1" hangingPunct="1"/>
            <a:r>
              <a:rPr lang="en-US" altLang="zh-CN"/>
              <a:t>74181</a:t>
            </a:r>
            <a:endParaRPr lang="zh-CN" altLang="en-US"/>
          </a:p>
        </p:txBody>
      </p:sp>
    </p:spTree>
    <p:extLst>
      <p:ext uri="{BB962C8B-B14F-4D97-AF65-F5344CB8AC3E}">
        <p14:creationId xmlns:p14="http://schemas.microsoft.com/office/powerpoint/2010/main" val="157802605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7467600" cy="762000"/>
          </a:xfrm>
          <a:prstGeom prst="rect">
            <a:avLst/>
          </a:prstGeom>
        </p:spPr>
        <p:txBody>
          <a:bodyPr/>
          <a:lstStyle/>
          <a:p>
            <a:pPr algn="ctr">
              <a:defRPr/>
            </a:pPr>
            <a:r>
              <a:rPr kumimoji="1" lang="zh-CN" altLang="en-US" sz="2800" kern="0" dirty="0">
                <a:solidFill>
                  <a:schemeClr val="tx2"/>
                </a:solidFill>
                <a:latin typeface="黑体" pitchFamily="2" charset="-122"/>
                <a:ea typeface="黑体" pitchFamily="2" charset="-122"/>
                <a:cs typeface="+mj-cs"/>
              </a:rPr>
              <a:t>习题</a:t>
            </a:r>
            <a:endParaRPr kumimoji="1" lang="zh-CN" altLang="en-US" sz="2000" kern="0" dirty="0">
              <a:solidFill>
                <a:schemeClr val="tx2"/>
              </a:solidFill>
              <a:latin typeface="楷体_GB2312" pitchFamily="49" charset="-122"/>
              <a:ea typeface="楷体_GB2312" pitchFamily="49" charset="-122"/>
              <a:cs typeface="+mj-cs"/>
            </a:endParaRPr>
          </a:p>
        </p:txBody>
      </p:sp>
      <p:sp>
        <p:nvSpPr>
          <p:cNvPr id="172035" name="TextBox 2"/>
          <p:cNvSpPr txBox="1">
            <a:spLocks noChangeArrowheads="1"/>
          </p:cNvSpPr>
          <p:nvPr/>
        </p:nvSpPr>
        <p:spPr bwMode="auto">
          <a:xfrm>
            <a:off x="683568" y="1916832"/>
            <a:ext cx="8001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eaLnBrk="0" hangingPunct="0">
              <a:defRPr sz="1600" b="1">
                <a:solidFill>
                  <a:srgbClr val="0066FF"/>
                </a:solidFill>
                <a:latin typeface="Arial" pitchFamily="34" charset="0"/>
                <a:ea typeface="华文新魏" pitchFamily="2" charset="-122"/>
              </a:defRPr>
            </a:lvl1pPr>
            <a:lvl2pPr marL="742950" indent="-285750" eaLnBrk="0" hangingPunct="0">
              <a:defRPr sz="1600" b="1">
                <a:solidFill>
                  <a:srgbClr val="0066FF"/>
                </a:solidFill>
                <a:latin typeface="Arial" pitchFamily="34" charset="0"/>
                <a:ea typeface="华文新魏" pitchFamily="2" charset="-122"/>
              </a:defRPr>
            </a:lvl2pPr>
            <a:lvl3pPr marL="1143000" indent="-228600" eaLnBrk="0" hangingPunct="0">
              <a:defRPr sz="1600" b="1">
                <a:solidFill>
                  <a:srgbClr val="0066FF"/>
                </a:solidFill>
                <a:latin typeface="Arial" pitchFamily="34" charset="0"/>
                <a:ea typeface="华文新魏" pitchFamily="2" charset="-122"/>
              </a:defRPr>
            </a:lvl3pPr>
            <a:lvl4pPr marL="1600200" indent="-228600" eaLnBrk="0" hangingPunct="0">
              <a:defRPr sz="1600" b="1">
                <a:solidFill>
                  <a:srgbClr val="0066FF"/>
                </a:solidFill>
                <a:latin typeface="Arial" pitchFamily="34" charset="0"/>
                <a:ea typeface="华文新魏" pitchFamily="2" charset="-122"/>
              </a:defRPr>
            </a:lvl4pPr>
            <a:lvl5pPr marL="2057400" indent="-228600" eaLnBrk="0" hangingPunct="0">
              <a:defRPr sz="1600" b="1">
                <a:solidFill>
                  <a:srgbClr val="0066FF"/>
                </a:solidFill>
                <a:latin typeface="Arial" pitchFamily="34" charset="0"/>
                <a:ea typeface="华文新魏" pitchFamily="2" charset="-122"/>
              </a:defRPr>
            </a:lvl5pPr>
            <a:lvl6pPr marL="25146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6pPr>
            <a:lvl7pPr marL="29718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7pPr>
            <a:lvl8pPr marL="34290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8pPr>
            <a:lvl9pPr marL="3886200" indent="-228600" algn="r" eaLnBrk="0" fontAlgn="base" hangingPunct="0">
              <a:spcBef>
                <a:spcPct val="0"/>
              </a:spcBef>
              <a:spcAft>
                <a:spcPct val="0"/>
              </a:spcAft>
              <a:defRPr sz="1600" b="1">
                <a:solidFill>
                  <a:srgbClr val="0066FF"/>
                </a:solidFill>
                <a:latin typeface="Arial" pitchFamily="34" charset="0"/>
                <a:ea typeface="华文新魏" pitchFamily="2" charset="-122"/>
              </a:defRPr>
            </a:lvl9pPr>
          </a:lstStyle>
          <a:p>
            <a:pPr algn="l" eaLnBrk="1" hangingPunct="1"/>
            <a:r>
              <a:rPr lang="en-US" altLang="zh-CN" sz="3000" dirty="0">
                <a:solidFill>
                  <a:schemeClr val="tx2"/>
                </a:solidFill>
                <a:latin typeface="楷体_GB2312" pitchFamily="49" charset="-122"/>
                <a:ea typeface="楷体_GB2312" pitchFamily="49" charset="-122"/>
              </a:rPr>
              <a:t>P66</a:t>
            </a:r>
          </a:p>
          <a:p>
            <a:pPr algn="l" eaLnBrk="1" hangingPunct="1"/>
            <a:r>
              <a:rPr lang="zh-CN" altLang="en-US" sz="2800" dirty="0">
                <a:solidFill>
                  <a:schemeClr val="tx2"/>
                </a:solidFill>
                <a:latin typeface="楷体_GB2312" pitchFamily="49" charset="-122"/>
                <a:ea typeface="楷体_GB2312" pitchFamily="49" charset="-122"/>
              </a:rPr>
              <a:t>习题：</a:t>
            </a:r>
            <a:r>
              <a:rPr lang="en-US" altLang="zh-CN" sz="3000" dirty="0">
                <a:solidFill>
                  <a:schemeClr val="tx2"/>
                </a:solidFill>
                <a:latin typeface="楷体_GB2312" pitchFamily="49" charset="-122"/>
                <a:ea typeface="楷体_GB2312" pitchFamily="49" charset="-122"/>
              </a:rPr>
              <a:t>2</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6</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7</a:t>
            </a:r>
          </a:p>
          <a:p>
            <a:pPr algn="l" eaLnBrk="1" hangingPunct="1"/>
            <a:r>
              <a:rPr lang="en-US" altLang="zh-CN" sz="3000" dirty="0">
                <a:solidFill>
                  <a:schemeClr val="tx2"/>
                </a:solidFill>
                <a:latin typeface="楷体_GB2312" pitchFamily="49" charset="-122"/>
                <a:ea typeface="楷体_GB2312" pitchFamily="49" charset="-122"/>
              </a:rPr>
              <a:t>P112</a:t>
            </a:r>
          </a:p>
          <a:p>
            <a:pPr algn="l" eaLnBrk="1" hangingPunct="1"/>
            <a:r>
              <a:rPr lang="zh-CN" altLang="en-US" sz="2800" dirty="0">
                <a:solidFill>
                  <a:schemeClr val="tx2"/>
                </a:solidFill>
                <a:latin typeface="楷体_GB2312" pitchFamily="49" charset="-122"/>
                <a:ea typeface="楷体_GB2312" pitchFamily="49" charset="-122"/>
              </a:rPr>
              <a:t>习题：</a:t>
            </a:r>
            <a:r>
              <a:rPr lang="en-US" altLang="zh-CN" sz="3000" dirty="0">
                <a:solidFill>
                  <a:schemeClr val="tx2"/>
                </a:solidFill>
                <a:latin typeface="楷体_GB2312" pitchFamily="49" charset="-122"/>
                <a:ea typeface="楷体_GB2312" pitchFamily="49" charset="-122"/>
              </a:rPr>
              <a:t>29</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30</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31</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32</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33</a:t>
            </a:r>
            <a:r>
              <a:rPr lang="zh-CN" altLang="en-US" sz="3000" dirty="0">
                <a:solidFill>
                  <a:schemeClr val="tx2"/>
                </a:solidFill>
                <a:latin typeface="楷体_GB2312" pitchFamily="49" charset="-122"/>
                <a:ea typeface="楷体_GB2312" pitchFamily="49" charset="-122"/>
              </a:rPr>
              <a:t>，</a:t>
            </a:r>
            <a:r>
              <a:rPr lang="en-US" altLang="zh-CN" sz="3000" dirty="0">
                <a:solidFill>
                  <a:schemeClr val="tx2"/>
                </a:solidFill>
                <a:latin typeface="楷体_GB2312" pitchFamily="49" charset="-122"/>
                <a:ea typeface="楷体_GB2312" pitchFamily="49" charset="-122"/>
              </a:rPr>
              <a:t>34</a:t>
            </a:r>
          </a:p>
          <a:p>
            <a:pPr algn="l" eaLnBrk="1" hangingPunct="1"/>
            <a:endParaRPr lang="zh-CN" altLang="en-US" sz="30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21525137"/>
      </p:ext>
    </p:extLst>
  </p:cSld>
  <p:clrMapOvr>
    <a:masterClrMapping/>
  </p:clrMapOvr>
</p:sld>
</file>

<file path=ppt/theme/theme1.xml><?xml version="1.0" encoding="utf-8"?>
<a:theme xmlns:a="http://schemas.openxmlformats.org/drawingml/2006/main" name="tongji theme">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sm" len="sm"/>
          <a:tailEnd type="none" w="sm" len="sm"/>
        </a:ln>
        <a:effectLst/>
      </a:spPr>
      <a:bodyPr vert="horz" wrap="square" lIns="91440" tIns="45720" rIns="91440" bIns="45720" numCol="1" anchor="b" anchorCtr="0" compatLnSpc="1">
        <a:prstTxWarp prst="textNoShape">
          <a:avLst/>
        </a:prstTxWarp>
        <a:spAutoFit/>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rgbClr val="0066FF"/>
            </a:solidFill>
            <a:effectLst/>
            <a:latin typeface="Arial" charset="0"/>
            <a:ea typeface="华文新魏"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sm" len="sm"/>
          <a:tailEnd type="none" w="sm" len="sm"/>
        </a:ln>
        <a:effectLst/>
      </a:spPr>
      <a:bodyPr vert="horz" wrap="square" lIns="91440" tIns="45720" rIns="91440" bIns="45720" numCol="1" anchor="b" anchorCtr="0" compatLnSpc="1">
        <a:prstTxWarp prst="textNoShape">
          <a:avLst/>
        </a:prstTxWarp>
        <a:spAutoFit/>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rgbClr val="0066FF"/>
            </a:solidFill>
            <a:effectLst/>
            <a:latin typeface="Arial" charset="0"/>
            <a:ea typeface="华文新魏" pitchFamily="2" charset="-122"/>
          </a:defRPr>
        </a:defPPr>
      </a:lstStyle>
    </a:lnDef>
    <a:txDef>
      <a:spPr>
        <a:noFill/>
      </a:spPr>
      <a:bodyPr wrap="square" rtlCol="0">
        <a:spAutoFit/>
      </a:bodyPr>
      <a:lstStyle>
        <a:defPPr>
          <a:defRPr dirty="0"/>
        </a:defPPr>
      </a:lstStyle>
    </a:tx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tongji theme</Template>
  <TotalTime>1981</TotalTime>
  <Words>15132</Words>
  <Application>Microsoft Office PowerPoint</Application>
  <PresentationFormat>全屏显示(4:3)</PresentationFormat>
  <Paragraphs>2052</Paragraphs>
  <Slides>212</Slides>
  <Notes>201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212</vt:i4>
      </vt:variant>
    </vt:vector>
  </HeadingPairs>
  <TitlesOfParts>
    <vt:vector size="222" baseType="lpstr">
      <vt:lpstr>黑体</vt:lpstr>
      <vt:lpstr>楷体_GB2312</vt:lpstr>
      <vt:lpstr>隶书</vt:lpstr>
      <vt:lpstr>宋体</vt:lpstr>
      <vt:lpstr>Arial</vt:lpstr>
      <vt:lpstr>Calibri</vt:lpstr>
      <vt:lpstr>Cambria Math</vt:lpstr>
      <vt:lpstr>Times New Roman</vt:lpstr>
      <vt:lpstr>Wingdings</vt:lpstr>
      <vt:lpstr>tongji theme</vt:lpstr>
      <vt:lpstr>第二章 计算机中数的表示及基本逻辑部件</vt:lpstr>
      <vt:lpstr>第二章 计算机中数的表示及基本逻辑部件</vt:lpstr>
      <vt:lpstr>主要知识点</vt:lpstr>
      <vt:lpstr>2.1数据信息在机器中的表示</vt:lpstr>
      <vt:lpstr>2.1数据信息在机器中的表示</vt:lpstr>
      <vt:lpstr>2.1数据信息在机器中的表示</vt:lpstr>
      <vt:lpstr>2.1数据信息在机器中的表示 2.2.1数的定点和浮点表示</vt:lpstr>
      <vt:lpstr>PowerPoint 演示文稿</vt:lpstr>
      <vt:lpstr>定点小数表示范围讨论</vt:lpstr>
      <vt:lpstr>PowerPoint 演示文稿</vt:lpstr>
      <vt:lpstr>PowerPoint 演示文稿</vt:lpstr>
      <vt:lpstr>PowerPoint 演示文稿</vt:lpstr>
      <vt:lpstr>PowerPoint 演示文稿</vt:lpstr>
      <vt:lpstr>定点整数表示范围的讨论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计算机中数的表示及基本逻辑部件</dc:title>
  <dc:creator>dell</dc:creator>
  <cp:lastModifiedBy>同济大学</cp:lastModifiedBy>
  <cp:revision>189</cp:revision>
  <dcterms:created xsi:type="dcterms:W3CDTF">2013-09-15T15:20:32Z</dcterms:created>
  <dcterms:modified xsi:type="dcterms:W3CDTF">2025-03-14T09:05:19Z</dcterms:modified>
</cp:coreProperties>
</file>
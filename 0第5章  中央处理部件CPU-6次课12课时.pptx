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61" r:id="rId2"/>
    <p:sldMasterId id="2147483673" r:id="rId3"/>
    <p:sldMasterId id="2147483685" r:id="rId4"/>
    <p:sldMasterId id="2147483697" r:id="rId5"/>
    <p:sldMasterId id="2147483711" r:id="rId6"/>
  </p:sldMasterIdLst>
  <p:notesMasterIdLst>
    <p:notesMasterId r:id="rId128"/>
  </p:notesMasterIdLst>
  <p:handoutMasterIdLst>
    <p:handoutMasterId r:id="rId129"/>
  </p:handoutMasterIdLst>
  <p:sldIdLst>
    <p:sldId id="256" r:id="rId7"/>
    <p:sldId id="257" r:id="rId8"/>
    <p:sldId id="567" r:id="rId9"/>
    <p:sldId id="605" r:id="rId10"/>
    <p:sldId id="606" r:id="rId11"/>
    <p:sldId id="726" r:id="rId12"/>
    <p:sldId id="676" r:id="rId13"/>
    <p:sldId id="614" r:id="rId14"/>
    <p:sldId id="678" r:id="rId15"/>
    <p:sldId id="288" r:id="rId16"/>
    <p:sldId id="679" r:id="rId17"/>
    <p:sldId id="680" r:id="rId18"/>
    <p:sldId id="728" r:id="rId19"/>
    <p:sldId id="744" r:id="rId20"/>
    <p:sldId id="762" r:id="rId21"/>
    <p:sldId id="603" r:id="rId22"/>
    <p:sldId id="729" r:id="rId23"/>
    <p:sldId id="727" r:id="rId24"/>
    <p:sldId id="607" r:id="rId25"/>
    <p:sldId id="608" r:id="rId26"/>
    <p:sldId id="682" r:id="rId27"/>
    <p:sldId id="609" r:id="rId28"/>
    <p:sldId id="661" r:id="rId29"/>
    <p:sldId id="610" r:id="rId30"/>
    <p:sldId id="611" r:id="rId31"/>
    <p:sldId id="613" r:id="rId32"/>
    <p:sldId id="612" r:id="rId33"/>
    <p:sldId id="662" r:id="rId34"/>
    <p:sldId id="619" r:id="rId35"/>
    <p:sldId id="756" r:id="rId36"/>
    <p:sldId id="757" r:id="rId37"/>
    <p:sldId id="764" r:id="rId38"/>
    <p:sldId id="765" r:id="rId39"/>
    <p:sldId id="766" r:id="rId40"/>
    <p:sldId id="758" r:id="rId41"/>
    <p:sldId id="759" r:id="rId42"/>
    <p:sldId id="769" r:id="rId43"/>
    <p:sldId id="770" r:id="rId44"/>
    <p:sldId id="771" r:id="rId45"/>
    <p:sldId id="772" r:id="rId46"/>
    <p:sldId id="773" r:id="rId47"/>
    <p:sldId id="767" r:id="rId48"/>
    <p:sldId id="586" r:id="rId49"/>
    <p:sldId id="260" r:id="rId50"/>
    <p:sldId id="261" r:id="rId51"/>
    <p:sldId id="262" r:id="rId52"/>
    <p:sldId id="263" r:id="rId53"/>
    <p:sldId id="644" r:id="rId54"/>
    <p:sldId id="752" r:id="rId55"/>
    <p:sldId id="753" r:id="rId56"/>
    <p:sldId id="754" r:id="rId57"/>
    <p:sldId id="755" r:id="rId58"/>
    <p:sldId id="266" r:id="rId59"/>
    <p:sldId id="746" r:id="rId60"/>
    <p:sldId id="747" r:id="rId61"/>
    <p:sldId id="268" r:id="rId62"/>
    <p:sldId id="738" r:id="rId63"/>
    <p:sldId id="737" r:id="rId64"/>
    <p:sldId id="733" r:id="rId65"/>
    <p:sldId id="735" r:id="rId66"/>
    <p:sldId id="760" r:id="rId67"/>
    <p:sldId id="761" r:id="rId68"/>
    <p:sldId id="778" r:id="rId69"/>
    <p:sldId id="776" r:id="rId70"/>
    <p:sldId id="777" r:id="rId71"/>
    <p:sldId id="774" r:id="rId72"/>
    <p:sldId id="734" r:id="rId73"/>
    <p:sldId id="649" r:id="rId74"/>
    <p:sldId id="659" r:id="rId75"/>
    <p:sldId id="650" r:id="rId76"/>
    <p:sldId id="721" r:id="rId77"/>
    <p:sldId id="722" r:id="rId78"/>
    <p:sldId id="651" r:id="rId79"/>
    <p:sldId id="654" r:id="rId80"/>
    <p:sldId id="653" r:id="rId81"/>
    <p:sldId id="655" r:id="rId82"/>
    <p:sldId id="663" r:id="rId83"/>
    <p:sldId id="656" r:id="rId84"/>
    <p:sldId id="657" r:id="rId85"/>
    <p:sldId id="664" r:id="rId86"/>
    <p:sldId id="665" r:id="rId87"/>
    <p:sldId id="674" r:id="rId88"/>
    <p:sldId id="675" r:id="rId89"/>
    <p:sldId id="668" r:id="rId90"/>
    <p:sldId id="736" r:id="rId91"/>
    <p:sldId id="669" r:id="rId92"/>
    <p:sldId id="670" r:id="rId93"/>
    <p:sldId id="672" r:id="rId94"/>
    <p:sldId id="684" r:id="rId95"/>
    <p:sldId id="685" r:id="rId96"/>
    <p:sldId id="690" r:id="rId97"/>
    <p:sldId id="692" r:id="rId98"/>
    <p:sldId id="693" r:id="rId99"/>
    <p:sldId id="694" r:id="rId100"/>
    <p:sldId id="695" r:id="rId101"/>
    <p:sldId id="696" r:id="rId102"/>
    <p:sldId id="697" r:id="rId103"/>
    <p:sldId id="698" r:id="rId104"/>
    <p:sldId id="699" r:id="rId105"/>
    <p:sldId id="700" r:id="rId106"/>
    <p:sldId id="701" r:id="rId107"/>
    <p:sldId id="702" r:id="rId108"/>
    <p:sldId id="703" r:id="rId109"/>
    <p:sldId id="704" r:id="rId110"/>
    <p:sldId id="705" r:id="rId111"/>
    <p:sldId id="706" r:id="rId112"/>
    <p:sldId id="707" r:id="rId113"/>
    <p:sldId id="708" r:id="rId114"/>
    <p:sldId id="715" r:id="rId115"/>
    <p:sldId id="709" r:id="rId116"/>
    <p:sldId id="712" r:id="rId117"/>
    <p:sldId id="713" r:id="rId118"/>
    <p:sldId id="714" r:id="rId119"/>
    <p:sldId id="716" r:id="rId120"/>
    <p:sldId id="717" r:id="rId121"/>
    <p:sldId id="718" r:id="rId122"/>
    <p:sldId id="719" r:id="rId123"/>
    <p:sldId id="720" r:id="rId124"/>
    <p:sldId id="723" r:id="rId125"/>
    <p:sldId id="725" r:id="rId126"/>
    <p:sldId id="724" r:id="rId127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8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4660"/>
  </p:normalViewPr>
  <p:slideViewPr>
    <p:cSldViewPr>
      <p:cViewPr varScale="1">
        <p:scale>
          <a:sx n="126" d="100"/>
          <a:sy n="126" d="100"/>
        </p:scale>
        <p:origin x="545" y="7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45" d="100"/>
          <a:sy n="45" d="100"/>
        </p:scale>
        <p:origin x="-3096" y="-120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117" Type="http://schemas.openxmlformats.org/officeDocument/2006/relationships/slide" Target="slides/slide111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slide" Target="slides/slide78.xml"/><Relationship Id="rId89" Type="http://schemas.openxmlformats.org/officeDocument/2006/relationships/slide" Target="slides/slide83.xml"/><Relationship Id="rId112" Type="http://schemas.openxmlformats.org/officeDocument/2006/relationships/slide" Target="slides/slide106.xml"/><Relationship Id="rId133" Type="http://schemas.openxmlformats.org/officeDocument/2006/relationships/tableStyles" Target="tableStyles.xml"/><Relationship Id="rId16" Type="http://schemas.openxmlformats.org/officeDocument/2006/relationships/slide" Target="slides/slide10.xml"/><Relationship Id="rId107" Type="http://schemas.openxmlformats.org/officeDocument/2006/relationships/slide" Target="slides/slide101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102" Type="http://schemas.openxmlformats.org/officeDocument/2006/relationships/slide" Target="slides/slide96.xml"/><Relationship Id="rId123" Type="http://schemas.openxmlformats.org/officeDocument/2006/relationships/slide" Target="slides/slide117.xml"/><Relationship Id="rId128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4.xml"/><Relationship Id="rId95" Type="http://schemas.openxmlformats.org/officeDocument/2006/relationships/slide" Target="slides/slide89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100" Type="http://schemas.openxmlformats.org/officeDocument/2006/relationships/slide" Target="slides/slide94.xml"/><Relationship Id="rId105" Type="http://schemas.openxmlformats.org/officeDocument/2006/relationships/slide" Target="slides/slide99.xml"/><Relationship Id="rId113" Type="http://schemas.openxmlformats.org/officeDocument/2006/relationships/slide" Target="slides/slide107.xml"/><Relationship Id="rId118" Type="http://schemas.openxmlformats.org/officeDocument/2006/relationships/slide" Target="slides/slide112.xml"/><Relationship Id="rId126" Type="http://schemas.openxmlformats.org/officeDocument/2006/relationships/slide" Target="slides/slide120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93" Type="http://schemas.openxmlformats.org/officeDocument/2006/relationships/slide" Target="slides/slide87.xml"/><Relationship Id="rId98" Type="http://schemas.openxmlformats.org/officeDocument/2006/relationships/slide" Target="slides/slide92.xml"/><Relationship Id="rId121" Type="http://schemas.openxmlformats.org/officeDocument/2006/relationships/slide" Target="slides/slide11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103" Type="http://schemas.openxmlformats.org/officeDocument/2006/relationships/slide" Target="slides/slide97.xml"/><Relationship Id="rId108" Type="http://schemas.openxmlformats.org/officeDocument/2006/relationships/slide" Target="slides/slide102.xml"/><Relationship Id="rId116" Type="http://schemas.openxmlformats.org/officeDocument/2006/relationships/slide" Target="slides/slide110.xml"/><Relationship Id="rId124" Type="http://schemas.openxmlformats.org/officeDocument/2006/relationships/slide" Target="slides/slide118.xml"/><Relationship Id="rId129" Type="http://schemas.openxmlformats.org/officeDocument/2006/relationships/handoutMaster" Target="handoutMasters/handoutMaster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91" Type="http://schemas.openxmlformats.org/officeDocument/2006/relationships/slide" Target="slides/slide85.xml"/><Relationship Id="rId96" Type="http://schemas.openxmlformats.org/officeDocument/2006/relationships/slide" Target="slides/slide90.xml"/><Relationship Id="rId111" Type="http://schemas.openxmlformats.org/officeDocument/2006/relationships/slide" Target="slides/slide105.xml"/><Relationship Id="rId13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6" Type="http://schemas.openxmlformats.org/officeDocument/2006/relationships/slide" Target="slides/slide100.xml"/><Relationship Id="rId114" Type="http://schemas.openxmlformats.org/officeDocument/2006/relationships/slide" Target="slides/slide108.xml"/><Relationship Id="rId119" Type="http://schemas.openxmlformats.org/officeDocument/2006/relationships/slide" Target="slides/slide113.xml"/><Relationship Id="rId127" Type="http://schemas.openxmlformats.org/officeDocument/2006/relationships/slide" Target="slides/slide12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openxmlformats.org/officeDocument/2006/relationships/slide" Target="slides/slide88.xml"/><Relationship Id="rId99" Type="http://schemas.openxmlformats.org/officeDocument/2006/relationships/slide" Target="slides/slide93.xml"/><Relationship Id="rId101" Type="http://schemas.openxmlformats.org/officeDocument/2006/relationships/slide" Target="slides/slide95.xml"/><Relationship Id="rId122" Type="http://schemas.openxmlformats.org/officeDocument/2006/relationships/slide" Target="slides/slide116.xml"/><Relationship Id="rId13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109" Type="http://schemas.openxmlformats.org/officeDocument/2006/relationships/slide" Target="slides/slide10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slide" Target="slides/slide91.xml"/><Relationship Id="rId104" Type="http://schemas.openxmlformats.org/officeDocument/2006/relationships/slide" Target="slides/slide98.xml"/><Relationship Id="rId120" Type="http://schemas.openxmlformats.org/officeDocument/2006/relationships/slide" Target="slides/slide114.xml"/><Relationship Id="rId125" Type="http://schemas.openxmlformats.org/officeDocument/2006/relationships/slide" Target="slides/slide119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110" Type="http://schemas.openxmlformats.org/officeDocument/2006/relationships/slide" Target="slides/slide104.xml"/><Relationship Id="rId115" Type="http://schemas.openxmlformats.org/officeDocument/2006/relationships/slide" Target="slides/slide109.xml"/><Relationship Id="rId131" Type="http://schemas.openxmlformats.org/officeDocument/2006/relationships/viewProps" Target="viewProps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9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DCFCD-291C-4DFE-A573-3F4AC00C7B15}" type="datetimeFigureOut">
              <a:rPr lang="zh-CN" altLang="en-US" smtClean="0"/>
              <a:pPr/>
              <a:t>2022/5/11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80F72-4769-4B68-A2D9-2DA3B2FE67F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559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  <a:defRPr sz="1300" smtClean="0">
                <a:latin typeface="楷体_GB2312" pitchFamily="1" charset="-122"/>
                <a:ea typeface="楷体_GB2312" pitchFamily="1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  <a:defRPr sz="1300" smtClean="0">
                <a:latin typeface="楷体_GB2312" pitchFamily="1" charset="-122"/>
                <a:ea typeface="楷体_GB2312" pitchFamily="1" charset="-122"/>
              </a:defRPr>
            </a:lvl1pPr>
          </a:lstStyle>
          <a:p>
            <a:pPr>
              <a:defRPr/>
            </a:pPr>
            <a:fld id="{87ED6139-00C3-40B1-BCED-DEAA6F1F3DB9}" type="datetimeFigureOut">
              <a:rPr lang="zh-CN" altLang="en-US"/>
              <a:pPr>
                <a:defRPr/>
              </a:pPr>
              <a:t>2022/5/11</a:t>
            </a:fld>
            <a:endParaRPr lang="zh-CN" altLang="en-US"/>
          </a:p>
        </p:txBody>
      </p:sp>
      <p:sp>
        <p:nvSpPr>
          <p:cNvPr id="75780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  <a:defRPr sz="1300" smtClean="0">
                <a:latin typeface="楷体_GB2312" pitchFamily="1" charset="-122"/>
                <a:ea typeface="楷体_GB2312" pitchFamily="1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  <a:defRPr sz="1300" smtClean="0">
                <a:latin typeface="楷体_GB2312" pitchFamily="1" charset="-122"/>
                <a:ea typeface="楷体_GB2312" pitchFamily="1" charset="-122"/>
              </a:defRPr>
            </a:lvl1pPr>
          </a:lstStyle>
          <a:p>
            <a:pPr>
              <a:defRPr/>
            </a:pPr>
            <a:fld id="{F7242C5E-2FA3-4951-B831-D66A3AEF95A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7946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275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275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B036F7-2163-4B6A-8A10-4127E6DE9F64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377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378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40DF5C7-D4E6-4F0A-8D3A-5D0065107555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0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480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87FA7A-CE0C-46FC-9F2D-F490BE67AC68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582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582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2C9DF9-ED0E-4181-B024-A77FC1333594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685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685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5EC9B7-BB0C-4386-A491-D8855271D666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787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787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F2F3A4-B6AB-461E-8408-23BDCC7AB2DA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889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8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B43BE4-5FB8-4E2E-BD65-19743B8FAEB4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992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992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2DC608-5F48-4EDE-8745-EEB3F050A8B6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094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094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BDCB01-E555-4A9C-B58C-9DF70D9C1BD7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817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7818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A222FB8-BEBA-400D-8680-61BC9E3A5DCC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920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7920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180D452-7835-4C65-82DB-7401072F6F78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022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80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FBDBF27-AA9E-41BC-B476-A23E876B1824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125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8125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4807D15-EDA4-4884-A06D-1FAA4437391B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2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843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CB2C8A9-0A5F-4A2E-9BDB-05A8B41B0719}" type="slidenum">
              <a:rPr lang="zh-CN" altLang="en-US" smtClean="0"/>
              <a:pPr/>
              <a:t>61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534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853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206FFDF-4B31-495C-864A-EA467538FD15}" type="slidenum">
              <a:rPr lang="zh-CN" altLang="en-US" smtClean="0"/>
              <a:pPr/>
              <a:t>62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251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9251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7D33E28-F942-4AF2-A81B-EFB267B81AC9}" type="slidenum">
              <a:rPr lang="zh-CN" altLang="en-US" smtClean="0"/>
              <a:pPr/>
              <a:t>63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841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884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8A47D98-0B0A-4882-9457-47914A1FC0D5}" type="slidenum">
              <a:rPr lang="zh-CN" altLang="en-US" smtClean="0"/>
              <a:pPr/>
              <a:t>64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944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894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CF66AC2-BB00-46FB-9A31-C45939A332C5}" type="slidenum">
              <a:rPr lang="zh-CN" altLang="en-US" smtClean="0"/>
              <a:pPr/>
              <a:t>65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149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914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66BC963-E06E-4470-80EB-F13B8224EBE4}" type="slidenum">
              <a:rPr lang="zh-CN" altLang="en-US" smtClean="0"/>
              <a:pPr/>
              <a:t>66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242C5E-2FA3-4951-B831-D66A3AEF95A5}" type="slidenum">
              <a:rPr lang="zh-CN" altLang="en-US" smtClean="0"/>
              <a:pPr>
                <a:defRPr/>
              </a:pPr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694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2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defTabSz="720000"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95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5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28600" y="1676400"/>
            <a:ext cx="42672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2672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68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944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270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3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874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262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974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0850" y="381000"/>
            <a:ext cx="2190751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28600" y="381000"/>
            <a:ext cx="6419851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17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C22CB-00C4-49DC-B25C-6FA8A73EE2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170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defTabSz="720000"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C22CB-00C4-49DC-B25C-6FA8A73EE2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793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C22CB-00C4-49DC-B25C-6FA8A73EE2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5692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C22CB-00C4-49DC-B25C-6FA8A73EE2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870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C22CB-00C4-49DC-B25C-6FA8A73EE2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394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C22CB-00C4-49DC-B25C-6FA8A73EE2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821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C22CB-00C4-49DC-B25C-6FA8A73EE2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3531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C22CB-00C4-49DC-B25C-6FA8A73EE2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6599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C22CB-00C4-49DC-B25C-6FA8A73EE2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2975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C22CB-00C4-49DC-B25C-6FA8A73EE2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5300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C22CB-00C4-49DC-B25C-6FA8A73EE2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0831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CA6F-4F6D-4D52-96C4-D0FAC77909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6390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CA6F-4F6D-4D52-96C4-D0FAC77909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2040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CA6F-4F6D-4D52-96C4-D0FAC77909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872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CA6F-4F6D-4D52-96C4-D0FAC77909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6017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CA6F-4F6D-4D52-96C4-D0FAC77909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5772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CA6F-4F6D-4D52-96C4-D0FAC77909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7310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CA6F-4F6D-4D52-96C4-D0FAC77909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0897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CA6F-4F6D-4D52-96C4-D0FAC77909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7613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CA6F-4F6D-4D52-96C4-D0FAC77909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3412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CA6F-4F6D-4D52-96C4-D0FAC77909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9608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CA6F-4F6D-4D52-96C4-D0FAC77909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721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CF21-178F-4C0A-A3AB-5ED14F848E1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1488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CF21-178F-4C0A-A3AB-5ED14F848E1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9842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CF21-178F-4C0A-A3AB-5ED14F848E1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4339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CF21-178F-4C0A-A3AB-5ED14F848E1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0812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CF21-178F-4C0A-A3AB-5ED14F848E1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07254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CF21-178F-4C0A-A3AB-5ED14F848E1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5706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CF21-178F-4C0A-A3AB-5ED14F848E1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2934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CF21-178F-4C0A-A3AB-5ED14F848E1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7498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CF21-178F-4C0A-A3AB-5ED14F848E1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906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CF21-178F-4C0A-A3AB-5ED14F848E1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61145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CF21-178F-4C0A-A3AB-5ED14F848E1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44897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E76EF-D6F8-44FD-A203-98F82EB406AE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6719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A2A935-581A-4C71-A0DD-E13D31FA385C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10457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061AD-3F8D-4610-A0C9-4C9F7E44A387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18169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819F56-494C-4349-9FF6-B68EAF09DBE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2654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32C54C-94AC-410E-A37C-91299C70248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11941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3D1379-5974-453E-BE4A-9796CB1535F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78239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C4F825-913E-4928-8ADE-1B4809E5C1E4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78118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C93EBD-344A-4520-9032-9E9635CF91F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33869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28BD57-D864-4091-8E4D-08ADEEB4BF0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4663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020A68-C4C9-4589-9AC2-6DAAFD8FCCF8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48969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1CA9DD-AA76-4CD0-9C6D-6F0A784EE02A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76076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AEDDB8-5439-453B-A2AA-000A7BD13E3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4369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51B607-990E-4A0B-A887-A759EBC4D38A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6243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E76EF-D6F8-44FD-A203-98F82EB406AE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43731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A2A935-581A-4C71-A0DD-E13D31FA385C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56899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061AD-3F8D-4610-A0C9-4C9F7E44A387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4506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819F56-494C-4349-9FF6-B68EAF09DBE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59842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32C54C-94AC-410E-A37C-91299C70248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90179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3D1379-5974-453E-BE4A-9796CB1535F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80968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C4F825-913E-4928-8ADE-1B4809E5C1E4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41892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C93EBD-344A-4520-9032-9E9635CF91F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02615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28BD57-D864-4091-8E4D-08ADEEB4BF0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77378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020A68-C4C9-4589-9AC2-6DAAFD8FCCF8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46748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1CA9DD-AA76-4CD0-9C6D-6F0A784EE02A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95878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AEDDB8-5439-453B-A2AA-000A7BD13E3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72321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51B607-990E-4A0B-A887-A759EBC4D38A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035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CN" altLang="zh-CN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76400"/>
            <a:ext cx="86868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322596"/>
            <a:ext cx="2895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ctr">
              <a:defRPr sz="1600" smtClean="0">
                <a:solidFill>
                  <a:schemeClr val="bg2"/>
                </a:solidFill>
                <a:latin typeface="+mn-lt"/>
                <a:ea typeface="华文新魏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pic>
        <p:nvPicPr>
          <p:cNvPr id="1029" name="Picture 5" descr="E:\电信学院\同济logo\百年同济logo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04800"/>
            <a:ext cx="1262063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300078" y="3200400"/>
            <a:ext cx="553998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1pPr>
            <a:lvl2pPr marL="742950" indent="-285750"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2pPr>
            <a:lvl3pPr marL="1143000" indent="-228600"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3pPr>
            <a:lvl4pPr marL="1600200" indent="-228600"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4pPr>
            <a:lvl5pPr marL="2057400" indent="-228600"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24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304800" y="6248401"/>
            <a:ext cx="8686800" cy="74613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 b="0">
              <a:solidFill>
                <a:srgbClr val="FD1B15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1524000" y="1295401"/>
            <a:ext cx="7467600" cy="74613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 b="0">
              <a:solidFill>
                <a:srgbClr val="FD1B15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b="0" smtClean="0">
                <a:solidFill>
                  <a:schemeClr val="bg2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7086600" y="6322596"/>
            <a:ext cx="1828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/>
          <a:p>
            <a:pPr algn="r"/>
            <a:endParaRPr lang="zh-CN" altLang="en-US" sz="1600">
              <a:solidFill>
                <a:srgbClr val="0066FF"/>
              </a:solidFill>
              <a:latin typeface="Arial" pitchFamily="34" charset="0"/>
              <a:ea typeface="华文新魏" pitchFamily="2" charset="-122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7086600" y="6322596"/>
            <a:ext cx="1828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1pPr>
            <a:lvl2pPr marL="742950" indent="-285750"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2pPr>
            <a:lvl3pPr marL="1143000" indent="-228600"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3pPr>
            <a:lvl4pPr marL="1600200" indent="-228600"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4pPr>
            <a:lvl5pPr marL="2057400" indent="-228600"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66FF"/>
              </a:solidFill>
              <a:latin typeface="Arial" pitchFamily="34" charset="0"/>
              <a:ea typeface="华文新魏" pitchFamily="2" charset="-122"/>
            </a:endParaRPr>
          </a:p>
        </p:txBody>
      </p:sp>
      <p:sp>
        <p:nvSpPr>
          <p:cNvPr id="1036" name="Text Box 12"/>
          <p:cNvSpPr txBox="1">
            <a:spLocks noChangeArrowheads="1"/>
          </p:cNvSpPr>
          <p:nvPr/>
        </p:nvSpPr>
        <p:spPr bwMode="auto">
          <a:xfrm>
            <a:off x="6858000" y="6336269"/>
            <a:ext cx="2133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1pPr>
            <a:lvl2pPr marL="742950" indent="-285750"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2pPr>
            <a:lvl3pPr marL="1143000" indent="-228600"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3pPr>
            <a:lvl4pPr marL="1600200" indent="-228600"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4pPr>
            <a:lvl5pPr marL="2057400" indent="-228600"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1800">
                <a:solidFill>
                  <a:srgbClr val="0000FF"/>
                </a:solidFill>
                <a:latin typeface="Arial" pitchFamily="34" charset="0"/>
                <a:ea typeface="华文新魏" pitchFamily="2" charset="-122"/>
              </a:rPr>
              <a:t>同济大学电信学院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0" indent="0" algn="l" defTabSz="720000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itchFamily="2" charset="2"/>
        <a:buNone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C22CB-00C4-49DC-B25C-6FA8A73EE2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68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9CA6F-4F6D-4D52-96C4-D0FAC77909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92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7CF21-178F-4C0A-A3AB-5ED14F848E1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044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FAA15164-D737-40E2-A8EF-583DAEC4467E}" type="slidenum">
              <a:rPr lang="en-US" altLang="zh-CN" b="0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defRPr/>
              </a:pPr>
              <a:t>‹#›</a:t>
            </a:fld>
            <a:endParaRPr lang="en-US" altLang="zh-CN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4794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9pPr>
    </p:titleStyle>
    <p:bodyStyle>
      <a:lvl1pPr marL="342900" indent="-342900" algn="just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just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just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just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just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just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just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just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FAA15164-D737-40E2-A8EF-583DAEC4467E}" type="slidenum">
              <a:rPr lang="en-US" altLang="zh-CN" b="0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defRPr/>
              </a:pPr>
              <a:t>‹#›</a:t>
            </a:fld>
            <a:endParaRPr lang="en-US" altLang="zh-CN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0671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9pPr>
    </p:titleStyle>
    <p:bodyStyle>
      <a:lvl1pPr marL="342900" indent="-342900" algn="just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just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just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just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just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just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just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just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&#25945;&#23398;&#21160;&#30011;/5.1-CPU&#27169;&#22411;.swf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oleObject" Target="../embeddings/oleObject1.bin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oleObject" Target="../embeddings/oleObject2.bin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&#25945;&#23398;&#21160;&#30011;/5.5-5.13-&#20116;&#26465;&#22522;&#26412;&#25351;&#20196;&#25191;&#34892;&#36807;&#31243;&#28436;&#31034;.swf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&#25945;&#23398;&#21160;&#30011;/5.5-5.13-&#20116;&#26465;&#22522;&#26412;&#25351;&#20196;&#25191;&#34892;&#36807;&#31243;&#28436;&#31034;.swf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&#25945;&#23398;&#21160;&#30011;/5.5-5.13-&#20116;&#26465;&#22522;&#26412;&#25351;&#20196;&#25191;&#34892;&#36807;&#31243;&#28436;&#31034;.swf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&#25945;&#23398;&#21160;&#30011;/5.5-5.13-&#20116;&#26465;&#22522;&#26412;&#25351;&#20196;&#25191;&#34892;&#36807;&#31243;&#28436;&#31034;.swf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&#25945;&#23398;&#21160;&#30011;/5.5.html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hyperlink" Target="&#25945;&#23398;&#21160;&#30011;/5.5-5.13-&#20116;&#26465;&#22522;&#26412;&#25351;&#20196;&#25191;&#34892;&#36807;&#31243;&#28436;&#31034;.swf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hyperlink" Target="&#25945;&#23398;&#21160;&#30011;/5.5-5.13-&#20116;&#26465;&#22522;&#26412;&#25351;&#20196;&#25191;&#34892;&#36807;&#31243;&#28436;&#31034;.swf" TargetMode="Externa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itchFamily="49" charset="-122"/>
              </a:rPr>
              <a:t>第</a:t>
            </a:r>
            <a:r>
              <a:rPr lang="en-US" altLang="zh-CN" dirty="0">
                <a:ea typeface="黑体" pitchFamily="49" charset="-122"/>
              </a:rPr>
              <a:t>5</a:t>
            </a:r>
            <a:r>
              <a:rPr lang="zh-CN" altLang="en-US" dirty="0">
                <a:ea typeface="黑体" pitchFamily="49" charset="-122"/>
              </a:rPr>
              <a:t>章  中央处理部件</a:t>
            </a:r>
            <a:r>
              <a:rPr lang="en-US" altLang="zh-CN" dirty="0">
                <a:ea typeface="黑体" pitchFamily="49" charset="-122"/>
              </a:rPr>
              <a:t>CPU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415652" y="1735180"/>
            <a:ext cx="8534400" cy="4358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/>
              <a:t>5.1  CPU</a:t>
            </a:r>
            <a:r>
              <a:rPr lang="zh-CN" altLang="en-US" dirty="0"/>
              <a:t>的功能与组成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/>
              <a:t>5.2  </a:t>
            </a:r>
            <a:r>
              <a:rPr lang="zh-CN" altLang="en-US" dirty="0"/>
              <a:t>控制器的组成</a:t>
            </a:r>
            <a:endParaRPr lang="en-US" altLang="zh-CN" dirty="0"/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/>
              <a:t>5.3  </a:t>
            </a:r>
            <a:r>
              <a:rPr lang="zh-CN" altLang="en-US" dirty="0"/>
              <a:t>指令周期</a:t>
            </a:r>
            <a:endParaRPr lang="en-US" altLang="zh-CN" dirty="0"/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/>
              <a:t>5.4  </a:t>
            </a:r>
            <a:r>
              <a:rPr lang="zh-CN" altLang="en-US" dirty="0"/>
              <a:t>操作控制器之微程序控制器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/>
              <a:t>5.5  </a:t>
            </a:r>
            <a:r>
              <a:rPr lang="zh-CN" altLang="en-US" dirty="0"/>
              <a:t>操作控制器之硬布线控制器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/>
              <a:t>5.6  </a:t>
            </a:r>
            <a:r>
              <a:rPr lang="zh-CN" altLang="en-US" dirty="0"/>
              <a:t>流水线工作原理</a:t>
            </a:r>
            <a:endParaRPr lang="en-US" altLang="zh-CN" dirty="0"/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zh-CN" altLang="en-US" dirty="0"/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>
                <a:ea typeface="黑体" pitchFamily="49" charset="-122"/>
              </a:rPr>
              <a:t>主要知识点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n"/>
            </a:pP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从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的功能，了解控制器功能和结构</a:t>
            </a:r>
          </a:p>
          <a:p>
            <a:pPr eaLnBrk="1" hangingPunct="1">
              <a:buFont typeface="Wingdings" pitchFamily="2" charset="2"/>
              <a:buChar char="n"/>
            </a:pP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掌握控制器的主要组成部件</a:t>
            </a:r>
          </a:p>
          <a:p>
            <a:pPr eaLnBrk="1" hangingPunct="1">
              <a:buFont typeface="Wingdings" pitchFamily="2" charset="2"/>
              <a:buChar char="n"/>
            </a:pP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掌握组合逻辑（硬布线）控制的特点及工作原理</a:t>
            </a:r>
          </a:p>
          <a:p>
            <a:pPr eaLnBrk="1" hangingPunct="1">
              <a:buFont typeface="Wingdings" pitchFamily="2" charset="2"/>
              <a:buChar char="n"/>
            </a:pP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掌握微操作的概念</a:t>
            </a:r>
          </a:p>
          <a:p>
            <a:pPr eaLnBrk="1" hangingPunct="1">
              <a:buFont typeface="Wingdings" pitchFamily="2" charset="2"/>
              <a:buChar char="n"/>
            </a:pP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掌握微程序控制器的实现原理及工作原理</a:t>
            </a:r>
          </a:p>
          <a:p>
            <a:pPr eaLnBrk="1" hangingPunct="1">
              <a:buFont typeface="Wingdings" pitchFamily="2" charset="2"/>
              <a:buChar char="n"/>
            </a:pP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掌握控制器在不同的数据通路下，如何控制一条指令的执行</a:t>
            </a:r>
          </a:p>
          <a:p>
            <a:pPr eaLnBrk="1" hangingPunct="1">
              <a:buFont typeface="Wingdings" pitchFamily="2" charset="2"/>
              <a:buChar char="n"/>
            </a:pP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流水线工作原理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5.1  CPU</a:t>
            </a:r>
            <a:r>
              <a:rPr lang="zh-CN" altLang="en-US" sz="36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的组成</a:t>
            </a:r>
            <a:br>
              <a:rPr lang="zh-CN" altLang="en-US" sz="2400" b="1" dirty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5.1.1 CPU</a:t>
            </a:r>
            <a:r>
              <a:rPr lang="zh-CN" altLang="en-US" sz="1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的功能</a:t>
            </a:r>
            <a:endParaRPr lang="zh-CN" altLang="en-US" sz="36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792000">
              <a:lnSpc>
                <a:spcPct val="90000"/>
              </a:lnSpc>
              <a:buNone/>
            </a:pPr>
            <a:r>
              <a:rPr lang="zh-CN" altLang="en-US" sz="2800" dirty="0"/>
              <a:t>当用计算机解决某个问题时，我们首先必须为它编写程序。</a:t>
            </a:r>
          </a:p>
          <a:p>
            <a:pPr indent="756000">
              <a:lnSpc>
                <a:spcPct val="90000"/>
              </a:lnSpc>
              <a:buNone/>
            </a:pPr>
            <a:r>
              <a:rPr lang="zh-CN" altLang="en-US" sz="2800" dirty="0"/>
              <a:t>程序是一个指令序列，这个序列明确告诉计算机应该执行什么操作，在什么地方找到用来操作的数据。一旦把程序装入内存储器，就可以由计算机来自动完成取出指令和执行指令的任务。专门用来完成此项工作的计算机部件称为</a:t>
            </a:r>
            <a:r>
              <a:rPr lang="zh-CN" altLang="en-US" sz="2800" b="1" dirty="0"/>
              <a:t>中央处理器</a:t>
            </a:r>
            <a:r>
              <a:rPr lang="zh-CN" altLang="en-US" sz="2800" dirty="0"/>
              <a:t>，通常简称</a:t>
            </a:r>
            <a:r>
              <a:rPr lang="en-US" altLang="zh-CN" sz="2800" b="1" dirty="0"/>
              <a:t>CPU</a:t>
            </a:r>
            <a:r>
              <a:rPr lang="zh-CN" altLang="en-US" sz="2800" dirty="0"/>
              <a:t>（</a:t>
            </a:r>
            <a:r>
              <a:rPr lang="en-US" altLang="zh-CN" sz="2800" dirty="0"/>
              <a:t>Central Processing Unit</a:t>
            </a:r>
            <a:r>
              <a:rPr lang="zh-CN" altLang="en-US" sz="2800" dirty="0"/>
              <a:t>）。</a:t>
            </a:r>
            <a:endParaRPr lang="en-US" altLang="zh-CN" sz="2800" dirty="0"/>
          </a:p>
          <a:p>
            <a:pPr indent="756000">
              <a:lnSpc>
                <a:spcPct val="90000"/>
              </a:lnSpc>
              <a:buNone/>
            </a:pPr>
            <a:r>
              <a:rPr lang="zh-CN" altLang="en-US" sz="2800" b="1" dirty="0"/>
              <a:t>中央处理器定义</a:t>
            </a:r>
            <a:r>
              <a:rPr lang="zh-CN" altLang="en-US" sz="2800" dirty="0"/>
              <a:t>：是控制计算机自动完成取出指令和执行指令任务的部件。它是计算机的核心部件。</a:t>
            </a:r>
            <a:endParaRPr lang="zh-CN" altLang="zh-C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>
              <a:buNone/>
            </a:pPr>
            <a:r>
              <a:rPr lang="en-US" altLang="zh-CN" sz="2800" dirty="0"/>
              <a:t>	CPU</a:t>
            </a:r>
            <a:r>
              <a:rPr lang="zh-CN" altLang="en-US" sz="2800" dirty="0"/>
              <a:t>对整个计算机系统的的运行是极其重要的，它具有如下四方面的基本功能：</a:t>
            </a:r>
          </a:p>
          <a:p>
            <a:pPr indent="0">
              <a:buNone/>
            </a:pPr>
            <a:r>
              <a:rPr lang="zh-CN" altLang="en-US" sz="2800" dirty="0"/>
              <a:t> </a:t>
            </a:r>
            <a:r>
              <a:rPr lang="en-US" altLang="zh-CN" sz="2800" dirty="0"/>
              <a:t>	</a:t>
            </a:r>
            <a:r>
              <a:rPr lang="zh-CN" altLang="en-US" sz="2800" b="1" dirty="0"/>
              <a:t>指令控制  </a:t>
            </a:r>
            <a:r>
              <a:rPr lang="zh-CN" altLang="en-US" sz="2800" dirty="0"/>
              <a:t>程序的顺序控制称为指令控制。由于程序是一个指令序列，这些指令的相互顺序不能任意颠倒，必须严格按程序规定的顺序进行。</a:t>
            </a:r>
          </a:p>
          <a:p>
            <a:pPr indent="0">
              <a:buNone/>
            </a:pPr>
            <a:r>
              <a:rPr lang="en-US" altLang="zh-CN" sz="2800" b="1" dirty="0"/>
              <a:t>	</a:t>
            </a:r>
            <a:r>
              <a:rPr lang="zh-CN" altLang="en-US" sz="2800" b="1" dirty="0"/>
              <a:t>操作控制</a:t>
            </a:r>
            <a:r>
              <a:rPr lang="zh-CN" altLang="en-US" sz="2800" dirty="0"/>
              <a:t>   一条指令的功能往往是由若干个操作信号的组合来实现的。因此，</a:t>
            </a:r>
            <a:r>
              <a:rPr lang="en-US" altLang="zh-CN" sz="2800" dirty="0"/>
              <a:t>CPU</a:t>
            </a:r>
            <a:r>
              <a:rPr lang="zh-CN" altLang="en-US" sz="2800" dirty="0"/>
              <a:t>管理并产生从内存取出每条指令的操作信号，并把各种操作信号送往相应的部件，从而控制这些部件按指令的要求进行动作</a:t>
            </a:r>
          </a:p>
          <a:p>
            <a:endParaRPr lang="zh-CN" altLang="en-US" dirty="0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81000"/>
            <a:ext cx="7467600" cy="762000"/>
          </a:xfrm>
        </p:spPr>
        <p:txBody>
          <a:bodyPr/>
          <a:lstStyle/>
          <a:p>
            <a:r>
              <a:rPr lang="en-US" altLang="zh-CN" sz="36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5.1  CPU</a:t>
            </a:r>
            <a:r>
              <a:rPr lang="zh-CN" altLang="en-US" sz="36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的组成</a:t>
            </a:r>
            <a:br>
              <a:rPr lang="zh-CN" altLang="en-US" sz="2400" b="1" dirty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5.1.1 CPU</a:t>
            </a:r>
            <a:r>
              <a:rPr lang="zh-CN" altLang="en-US" sz="1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的功能</a:t>
            </a:r>
            <a:endParaRPr lang="zh-CN" altLang="en-US" sz="3600" b="1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8616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	</a:t>
            </a:r>
            <a:r>
              <a:rPr lang="zh-CN" altLang="en-US" sz="2800" b="1" dirty="0"/>
              <a:t>时间控制  </a:t>
            </a:r>
            <a:r>
              <a:rPr lang="zh-CN" altLang="en-US" sz="2800" dirty="0"/>
              <a:t>对各种操作实施时间上的定时称为时间控制。因为在计算机中，各种指令的操作信号均受到时间的严格定时。另一方面，一条指令的整个执行过程也受到时间的严格定时。只有这样，计算机才能有条不紊地自动工作。</a:t>
            </a:r>
          </a:p>
          <a:p>
            <a:pPr>
              <a:buNone/>
            </a:pPr>
            <a:r>
              <a:rPr lang="en-US" altLang="zh-CN" sz="2800" b="1" dirty="0"/>
              <a:t>	</a:t>
            </a:r>
            <a:r>
              <a:rPr lang="zh-CN" altLang="en-US" sz="2800" b="1" dirty="0"/>
              <a:t>数据加工  </a:t>
            </a:r>
            <a:r>
              <a:rPr lang="zh-CN" altLang="en-US" sz="2800" dirty="0"/>
              <a:t>数据加工就是对数据进行算术运算和逻辑运算处理。原始信息只有经过加工处理之后才能对人们有用。</a:t>
            </a:r>
          </a:p>
          <a:p>
            <a:pPr>
              <a:buNone/>
            </a:pPr>
            <a:r>
              <a:rPr lang="zh-CN" altLang="en-US" sz="2800" dirty="0"/>
              <a:t>	前三项功能是由控制器实现的，后一项功能由运算器实现。</a:t>
            </a:r>
          </a:p>
          <a:p>
            <a:endParaRPr lang="zh-CN" alt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81000"/>
            <a:ext cx="7467600" cy="762000"/>
          </a:xfrm>
        </p:spPr>
        <p:txBody>
          <a:bodyPr/>
          <a:lstStyle/>
          <a:p>
            <a:r>
              <a:rPr lang="en-US" altLang="zh-CN" sz="36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5.1  CPU</a:t>
            </a:r>
            <a:r>
              <a:rPr lang="zh-CN" altLang="en-US" sz="36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的组成</a:t>
            </a:r>
            <a:br>
              <a:rPr lang="zh-CN" altLang="en-US" sz="2400" b="1" dirty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5.1.1 CPU</a:t>
            </a:r>
            <a:r>
              <a:rPr lang="zh-CN" altLang="en-US" sz="1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的功能</a:t>
            </a:r>
            <a:endParaRPr lang="zh-CN" altLang="en-US" sz="3600" b="1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7065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早期的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由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运算器和控制器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两大部分组成。但是随着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ULSI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（超大规模集成电路）技术的发展，早期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芯片外部的一些逻辑功能部件，如浮点运算器、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cache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、总线仲裁器等纷纷移入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内部，因而使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的内部组成越来越复杂。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这样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,CPU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的基本组成部分变成了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运算器、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cache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、控制器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三大部分。这里给出一个简单的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基本模型，如图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所示：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36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5.1  CPU</a:t>
            </a:r>
            <a:r>
              <a:rPr lang="zh-CN" altLang="en-US" sz="36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的组成</a:t>
            </a:r>
            <a:br>
              <a:rPr lang="zh-CN" altLang="en-US" sz="2400" b="1" dirty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5.1.2 CPU</a:t>
            </a:r>
            <a:r>
              <a:rPr lang="zh-CN" altLang="en-US" sz="1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的基本组成</a:t>
            </a:r>
            <a:endParaRPr lang="zh-CN" altLang="en-US" sz="3600" b="1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8646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28" y="0"/>
            <a:ext cx="8663143" cy="6858000"/>
          </a:xfrm>
          <a:prstGeom prst="rect">
            <a:avLst/>
          </a:prstGeom>
        </p:spPr>
      </p:pic>
      <p:sp>
        <p:nvSpPr>
          <p:cNvPr id="7" name="右箭头 6">
            <a:hlinkClick r:id="rId3" action="ppaction://hlinkfile"/>
          </p:cNvPr>
          <p:cNvSpPr/>
          <p:nvPr/>
        </p:nvSpPr>
        <p:spPr>
          <a:xfrm>
            <a:off x="7740352" y="6286665"/>
            <a:ext cx="1422376" cy="59871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演示动画</a:t>
            </a:r>
          </a:p>
        </p:txBody>
      </p:sp>
    </p:spTree>
    <p:extLst>
      <p:ext uri="{BB962C8B-B14F-4D97-AF65-F5344CB8AC3E}">
        <p14:creationId xmlns:p14="http://schemas.microsoft.com/office/powerpoint/2010/main" val="484308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、控制器（Controller）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由程序计数器（PC）、指令寄存器（IR）、指令译码器、时序产生器和操作控制器组成，它是发布命令的“决策机构”，即完成协调和指挥整个计算机系统的操作。</a:t>
            </a:r>
            <a:endParaRPr lang="en-US" altLang="zh-CN" sz="24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控制器的主要功能有：</a:t>
            </a:r>
            <a:endParaRPr lang="en-US" altLang="zh-CN" sz="24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(1)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从内存中取出一条指令，并指出下一条指令在内存中的位置；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(2)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对指令进行译码或测试，并产生相应的操作控制信号，以便启动规定的动作；比如：一次数据内存的读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写操作，一个算术逻辑运算操作，或一个输入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输出操作。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(3)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指挥并控制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、内存和输入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输出设备之间数据流动的方向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   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36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5.2  CPU</a:t>
            </a:r>
            <a:r>
              <a:rPr lang="zh-CN" altLang="en-US" sz="36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的组成</a:t>
            </a:r>
            <a:br>
              <a:rPr lang="zh-CN" altLang="en-US" sz="2400" b="1" dirty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5.1.2 CPU</a:t>
            </a:r>
            <a:r>
              <a:rPr lang="zh-CN" altLang="en-US" sz="1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的基本组成</a:t>
            </a:r>
            <a:endParaRPr lang="zh-CN" altLang="en-US" sz="3600" b="1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8442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60" y="0"/>
            <a:ext cx="86500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154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运算器（Arithmetic Unit）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包括：算术逻辑部件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ALU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、通用寄存器、数据缓冲寄存器</a:t>
            </a:r>
            <a:endParaRPr lang="en-US" altLang="zh-CN" sz="24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DR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和状态条件寄存器等组成，它是数据加工处理部件。</a:t>
            </a:r>
          </a:p>
          <a:p>
            <a:pPr marL="0" indent="0" eaLnBrk="1" hangingPunct="1">
              <a:buNone/>
            </a:pP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相对控制器而言，运算器接受控制器的命令而进行动作 ，即运算器所进行的全部操作都是由控制器发出的控制信号来指挥的，所以它是执行部件。 </a:t>
            </a:r>
          </a:p>
          <a:p>
            <a:pPr eaLnBrk="1" hangingPunct="1">
              <a:buNone/>
            </a:pP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运算器有两个主要功能：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(1)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执行所有的算术运算； 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(2)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执行所有的逻辑运算，并进行逻辑测试，如零值测试或两个值的比较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en-US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Arial" pitchFamily="34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   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36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5.2  CPU</a:t>
            </a:r>
            <a:r>
              <a:rPr lang="zh-CN" altLang="en-US" sz="36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的组成</a:t>
            </a:r>
            <a:br>
              <a:rPr lang="zh-CN" altLang="en-US" sz="2400" b="1" dirty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5.1.2 CPU</a:t>
            </a:r>
            <a:r>
              <a:rPr lang="zh-CN" altLang="en-US" sz="1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的基本组成</a:t>
            </a:r>
            <a:endParaRPr lang="zh-CN" altLang="en-US" sz="3600" b="1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57" y="0"/>
            <a:ext cx="86362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154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22" y="0"/>
            <a:ext cx="86285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306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补充一些关于寄存器和总线方面的知识，便于更好的理解该</a:t>
            </a:r>
            <a:r>
              <a:rPr lang="en-US" altLang="zh-CN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模型</a:t>
            </a:r>
            <a:endParaRPr lang="en-US" altLang="zh-CN" sz="26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寄存器（Register）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寄存器是有限存贮容量的高速存贮部件，它们可用来暂存指令、数据和位址。一般可以分为三类：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（</a:t>
            </a:r>
            <a:r>
              <a:rPr lang="en-US" altLang="zh-CN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）用于处理的寄存器（包含在处理器中）</a:t>
            </a:r>
            <a:endParaRPr lang="zh-CN" altLang="en-US" sz="26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Arial" pitchFamily="34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（</a:t>
            </a:r>
            <a:r>
              <a:rPr lang="en-US" altLang="zh-CN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）用于控制的寄存器（包含在控制器中）</a:t>
            </a:r>
            <a:endParaRPr lang="en-US" sz="26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（</a:t>
            </a:r>
            <a:r>
              <a:rPr lang="en-US" altLang="zh-CN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）用于主存和</a:t>
            </a:r>
            <a:r>
              <a:rPr lang="en-US" altLang="zh-CN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I/O</a:t>
            </a: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接口的寄存器</a:t>
            </a:r>
          </a:p>
          <a:p>
            <a:pPr lvl="2" eaLnBrk="1" hangingPunct="1">
              <a:lnSpc>
                <a:spcPct val="80000"/>
              </a:lnSpc>
              <a:buClr>
                <a:schemeClr val="tx2"/>
              </a:buClr>
              <a:buSzPct val="100000"/>
            </a:pP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Arial" pitchFamily="34" charset="0"/>
              </a:rPr>
              <a:t>地址寄存器</a:t>
            </a:r>
            <a:r>
              <a:rPr lang="en-US" altLang="zh-CN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Arial" pitchFamily="34" charset="0"/>
              </a:rPr>
              <a:t>AR</a:t>
            </a:r>
          </a:p>
          <a:p>
            <a:pPr lvl="2" eaLnBrk="1" hangingPunct="1">
              <a:lnSpc>
                <a:spcPct val="80000"/>
              </a:lnSpc>
              <a:buClr>
                <a:schemeClr val="tx2"/>
              </a:buClr>
              <a:buSzPct val="100000"/>
            </a:pP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Arial" pitchFamily="34" charset="0"/>
              </a:rPr>
              <a:t>数据寄存器</a:t>
            </a:r>
            <a:r>
              <a:rPr lang="en-US" altLang="zh-CN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Arial" pitchFamily="34" charset="0"/>
              </a:rPr>
              <a:t>DR</a:t>
            </a:r>
            <a:endParaRPr lang="zh-CN" altLang="en-US" sz="26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en-US" altLang="zh-CN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总线（Bus）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总线用于实现运算器、控制器和寄存器之间的交互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36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5.2  CPU</a:t>
            </a:r>
            <a:r>
              <a:rPr lang="zh-CN" altLang="en-US" sz="36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的组成</a:t>
            </a:r>
            <a:br>
              <a:rPr lang="zh-CN" altLang="en-US" sz="2400" b="1" dirty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5.1.2 CPU</a:t>
            </a:r>
            <a:r>
              <a:rPr lang="zh-CN" altLang="en-US" sz="1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的基本组成</a:t>
            </a:r>
            <a:endParaRPr lang="zh-CN" altLang="en-US" sz="3600" b="1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9819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b="1" dirty="0">
                <a:latin typeface="黑体" pitchFamily="49" charset="-122"/>
                <a:ea typeface="黑体" pitchFamily="49" charset="-122"/>
              </a:rPr>
              <a:t>CPU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模型说明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76400"/>
            <a:ext cx="8915400" cy="4495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备注：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不同时期的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模型内部结构略有不同：主要区别在于是否有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、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 （高速缓存）主要分为两部分：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数存（数据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）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：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中存放数据的区域；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指存（指令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）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：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中存放指令的区域；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   数存和指存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都是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的一部分。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、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的作用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marL="457200" indent="-457200" eaLnBrk="1" hangingPunct="1">
              <a:lnSpc>
                <a:spcPct val="80000"/>
              </a:lnSpc>
              <a:buFont typeface="Wingdings" pitchFamily="2" charset="2"/>
              <a:buChar char="l"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对于没有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的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直接与内存产生交互（打交道）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marL="457200" indent="-457200" eaLnBrk="1" hangingPunct="1">
              <a:lnSpc>
                <a:spcPct val="80000"/>
              </a:lnSpc>
              <a:buFont typeface="Wingdings" pitchFamily="2" charset="2"/>
              <a:buChar char="l"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对于有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的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与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产生交互（打交道）。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  <a:buNone/>
            </a:pPr>
            <a:endParaRPr lang="zh-CN" altLang="en-US" sz="2800" dirty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zh-CN" altLang="en-US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1736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b="1" dirty="0">
                <a:latin typeface="黑体" pitchFamily="49" charset="-122"/>
                <a:ea typeface="黑体" pitchFamily="49" charset="-122"/>
              </a:rPr>
              <a:t>CPU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模型说明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76400"/>
            <a:ext cx="8915400" cy="4495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3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、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ABUS(D)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和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ABUS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（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I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），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没有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的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模型用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ABUS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（地址数据总线）来代替。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ABUS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（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D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）：数据地址总线</a:t>
            </a: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ABUS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（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I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）：指令地址总线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4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、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指令总线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IBUS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和数据总线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DBUS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，没有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的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模型用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DBUS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（数据总线）来代替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zh-CN" altLang="en-US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5307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b="1" dirty="0">
                <a:latin typeface="黑体" pitchFamily="49" charset="-122"/>
                <a:ea typeface="黑体" pitchFamily="49" charset="-122"/>
              </a:rPr>
              <a:t>CPU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模型说明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76400"/>
            <a:ext cx="8915400" cy="4495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5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、没有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的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，指令和数据都存放在内存中。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ABUS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：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向内存传送地址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DBUS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：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从内存中取出数据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6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、有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的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，指令和数据存储在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中（分别存放在指存和数存中）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ABUS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D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）向数存传送地址，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DBUS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从数存中取出数据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ABUS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I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）向指存传送地址，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IBUS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从指存中取出数据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zh-CN" altLang="en-US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5307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22" y="0"/>
            <a:ext cx="86285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01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寄存器是有限存贮容量的高速存贮部件，它们可用来暂存指令、数据和位址。一般可以分为三类：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（</a:t>
            </a:r>
            <a:r>
              <a:rPr lang="en-US" altLang="zh-CN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）用于处理的寄存器（包含在处理器中）</a:t>
            </a:r>
            <a:endParaRPr lang="zh-CN" altLang="en-US" sz="26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Arial" pitchFamily="34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（</a:t>
            </a:r>
            <a:r>
              <a:rPr lang="en-US" altLang="zh-CN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）用于控制的寄存器（包含在控制器中）</a:t>
            </a:r>
            <a:endParaRPr lang="en-US" sz="26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（</a:t>
            </a:r>
            <a:r>
              <a:rPr lang="en-US" altLang="zh-CN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）用于主存和</a:t>
            </a:r>
            <a:r>
              <a:rPr lang="en-US" altLang="zh-CN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I/O</a:t>
            </a: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接口的寄存器</a:t>
            </a:r>
          </a:p>
          <a:p>
            <a:pPr lvl="2" eaLnBrk="1" hangingPunct="1">
              <a:lnSpc>
                <a:spcPct val="80000"/>
              </a:lnSpc>
              <a:buClr>
                <a:schemeClr val="tx2"/>
              </a:buClr>
              <a:buSzPct val="100000"/>
            </a:pP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Arial" pitchFamily="34" charset="0"/>
              </a:rPr>
              <a:t>地址寄存器</a:t>
            </a:r>
            <a:r>
              <a:rPr lang="en-US" altLang="zh-CN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Arial" pitchFamily="34" charset="0"/>
              </a:rPr>
              <a:t>AR</a:t>
            </a:r>
          </a:p>
          <a:p>
            <a:pPr lvl="2" eaLnBrk="1" hangingPunct="1">
              <a:lnSpc>
                <a:spcPct val="80000"/>
              </a:lnSpc>
              <a:buClr>
                <a:schemeClr val="tx2"/>
              </a:buClr>
              <a:buSzPct val="100000"/>
            </a:pP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Arial" pitchFamily="34" charset="0"/>
              </a:rPr>
              <a:t>数据寄存器</a:t>
            </a:r>
            <a:r>
              <a:rPr lang="en-US" altLang="zh-CN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Arial" pitchFamily="34" charset="0"/>
              </a:rPr>
              <a:t>DR</a:t>
            </a:r>
            <a:endParaRPr lang="zh-CN" altLang="en-US" sz="26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各种计算机的</a:t>
            </a:r>
            <a:r>
              <a:rPr lang="en-US" altLang="zh-CN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可能有这样或那样的不同，但是在</a:t>
            </a:r>
            <a:r>
              <a:rPr lang="en-US" altLang="zh-CN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中至少要有六类寄存器。</a:t>
            </a:r>
            <a:endParaRPr lang="en-US" altLang="zh-CN" sz="26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它们是：指令计数器</a:t>
            </a:r>
            <a:r>
              <a:rPr lang="en-US" altLang="zh-CN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(PC)</a:t>
            </a:r>
            <a:r>
              <a:rPr lang="zh-CN" altLang="en-US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、指令寄存器</a:t>
            </a:r>
            <a:r>
              <a:rPr lang="en-US" altLang="zh-CN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(IR)</a:t>
            </a:r>
            <a:r>
              <a:rPr lang="zh-CN" altLang="en-US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、地址寄存器</a:t>
            </a:r>
            <a:r>
              <a:rPr lang="en-US" altLang="zh-CN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(AR)</a:t>
            </a:r>
            <a:r>
              <a:rPr lang="zh-CN" altLang="en-US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、数据寄存器</a:t>
            </a:r>
            <a:r>
              <a:rPr lang="en-US" altLang="zh-CN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(DR)</a:t>
            </a:r>
            <a:r>
              <a:rPr lang="zh-CN" altLang="en-US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、通用寄存器、累加寄存器</a:t>
            </a:r>
            <a:r>
              <a:rPr lang="en-US" altLang="zh-CN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(AC)</a:t>
            </a:r>
            <a:r>
              <a:rPr lang="zh-CN" altLang="en-US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、状态条件寄存器</a:t>
            </a:r>
            <a:r>
              <a:rPr lang="en-US" altLang="zh-CN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(PSW)</a:t>
            </a:r>
            <a:r>
              <a:rPr lang="zh-CN" altLang="en-US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>
                <a:latin typeface="黑体" pitchFamily="49" charset="-122"/>
                <a:ea typeface="黑体" pitchFamily="49" charset="-122"/>
              </a:rPr>
              <a:t>5.1.3  CPU</a:t>
            </a:r>
            <a:r>
              <a:rPr lang="zh-CN" altLang="en-US" sz="3600" b="1">
                <a:latin typeface="黑体" pitchFamily="49" charset="-122"/>
                <a:ea typeface="黑体" pitchFamily="49" charset="-122"/>
              </a:rPr>
              <a:t>中的主要寄存器</a:t>
            </a:r>
            <a:endParaRPr lang="zh-CN" altLang="en-US" sz="3600" b="1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3389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686800" cy="46482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1.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程序计数器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(PC)</a:t>
            </a:r>
          </a:p>
          <a:p>
            <a:pPr eaLnBrk="1" hangingPunct="1"/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即指令地址寄存器。在某些计算机中用来存放当前正在执行的指令地址；而在另一些计算机中则用来存放即将要执行的下一条指令地址（本教材采用这一方式）。</a:t>
            </a:r>
            <a:endParaRPr lang="en-US" altLang="zh-CN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2"/>
                </a:solidFill>
                <a:ea typeface="楷体_GB2312" pitchFamily="49" charset="-122"/>
              </a:rPr>
              <a:t>	</a:t>
            </a:r>
            <a:r>
              <a:rPr lang="zh-CN" altLang="en-US" sz="2400" dirty="0">
                <a:ea typeface="楷体_GB2312"/>
              </a:rPr>
              <a:t>为了保证程序</a:t>
            </a:r>
            <a:r>
              <a:rPr lang="en-US" altLang="zh-CN" sz="2400" dirty="0">
                <a:ea typeface="楷体_GB2312"/>
              </a:rPr>
              <a:t>(</a:t>
            </a:r>
            <a:r>
              <a:rPr lang="zh-CN" altLang="en-US" sz="2400" dirty="0">
                <a:ea typeface="楷体_GB2312"/>
              </a:rPr>
              <a:t>在操作系统中理解为进程</a:t>
            </a:r>
            <a:r>
              <a:rPr lang="en-US" altLang="zh-CN" sz="2400" dirty="0">
                <a:ea typeface="楷体_GB2312"/>
              </a:rPr>
              <a:t>)</a:t>
            </a:r>
            <a:r>
              <a:rPr lang="zh-CN" altLang="en-US" sz="2400" dirty="0">
                <a:ea typeface="楷体_GB2312"/>
              </a:rPr>
              <a:t>能够连续地执行下去，</a:t>
            </a:r>
            <a:r>
              <a:rPr lang="en-US" altLang="zh-CN" sz="2400" dirty="0">
                <a:ea typeface="楷体_GB2312"/>
              </a:rPr>
              <a:t>CPU</a:t>
            </a:r>
            <a:r>
              <a:rPr lang="zh-CN" altLang="en-US" sz="2400" dirty="0">
                <a:ea typeface="楷体_GB2312"/>
              </a:rPr>
              <a:t>必须具有某些手段来确定下一条指令的地址。而程序计数器正是起到这种作用，所以通常又称为</a:t>
            </a:r>
            <a:r>
              <a:rPr lang="zh-CN" altLang="en-US" sz="2400" b="1" dirty="0">
                <a:ea typeface="楷体_GB2312"/>
              </a:rPr>
              <a:t>指令计数器</a:t>
            </a:r>
            <a:r>
              <a:rPr lang="zh-CN" altLang="en-US" sz="2400" dirty="0">
                <a:ea typeface="楷体_GB2312"/>
              </a:rPr>
              <a:t>。</a:t>
            </a:r>
            <a:endParaRPr lang="en-US" altLang="zh-CN" sz="2400" dirty="0">
              <a:ea typeface="楷体_GB2312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ea typeface="楷体_GB2312"/>
              </a:rPr>
              <a:t>	</a:t>
            </a:r>
            <a:r>
              <a:rPr lang="zh-CN" altLang="en-US" sz="2400" b="1" dirty="0">
                <a:ea typeface="楷体_GB2312"/>
              </a:rPr>
              <a:t>在程序开始执行前</a:t>
            </a:r>
            <a:r>
              <a:rPr lang="zh-CN" altLang="en-US" sz="2400" dirty="0">
                <a:ea typeface="楷体_GB2312"/>
              </a:rPr>
              <a:t>，必须将它的起始地址，即程序的第一条指令所在的内存单元地址送入</a:t>
            </a:r>
            <a:r>
              <a:rPr lang="en-US" altLang="zh-CN" sz="2400" dirty="0">
                <a:ea typeface="楷体_GB2312"/>
              </a:rPr>
              <a:t>PC</a:t>
            </a:r>
            <a:r>
              <a:rPr lang="zh-CN" altLang="en-US" sz="2400" dirty="0">
                <a:ea typeface="楷体_GB2312"/>
              </a:rPr>
              <a:t>，因此程序计数器（</a:t>
            </a:r>
            <a:r>
              <a:rPr lang="en-US" altLang="zh-CN" sz="2400" dirty="0">
                <a:ea typeface="楷体_GB2312"/>
              </a:rPr>
              <a:t>PC</a:t>
            </a:r>
            <a:r>
              <a:rPr lang="zh-CN" altLang="en-US" sz="2400" dirty="0">
                <a:ea typeface="楷体_GB2312"/>
              </a:rPr>
              <a:t>）的内容即是从内存提取的第一条指令的地址。</a:t>
            </a:r>
            <a:endParaRPr lang="en-US" altLang="zh-CN" sz="2400" dirty="0">
              <a:ea typeface="楷体_GB231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dirty="0">
                <a:latin typeface="黑体" pitchFamily="49" charset="-122"/>
                <a:ea typeface="黑体" pitchFamily="49" charset="-122"/>
              </a:rPr>
              <a:t>5.1.3  CPU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中的主要寄存器</a:t>
            </a:r>
          </a:p>
        </p:txBody>
      </p:sp>
    </p:spTree>
    <p:extLst>
      <p:ext uri="{BB962C8B-B14F-4D97-AF65-F5344CB8AC3E}">
        <p14:creationId xmlns:p14="http://schemas.microsoft.com/office/powerpoint/2010/main" val="4180804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686800" cy="464820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1.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程序计数器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(PC)</a:t>
            </a:r>
          </a:p>
          <a:p>
            <a:pPr eaLnBrk="1" hangingPunct="1"/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	</a:t>
            </a:r>
            <a:r>
              <a:rPr lang="zh-CN" altLang="en-US" sz="2800" b="1" dirty="0">
                <a:ea typeface="楷体_GB2312"/>
              </a:rPr>
              <a:t>当执行指令时</a:t>
            </a:r>
            <a:r>
              <a:rPr lang="zh-CN" altLang="en-US" sz="2800" dirty="0">
                <a:ea typeface="楷体_GB2312"/>
              </a:rPr>
              <a:t>，</a:t>
            </a:r>
            <a:r>
              <a:rPr lang="en-US" altLang="zh-CN" sz="2800" dirty="0">
                <a:ea typeface="楷体_GB2312"/>
              </a:rPr>
              <a:t>CPU</a:t>
            </a:r>
            <a:r>
              <a:rPr lang="zh-CN" altLang="en-US" sz="2800" dirty="0">
                <a:ea typeface="楷体_GB2312"/>
              </a:rPr>
              <a:t>将自动修改</a:t>
            </a:r>
            <a:r>
              <a:rPr lang="en-US" altLang="zh-CN" sz="2800" dirty="0">
                <a:ea typeface="楷体_GB2312"/>
              </a:rPr>
              <a:t>PC</a:t>
            </a:r>
            <a:r>
              <a:rPr lang="zh-CN" altLang="en-US" sz="2800" dirty="0">
                <a:ea typeface="楷体_GB2312"/>
              </a:rPr>
              <a:t>的内容，即每执行一条指令</a:t>
            </a:r>
            <a:r>
              <a:rPr lang="en-US" altLang="zh-CN" sz="2800" dirty="0">
                <a:ea typeface="楷体_GB2312"/>
              </a:rPr>
              <a:t>PC</a:t>
            </a:r>
            <a:r>
              <a:rPr lang="zh-CN" altLang="en-US" sz="2800" dirty="0">
                <a:ea typeface="楷体_GB2312"/>
              </a:rPr>
              <a:t>增加一个量，这个量等于指令所含的字节数，以便使其保持的总是将要执行的下一条指令的地址。由于大多数指令都是按顺序来执行的，所以修改的过程通常只是简单的对</a:t>
            </a:r>
            <a:r>
              <a:rPr lang="en-US" altLang="zh-CN" sz="2800" dirty="0">
                <a:ea typeface="楷体_GB2312"/>
              </a:rPr>
              <a:t>PC</a:t>
            </a:r>
            <a:r>
              <a:rPr lang="zh-CN" altLang="en-US" sz="2800" dirty="0">
                <a:ea typeface="楷体_GB2312"/>
              </a:rPr>
              <a:t>加</a:t>
            </a:r>
            <a:r>
              <a:rPr lang="en-US" altLang="zh-CN" sz="2800" dirty="0">
                <a:ea typeface="楷体_GB2312"/>
              </a:rPr>
              <a:t>1</a:t>
            </a:r>
            <a:r>
              <a:rPr lang="zh-CN" altLang="en-US" sz="2800" dirty="0">
                <a:ea typeface="楷体_GB2312"/>
              </a:rPr>
              <a:t>。</a:t>
            </a:r>
            <a:endParaRPr lang="en-US" altLang="zh-CN" sz="2800" b="1" dirty="0">
              <a:solidFill>
                <a:schemeClr val="tx2"/>
              </a:solidFill>
              <a:latin typeface="黑体" pitchFamily="49" charset="-122"/>
              <a:ea typeface="楷体_GB2312"/>
            </a:endParaRPr>
          </a:p>
          <a:p>
            <a:pPr eaLnBrk="1" hangingPunct="1"/>
            <a:r>
              <a:rPr lang="en-US" altLang="zh-CN" sz="2800" b="1" dirty="0">
                <a:solidFill>
                  <a:schemeClr val="tx2"/>
                </a:solidFill>
                <a:latin typeface="黑体" pitchFamily="49" charset="-122"/>
                <a:ea typeface="楷体_GB2312"/>
              </a:rPr>
              <a:t>	</a:t>
            </a:r>
            <a:r>
              <a:rPr lang="zh-CN" altLang="en-US" sz="2800" dirty="0">
                <a:ea typeface="楷体_GB2312"/>
              </a:rPr>
              <a:t>但是，当遇到转移指令如</a:t>
            </a:r>
            <a:r>
              <a:rPr lang="en-US" altLang="zh-CN" sz="2800" dirty="0">
                <a:ea typeface="楷体_GB2312"/>
              </a:rPr>
              <a:t>JMP</a:t>
            </a:r>
            <a:r>
              <a:rPr lang="zh-CN" altLang="en-US" sz="2800" dirty="0">
                <a:ea typeface="楷体_GB2312"/>
              </a:rPr>
              <a:t>指令时，后继指令的地址（即</a:t>
            </a:r>
            <a:r>
              <a:rPr lang="en-US" altLang="zh-CN" sz="2800" dirty="0">
                <a:ea typeface="楷体_GB2312"/>
              </a:rPr>
              <a:t>PC</a:t>
            </a:r>
            <a:r>
              <a:rPr lang="zh-CN" altLang="en-US" sz="2800" dirty="0">
                <a:ea typeface="楷体_GB2312"/>
              </a:rPr>
              <a:t>的内容）必须从指令寄存器中的地址字段取得。在这种情况下，下一条从内存取出的指令将由转移指令来规定，而不像通常一样按顺序来取得。</a:t>
            </a:r>
            <a:endParaRPr lang="en-US" altLang="zh-CN" sz="2800" b="1" dirty="0">
              <a:solidFill>
                <a:schemeClr val="tx2"/>
              </a:solidFill>
              <a:latin typeface="黑体" pitchFamily="49" charset="-122"/>
              <a:ea typeface="楷体_GB231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dirty="0">
                <a:latin typeface="黑体" pitchFamily="49" charset="-122"/>
                <a:ea typeface="黑体" pitchFamily="49" charset="-122"/>
              </a:rPr>
              <a:t>5.1.3  CPU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中的主要寄存器</a:t>
            </a:r>
          </a:p>
        </p:txBody>
      </p:sp>
    </p:spTree>
    <p:extLst>
      <p:ext uri="{BB962C8B-B14F-4D97-AF65-F5344CB8AC3E}">
        <p14:creationId xmlns:p14="http://schemas.microsoft.com/office/powerpoint/2010/main" val="508411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686800" cy="464820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1.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程序计数器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(PC)</a:t>
            </a:r>
          </a:p>
          <a:p>
            <a:pPr eaLnBrk="1" hangingPunct="1"/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	</a:t>
            </a:r>
            <a:r>
              <a:rPr lang="zh-CN" altLang="en-US" sz="2800" dirty="0">
                <a:solidFill>
                  <a:srgbClr val="3D3D3D"/>
                </a:solidFill>
                <a:ea typeface="楷体_GB2312"/>
              </a:rPr>
              <a:t>因此，程序计数器的结构应当是具有寄存器和计数两种功能的结构。</a:t>
            </a:r>
            <a:endParaRPr lang="en-US" altLang="zh-CN" sz="2800" dirty="0">
              <a:solidFill>
                <a:srgbClr val="3D3D3D"/>
              </a:solidFill>
              <a:ea typeface="楷体_GB2312"/>
            </a:endParaRPr>
          </a:p>
          <a:p>
            <a:pPr marL="0" indent="457200" eaLnBrk="1" hangingPunct="1">
              <a:buNone/>
            </a:pPr>
            <a:r>
              <a:rPr lang="zh-CN" altLang="en-US" sz="2800" b="1" dirty="0">
                <a:ea typeface="楷体_GB2312"/>
              </a:rPr>
              <a:t>总结</a:t>
            </a:r>
            <a:r>
              <a:rPr lang="zh-CN" altLang="en-US" sz="2800" dirty="0">
                <a:ea typeface="楷体_GB2312"/>
              </a:rPr>
              <a:t>：主要有两种方法形成下一条指令地址：</a:t>
            </a:r>
            <a:endParaRPr lang="en-US" altLang="zh-CN" sz="2800" dirty="0">
              <a:ea typeface="楷体_GB2312"/>
            </a:endParaRPr>
          </a:p>
          <a:p>
            <a:pPr eaLnBrk="1" hangingPunct="1">
              <a:buNone/>
            </a:pPr>
            <a:r>
              <a:rPr lang="zh-CN" altLang="en-US" sz="2800" dirty="0">
                <a:ea typeface="楷体_GB2312"/>
              </a:rPr>
              <a:t>（</a:t>
            </a:r>
            <a:r>
              <a:rPr lang="en-US" altLang="zh-CN" sz="2800" dirty="0">
                <a:ea typeface="楷体_GB2312"/>
              </a:rPr>
              <a:t>1</a:t>
            </a:r>
            <a:r>
              <a:rPr lang="zh-CN" altLang="en-US" sz="2800" dirty="0">
                <a:ea typeface="楷体_GB2312"/>
              </a:rPr>
              <a:t>）程序在顺序执行时，通过对</a:t>
            </a:r>
            <a:r>
              <a:rPr lang="en-US" altLang="zh-CN" sz="2800" dirty="0">
                <a:ea typeface="楷体_GB2312"/>
              </a:rPr>
              <a:t>PC</a:t>
            </a:r>
            <a:r>
              <a:rPr lang="zh-CN" altLang="en-US" sz="2800" dirty="0">
                <a:ea typeface="楷体_GB2312"/>
              </a:rPr>
              <a:t>的增值（</a:t>
            </a:r>
            <a:r>
              <a:rPr lang="en-US" altLang="zh-CN" sz="2800" dirty="0">
                <a:ea typeface="楷体_GB2312"/>
              </a:rPr>
              <a:t>+1</a:t>
            </a:r>
            <a:r>
              <a:rPr lang="zh-CN" altLang="en-US" sz="2800" dirty="0">
                <a:ea typeface="楷体_GB2312"/>
              </a:rPr>
              <a:t>）形成下一条指令地址。</a:t>
            </a:r>
            <a:endParaRPr lang="en-US" altLang="zh-CN" sz="2800" dirty="0">
              <a:ea typeface="楷体_GB231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楷体_GB2312"/>
              </a:rPr>
              <a:t>（</a:t>
            </a:r>
            <a:r>
              <a:rPr lang="en-US" altLang="zh-CN" sz="2800" dirty="0">
                <a:ea typeface="楷体_GB2312"/>
              </a:rPr>
              <a:t>2</a:t>
            </a:r>
            <a:r>
              <a:rPr lang="zh-CN" altLang="en-US" sz="2800" dirty="0">
                <a:ea typeface="楷体_GB2312"/>
              </a:rPr>
              <a:t>）程序在非顺序执行时，一般由转移类指令形成的转移地址，送往程序计数器，作为下一条指令的地址。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dirty="0">
                <a:latin typeface="黑体" pitchFamily="49" charset="-122"/>
                <a:ea typeface="黑体" pitchFamily="49" charset="-122"/>
              </a:rPr>
              <a:t>5.1.3  CPU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中的主要寄存器</a:t>
            </a:r>
          </a:p>
        </p:txBody>
      </p:sp>
    </p:spTree>
    <p:extLst>
      <p:ext uri="{BB962C8B-B14F-4D97-AF65-F5344CB8AC3E}">
        <p14:creationId xmlns:p14="http://schemas.microsoft.com/office/powerpoint/2010/main" val="31142616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指令寄存器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(IR)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用以存放当前正在执行的指令，以便在指令执行过程中，控制完成一条指令的全部功能。</a:t>
            </a:r>
          </a:p>
          <a:p>
            <a:pPr marL="0" indent="720000" eaLnBrk="1" hangingPunct="1">
              <a:buNone/>
            </a:pPr>
            <a:r>
              <a:rPr lang="zh-CN" altLang="en-US" sz="2800" dirty="0">
                <a:ea typeface="楷体_GB2312"/>
              </a:rPr>
              <a:t>当执行一条指令时，先把它从指令</a:t>
            </a:r>
            <a:r>
              <a:rPr lang="en-US" altLang="zh-CN" sz="2800" dirty="0">
                <a:ea typeface="楷体_GB2312"/>
              </a:rPr>
              <a:t>cache</a:t>
            </a:r>
            <a:r>
              <a:rPr lang="zh-CN" altLang="en-US" sz="2800" dirty="0">
                <a:ea typeface="楷体_GB2312"/>
              </a:rPr>
              <a:t>存储器（简称指存）读出，然后再传送至指令寄存器。随后由控制器对指令寄存器中的二进制指令代码进行解释，并产生相应的控制。</a:t>
            </a:r>
          </a:p>
          <a:p>
            <a:pPr marL="0" indent="720000" eaLnBrk="1" hangingPunct="1">
              <a:buNone/>
            </a:pPr>
            <a:r>
              <a:rPr lang="zh-CN" altLang="en-US" sz="2800" dirty="0">
                <a:ea typeface="楷体_GB2312"/>
              </a:rPr>
              <a:t> </a:t>
            </a:r>
            <a:r>
              <a:rPr lang="zh-CN" altLang="en-US" sz="2800" b="1" dirty="0">
                <a:ea typeface="楷体_GB2312"/>
              </a:rPr>
              <a:t>指存</a:t>
            </a:r>
            <a:r>
              <a:rPr lang="zh-CN" altLang="en-US" sz="2800" dirty="0">
                <a:ea typeface="楷体_GB2312"/>
              </a:rPr>
              <a:t>：对于没有</a:t>
            </a:r>
            <a:r>
              <a:rPr lang="en-US" altLang="zh-CN" sz="2800" dirty="0">
                <a:ea typeface="楷体_GB2312"/>
              </a:rPr>
              <a:t>Cache</a:t>
            </a:r>
            <a:r>
              <a:rPr lang="zh-CN" altLang="en-US" sz="2800" dirty="0">
                <a:ea typeface="楷体_GB2312"/>
              </a:rPr>
              <a:t>（高速缓存）的</a:t>
            </a:r>
            <a:r>
              <a:rPr lang="en-US" altLang="zh-CN" sz="2800" dirty="0">
                <a:ea typeface="楷体_GB2312"/>
              </a:rPr>
              <a:t>CPU</a:t>
            </a:r>
            <a:r>
              <a:rPr lang="zh-CN" altLang="en-US" sz="2800" dirty="0">
                <a:ea typeface="楷体_GB2312"/>
              </a:rPr>
              <a:t>，指存指的是内存，对于有</a:t>
            </a:r>
            <a:r>
              <a:rPr lang="en-US" altLang="zh-CN" sz="2800" dirty="0">
                <a:ea typeface="楷体_GB2312"/>
              </a:rPr>
              <a:t>Cache</a:t>
            </a:r>
            <a:r>
              <a:rPr lang="zh-CN" altLang="en-US" sz="2800" dirty="0">
                <a:ea typeface="楷体_GB2312"/>
              </a:rPr>
              <a:t>的</a:t>
            </a:r>
            <a:r>
              <a:rPr lang="en-US" altLang="zh-CN" sz="2800" dirty="0">
                <a:ea typeface="楷体_GB2312"/>
              </a:rPr>
              <a:t>CPU</a:t>
            </a:r>
            <a:r>
              <a:rPr lang="zh-CN" altLang="en-US" sz="2800" dirty="0">
                <a:ea typeface="楷体_GB2312"/>
              </a:rPr>
              <a:t>，指存指的是指令</a:t>
            </a:r>
            <a:r>
              <a:rPr lang="en-US" altLang="zh-CN" sz="2800" dirty="0">
                <a:ea typeface="楷体_GB2312"/>
              </a:rPr>
              <a:t>Cache</a:t>
            </a:r>
            <a:r>
              <a:rPr lang="zh-CN" altLang="en-US" sz="2800" dirty="0">
                <a:ea typeface="楷体_GB2312"/>
              </a:rPr>
              <a:t>。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dirty="0">
                <a:latin typeface="黑体" pitchFamily="49" charset="-122"/>
                <a:ea typeface="黑体" pitchFamily="49" charset="-122"/>
              </a:rPr>
              <a:t>5.1.3  CPU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中的主要寄存器</a:t>
            </a:r>
          </a:p>
        </p:txBody>
      </p:sp>
    </p:spTree>
    <p:extLst>
      <p:ext uri="{BB962C8B-B14F-4D97-AF65-F5344CB8AC3E}">
        <p14:creationId xmlns:p14="http://schemas.microsoft.com/office/powerpoint/2010/main" val="34424156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指令寄存器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(IR)</a:t>
            </a:r>
          </a:p>
          <a:p>
            <a:pPr marL="0" indent="720000" eaLnBrk="1" hangingPunct="1">
              <a:buNone/>
            </a:pPr>
            <a:r>
              <a:rPr lang="zh-CN" altLang="en-US" sz="2800" dirty="0">
                <a:ea typeface="楷体_GB2312"/>
              </a:rPr>
              <a:t>我们记得，指令划分为</a:t>
            </a:r>
            <a:r>
              <a:rPr lang="zh-CN" altLang="en-US" sz="2800" b="1" dirty="0">
                <a:ea typeface="楷体_GB2312"/>
              </a:rPr>
              <a:t>操作码和地址码</a:t>
            </a:r>
            <a:r>
              <a:rPr lang="zh-CN" altLang="en-US" sz="2800" dirty="0">
                <a:ea typeface="楷体_GB2312"/>
              </a:rPr>
              <a:t>字段，由二进制数字组成。为了执行任何给定的指令，必须对操作码进行测试，以便识别所要求的操作。 </a:t>
            </a:r>
            <a:r>
              <a:rPr lang="zh-CN" altLang="en-US" sz="2800" b="1" dirty="0">
                <a:ea typeface="楷体_GB2312"/>
              </a:rPr>
              <a:t>指令译码器</a:t>
            </a:r>
            <a:r>
              <a:rPr lang="zh-CN" altLang="en-US" sz="2800" dirty="0">
                <a:ea typeface="楷体_GB2312"/>
              </a:rPr>
              <a:t>就是做这项工作的。指令寄存器中操作码字段的输出就是指令译码器的输入。操作码一经译码后，即可向操作控制器发出具体操作的特定信号。</a:t>
            </a:r>
            <a:r>
              <a:rPr lang="zh-CN" altLang="en-US" dirty="0"/>
              <a:t> 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dirty="0">
                <a:latin typeface="黑体" pitchFamily="49" charset="-122"/>
                <a:ea typeface="黑体" pitchFamily="49" charset="-122"/>
              </a:rPr>
              <a:t>5.1.3  CPU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中的主要寄存器</a:t>
            </a:r>
          </a:p>
        </p:txBody>
      </p:sp>
    </p:spTree>
    <p:extLst>
      <p:ext uri="{BB962C8B-B14F-4D97-AF65-F5344CB8AC3E}">
        <p14:creationId xmlns:p14="http://schemas.microsoft.com/office/powerpoint/2010/main" val="34373287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3.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数据地址寄存器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(AR)</a:t>
            </a:r>
          </a:p>
          <a:p>
            <a:pPr eaLnBrk="1" hangingPunct="1"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地址寄存器用以保存当前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CPU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所访问的内存单元的地址。</a:t>
            </a:r>
            <a:r>
              <a:rPr lang="zh-CN" altLang="en-US" sz="2000" b="1" dirty="0">
                <a:solidFill>
                  <a:schemeClr val="bg1"/>
                </a:solidFill>
                <a:ea typeface="楷体_GB2312"/>
              </a:rPr>
              <a:t>写操作完成为止 。</a:t>
            </a:r>
          </a:p>
          <a:p>
            <a:pPr>
              <a:buClr>
                <a:schemeClr val="bg1"/>
              </a:buClr>
              <a:buSzTx/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ea typeface="楷体_GB2312"/>
              </a:rPr>
              <a:t>           </a:t>
            </a:r>
            <a:r>
              <a:rPr lang="zh-CN" altLang="en-US" sz="2400" dirty="0">
                <a:ea typeface="楷体_GB2312"/>
              </a:rPr>
              <a:t>由于在内存和</a:t>
            </a:r>
            <a:r>
              <a:rPr lang="en-US" altLang="zh-CN" sz="2400" dirty="0">
                <a:ea typeface="楷体_GB2312"/>
              </a:rPr>
              <a:t>CPU</a:t>
            </a:r>
            <a:r>
              <a:rPr lang="zh-CN" altLang="en-US" sz="2400" dirty="0">
                <a:ea typeface="楷体_GB2312"/>
              </a:rPr>
              <a:t>之间存在着操作速度上的差别，所以必须使用地址寄存器来保持地址信息，直到内存的读</a:t>
            </a:r>
            <a:r>
              <a:rPr lang="en-US" altLang="zh-CN" sz="2400" dirty="0">
                <a:ea typeface="楷体_GB2312"/>
              </a:rPr>
              <a:t>/</a:t>
            </a:r>
            <a:r>
              <a:rPr lang="zh-CN" altLang="en-US" sz="2400" dirty="0">
                <a:ea typeface="楷体_GB2312"/>
              </a:rPr>
              <a:t>写操作完成为止 。</a:t>
            </a:r>
            <a:endParaRPr lang="en-US" altLang="zh-CN" sz="2400" dirty="0">
              <a:ea typeface="楷体_GB231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dirty="0">
                <a:latin typeface="黑体" pitchFamily="49" charset="-122"/>
                <a:ea typeface="黑体" pitchFamily="49" charset="-122"/>
              </a:rPr>
              <a:t>5.1.3  CPU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中的主要寄存器</a:t>
            </a:r>
          </a:p>
        </p:txBody>
      </p:sp>
    </p:spTree>
    <p:extLst>
      <p:ext uri="{BB962C8B-B14F-4D97-AF65-F5344CB8AC3E}">
        <p14:creationId xmlns:p14="http://schemas.microsoft.com/office/powerpoint/2010/main" val="31175457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4.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数据缓冲寄存器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(DR)</a:t>
            </a:r>
          </a:p>
          <a:p>
            <a:pPr marL="0" eaLnBrk="1" hangingPunct="1"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用来暂时存放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ALU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的运算结果，或由内存读出的一条指令或一个数据字。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楷体_GB2312"/>
              </a:rPr>
              <a:t>数据寄存器的作用：</a:t>
            </a:r>
            <a:endParaRPr lang="en-US" altLang="zh-CN" sz="2800" dirty="0">
              <a:ea typeface="楷体_GB2312"/>
            </a:endParaRPr>
          </a:p>
          <a:p>
            <a:pPr eaLnBrk="1" hangingPunct="1">
              <a:buNone/>
            </a:pPr>
            <a:r>
              <a:rPr lang="en-US" altLang="zh-CN" sz="2800" dirty="0">
                <a:ea typeface="楷体_GB2312"/>
              </a:rPr>
              <a:t>(1)</a:t>
            </a:r>
            <a:r>
              <a:rPr lang="zh-CN" altLang="en-US" sz="2800" dirty="0">
                <a:ea typeface="楷体_GB2312"/>
              </a:rPr>
              <a:t>作为</a:t>
            </a:r>
            <a:r>
              <a:rPr lang="en-US" altLang="zh-CN" sz="2800" dirty="0">
                <a:ea typeface="楷体_GB2312"/>
              </a:rPr>
              <a:t>CPU</a:t>
            </a:r>
            <a:r>
              <a:rPr lang="zh-CN" altLang="en-US" sz="2800" dirty="0">
                <a:ea typeface="楷体_GB2312"/>
              </a:rPr>
              <a:t>和内存、外部设备之间信息传送的中转站；</a:t>
            </a:r>
          </a:p>
          <a:p>
            <a:pPr eaLnBrk="1" hangingPunct="1">
              <a:buNone/>
            </a:pPr>
            <a:r>
              <a:rPr lang="en-US" altLang="zh-CN" sz="2800" dirty="0">
                <a:ea typeface="楷体_GB2312"/>
              </a:rPr>
              <a:t>(2)</a:t>
            </a:r>
            <a:r>
              <a:rPr lang="zh-CN" altLang="en-US" sz="2800" dirty="0">
                <a:ea typeface="楷体_GB2312"/>
              </a:rPr>
              <a:t>补偿</a:t>
            </a:r>
            <a:r>
              <a:rPr lang="en-US" altLang="zh-CN" sz="2800" dirty="0">
                <a:ea typeface="楷体_GB2312"/>
              </a:rPr>
              <a:t>CPU</a:t>
            </a:r>
            <a:r>
              <a:rPr lang="zh-CN" altLang="en-US" sz="2800" dirty="0">
                <a:ea typeface="楷体_GB2312"/>
              </a:rPr>
              <a:t>和内存、外围设备之间在操作速度上的差别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dirty="0">
                <a:latin typeface="黑体" pitchFamily="49" charset="-122"/>
                <a:ea typeface="黑体" pitchFamily="49" charset="-122"/>
              </a:rPr>
              <a:t>5.1.3  CPU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中的主要寄存器</a:t>
            </a:r>
          </a:p>
        </p:txBody>
      </p:sp>
    </p:spTree>
    <p:extLst>
      <p:ext uri="{BB962C8B-B14F-4D97-AF65-F5344CB8AC3E}">
        <p14:creationId xmlns:p14="http://schemas.microsoft.com/office/powerpoint/2010/main" val="3967671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通用寄存器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(GR)</a:t>
            </a:r>
          </a:p>
          <a:p>
            <a:pPr marL="0" indent="0" eaLnBrk="1" hangingPunct="1"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通用寄存器可用于传送和暂存数据，也可参与算术逻辑运算，并保存运算结果。</a:t>
            </a:r>
          </a:p>
          <a:p>
            <a:pPr marL="0" indent="0" eaLnBrk="1" hangingPunct="1">
              <a:buNone/>
            </a:pPr>
            <a:r>
              <a:rPr lang="zh-CN" altLang="en-US" dirty="0"/>
              <a:t>    </a:t>
            </a:r>
            <a:r>
              <a:rPr lang="zh-CN" altLang="en-US" sz="2800" dirty="0">
                <a:ea typeface="楷体_GB2312"/>
              </a:rPr>
              <a:t>比如：当运算器的算术逻辑单元</a:t>
            </a:r>
            <a:r>
              <a:rPr lang="en-US" altLang="zh-CN" sz="2800" dirty="0">
                <a:ea typeface="楷体_GB2312"/>
              </a:rPr>
              <a:t>ALU</a:t>
            </a:r>
            <a:r>
              <a:rPr lang="zh-CN" altLang="en-US" sz="2800" dirty="0">
                <a:ea typeface="楷体_GB2312"/>
              </a:rPr>
              <a:t>执行算术或逻辑运算时，通用寄存器为</a:t>
            </a:r>
            <a:r>
              <a:rPr lang="en-US" altLang="zh-CN" sz="2800" dirty="0">
                <a:ea typeface="楷体_GB2312"/>
              </a:rPr>
              <a:t>ALU</a:t>
            </a:r>
            <a:r>
              <a:rPr lang="zh-CN" altLang="en-US" sz="2800" dirty="0">
                <a:ea typeface="楷体_GB2312"/>
              </a:rPr>
              <a:t>提供一个工作区。</a:t>
            </a:r>
            <a:endParaRPr lang="en-US" altLang="zh-CN" sz="2800" dirty="0">
              <a:ea typeface="楷体_GB231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dirty="0">
                <a:latin typeface="黑体" pitchFamily="49" charset="-122"/>
                <a:ea typeface="黑体" pitchFamily="49" charset="-122"/>
              </a:rPr>
              <a:t>5.1.3  CPU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中的主要寄存器</a:t>
            </a:r>
          </a:p>
        </p:txBody>
      </p:sp>
    </p:spTree>
    <p:extLst>
      <p:ext uri="{BB962C8B-B14F-4D97-AF65-F5344CB8AC3E}">
        <p14:creationId xmlns:p14="http://schemas.microsoft.com/office/powerpoint/2010/main" val="33379615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6.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程序状态字寄存器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(PSR)</a:t>
            </a:r>
          </a:p>
          <a:p>
            <a:pPr marL="0" indent="0" eaLnBrk="1" hangingPunct="1">
              <a:buNone/>
            </a:pPr>
            <a:r>
              <a:rPr lang="zh-CN" altLang="en-US" sz="2400" dirty="0"/>
              <a:t>    </a:t>
            </a:r>
            <a:r>
              <a:rPr lang="zh-CN" altLang="en-US" sz="2800" dirty="0">
                <a:ea typeface="楷体_GB2312"/>
              </a:rPr>
              <a:t>在计算机的控制器中，将反映机器运行的状态集中在一起，称为</a:t>
            </a:r>
            <a:r>
              <a:rPr lang="zh-CN" altLang="en-US" sz="2800" b="1" dirty="0">
                <a:ea typeface="楷体_GB2312"/>
              </a:rPr>
              <a:t>程序状态字（</a:t>
            </a:r>
            <a:r>
              <a:rPr lang="en-US" altLang="zh-CN" sz="2800" b="1" dirty="0">
                <a:ea typeface="楷体_GB2312"/>
              </a:rPr>
              <a:t>PSW</a:t>
            </a:r>
            <a:r>
              <a:rPr lang="zh-CN" altLang="en-US" sz="2800" b="1" dirty="0">
                <a:ea typeface="楷体_GB2312"/>
              </a:rPr>
              <a:t>），</a:t>
            </a:r>
            <a:r>
              <a:rPr lang="zh-CN" altLang="en-US" sz="2800" dirty="0">
                <a:ea typeface="楷体_GB2312"/>
              </a:rPr>
              <a:t>将保存程序状态的寄存器称为</a:t>
            </a:r>
            <a:r>
              <a:rPr lang="zh-CN" altLang="en-US" sz="2800" b="1" dirty="0">
                <a:ea typeface="楷体_GB2312"/>
              </a:rPr>
              <a:t>程序状态寄存器</a:t>
            </a:r>
            <a:r>
              <a:rPr lang="zh-CN" altLang="en-US" sz="2800" dirty="0">
                <a:ea typeface="楷体_GB2312"/>
              </a:rPr>
              <a:t>。      </a:t>
            </a:r>
            <a:endParaRPr lang="en-US" altLang="zh-CN" sz="2800" dirty="0">
              <a:ea typeface="楷体_GB2312"/>
            </a:endParaRPr>
          </a:p>
          <a:p>
            <a:pPr marL="0" indent="0" eaLnBrk="1" hangingPunct="1">
              <a:buNone/>
            </a:pPr>
            <a:r>
              <a:rPr lang="zh-CN" altLang="en-US" sz="2800" dirty="0"/>
              <a:t>     </a:t>
            </a:r>
            <a:r>
              <a:rPr lang="zh-CN" altLang="en-US" sz="2800" dirty="0">
                <a:ea typeface="楷体_GB2312"/>
              </a:rPr>
              <a:t>因此，状态条件寄存器保存由</a:t>
            </a:r>
            <a:r>
              <a:rPr lang="zh-CN" altLang="en-US" sz="2800" b="1" dirty="0">
                <a:ea typeface="楷体_GB2312"/>
              </a:rPr>
              <a:t>算术指令</a:t>
            </a:r>
            <a:r>
              <a:rPr lang="zh-CN" altLang="en-US" sz="2800" dirty="0">
                <a:ea typeface="楷体_GB2312"/>
              </a:rPr>
              <a:t>和逻</a:t>
            </a:r>
            <a:r>
              <a:rPr lang="zh-CN" altLang="en-US" sz="2800" b="1" dirty="0">
                <a:ea typeface="楷体_GB2312"/>
              </a:rPr>
              <a:t>辑指令</a:t>
            </a:r>
            <a:r>
              <a:rPr lang="zh-CN" altLang="en-US" sz="2800" dirty="0">
                <a:ea typeface="楷体_GB2312"/>
              </a:rPr>
              <a:t>运行或测试结果建立的各种条件码内容，如运算结果进位标志</a:t>
            </a:r>
            <a:r>
              <a:rPr lang="en-US" altLang="zh-CN" sz="2800" dirty="0">
                <a:ea typeface="楷体_GB2312"/>
              </a:rPr>
              <a:t>(C)</a:t>
            </a:r>
            <a:r>
              <a:rPr lang="zh-CN" altLang="en-US" sz="2800" dirty="0">
                <a:ea typeface="楷体_GB2312"/>
              </a:rPr>
              <a:t>，运算结果溢出标志（</a:t>
            </a:r>
            <a:r>
              <a:rPr lang="en-US" altLang="zh-CN" sz="2800" dirty="0">
                <a:ea typeface="楷体_GB2312"/>
              </a:rPr>
              <a:t>V)</a:t>
            </a:r>
            <a:r>
              <a:rPr lang="zh-CN" altLang="en-US" sz="2800" dirty="0">
                <a:ea typeface="楷体_GB2312"/>
              </a:rPr>
              <a:t>，运算结果为零标 志</a:t>
            </a:r>
            <a:r>
              <a:rPr lang="en-US" altLang="zh-CN" sz="2800" dirty="0">
                <a:ea typeface="楷体_GB2312"/>
              </a:rPr>
              <a:t>(Z)</a:t>
            </a:r>
            <a:r>
              <a:rPr lang="zh-CN" altLang="en-US" sz="2800" dirty="0">
                <a:ea typeface="楷体_GB2312"/>
              </a:rPr>
              <a:t>，运算结果为负标志</a:t>
            </a:r>
            <a:r>
              <a:rPr lang="en-US" altLang="zh-CN" sz="2800" dirty="0">
                <a:ea typeface="楷体_GB2312"/>
              </a:rPr>
              <a:t>(N)</a:t>
            </a:r>
            <a:r>
              <a:rPr lang="zh-CN" altLang="en-US" sz="2800" dirty="0">
                <a:ea typeface="楷体_GB2312"/>
              </a:rPr>
              <a:t>等等。这些标志位通常分别由 </a:t>
            </a:r>
            <a:r>
              <a:rPr lang="en-US" altLang="zh-CN" sz="2800" dirty="0">
                <a:ea typeface="楷体_GB2312"/>
              </a:rPr>
              <a:t>1</a:t>
            </a:r>
            <a:r>
              <a:rPr lang="zh-CN" altLang="en-US" sz="2800" dirty="0">
                <a:ea typeface="楷体_GB2312"/>
              </a:rPr>
              <a:t>位触发器保存。</a:t>
            </a:r>
          </a:p>
          <a:p>
            <a:pPr marL="0" indent="0" eaLnBrk="1" hangingPunct="1">
              <a:buNone/>
            </a:pPr>
            <a:r>
              <a:rPr lang="zh-CN" altLang="en-US" sz="2400" dirty="0"/>
              <a:t>　　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dirty="0">
                <a:latin typeface="黑体" pitchFamily="49" charset="-122"/>
                <a:ea typeface="黑体" pitchFamily="49" charset="-122"/>
              </a:rPr>
              <a:t>5.1.3  CPU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中的主要寄存器</a:t>
            </a:r>
          </a:p>
        </p:txBody>
      </p:sp>
    </p:spTree>
    <p:extLst>
      <p:ext uri="{BB962C8B-B14F-4D97-AF65-F5344CB8AC3E}">
        <p14:creationId xmlns:p14="http://schemas.microsoft.com/office/powerpoint/2010/main" val="3122994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6.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程序状态字寄存器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(PSR)</a:t>
            </a:r>
          </a:p>
          <a:p>
            <a:pPr marL="0" indent="0" eaLnBrk="1" hangingPunct="1">
              <a:buNone/>
            </a:pPr>
            <a:r>
              <a:rPr lang="en-US" altLang="zh-CN" sz="2800" dirty="0">
                <a:ea typeface="楷体_GB2312"/>
              </a:rPr>
              <a:t>	</a:t>
            </a:r>
            <a:r>
              <a:rPr lang="zh-CN" altLang="en-US" sz="2800" dirty="0">
                <a:ea typeface="楷体_GB2312"/>
              </a:rPr>
              <a:t>除此之外，状态条件寄存器还保存中断和系统工作状态等信息，以便使</a:t>
            </a:r>
            <a:r>
              <a:rPr lang="en-US" altLang="zh-CN" sz="2800" dirty="0">
                <a:ea typeface="楷体_GB2312"/>
              </a:rPr>
              <a:t>CPU</a:t>
            </a:r>
            <a:r>
              <a:rPr lang="zh-CN" altLang="en-US" sz="2800" dirty="0">
                <a:ea typeface="楷体_GB2312"/>
              </a:rPr>
              <a:t>和系统能及时了解机器运行状态和程序运行状态。因此，状态条件寄存器是一个由各种状态条件标志拼凑而成的寄存器。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ea typeface="楷体_GB2312"/>
              </a:rPr>
              <a:t>	CPU</a:t>
            </a:r>
            <a:r>
              <a:rPr lang="zh-CN" altLang="en-US" dirty="0">
                <a:ea typeface="楷体_GB2312"/>
              </a:rPr>
              <a:t>中的主要寄存器，如图</a:t>
            </a:r>
            <a:r>
              <a:rPr lang="en-US" altLang="zh-CN" dirty="0">
                <a:ea typeface="楷体_GB2312"/>
              </a:rPr>
              <a:t>5.1</a:t>
            </a:r>
            <a:r>
              <a:rPr lang="zh-CN" altLang="en-US" dirty="0">
                <a:ea typeface="楷体_GB2312"/>
              </a:rPr>
              <a:t>所示：</a:t>
            </a:r>
            <a:endParaRPr lang="en-US" altLang="zh-CN" dirty="0">
              <a:ea typeface="楷体_GB231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dirty="0">
                <a:latin typeface="黑体" pitchFamily="49" charset="-122"/>
                <a:ea typeface="黑体" pitchFamily="49" charset="-122"/>
              </a:rPr>
              <a:t>5.1.3  CPU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中的主要寄存器</a:t>
            </a:r>
          </a:p>
        </p:txBody>
      </p:sp>
    </p:spTree>
    <p:extLst>
      <p:ext uri="{BB962C8B-B14F-4D97-AF65-F5344CB8AC3E}">
        <p14:creationId xmlns:p14="http://schemas.microsoft.com/office/powerpoint/2010/main" val="3312172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04" y="0"/>
            <a:ext cx="86971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9929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数据通路：（描述性定义，非严格）</a:t>
            </a: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指令执行过程当中，</a:t>
            </a:r>
            <a:r>
              <a:rPr lang="zh-CN" altLang="en-US" sz="2800" b="1" u="sng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数据流动的路径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以及</a:t>
            </a:r>
            <a:r>
              <a:rPr lang="zh-CN" altLang="en-US" sz="2800" b="1" u="sng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路径上</a:t>
            </a:r>
            <a:endParaRPr lang="en-US" altLang="zh-CN" sz="2800" b="1" u="sng" dirty="0">
              <a:solidFill>
                <a:srgbClr val="00B05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u="sng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涉及到的部件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构成一个数据通路。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数据通路由两类部件组成：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zh-CN" altLang="en-US" sz="2800" b="1" u="sng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组合逻辑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元件（也称操作元件）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zh-CN" altLang="en-US" sz="2800" b="1" u="sng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时序逻辑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元件或存储元件（也称状态元件）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元件之间的连接方式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、总线连接方式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、分散连接方式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b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</a:br>
            <a:endParaRPr lang="zh-CN" altLang="en-US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</a:rPr>
              <a:t>5.1.4 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数据通路（补充知识）</a:t>
            </a:r>
          </a:p>
        </p:txBody>
      </p:sp>
    </p:spTree>
    <p:extLst>
      <p:ext uri="{BB962C8B-B14F-4D97-AF65-F5344CB8AC3E}">
        <p14:creationId xmlns:p14="http://schemas.microsoft.com/office/powerpoint/2010/main" val="2204002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700808"/>
            <a:ext cx="8591872" cy="4495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时序逻辑电路定义：</a:t>
            </a: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如果逻辑电路的</a:t>
            </a:r>
            <a:r>
              <a:rPr lang="zh-CN" altLang="en-US" sz="2800" b="1" u="sng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输出状态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不但和</a:t>
            </a:r>
            <a:r>
              <a:rPr lang="zh-CN" altLang="en-US" sz="2800" b="1" u="sng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当时的输入状态</a:t>
            </a:r>
            <a:endParaRPr lang="en-US" altLang="zh-CN" sz="2800" b="1" u="sng" dirty="0">
              <a:solidFill>
                <a:srgbClr val="00B05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有关，而且还与电路在此</a:t>
            </a:r>
            <a:r>
              <a:rPr lang="zh-CN" altLang="en-US" sz="2800" b="1" u="sng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之前的输入状态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有关，称这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种电路为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时序逻辑电路。</a:t>
            </a: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、时序电路内必须要有能存储信息的记忆元件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触发器。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、触发器是构成时序电路的基础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</a:rPr>
              <a:t>5.1.4 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数据通路</a:t>
            </a:r>
          </a:p>
        </p:txBody>
      </p:sp>
    </p:spTree>
    <p:extLst>
      <p:ext uri="{BB962C8B-B14F-4D97-AF65-F5344CB8AC3E}">
        <p14:creationId xmlns:p14="http://schemas.microsoft.com/office/powerpoint/2010/main" val="29827481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1" lang="en-US" altLang="zh-CN" kern="0" dirty="0">
                <a:latin typeface="黑体" pitchFamily="2" charset="-122"/>
                <a:ea typeface="黑体" pitchFamily="2" charset="-122"/>
              </a:rPr>
              <a:t>2.2 </a:t>
            </a:r>
            <a:r>
              <a:rPr kumimoji="1" lang="zh-CN" altLang="en-US" sz="280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寄存器</a:t>
            </a:r>
            <a:endParaRPr kumimoji="1" lang="zh-CN" altLang="en-US" sz="2000" kern="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sp>
        <p:nvSpPr>
          <p:cNvPr id="80899" name="TextBox 6"/>
          <p:cNvSpPr txBox="1">
            <a:spLocks noChangeArrowheads="1"/>
          </p:cNvSpPr>
          <p:nvPr/>
        </p:nvSpPr>
        <p:spPr bwMode="auto">
          <a:xfrm>
            <a:off x="1571625" y="1357313"/>
            <a:ext cx="41433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3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1.D</a:t>
            </a:r>
            <a:r>
              <a:rPr lang="zh-CN" altLang="en-US" sz="3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触发器构成寄存器</a:t>
            </a:r>
          </a:p>
        </p:txBody>
      </p:sp>
      <p:pic>
        <p:nvPicPr>
          <p:cNvPr id="80900" name="图片 8" descr="四位D寄存器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12925" y="2743200"/>
            <a:ext cx="6000750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1857375" y="5500688"/>
            <a:ext cx="51435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/>
              <a:t>      </a:t>
            </a:r>
            <a:r>
              <a:rPr lang="en-US" altLang="zh-CN"/>
              <a:t>1</a:t>
            </a:r>
            <a:r>
              <a:rPr lang="zh-CN" altLang="en-US"/>
              <a:t>                       </a:t>
            </a:r>
            <a:r>
              <a:rPr lang="en-US" altLang="zh-CN"/>
              <a:t>0</a:t>
            </a:r>
            <a:r>
              <a:rPr lang="zh-CN" altLang="en-US"/>
              <a:t>                        </a:t>
            </a:r>
            <a:r>
              <a:rPr lang="en-US" altLang="zh-CN"/>
              <a:t>0</a:t>
            </a:r>
            <a:r>
              <a:rPr lang="zh-CN" altLang="en-US"/>
              <a:t>                       </a:t>
            </a:r>
            <a:r>
              <a:rPr lang="en-US" altLang="zh-CN"/>
              <a:t>1</a:t>
            </a:r>
            <a:r>
              <a:rPr lang="zh-CN" altLang="en-US"/>
              <a:t>   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000250" y="3714750"/>
            <a:ext cx="51435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/>
              <a:t>      </a:t>
            </a:r>
            <a:r>
              <a:rPr lang="en-US" altLang="zh-CN"/>
              <a:t>1</a:t>
            </a:r>
            <a:r>
              <a:rPr lang="zh-CN" altLang="en-US"/>
              <a:t>                       </a:t>
            </a:r>
            <a:r>
              <a:rPr lang="en-US" altLang="zh-CN"/>
              <a:t>0</a:t>
            </a:r>
            <a:r>
              <a:rPr lang="zh-CN" altLang="en-US"/>
              <a:t>                        </a:t>
            </a:r>
            <a:r>
              <a:rPr lang="en-US" altLang="zh-CN"/>
              <a:t>0</a:t>
            </a:r>
            <a:r>
              <a:rPr lang="zh-CN" altLang="en-US"/>
              <a:t>                       </a:t>
            </a:r>
            <a:r>
              <a:rPr lang="en-US" altLang="zh-CN"/>
              <a:t>1</a:t>
            </a:r>
            <a:r>
              <a:rPr lang="zh-CN" altLang="en-US"/>
              <a:t>   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1857375" y="2143125"/>
            <a:ext cx="51435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/>
              <a:t>      </a:t>
            </a:r>
            <a:r>
              <a:rPr lang="en-US" altLang="zh-CN"/>
              <a:t>1</a:t>
            </a:r>
            <a:r>
              <a:rPr lang="zh-CN" altLang="en-US"/>
              <a:t>                       </a:t>
            </a:r>
            <a:r>
              <a:rPr lang="en-US" altLang="zh-CN"/>
              <a:t>0</a:t>
            </a:r>
            <a:r>
              <a:rPr lang="zh-CN" altLang="en-US"/>
              <a:t>                        </a:t>
            </a:r>
            <a:r>
              <a:rPr lang="en-US" altLang="zh-CN"/>
              <a:t>0</a:t>
            </a:r>
            <a:r>
              <a:rPr lang="zh-CN" altLang="en-US"/>
              <a:t>                       </a:t>
            </a:r>
            <a:r>
              <a:rPr lang="en-US" altLang="zh-CN"/>
              <a:t>1</a:t>
            </a:r>
            <a:r>
              <a:rPr lang="zh-CN" altLang="en-US"/>
              <a:t>   </a:t>
            </a:r>
          </a:p>
        </p:txBody>
      </p:sp>
      <p:cxnSp>
        <p:nvCxnSpPr>
          <p:cNvPr id="80904" name="直接连接符 18"/>
          <p:cNvCxnSpPr>
            <a:cxnSpLocks noChangeShapeType="1"/>
          </p:cNvCxnSpPr>
          <p:nvPr/>
        </p:nvCxnSpPr>
        <p:spPr bwMode="auto">
          <a:xfrm>
            <a:off x="642938" y="4929188"/>
            <a:ext cx="285750" cy="1587"/>
          </a:xfrm>
          <a:prstGeom prst="line">
            <a:avLst/>
          </a:prstGeom>
          <a:noFill/>
          <a:ln w="9525" algn="ctr">
            <a:noFill/>
            <a:round/>
            <a:headEnd type="none" w="sm" len="sm"/>
            <a:tailEnd type="none" w="sm" len="sm"/>
          </a:ln>
        </p:spPr>
      </p:cxnSp>
      <p:pic>
        <p:nvPicPr>
          <p:cNvPr id="20" name="图片 19" descr="上升沿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14500" y="4714875"/>
            <a:ext cx="19685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图片 20" descr="上升沿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31963" y="3786188"/>
            <a:ext cx="19685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allAtOnce"/>
      <p:bldP spid="11" grpId="0" build="allAtOnce"/>
      <p:bldP spid="12" grpId="0" build="allAtOnce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1" lang="en-US" altLang="zh-CN" kern="0" dirty="0">
                <a:latin typeface="黑体" pitchFamily="2" charset="-122"/>
                <a:ea typeface="黑体" pitchFamily="2" charset="-122"/>
              </a:rPr>
              <a:t>2.2 </a:t>
            </a:r>
            <a:r>
              <a:rPr kumimoji="1" lang="zh-CN" altLang="en-US" sz="280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寄存器</a:t>
            </a:r>
            <a:endParaRPr kumimoji="1" lang="zh-CN" altLang="en-US" sz="2000" kern="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pic>
        <p:nvPicPr>
          <p:cNvPr id="81923" name="图片 2" descr="四位串行移位寄存器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75" y="2571750"/>
            <a:ext cx="7867650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 descr="脉冲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3125" y="4143375"/>
            <a:ext cx="371475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5" descr="脉冲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85938" y="4143375"/>
            <a:ext cx="371475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 descr="脉冲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28750" y="4143375"/>
            <a:ext cx="371475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图片 3" descr="脉冲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1563" y="4143375"/>
            <a:ext cx="371475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143000" y="2500313"/>
            <a:ext cx="285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571750" y="2519363"/>
            <a:ext cx="285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1143000" y="2519363"/>
            <a:ext cx="285750" cy="3381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357688" y="2519363"/>
            <a:ext cx="285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571750" y="2519363"/>
            <a:ext cx="285750" cy="3381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6143625" y="2519363"/>
            <a:ext cx="285750" cy="3381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1143000" y="2519363"/>
            <a:ext cx="285750" cy="3381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1143000" y="2519363"/>
            <a:ext cx="285750" cy="3381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6143625" y="2519363"/>
            <a:ext cx="285750" cy="3381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7929563" y="2519363"/>
            <a:ext cx="285750" cy="3381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2571750" y="2500313"/>
            <a:ext cx="285750" cy="3381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4357688" y="2519363"/>
            <a:ext cx="285750" cy="3381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571750" y="2519363"/>
            <a:ext cx="285750" cy="3381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4357688" y="2519363"/>
            <a:ext cx="285750" cy="3381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81942" name="TextBox 23"/>
          <p:cNvSpPr txBox="1">
            <a:spLocks noChangeArrowheads="1"/>
          </p:cNvSpPr>
          <p:nvPr/>
        </p:nvSpPr>
        <p:spPr bwMode="auto">
          <a:xfrm>
            <a:off x="1000125" y="1701800"/>
            <a:ext cx="48577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32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32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串行移位寄存器</a:t>
            </a:r>
          </a:p>
        </p:txBody>
      </p:sp>
      <p:sp>
        <p:nvSpPr>
          <p:cNvPr id="81943" name="TextBox 24"/>
          <p:cNvSpPr txBox="1">
            <a:spLocks noChangeArrowheads="1"/>
          </p:cNvSpPr>
          <p:nvPr/>
        </p:nvSpPr>
        <p:spPr bwMode="auto">
          <a:xfrm>
            <a:off x="1500188" y="4929188"/>
            <a:ext cx="350043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移入 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0101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  <p:bldP spid="9" grpId="0"/>
      <p:bldP spid="10" grpId="0" build="allAtOnce" animBg="1"/>
      <p:bldP spid="12" grpId="0"/>
      <p:bldP spid="13" grpId="0" animBg="1"/>
      <p:bldP spid="15" grpId="0" animBg="1"/>
      <p:bldP spid="17" grpId="0" build="allAtOnce" animBg="1"/>
      <p:bldP spid="19" grpId="0" build="allAtOnce" animBg="1"/>
      <p:bldP spid="20" grpId="0" animBg="1"/>
      <p:bldP spid="21" grpId="0" animBg="1"/>
      <p:bldP spid="22" grpId="0" animBg="1"/>
      <p:bldP spid="23" grpId="0" animBg="1"/>
      <p:bldP spid="11" grpId="0" animBg="1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1" lang="en-US" altLang="zh-CN" kern="0" dirty="0">
                <a:latin typeface="黑体" pitchFamily="2" charset="-122"/>
                <a:ea typeface="黑体" pitchFamily="2" charset="-122"/>
              </a:rPr>
              <a:t>2.2 </a:t>
            </a:r>
            <a:r>
              <a:rPr kumimoji="1" lang="zh-CN" altLang="en-US" sz="280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寄存器</a:t>
            </a:r>
            <a:endParaRPr kumimoji="1" lang="zh-CN" altLang="en-US" sz="2000" kern="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sp>
        <p:nvSpPr>
          <p:cNvPr id="82947" name="TextBox 2"/>
          <p:cNvSpPr txBox="1">
            <a:spLocks noChangeArrowheads="1"/>
          </p:cNvSpPr>
          <p:nvPr/>
        </p:nvSpPr>
        <p:spPr bwMode="auto">
          <a:xfrm>
            <a:off x="1357313" y="1428750"/>
            <a:ext cx="48577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3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3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并行移位寄存器</a:t>
            </a:r>
          </a:p>
        </p:txBody>
      </p:sp>
      <p:pic>
        <p:nvPicPr>
          <p:cNvPr id="82948" name="图片 3" descr="四位并行移位寄存器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1625" y="2000250"/>
            <a:ext cx="6000750" cy="4138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时序逻辑电路的特点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、具有存储功能：在时钟控制（信号）下，输入被写到电路中，直到下个时钟到达，才会改变这个值。所以具有存储功能。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、输入端状态由时钟决定何时被写入，输出端状态随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时可以读出。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</a:rPr>
              <a:t>5.1.4 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数据通路</a:t>
            </a:r>
          </a:p>
        </p:txBody>
      </p:sp>
    </p:spTree>
    <p:extLst>
      <p:ext uri="{BB962C8B-B14F-4D97-AF65-F5344CB8AC3E}">
        <p14:creationId xmlns:p14="http://schemas.microsoft.com/office/powerpoint/2010/main" val="34237929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组合逻辑电路定义：</a:t>
            </a: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如果逻辑电路的输出状态仅和</a:t>
            </a:r>
            <a:r>
              <a:rPr lang="zh-CN" altLang="en-US" sz="2800" b="1" u="sng" dirty="0">
                <a:solidFill>
                  <a:srgbClr val="00B050"/>
                </a:solidFill>
                <a:ea typeface="楷体_GB2312" pitchFamily="49" charset="-122"/>
              </a:rPr>
              <a:t>当时的输入状态</a:t>
            </a:r>
            <a:r>
              <a:rPr lang="zh-CN" altLang="en-US" sz="2800" b="1" u="sng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有关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，而与</a:t>
            </a:r>
            <a:r>
              <a:rPr lang="zh-CN" altLang="en-US" sz="2800" b="1" u="sng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过去的输入状态</a:t>
            </a:r>
            <a:r>
              <a:rPr lang="zh-CN" altLang="en-US" sz="2800" b="1" u="sng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无关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，称这种逻辑电路为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组合逻辑电路。</a:t>
            </a: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三态门、异或门、加法器、算术逻辑单元、译码器、数据选择器（又称多路选择器、多路开关）等都是常见的组合逻辑电路。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</a:rPr>
              <a:t>5.1.4 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数据通路</a:t>
            </a:r>
          </a:p>
        </p:txBody>
      </p:sp>
    </p:spTree>
    <p:extLst>
      <p:ext uri="{BB962C8B-B14F-4D97-AF65-F5344CB8AC3E}">
        <p14:creationId xmlns:p14="http://schemas.microsoft.com/office/powerpoint/2010/main" val="32083320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1" lang="en-US" altLang="zh-CN" sz="280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2.3</a:t>
            </a:r>
            <a:r>
              <a:rPr kumimoji="1" lang="zh-CN" altLang="en-US" sz="280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 多路选择器</a:t>
            </a:r>
            <a:endParaRPr kumimoji="1" lang="zh-CN" altLang="en-US" sz="2000" kern="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pic>
        <p:nvPicPr>
          <p:cNvPr id="83971" name="图片 6" descr="四位多路选择器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75" y="1671638"/>
            <a:ext cx="8001000" cy="438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1" lang="en-US" altLang="zh-CN" sz="280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2.4</a:t>
            </a:r>
            <a:r>
              <a:rPr kumimoji="1" lang="zh-CN" altLang="en-US" sz="280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 移位器</a:t>
            </a:r>
            <a:endParaRPr kumimoji="1" lang="zh-CN" altLang="en-US" sz="2000" kern="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pic>
        <p:nvPicPr>
          <p:cNvPr id="84995" name="图片 3" descr="四位移位器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75" y="1714500"/>
            <a:ext cx="7858125" cy="432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1" lang="en-US" altLang="zh-CN" sz="280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2.5</a:t>
            </a:r>
            <a:r>
              <a:rPr kumimoji="1" lang="zh-CN" altLang="en-US" sz="280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 译码器</a:t>
            </a:r>
            <a:endParaRPr kumimoji="1" lang="zh-CN" altLang="en-US" sz="2000" kern="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pic>
        <p:nvPicPr>
          <p:cNvPr id="86019" name="图片 4" descr="图2.13.TI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8688" y="1785938"/>
            <a:ext cx="78771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214938" y="2428875"/>
          <a:ext cx="3690939" cy="3071832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27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19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</a:t>
                      </a:r>
                      <a:r>
                        <a:rPr lang="en-US" altLang="zh-CN" baseline="-25000" dirty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Y</a:t>
                      </a:r>
                      <a:r>
                        <a:rPr lang="en-US" altLang="zh-CN" baseline="-25000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Y</a:t>
                      </a:r>
                      <a:r>
                        <a:rPr lang="en-US" altLang="zh-CN" baseline="-25000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Y</a:t>
                      </a:r>
                      <a:r>
                        <a:rPr lang="en-US" altLang="zh-CN" baseline="-25000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9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1" lang="en-US" altLang="zh-CN" sz="280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2.6</a:t>
            </a:r>
            <a:r>
              <a:rPr kumimoji="1" lang="zh-CN" altLang="en-US" sz="280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 计数器</a:t>
            </a:r>
            <a:endParaRPr kumimoji="1" lang="zh-CN" altLang="en-US" sz="2000" kern="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sp>
        <p:nvSpPr>
          <p:cNvPr id="87043" name="TextBox 4"/>
          <p:cNvSpPr txBox="1">
            <a:spLocks noChangeArrowheads="1"/>
          </p:cNvSpPr>
          <p:nvPr/>
        </p:nvSpPr>
        <p:spPr bwMode="auto">
          <a:xfrm>
            <a:off x="714375" y="1714500"/>
            <a:ext cx="80010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 algn="l"/>
            <a:r>
              <a:rPr lang="en-US" altLang="zh-CN" sz="3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3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二进制异步计数器</a:t>
            </a:r>
            <a:r>
              <a:rPr lang="zh-CN" altLang="en-US" sz="30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</a:p>
        </p:txBody>
      </p:sp>
      <p:pic>
        <p:nvPicPr>
          <p:cNvPr id="87044" name="图片 5" descr="三位串行计数器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1563" y="2786063"/>
            <a:ext cx="7000875" cy="264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1" lang="en-US" altLang="zh-CN" sz="280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2.6</a:t>
            </a:r>
            <a:r>
              <a:rPr kumimoji="1" lang="zh-CN" altLang="en-US" sz="280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 计数器</a:t>
            </a:r>
            <a:endParaRPr kumimoji="1" lang="zh-CN" altLang="en-US" sz="2000" kern="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sp>
        <p:nvSpPr>
          <p:cNvPr id="88067" name="TextBox 4"/>
          <p:cNvSpPr txBox="1">
            <a:spLocks noChangeArrowheads="1"/>
          </p:cNvSpPr>
          <p:nvPr/>
        </p:nvSpPr>
        <p:spPr bwMode="auto">
          <a:xfrm>
            <a:off x="1500188" y="1428750"/>
            <a:ext cx="464343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 algn="l"/>
            <a:r>
              <a:rPr lang="en-US" altLang="zh-CN" sz="3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3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二进制同步计数器</a:t>
            </a:r>
            <a:r>
              <a:rPr lang="zh-CN" altLang="en-US" sz="30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</a:p>
        </p:txBody>
      </p:sp>
      <p:pic>
        <p:nvPicPr>
          <p:cNvPr id="88068" name="图片 6" descr="三位同步行计数器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4438" y="2143125"/>
            <a:ext cx="6643687" cy="389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1" lang="en-US" altLang="zh-CN" sz="280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2.7</a:t>
            </a:r>
            <a:r>
              <a:rPr kumimoji="1" lang="zh-CN" altLang="en-US" sz="280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 节拍分配器</a:t>
            </a:r>
            <a:endParaRPr kumimoji="1" lang="zh-CN" altLang="en-US" sz="2000" kern="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pic>
        <p:nvPicPr>
          <p:cNvPr id="89091" name="图片 6" descr="节拍分配器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28875" y="1571625"/>
            <a:ext cx="3786188" cy="433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>
                <a:latin typeface="楷体_GB2312" pitchFamily="49" charset="-122"/>
                <a:ea typeface="楷体_GB2312" pitchFamily="49" charset="-122"/>
              </a:rPr>
              <a:t>5.2.1</a:t>
            </a:r>
            <a: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  <a:t>控制器的功能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前面章节已经详细讨论了运算器和存储器，所以这节详细介绍一下控制器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5.2.1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控制器的功能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计算机对信息进行处理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或计算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是通过程序的执行而实现的，程序是完成某个确定算法的指令序列，要预先存放在存储器中。所以，</a:t>
            </a: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计算机的工作过程是程序的运行过程，也就是在控制器下逐条执行指令的过程。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控制器要想控制程序的执行，必须具有以下基本功能：</a:t>
            </a: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>
                <a:latin typeface="楷体_GB2312" pitchFamily="49" charset="-122"/>
                <a:ea typeface="楷体_GB2312" pitchFamily="49" charset="-122"/>
              </a:rPr>
              <a:t>5.2.1</a:t>
            </a:r>
            <a: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  <a:t>控制器的功能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取指令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当程序已在存储器中时，首先由控制器根据程序入口取出第一条指令，为此要发出指令地址及控制信号，把指令从内存取到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中。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分析指令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或叫解释指令、指令译码等。是对当前取得的指令进行分析，指出它要求作什么操作，并产生相应的操作控制命令，如果参与操作的数据在存储器中，还需要形成操作数地址。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>
                <a:latin typeface="楷体_GB2312" pitchFamily="49" charset="-122"/>
                <a:ea typeface="楷体_GB2312" pitchFamily="49" charset="-122"/>
              </a:rPr>
              <a:t>5.2.1</a:t>
            </a:r>
            <a: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  <a:t>控制器的功能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执行指令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根据分析指令时产生的</a:t>
            </a:r>
            <a:r>
              <a:rPr lang="zh-CN" altLang="en-US" sz="2800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“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操作命令</a:t>
            </a:r>
            <a:r>
              <a:rPr lang="zh-CN" altLang="en-US" sz="2800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”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zh-CN" altLang="en-US" sz="2800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“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操作数地址</a:t>
            </a:r>
            <a:r>
              <a:rPr lang="zh-CN" altLang="en-US" sz="2800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”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形成相应的操作控制信号序列，通过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及输入输出设备的执行，实现每条指令的功能，其中还包括对运算结果的处理以及下条指令地址的形成。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5.2.1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控制器的功能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计算机不断重复顺序执行上述三种基本操作：取指、分析、执行；再取指、再分析、再执行</a:t>
            </a:r>
            <a:r>
              <a:rPr lang="en-US" altLang="zh-CN" sz="2800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……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，如此循环，直到遇到停机指令或外来的干预为止。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此外，程序和数据要输入机器，运算结果要输出，机器运行过程中出现的某些异常情况或请求要进行处理，人与机器之间要进行对话，因此控制器还应该具有以下功能：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4.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控制程序和数据的输入与结果输出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根据程序的安排或人的干预，在适当的时候向输入输出设备发出一些相应的命令来完成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I/O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功能，这实际上也是通过执行程序来完成的。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800" b="1" dirty="0"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>
                <a:latin typeface="楷体_GB2312" pitchFamily="49" charset="-122"/>
                <a:ea typeface="楷体_GB2312" pitchFamily="49" charset="-122"/>
              </a:rPr>
              <a:t>5.2.1</a:t>
            </a:r>
            <a: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  <a:t>控制器的功能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86868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对异常情况和某些请求的处理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当机器出现某些异常情况时，此时由这些部件或设备发出：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(1) </a:t>
            </a:r>
            <a:r>
              <a:rPr lang="en-US" altLang="zh-CN" sz="2800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“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中断请求</a:t>
            </a:r>
            <a:r>
              <a:rPr lang="zh-CN" altLang="en-US" sz="2800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”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信号，待</a:t>
            </a:r>
            <a:r>
              <a:rPr lang="en-US" altLang="zh-CN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执行完当前指令后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，响应该请求，中止当前执行的程序，转去执行中断程序。当处理完毕后，再返回原程序继续运行下去。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或者是：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800" b="1" dirty="0"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>
                <a:latin typeface="楷体_GB2312" pitchFamily="49" charset="-122"/>
                <a:ea typeface="楷体_GB2312" pitchFamily="49" charset="-122"/>
              </a:rPr>
              <a:t>5.2.1</a:t>
            </a:r>
            <a: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  <a:t>控制器的功能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86868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(2)DMA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请求信号。等</a:t>
            </a:r>
            <a:r>
              <a:rPr lang="en-US" altLang="zh-CN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完成当前机器周期操作后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，暂停工作，让出总线给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I/O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设备，在完成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I/O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设备与存储器之间的传送数据操作后，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从暂时中止的机器周期开始继续执行指令。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DMA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操作不允许改变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中任一寄存器状态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除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DMA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专用部件外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，否则会影响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工作的正确性。详细情况将在以后章节详细讨论。</a:t>
            </a:r>
          </a:p>
        </p:txBody>
      </p:sp>
    </p:spTree>
    <p:extLst>
      <p:ext uri="{BB962C8B-B14F-4D97-AF65-F5344CB8AC3E}">
        <p14:creationId xmlns:p14="http://schemas.microsoft.com/office/powerpoint/2010/main" val="38861361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0" lang="en-US" altLang="zh-CN" sz="2800" b="1">
                <a:latin typeface="黑体" pitchFamily="2" charset="-122"/>
                <a:ea typeface="黑体" pitchFamily="2" charset="-122"/>
              </a:rPr>
              <a:t>5.2  </a:t>
            </a:r>
            <a:r>
              <a:rPr kumimoji="0" lang="zh-CN" altLang="en-US" sz="2800" b="1">
                <a:latin typeface="黑体" pitchFamily="2" charset="-122"/>
                <a:ea typeface="黑体" pitchFamily="2" charset="-122"/>
              </a:rPr>
              <a:t>控制器的组成</a:t>
            </a:r>
            <a:br>
              <a:rPr kumimoji="0" lang="zh-CN" altLang="en-US" sz="28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</a:br>
            <a:r>
              <a:rPr kumimoji="0" lang="en-US" altLang="zh-CN"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5.2.2  </a:t>
            </a:r>
            <a:r>
              <a:rPr kumimoji="0" lang="zh-CN" altLang="en-US"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控制器的组成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86800" cy="4648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kumimoji="0"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5.2.2  </a:t>
            </a:r>
            <a:r>
              <a:rPr kumimoji="0"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控制器的组成 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1. </a:t>
            </a:r>
            <a:r>
              <a:rPr kumimoji="0"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程序计数器</a:t>
            </a:r>
            <a:r>
              <a:rPr kumimoji="0"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(PC)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kumimoji="0"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即指令地址寄存器。用来存放即将要执行的下一条指令地址。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有两种方法形成下一条指令地址：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（</a:t>
            </a:r>
            <a:r>
              <a:rPr kumimoji="0"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0"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）程序在顺序执行时，通过对</a:t>
            </a:r>
            <a:r>
              <a:rPr kumimoji="0"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PC</a:t>
            </a:r>
            <a:r>
              <a:rPr kumimoji="0"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的增值形成下一条指令地址。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（</a:t>
            </a:r>
            <a:r>
              <a:rPr kumimoji="0"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0"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）程序在非顺序执行时，一般由转移指令形成下一条指令地址对</a:t>
            </a:r>
            <a:r>
              <a:rPr kumimoji="0"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PC</a:t>
            </a:r>
            <a:r>
              <a:rPr kumimoji="0"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进行修改。</a:t>
            </a:r>
          </a:p>
          <a:p>
            <a:pPr eaLnBrk="1" hangingPunct="1">
              <a:buFont typeface="Wingdings" pitchFamily="2" charset="2"/>
              <a:buNone/>
            </a:pPr>
            <a:endParaRPr kumimoji="0" lang="en-US" altLang="zh-CN" sz="2800" b="1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4"/>
          <p:cNvGraphicFramePr>
            <a:graphicFrameLocks noGrp="1" noChangeAspect="1"/>
          </p:cNvGraphicFramePr>
          <p:nvPr>
            <p:ph type="body" idx="1"/>
          </p:nvPr>
        </p:nvGraphicFramePr>
        <p:xfrm>
          <a:off x="381000" y="1371600"/>
          <a:ext cx="8534400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位图图像" r:id="rId4" imgW="8857143" imgH="6171429" progId="PBrush">
                  <p:embed/>
                </p:oleObj>
              </mc:Choice>
              <mc:Fallback>
                <p:oleObj name="位图图像" r:id="rId4" imgW="8857143" imgH="6171429" progId="PBrush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371600"/>
                        <a:ext cx="8534400" cy="487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81000"/>
            <a:ext cx="7391400" cy="762000"/>
          </a:xfrm>
        </p:spPr>
        <p:txBody>
          <a:bodyPr/>
          <a:lstStyle/>
          <a:p>
            <a:pPr eaLnBrk="1" hangingPunct="1"/>
            <a:r>
              <a:rPr lang="zh-CN" altLang="en-US" sz="2800" b="1">
                <a:latin typeface="黑体" pitchFamily="2" charset="-122"/>
                <a:ea typeface="黑体" pitchFamily="2" charset="-122"/>
              </a:rPr>
              <a:t>控制器的组成结构图</a:t>
            </a:r>
          </a:p>
        </p:txBody>
      </p:sp>
      <p:pic>
        <p:nvPicPr>
          <p:cNvPr id="2052" name="Picture 5" descr="E:\电信学院\同济logo\百年同济logo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2400" y="314325"/>
            <a:ext cx="1255713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0" lang="en-US" altLang="zh-CN" sz="2800" b="1">
                <a:latin typeface="黑体" pitchFamily="2" charset="-122"/>
                <a:ea typeface="黑体" pitchFamily="2" charset="-122"/>
              </a:rPr>
              <a:t>5.2  </a:t>
            </a:r>
            <a:r>
              <a:rPr kumimoji="0" lang="zh-CN" altLang="en-US" sz="2800" b="1">
                <a:latin typeface="黑体" pitchFamily="2" charset="-122"/>
                <a:ea typeface="黑体" pitchFamily="2" charset="-122"/>
              </a:rPr>
              <a:t>控制器的组成</a:t>
            </a:r>
            <a:br>
              <a:rPr kumimoji="0" lang="zh-CN" altLang="en-US" sz="28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</a:br>
            <a:r>
              <a:rPr kumimoji="0" lang="en-US" altLang="zh-CN"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5.2.2  </a:t>
            </a:r>
            <a:r>
              <a:rPr kumimoji="0" lang="zh-CN" altLang="en-US"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控制器的组成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指令寄存器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(IR)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用以存放当前正在执行的指令，以便在指令执行过程中，控制完成一条指令的全部功能。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3.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指令译码器或操作码译码器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  对指令寄存器中的操作码进行分析解释，产生相应的控制信号。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Grp="1" noChangeAspect="1"/>
          </p:cNvGraphicFramePr>
          <p:nvPr>
            <p:ph type="body" idx="1"/>
          </p:nvPr>
        </p:nvGraphicFramePr>
        <p:xfrm>
          <a:off x="381000" y="1371600"/>
          <a:ext cx="8534400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位图图像" r:id="rId4" imgW="8857143" imgH="6171429" progId="PBrush">
                  <p:embed/>
                </p:oleObj>
              </mc:Choice>
              <mc:Fallback>
                <p:oleObj name="位图图像" r:id="rId4" imgW="8857143" imgH="6171429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371600"/>
                        <a:ext cx="8534400" cy="487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0" y="381000"/>
            <a:ext cx="7391400" cy="762000"/>
          </a:xfrm>
        </p:spPr>
        <p:txBody>
          <a:bodyPr/>
          <a:lstStyle/>
          <a:p>
            <a:pPr eaLnBrk="1" hangingPunct="1"/>
            <a:r>
              <a:rPr lang="zh-CN" altLang="en-US" sz="2800" b="1">
                <a:latin typeface="黑体" pitchFamily="2" charset="-122"/>
                <a:ea typeface="黑体" pitchFamily="2" charset="-122"/>
              </a:rPr>
              <a:t>控制器的组成结构图</a:t>
            </a:r>
          </a:p>
        </p:txBody>
      </p:sp>
      <p:pic>
        <p:nvPicPr>
          <p:cNvPr id="3076" name="Picture 4" descr="E:\电信学院\同济logo\百年同济logo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2400" y="314325"/>
            <a:ext cx="1255713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5.2.2  </a:t>
            </a:r>
            <a:r>
              <a:rPr lang="zh-CN" altLang="en-US" sz="1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控制器的组成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72070" y="1628800"/>
            <a:ext cx="8686800" cy="457200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4.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操作控制器</a:t>
            </a: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sz="2800" dirty="0">
                <a:ea typeface="楷体_GB2312"/>
              </a:rPr>
              <a:t>	</a:t>
            </a:r>
            <a:r>
              <a:rPr lang="zh-CN" altLang="en-US" sz="2800" dirty="0">
                <a:ea typeface="楷体_GB2312"/>
              </a:rPr>
              <a:t>通过上节（</a:t>
            </a:r>
            <a:r>
              <a:rPr lang="en-US" altLang="zh-CN" sz="2800" dirty="0">
                <a:ea typeface="楷体_GB2312"/>
              </a:rPr>
              <a:t>5.1.3</a:t>
            </a:r>
            <a:r>
              <a:rPr lang="zh-CN" altLang="en-US" sz="2800" dirty="0">
                <a:ea typeface="楷体_GB2312"/>
              </a:rPr>
              <a:t>节）的学习可知，</a:t>
            </a:r>
            <a:r>
              <a:rPr lang="en-US" altLang="zh-CN" sz="2800" dirty="0">
                <a:ea typeface="楷体_GB2312"/>
              </a:rPr>
              <a:t>CPU</a:t>
            </a:r>
            <a:r>
              <a:rPr lang="zh-CN" altLang="en-US" sz="2800" dirty="0">
                <a:ea typeface="楷体_GB2312"/>
              </a:rPr>
              <a:t>中的</a:t>
            </a:r>
            <a:r>
              <a:rPr lang="en-US" altLang="zh-CN" sz="2800" dirty="0">
                <a:ea typeface="楷体_GB2312"/>
              </a:rPr>
              <a:t>6</a:t>
            </a:r>
            <a:r>
              <a:rPr lang="zh-CN" altLang="en-US" sz="2800" dirty="0">
                <a:ea typeface="楷体_GB2312"/>
              </a:rPr>
              <a:t>类主要寄存器 ，每一类都完成一种特定的功能。然而信息怎样才能在各寄存器之间传送呢？也就是说，数据的流动是由什么部件控制的呢？</a:t>
            </a:r>
            <a:endParaRPr lang="en-US" altLang="zh-CN" sz="2800" dirty="0">
              <a:ea typeface="楷体_GB2312"/>
            </a:endParaRPr>
          </a:p>
          <a:p>
            <a:pPr>
              <a:buClr>
                <a:schemeClr val="bg1"/>
              </a:buClr>
              <a:buSzTx/>
            </a:pPr>
            <a:r>
              <a:rPr lang="en-US" altLang="zh-CN" sz="2800" dirty="0">
                <a:ea typeface="楷体_GB2312"/>
              </a:rPr>
              <a:t>	</a:t>
            </a:r>
            <a:r>
              <a:rPr lang="zh-CN" altLang="en-US" sz="2800" dirty="0">
                <a:ea typeface="楷体_GB2312"/>
              </a:rPr>
              <a:t>通常把许多寄存器</a:t>
            </a:r>
            <a:r>
              <a:rPr lang="en-US" altLang="zh-CN" sz="2800" dirty="0">
                <a:ea typeface="楷体_GB2312"/>
              </a:rPr>
              <a:t>(</a:t>
            </a:r>
            <a:r>
              <a:rPr lang="zh-CN" altLang="en-US" sz="2800" dirty="0">
                <a:ea typeface="楷体_GB2312"/>
              </a:rPr>
              <a:t>部件</a:t>
            </a:r>
            <a:r>
              <a:rPr lang="en-US" altLang="zh-CN" sz="2800" dirty="0">
                <a:ea typeface="楷体_GB2312"/>
              </a:rPr>
              <a:t>)</a:t>
            </a:r>
            <a:r>
              <a:rPr lang="zh-CN" altLang="en-US" sz="2800" dirty="0">
                <a:ea typeface="楷体_GB2312"/>
              </a:rPr>
              <a:t>之间传送信息的通路，称为</a:t>
            </a:r>
            <a:r>
              <a:rPr lang="zh-CN" altLang="en-US" sz="2800" b="1" dirty="0">
                <a:ea typeface="楷体_GB2312"/>
              </a:rPr>
              <a:t>数据通路 </a:t>
            </a:r>
            <a:r>
              <a:rPr lang="zh-CN" altLang="en-US" sz="2800" dirty="0">
                <a:ea typeface="楷体_GB2312"/>
              </a:rPr>
              <a:t>。</a:t>
            </a:r>
          </a:p>
          <a:p>
            <a:pPr>
              <a:buClr>
                <a:schemeClr val="bg1"/>
              </a:buClr>
              <a:buSzTx/>
            </a:pPr>
            <a:r>
              <a:rPr lang="en-US" altLang="zh-CN" sz="2500" dirty="0">
                <a:ea typeface="楷体_GB2312"/>
              </a:rPr>
              <a:t>	</a:t>
            </a:r>
            <a:r>
              <a:rPr lang="zh-CN" altLang="en-US" sz="2800" dirty="0">
                <a:ea typeface="楷体_GB2312"/>
              </a:rPr>
              <a:t>信息从什么地方开始，中间经过哪个寄存器或多路开关，最后传送到哪个寄存器，都要加以控制。</a:t>
            </a:r>
          </a:p>
          <a:p>
            <a:pPr eaLnBrk="1" hangingPunct="1"/>
            <a:endParaRPr lang="zh-CN" altLang="zh-CN" sz="2800" dirty="0">
              <a:ea typeface="楷体_GB2312"/>
            </a:endParaRPr>
          </a:p>
          <a:p>
            <a:pPr eaLnBrk="1" hangingPunct="1"/>
            <a:endParaRPr lang="zh-CN" altLang="en-US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>
                <a:solidFill>
                  <a:srgbClr val="3D3D3D"/>
                </a:solidFill>
                <a:latin typeface="楷体_GB2312" pitchFamily="49" charset="-122"/>
                <a:ea typeface="楷体_GB2312" pitchFamily="49" charset="-122"/>
              </a:rPr>
              <a:t>5.2.2  </a:t>
            </a:r>
            <a:r>
              <a:rPr lang="zh-CN" altLang="en-US" sz="1800" b="1" dirty="0">
                <a:solidFill>
                  <a:srgbClr val="3D3D3D"/>
                </a:solidFill>
                <a:latin typeface="楷体_GB2312" pitchFamily="49" charset="-122"/>
                <a:ea typeface="楷体_GB2312" pitchFamily="49" charset="-122"/>
              </a:rPr>
              <a:t>控制器的组成</a:t>
            </a:r>
            <a:endParaRPr lang="zh-CN" altLang="en-US" sz="36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chemeClr val="bg1"/>
              </a:buClr>
              <a:buSzTx/>
              <a:buFontTx/>
              <a:buNone/>
            </a:pPr>
            <a:r>
              <a:rPr lang="en-US" altLang="zh-CN" sz="2800" dirty="0">
                <a:ea typeface="楷体_GB2312"/>
              </a:rPr>
              <a:t>	</a:t>
            </a:r>
            <a:r>
              <a:rPr lang="zh-CN" altLang="en-US" sz="2500" dirty="0">
                <a:ea typeface="楷体_GB2312"/>
              </a:rPr>
              <a:t> </a:t>
            </a:r>
            <a:r>
              <a:rPr lang="zh-CN" altLang="en-US" sz="2800" dirty="0">
                <a:ea typeface="楷体_GB2312"/>
              </a:rPr>
              <a:t>在各寄存器之间建立数据通路的任务，是由称为</a:t>
            </a:r>
            <a:r>
              <a:rPr lang="zh-CN" altLang="en-US" sz="2800" b="1" dirty="0">
                <a:ea typeface="楷体_GB2312"/>
              </a:rPr>
              <a:t>操作控制器</a:t>
            </a:r>
            <a:r>
              <a:rPr lang="zh-CN" altLang="en-US" sz="2800" dirty="0">
                <a:ea typeface="楷体_GB2312"/>
              </a:rPr>
              <a:t>的部件来完成的。</a:t>
            </a:r>
          </a:p>
          <a:p>
            <a:pPr>
              <a:buClr>
                <a:schemeClr val="bg1"/>
              </a:buClr>
              <a:buSzTx/>
              <a:buFontTx/>
              <a:buNone/>
            </a:pPr>
            <a:r>
              <a:rPr lang="zh-CN" altLang="en-US" sz="2500" dirty="0">
                <a:ea typeface="楷体_GB2312"/>
              </a:rPr>
              <a:t> </a:t>
            </a:r>
            <a:r>
              <a:rPr lang="en-US" altLang="zh-CN" sz="2500" dirty="0">
                <a:ea typeface="楷体_GB2312"/>
              </a:rPr>
              <a:t>	</a:t>
            </a:r>
            <a:r>
              <a:rPr lang="zh-CN" altLang="en-US" sz="2800" b="1" dirty="0">
                <a:ea typeface="楷体_GB2312"/>
              </a:rPr>
              <a:t>操作控制器的功能</a:t>
            </a:r>
            <a:r>
              <a:rPr lang="zh-CN" altLang="en-US" sz="2800" dirty="0">
                <a:ea typeface="楷体_GB2312"/>
              </a:rPr>
              <a:t>：就是根据指令操作码和时序信号，产生各种操作控制信号，以便正确地建立数据通路，把有关数据打入到一个寄存器，把从而完成取指令和执行指令的控制。</a:t>
            </a:r>
            <a:endParaRPr lang="en-US" altLang="zh-CN" sz="2800" dirty="0">
              <a:ea typeface="楷体_GB2312"/>
            </a:endParaRPr>
          </a:p>
          <a:p>
            <a:pPr>
              <a:buClr>
                <a:schemeClr val="bg1"/>
              </a:buClr>
              <a:buSzTx/>
            </a:pPr>
            <a:r>
              <a:rPr lang="en-US" altLang="zh-CN" sz="2800" dirty="0">
                <a:ea typeface="楷体_GB2312"/>
              </a:rPr>
              <a:t>	</a:t>
            </a:r>
            <a:r>
              <a:rPr lang="zh-CN" altLang="en-US" sz="2800" dirty="0">
                <a:ea typeface="楷体_GB2312"/>
              </a:rPr>
              <a:t>根据设计方法不同，操作控制器可分为时序逻辑型、存储逻辑型两种。第一种称为</a:t>
            </a:r>
            <a:r>
              <a:rPr lang="zh-CN" altLang="en-US" sz="2800" b="1" dirty="0">
                <a:ea typeface="楷体_GB2312"/>
              </a:rPr>
              <a:t>硬布线控制器</a:t>
            </a:r>
            <a:r>
              <a:rPr lang="zh-CN" altLang="en-US" sz="2800" dirty="0">
                <a:ea typeface="楷体_GB2312"/>
              </a:rPr>
              <a:t>，它是采用时序逻辑技术来实现的；第二种称为</a:t>
            </a:r>
            <a:r>
              <a:rPr lang="zh-CN" altLang="en-US" sz="2800" b="1" dirty="0">
                <a:ea typeface="楷体_GB2312"/>
              </a:rPr>
              <a:t>微程序控制器</a:t>
            </a:r>
            <a:r>
              <a:rPr lang="zh-CN" altLang="en-US" sz="2800" dirty="0">
                <a:ea typeface="楷体_GB2312"/>
              </a:rPr>
              <a:t>，它是采用存储逻辑来实现的。</a:t>
            </a:r>
            <a:endParaRPr lang="en-US" altLang="zh-CN" sz="2800" dirty="0">
              <a:ea typeface="楷体_GB2312"/>
            </a:endParaRPr>
          </a:p>
          <a:p>
            <a:pPr>
              <a:buClr>
                <a:schemeClr val="bg1"/>
              </a:buClr>
              <a:buSzTx/>
              <a:buFontTx/>
              <a:buNone/>
            </a:pPr>
            <a:r>
              <a:rPr lang="zh-CN" altLang="en-US" sz="2800" b="1" dirty="0">
                <a:solidFill>
                  <a:schemeClr val="bg1"/>
                </a:solidFill>
              </a:rPr>
              <a:t>各种操作实施</a:t>
            </a:r>
            <a:r>
              <a:rPr lang="zh-CN" altLang="en-US" sz="1800" b="1" dirty="0">
                <a:solidFill>
                  <a:schemeClr val="bg1"/>
                </a:solidFill>
              </a:rPr>
              <a:t>时间上的控制。</a:t>
            </a:r>
          </a:p>
          <a:p>
            <a:pPr indent="0">
              <a:buNone/>
            </a:pP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2318961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>
                <a:solidFill>
                  <a:srgbClr val="3D3D3D"/>
                </a:solidFill>
                <a:latin typeface="楷体_GB2312" pitchFamily="49" charset="-122"/>
                <a:ea typeface="楷体_GB2312" pitchFamily="49" charset="-122"/>
              </a:rPr>
              <a:t>5.2.2  </a:t>
            </a:r>
            <a:r>
              <a:rPr lang="zh-CN" altLang="en-US" sz="1800" b="1" dirty="0">
                <a:solidFill>
                  <a:srgbClr val="3D3D3D"/>
                </a:solidFill>
                <a:latin typeface="楷体_GB2312" pitchFamily="49" charset="-122"/>
                <a:ea typeface="楷体_GB2312" pitchFamily="49" charset="-122"/>
              </a:rPr>
              <a:t>控制器的组成</a:t>
            </a:r>
            <a:endParaRPr lang="zh-CN" altLang="en-US" sz="36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chemeClr val="bg1"/>
              </a:buClr>
              <a:buSzTx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时序产生器</a:t>
            </a: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Clr>
                <a:schemeClr val="bg1"/>
              </a:buClr>
              <a:buSzTx/>
              <a:buFontTx/>
              <a:buNone/>
            </a:pPr>
            <a:r>
              <a:rPr lang="en-US" altLang="zh-CN" sz="2500" dirty="0">
                <a:ea typeface="楷体_GB2312"/>
              </a:rPr>
              <a:t>	</a:t>
            </a:r>
            <a:r>
              <a:rPr lang="zh-CN" altLang="en-US" sz="2600" dirty="0">
                <a:ea typeface="楷体_GB2312"/>
              </a:rPr>
              <a:t>操作控制器产生的控制信号，控制着指令的执行顺序，要想让指令能够正确的执行，控制信号必须有一定的时序关系，为此必须有</a:t>
            </a:r>
            <a:r>
              <a:rPr lang="zh-CN" altLang="en-US" sz="2600" b="1" dirty="0">
                <a:ea typeface="楷体_GB2312"/>
              </a:rPr>
              <a:t>时序产生器</a:t>
            </a:r>
            <a:r>
              <a:rPr lang="zh-CN" altLang="en-US" sz="2600" dirty="0">
                <a:ea typeface="楷体_GB2312"/>
              </a:rPr>
              <a:t>。</a:t>
            </a:r>
            <a:endParaRPr lang="en-US" altLang="zh-CN" sz="2600" dirty="0">
              <a:ea typeface="楷体_GB2312"/>
            </a:endParaRPr>
          </a:p>
          <a:p>
            <a:pPr>
              <a:buClr>
                <a:schemeClr val="bg1"/>
              </a:buClr>
              <a:buSzTx/>
              <a:buFontTx/>
              <a:buNone/>
            </a:pPr>
            <a:r>
              <a:rPr lang="en-US" altLang="zh-CN" sz="2600" dirty="0">
                <a:ea typeface="楷体_GB2312"/>
              </a:rPr>
              <a:t>	</a:t>
            </a:r>
            <a:r>
              <a:rPr lang="zh-CN" altLang="en-US" sz="2600" dirty="0">
                <a:ea typeface="楷体_GB2312"/>
              </a:rPr>
              <a:t>因为计算机高速地进行工作，每一个动作的时间是非常严格的，不能太早也不能太迟。时序产生器的作用，就是对各种操作信号实施时间上的控制。</a:t>
            </a:r>
            <a:endParaRPr lang="en-US" altLang="zh-CN" sz="2600" dirty="0">
              <a:ea typeface="楷体_GB2312"/>
            </a:endParaRPr>
          </a:p>
          <a:p>
            <a:pPr>
              <a:buClr>
                <a:schemeClr val="bg1"/>
              </a:buClr>
              <a:buSzTx/>
              <a:buFontTx/>
              <a:buNone/>
            </a:pPr>
            <a:r>
              <a:rPr lang="en-US" altLang="zh-CN" sz="2600" dirty="0">
                <a:ea typeface="楷体_GB2312"/>
              </a:rPr>
              <a:t>	</a:t>
            </a:r>
            <a:r>
              <a:rPr lang="zh-CN" altLang="en-US" sz="2600" dirty="0">
                <a:ea typeface="楷体_GB2312"/>
              </a:rPr>
              <a:t>时序产生器产生的信号，称为</a:t>
            </a:r>
            <a:r>
              <a:rPr lang="zh-CN" altLang="en-US" sz="2600" b="1" dirty="0">
                <a:ea typeface="楷体_GB2312"/>
              </a:rPr>
              <a:t>时序信号</a:t>
            </a:r>
            <a:r>
              <a:rPr lang="zh-CN" altLang="en-US" sz="2600" dirty="0">
                <a:ea typeface="楷体_GB2312"/>
              </a:rPr>
              <a:t>。</a:t>
            </a:r>
            <a:endParaRPr lang="en-US" altLang="zh-CN" sz="2600" dirty="0">
              <a:ea typeface="楷体_GB2312"/>
            </a:endParaRPr>
          </a:p>
          <a:p>
            <a:pPr>
              <a:buClr>
                <a:schemeClr val="bg1"/>
              </a:buClr>
              <a:buSzTx/>
              <a:buFontTx/>
              <a:buNone/>
            </a:pPr>
            <a:r>
              <a:rPr lang="en-US" altLang="zh-CN" sz="2600" dirty="0">
                <a:ea typeface="楷体_GB2312"/>
              </a:rPr>
              <a:t>	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9637307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endParaRPr lang="zh-CN" altLang="en-US" sz="1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我们知道，指令和数据从形式上看，它们都是二进制代码，所以对人来说，很难区分出这些代码是指令还是数据。然而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却能识别出这些二进制代码：它能准确地判别出哪些是指令字，哪些是数据字，并将它们送往相应的地方。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本节我们将讨论在一些典型的指令周期中，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的各部分是怎样工作的，从而能加深对这一问题的理解和体验。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endParaRPr lang="zh-CN" altLang="en-US" sz="1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计算机所以能自动地工作：是因为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能从存放程序的内存里取出一条指令并执行这条指令；紧接着又是取指令，执行指令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……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，如此周而复始，构成了一个封闭的循环。除非遇到停机指令，否则这个循环将一直继续下去。其过程，如图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5.2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所示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07327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5535"/>
            <a:ext cx="9144000" cy="516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1949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0825" y="260350"/>
            <a:ext cx="8207375" cy="865188"/>
          </a:xfrm>
        </p:spPr>
        <p:txBody>
          <a:bodyPr/>
          <a:lstStyle/>
          <a:p>
            <a:pPr algn="l" eaLnBrk="1" hangingPunct="1"/>
            <a:r>
              <a:rPr lang="en-US" altLang="zh-CN" sz="4000" b="1" dirty="0">
                <a:solidFill>
                  <a:srgbClr val="990000"/>
                </a:solidFill>
              </a:rPr>
              <a:t>5.3  </a:t>
            </a:r>
            <a:r>
              <a:rPr lang="zh-CN" altLang="en-US" sz="4000" b="1" dirty="0">
                <a:solidFill>
                  <a:srgbClr val="990000"/>
                </a:solidFill>
              </a:rPr>
              <a:t>指令周期</a:t>
            </a:r>
          </a:p>
        </p:txBody>
      </p:sp>
      <p:sp>
        <p:nvSpPr>
          <p:cNvPr id="24579" name="Rectangle 9"/>
          <p:cNvSpPr>
            <a:spLocks noChangeArrowheads="1"/>
          </p:cNvSpPr>
          <p:nvPr/>
        </p:nvSpPr>
        <p:spPr bwMode="auto">
          <a:xfrm>
            <a:off x="395288" y="2200275"/>
            <a:ext cx="6019800" cy="4364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000000"/>
              </a:buClr>
            </a:pPr>
            <a:r>
              <a:rPr lang="en-US" altLang="zh-CN">
                <a:solidFill>
                  <a:srgbClr val="FF0066"/>
                </a:solidFill>
                <a:latin typeface="Arial" charset="0"/>
              </a:rPr>
              <a:t>—</a:t>
            </a:r>
            <a:r>
              <a:rPr lang="zh-CN" altLang="en-US">
                <a:solidFill>
                  <a:srgbClr val="FF0066"/>
                </a:solidFill>
                <a:latin typeface="Arial" charset="0"/>
              </a:rPr>
              <a:t>读取指令</a:t>
            </a:r>
          </a:p>
          <a:p>
            <a:pPr lvl="2">
              <a:spcBef>
                <a:spcPct val="20000"/>
              </a:spcBef>
              <a:buClr>
                <a:srgbClr val="000000"/>
              </a:buClr>
            </a:pPr>
            <a:r>
              <a:rPr lang="zh-CN" altLang="en-US" sz="2400">
                <a:solidFill>
                  <a:srgbClr val="000000"/>
                </a:solidFill>
                <a:latin typeface="Arial" charset="0"/>
              </a:rPr>
              <a:t>指令地址送入主存地址寄存器</a:t>
            </a:r>
          </a:p>
          <a:p>
            <a:pPr lvl="2">
              <a:spcBef>
                <a:spcPct val="20000"/>
              </a:spcBef>
              <a:buClr>
                <a:srgbClr val="000000"/>
              </a:buClr>
            </a:pPr>
            <a:r>
              <a:rPr lang="zh-CN" altLang="en-US" sz="2400">
                <a:solidFill>
                  <a:srgbClr val="000000"/>
                </a:solidFill>
                <a:latin typeface="Arial" charset="0"/>
              </a:rPr>
              <a:t>读主存，读出内容送入指定的寄存器</a:t>
            </a:r>
          </a:p>
          <a:p>
            <a:pPr>
              <a:spcBef>
                <a:spcPct val="20000"/>
              </a:spcBef>
              <a:buClr>
                <a:srgbClr val="000000"/>
              </a:buClr>
            </a:pPr>
            <a:r>
              <a:rPr lang="en-US" altLang="zh-CN">
                <a:solidFill>
                  <a:srgbClr val="FF0066"/>
                </a:solidFill>
                <a:latin typeface="Arial" charset="0"/>
              </a:rPr>
              <a:t>—</a:t>
            </a:r>
            <a:r>
              <a:rPr lang="zh-CN" altLang="en-US">
                <a:solidFill>
                  <a:srgbClr val="FF0066"/>
                </a:solidFill>
                <a:latin typeface="Arial" charset="0"/>
              </a:rPr>
              <a:t>分析指令</a:t>
            </a:r>
          </a:p>
          <a:p>
            <a:pPr>
              <a:spcBef>
                <a:spcPct val="20000"/>
              </a:spcBef>
              <a:buClr>
                <a:srgbClr val="000000"/>
              </a:buClr>
            </a:pPr>
            <a:r>
              <a:rPr lang="en-US" altLang="zh-CN">
                <a:solidFill>
                  <a:srgbClr val="FF0066"/>
                </a:solidFill>
                <a:latin typeface="Arial" charset="0"/>
              </a:rPr>
              <a:t>—</a:t>
            </a:r>
            <a:r>
              <a:rPr lang="zh-CN" altLang="en-US">
                <a:solidFill>
                  <a:srgbClr val="FF0066"/>
                </a:solidFill>
                <a:latin typeface="Arial" charset="0"/>
              </a:rPr>
              <a:t>按指令规定内容执行指令</a:t>
            </a:r>
          </a:p>
          <a:p>
            <a:pPr lvl="2">
              <a:spcBef>
                <a:spcPct val="20000"/>
              </a:spcBef>
              <a:buClr>
                <a:srgbClr val="000000"/>
              </a:buClr>
            </a:pPr>
            <a:r>
              <a:rPr lang="zh-CN" altLang="en-US" sz="2400">
                <a:solidFill>
                  <a:srgbClr val="000000"/>
                </a:solidFill>
                <a:latin typeface="Arial" charset="0"/>
              </a:rPr>
              <a:t>不同指令的操作步骤数</a:t>
            </a:r>
          </a:p>
          <a:p>
            <a:pPr lvl="2">
              <a:spcBef>
                <a:spcPct val="20000"/>
              </a:spcBef>
              <a:buClr>
                <a:srgbClr val="000000"/>
              </a:buClr>
            </a:pPr>
            <a:r>
              <a:rPr lang="zh-CN" altLang="en-US" sz="2400">
                <a:solidFill>
                  <a:srgbClr val="000000"/>
                </a:solidFill>
                <a:latin typeface="Arial" charset="0"/>
              </a:rPr>
              <a:t>和具体操作内容差异很大</a:t>
            </a:r>
          </a:p>
          <a:p>
            <a:pPr>
              <a:spcBef>
                <a:spcPct val="20000"/>
              </a:spcBef>
              <a:buClr>
                <a:srgbClr val="000000"/>
              </a:buClr>
            </a:pPr>
            <a:r>
              <a:rPr lang="en-US" altLang="zh-CN">
                <a:solidFill>
                  <a:srgbClr val="000000"/>
                </a:solidFill>
                <a:latin typeface="Arial" charset="0"/>
              </a:rPr>
              <a:t>—</a:t>
            </a:r>
            <a:r>
              <a:rPr lang="zh-CN" altLang="en-US">
                <a:solidFill>
                  <a:srgbClr val="FF0066"/>
                </a:solidFill>
                <a:latin typeface="Arial" charset="0"/>
              </a:rPr>
              <a:t>检查有无中断请求</a:t>
            </a:r>
          </a:p>
          <a:p>
            <a:pPr lvl="2">
              <a:spcBef>
                <a:spcPct val="20000"/>
              </a:spcBef>
              <a:buClr>
                <a:srgbClr val="000000"/>
              </a:buClr>
            </a:pPr>
            <a:r>
              <a:rPr lang="zh-CN" altLang="en-US" sz="2400">
                <a:solidFill>
                  <a:srgbClr val="000000"/>
                </a:solidFill>
                <a:latin typeface="Arial" charset="0"/>
              </a:rPr>
              <a:t>若无，则转入下一条指令的执行过程</a:t>
            </a:r>
            <a:endParaRPr lang="zh-CN" altLang="en-US" sz="2400" b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4580" name="Text Box 10"/>
          <p:cNvSpPr txBox="1">
            <a:spLocks noChangeArrowheads="1"/>
          </p:cNvSpPr>
          <p:nvPr/>
        </p:nvSpPr>
        <p:spPr bwMode="auto">
          <a:xfrm>
            <a:off x="6719888" y="3032125"/>
            <a:ext cx="549275" cy="284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>
                <a:solidFill>
                  <a:srgbClr val="FF0066"/>
                </a:solidFill>
                <a:latin typeface="Times New Roman" pitchFamily="18" charset="0"/>
                <a:ea typeface="楷体_GB2312" pitchFamily="49" charset="-122"/>
              </a:rPr>
              <a:t>形成下一条指令地址</a:t>
            </a:r>
            <a:endParaRPr kumimoji="1" lang="zh-CN" altLang="en-US" sz="200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24581" name="Line 11"/>
          <p:cNvSpPr>
            <a:spLocks noChangeShapeType="1"/>
          </p:cNvSpPr>
          <p:nvPr/>
        </p:nvSpPr>
        <p:spPr bwMode="auto">
          <a:xfrm>
            <a:off x="6338888" y="6315075"/>
            <a:ext cx="1600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4582" name="Line 12"/>
          <p:cNvSpPr>
            <a:spLocks noChangeShapeType="1"/>
          </p:cNvSpPr>
          <p:nvPr/>
        </p:nvSpPr>
        <p:spPr bwMode="auto">
          <a:xfrm flipV="1">
            <a:off x="7939088" y="2276475"/>
            <a:ext cx="0" cy="403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4583" name="Line 13"/>
          <p:cNvSpPr>
            <a:spLocks noChangeShapeType="1"/>
          </p:cNvSpPr>
          <p:nvPr/>
        </p:nvSpPr>
        <p:spPr bwMode="auto">
          <a:xfrm flipH="1">
            <a:off x="2681288" y="2276475"/>
            <a:ext cx="5257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4584" name="Line 14"/>
          <p:cNvSpPr>
            <a:spLocks noChangeShapeType="1"/>
          </p:cNvSpPr>
          <p:nvPr/>
        </p:nvSpPr>
        <p:spPr bwMode="auto">
          <a:xfrm>
            <a:off x="6338888" y="2886075"/>
            <a:ext cx="914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4585" name="Line 15"/>
          <p:cNvSpPr>
            <a:spLocks noChangeShapeType="1"/>
          </p:cNvSpPr>
          <p:nvPr/>
        </p:nvSpPr>
        <p:spPr bwMode="auto">
          <a:xfrm>
            <a:off x="6338888" y="5934075"/>
            <a:ext cx="1143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4586" name="Line 16"/>
          <p:cNvSpPr>
            <a:spLocks noChangeShapeType="1"/>
          </p:cNvSpPr>
          <p:nvPr/>
        </p:nvSpPr>
        <p:spPr bwMode="auto">
          <a:xfrm>
            <a:off x="6491288" y="2886075"/>
            <a:ext cx="0" cy="3048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4587" name="Text Box 17"/>
          <p:cNvSpPr txBox="1">
            <a:spLocks noChangeArrowheads="1"/>
          </p:cNvSpPr>
          <p:nvPr/>
        </p:nvSpPr>
        <p:spPr bwMode="auto">
          <a:xfrm>
            <a:off x="395288" y="1514475"/>
            <a:ext cx="480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kumimoji="1" lang="en-US" altLang="zh-CN" sz="2800">
                <a:solidFill>
                  <a:srgbClr val="000000"/>
                </a:solidFill>
                <a:latin typeface="Tahoma" pitchFamily="34" charset="0"/>
              </a:rPr>
              <a:t> </a:t>
            </a:r>
            <a:r>
              <a:rPr kumimoji="1" lang="zh-CN" altLang="en-US" sz="2800">
                <a:solidFill>
                  <a:srgbClr val="000000"/>
                </a:solidFill>
                <a:latin typeface="Tahoma" pitchFamily="34" charset="0"/>
              </a:rPr>
              <a:t>指令的执行过程</a:t>
            </a:r>
          </a:p>
        </p:txBody>
      </p:sp>
      <p:grpSp>
        <p:nvGrpSpPr>
          <p:cNvPr id="24588" name="Group 18"/>
          <p:cNvGrpSpPr>
            <a:grpSpLocks/>
          </p:cNvGrpSpPr>
          <p:nvPr/>
        </p:nvGrpSpPr>
        <p:grpSpPr bwMode="auto">
          <a:xfrm>
            <a:off x="5291138" y="260350"/>
            <a:ext cx="3384550" cy="1647825"/>
            <a:chOff x="1392" y="1008"/>
            <a:chExt cx="2544" cy="1248"/>
          </a:xfrm>
        </p:grpSpPr>
        <p:sp>
          <p:nvSpPr>
            <p:cNvPr id="24589" name="Rectangle 19"/>
            <p:cNvSpPr>
              <a:spLocks noChangeArrowheads="1"/>
            </p:cNvSpPr>
            <p:nvPr/>
          </p:nvSpPr>
          <p:spPr bwMode="auto">
            <a:xfrm>
              <a:off x="1392" y="1488"/>
              <a:ext cx="960" cy="336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400" b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取指令</a:t>
              </a:r>
            </a:p>
          </p:txBody>
        </p:sp>
        <p:sp>
          <p:nvSpPr>
            <p:cNvPr id="24590" name="Rectangle 20"/>
            <p:cNvSpPr>
              <a:spLocks noChangeArrowheads="1"/>
            </p:cNvSpPr>
            <p:nvPr/>
          </p:nvSpPr>
          <p:spPr bwMode="auto">
            <a:xfrm>
              <a:off x="2976" y="1488"/>
              <a:ext cx="960" cy="336"/>
            </a:xfrm>
            <a:prstGeom prst="rect">
              <a:avLst/>
            </a:prstGeom>
            <a:solidFill>
              <a:srgbClr val="FF33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400" b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执行指令</a:t>
              </a:r>
            </a:p>
          </p:txBody>
        </p:sp>
        <p:sp>
          <p:nvSpPr>
            <p:cNvPr id="24591" name="AutoShape 21"/>
            <p:cNvSpPr>
              <a:spLocks noChangeArrowheads="1"/>
            </p:cNvSpPr>
            <p:nvPr/>
          </p:nvSpPr>
          <p:spPr bwMode="auto">
            <a:xfrm>
              <a:off x="1584" y="1008"/>
              <a:ext cx="1824" cy="672"/>
            </a:xfrm>
            <a:custGeom>
              <a:avLst/>
              <a:gdLst>
                <a:gd name="T0" fmla="*/ 668 w 21600"/>
                <a:gd name="T1" fmla="*/ 12 h 21600"/>
                <a:gd name="T2" fmla="*/ 212 w 21600"/>
                <a:gd name="T3" fmla="*/ 491 h 21600"/>
                <a:gd name="T4" fmla="*/ 719 w 21600"/>
                <a:gd name="T5" fmla="*/ 80 h 21600"/>
                <a:gd name="T6" fmla="*/ 2052 w 21600"/>
                <a:gd name="T7" fmla="*/ 336 h 21600"/>
                <a:gd name="T8" fmla="*/ 1729 w 21600"/>
                <a:gd name="T9" fmla="*/ 455 h 21600"/>
                <a:gd name="T10" fmla="*/ 1406 w 21600"/>
                <a:gd name="T11" fmla="*/ 336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2 w 21600"/>
                <a:gd name="T19" fmla="*/ 3150 h 21600"/>
                <a:gd name="T20" fmla="*/ 18438 w 21600"/>
                <a:gd name="T21" fmla="*/ 1845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9350" y="10800"/>
                  </a:moveTo>
                  <a:cubicBezTo>
                    <a:pt x="19350" y="6077"/>
                    <a:pt x="15522" y="2250"/>
                    <a:pt x="10800" y="2250"/>
                  </a:cubicBezTo>
                  <a:cubicBezTo>
                    <a:pt x="6077" y="2250"/>
                    <a:pt x="2250" y="6077"/>
                    <a:pt x="2250" y="10800"/>
                  </a:cubicBezTo>
                  <a:cubicBezTo>
                    <a:pt x="2249" y="12353"/>
                    <a:pt x="2673" y="13878"/>
                    <a:pt x="3475" y="15209"/>
                  </a:cubicBezTo>
                  <a:lnTo>
                    <a:pt x="1547" y="16370"/>
                  </a:lnTo>
                  <a:cubicBezTo>
                    <a:pt x="534" y="14688"/>
                    <a:pt x="0" y="12762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4" y="-1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20475" y="14625"/>
                  </a:lnTo>
                  <a:lnTo>
                    <a:pt x="16650" y="10800"/>
                  </a:lnTo>
                  <a:lnTo>
                    <a:pt x="19350" y="108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24592" name="AutoShape 22"/>
            <p:cNvSpPr>
              <a:spLocks noChangeArrowheads="1"/>
            </p:cNvSpPr>
            <p:nvPr/>
          </p:nvSpPr>
          <p:spPr bwMode="auto">
            <a:xfrm flipH="1" flipV="1">
              <a:off x="1824" y="1584"/>
              <a:ext cx="1680" cy="672"/>
            </a:xfrm>
            <a:custGeom>
              <a:avLst/>
              <a:gdLst>
                <a:gd name="T0" fmla="*/ 726 w 21600"/>
                <a:gd name="T1" fmla="*/ 3 h 21600"/>
                <a:gd name="T2" fmla="*/ 115 w 21600"/>
                <a:gd name="T3" fmla="*/ 417 h 21600"/>
                <a:gd name="T4" fmla="*/ 750 w 21600"/>
                <a:gd name="T5" fmla="*/ 72 h 21600"/>
                <a:gd name="T6" fmla="*/ 1890 w 21600"/>
                <a:gd name="T7" fmla="*/ 336 h 21600"/>
                <a:gd name="T8" fmla="*/ 1593 w 21600"/>
                <a:gd name="T9" fmla="*/ 455 h 21600"/>
                <a:gd name="T10" fmla="*/ 1295 w 21600"/>
                <a:gd name="T11" fmla="*/ 336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3 w 21600"/>
                <a:gd name="T19" fmla="*/ 3150 h 21600"/>
                <a:gd name="T20" fmla="*/ 18437 w 21600"/>
                <a:gd name="T21" fmla="*/ 1845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9350" y="10800"/>
                  </a:moveTo>
                  <a:cubicBezTo>
                    <a:pt x="19350" y="6077"/>
                    <a:pt x="15522" y="2250"/>
                    <a:pt x="10800" y="2250"/>
                  </a:cubicBezTo>
                  <a:cubicBezTo>
                    <a:pt x="6077" y="2250"/>
                    <a:pt x="2250" y="6077"/>
                    <a:pt x="2250" y="10800"/>
                  </a:cubicBezTo>
                  <a:cubicBezTo>
                    <a:pt x="2249" y="11574"/>
                    <a:pt x="2355" y="12346"/>
                    <a:pt x="2563" y="13092"/>
                  </a:cubicBezTo>
                  <a:lnTo>
                    <a:pt x="395" y="13696"/>
                  </a:lnTo>
                  <a:cubicBezTo>
                    <a:pt x="133" y="12753"/>
                    <a:pt x="0" y="11778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4" y="-1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20475" y="14625"/>
                  </a:lnTo>
                  <a:lnTo>
                    <a:pt x="16650" y="10800"/>
                  </a:lnTo>
                  <a:lnTo>
                    <a:pt x="19350" y="108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52251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右大括号 5"/>
          <p:cNvSpPr>
            <a:spLocks/>
          </p:cNvSpPr>
          <p:nvPr/>
        </p:nvSpPr>
        <p:spPr bwMode="auto">
          <a:xfrm>
            <a:off x="3666429" y="2892381"/>
            <a:ext cx="617539" cy="1800200"/>
          </a:xfrm>
          <a:prstGeom prst="rightBrace">
            <a:avLst>
              <a:gd name="adj1" fmla="val 8333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381001"/>
            <a:ext cx="7467600" cy="815975"/>
          </a:xfrm>
        </p:spPr>
        <p:txBody>
          <a:bodyPr/>
          <a:lstStyle/>
          <a:p>
            <a:pPr eaLnBrk="1" hangingPunct="1"/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执行指令的过程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Arial" pitchFamily="34" charset="0"/>
              <a:buChar char="•"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取指令</a:t>
            </a:r>
            <a:endParaRPr lang="en-US" altLang="zh-CN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lang="en-US" altLang="zh-CN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PC+1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送</a:t>
            </a:r>
            <a:r>
              <a:rPr lang="en-US" altLang="zh-CN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PC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指令译码</a:t>
            </a:r>
            <a:r>
              <a:rPr lang="en-US" altLang="zh-CN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不是必须的</a:t>
            </a:r>
            <a:r>
              <a:rPr lang="en-US" altLang="zh-CN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取操作数地址（进行主存地址运算）</a:t>
            </a:r>
            <a:endParaRPr lang="en-US" altLang="zh-CN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取操作数</a:t>
            </a:r>
            <a:endParaRPr lang="en-US" altLang="zh-CN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进行算术逻辑运算</a:t>
            </a:r>
            <a:endParaRPr lang="en-US" altLang="zh-CN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存结果</a:t>
            </a:r>
            <a:endParaRPr lang="en-US" altLang="zh-CN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以上每个步骤都要检测“异常”</a:t>
            </a:r>
            <a:endParaRPr lang="en-US" altLang="zh-CN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若有异常，则自动切换到异常处理程序</a:t>
            </a:r>
            <a:endParaRPr lang="en-US" altLang="zh-CN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检测是否有“中断”请求，有则转中断处理</a:t>
            </a:r>
          </a:p>
          <a:p>
            <a:pPr eaLnBrk="1" hangingPunct="1">
              <a:buFont typeface="Arial" pitchFamily="34" charset="0"/>
              <a:buChar char="•"/>
            </a:pPr>
            <a:endParaRPr lang="en-US" altLang="zh-CN" sz="20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Arial" pitchFamily="34" charset="0"/>
              <a:buChar char="•"/>
            </a:pPr>
            <a:endParaRPr lang="en-US" altLang="zh-CN" sz="20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Arial" pitchFamily="34" charset="0"/>
              <a:buChar char="•"/>
            </a:pPr>
            <a:endParaRPr lang="en-US" altLang="zh-CN" sz="20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Arial" pitchFamily="34" charset="0"/>
              <a:buChar char="•"/>
            </a:pP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Arial" pitchFamily="34" charset="0"/>
              <a:buChar char="•"/>
            </a:pP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Arial" pitchFamily="34" charset="0"/>
              <a:buChar char="•"/>
            </a:pP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  </a:t>
            </a:r>
          </a:p>
        </p:txBody>
      </p:sp>
      <p:sp>
        <p:nvSpPr>
          <p:cNvPr id="16389" name="右大括号 1"/>
          <p:cNvSpPr>
            <a:spLocks/>
          </p:cNvSpPr>
          <p:nvPr/>
        </p:nvSpPr>
        <p:spPr bwMode="auto">
          <a:xfrm>
            <a:off x="2411413" y="1916114"/>
            <a:ext cx="431800" cy="576262"/>
          </a:xfrm>
          <a:prstGeom prst="rightBrace">
            <a:avLst>
              <a:gd name="adj1" fmla="val 8341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6390" name="TextBox 2"/>
          <p:cNvSpPr txBox="1">
            <a:spLocks noChangeArrowheads="1"/>
          </p:cNvSpPr>
          <p:nvPr/>
        </p:nvSpPr>
        <p:spPr bwMode="auto">
          <a:xfrm>
            <a:off x="3028951" y="1906589"/>
            <a:ext cx="20161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取指阶段</a:t>
            </a:r>
          </a:p>
        </p:txBody>
      </p:sp>
      <p:sp>
        <p:nvSpPr>
          <p:cNvPr id="16392" name="右大括号 4"/>
          <p:cNvSpPr>
            <a:spLocks/>
          </p:cNvSpPr>
          <p:nvPr/>
        </p:nvSpPr>
        <p:spPr bwMode="auto">
          <a:xfrm>
            <a:off x="6732589" y="2060576"/>
            <a:ext cx="576263" cy="3889375"/>
          </a:xfrm>
          <a:prstGeom prst="rightBrace">
            <a:avLst>
              <a:gd name="adj1" fmla="val 8343"/>
              <a:gd name="adj2" fmla="val 50000"/>
            </a:avLst>
          </a:prstGeom>
          <a:solidFill>
            <a:schemeClr val="accent1"/>
          </a:solidFill>
          <a:ln w="9525" algn="ctr">
            <a:solidFill>
              <a:srgbClr val="00B05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6393" name="TextBox 9"/>
          <p:cNvSpPr txBox="1">
            <a:spLocks noChangeArrowheads="1"/>
          </p:cNvSpPr>
          <p:nvPr/>
        </p:nvSpPr>
        <p:spPr bwMode="auto">
          <a:xfrm>
            <a:off x="7386638" y="2695576"/>
            <a:ext cx="641351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指令执行过程</a:t>
            </a:r>
          </a:p>
        </p:txBody>
      </p:sp>
      <p:sp>
        <p:nvSpPr>
          <p:cNvPr id="16391" name="TextBox 7"/>
          <p:cNvSpPr txBox="1">
            <a:spLocks noChangeArrowheads="1"/>
          </p:cNvSpPr>
          <p:nvPr/>
        </p:nvSpPr>
        <p:spPr bwMode="auto">
          <a:xfrm>
            <a:off x="4355976" y="3554785"/>
            <a:ext cx="27320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译码和执行阶段</a:t>
            </a:r>
          </a:p>
        </p:txBody>
      </p:sp>
    </p:spTree>
    <p:extLst>
      <p:ext uri="{BB962C8B-B14F-4D97-AF65-F5344CB8AC3E}">
        <p14:creationId xmlns:p14="http://schemas.microsoft.com/office/powerpoint/2010/main" val="32917492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1.PC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中的内容送入地址寄存器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AR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，并向内存发读命令，从内存将这条指令读入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IR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指令译码器分析指令的操作性质及操作数形成地址，以便向存储器、运算器等发出响应的微操作命令序列。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如是操作类指令，需要内存提供数据的话，控制器就根据寻址方式形成有效地址送入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AR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，并向内存发读命令。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381001"/>
            <a:ext cx="7467600" cy="815975"/>
          </a:xfrm>
        </p:spPr>
        <p:txBody>
          <a:bodyPr/>
          <a:lstStyle/>
          <a:p>
            <a:pPr eaLnBrk="1" hangingPunct="1"/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执行指令的过程</a:t>
            </a:r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无</a:t>
            </a:r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Cache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CPU)</a:t>
            </a:r>
            <a:endParaRPr lang="zh-CN" altLang="en-US" sz="36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95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4.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从内存取出的运算数据送入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ALU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并随即命令运算器对数据进行操作。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操作结果送入通用寄存器或内存。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6.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一条指令执行完毕，控制器接执行指令计数器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PC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指出的下一条指令，在顺序执行的情况下，是在上条指令被取出以后，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PC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内容加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。在非顺序执行的情况下，比如转移，就跳过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步，将转移地址写入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PC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指令执行过程举例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381001"/>
            <a:ext cx="7467600" cy="815975"/>
          </a:xfrm>
        </p:spPr>
        <p:txBody>
          <a:bodyPr/>
          <a:lstStyle/>
          <a:p>
            <a:pPr eaLnBrk="1" hangingPunct="1"/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执行指令的过程</a:t>
            </a:r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无</a:t>
            </a:r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Cache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CPU)</a:t>
            </a:r>
            <a:endParaRPr lang="zh-CN" altLang="en-US" sz="36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3" name="Picture 2" descr="D:\教学\计算机组成PPT\04095computer\04095计算机组成与结构（第3版）\正文图表\6\图6.8.T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1625" y="1428750"/>
            <a:ext cx="7072313" cy="474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4" name="TextBox 5"/>
          <p:cNvSpPr txBox="1">
            <a:spLocks noChangeArrowheads="1"/>
          </p:cNvSpPr>
          <p:nvPr/>
        </p:nvSpPr>
        <p:spPr bwMode="auto">
          <a:xfrm>
            <a:off x="3429000" y="5786438"/>
            <a:ext cx="2143125" cy="261937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</a:pPr>
            <a:endParaRPr lang="zh-CN" altLang="en-US" sz="110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381001"/>
            <a:ext cx="7467600" cy="815975"/>
          </a:xfrm>
        </p:spPr>
        <p:txBody>
          <a:bodyPr/>
          <a:lstStyle/>
          <a:p>
            <a:pPr eaLnBrk="1" hangingPunct="1"/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执行指令的过程</a:t>
            </a:r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无</a:t>
            </a:r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Cache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CPU)</a:t>
            </a:r>
            <a:endParaRPr lang="zh-CN" altLang="en-US" sz="36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76400"/>
            <a:ext cx="86868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假设指令格式：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800" b="1">
              <a:solidFill>
                <a:schemeClr val="tx2"/>
              </a:solidFill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8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）一条加法指令的执行过程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加法指令完成以下操作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①从存储器取指令，送入指令寄存器，并进行操作码译码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分析指令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②计算数据地址，将计算得到的有效地址送地址寄存器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AR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800" b="1">
              <a:solidFill>
                <a:schemeClr val="tx2"/>
              </a:solidFill>
              <a:ea typeface="楷体_GB2312" pitchFamily="49" charset="-122"/>
            </a:endParaRPr>
          </a:p>
        </p:txBody>
      </p:sp>
      <p:sp>
        <p:nvSpPr>
          <p:cNvPr id="31748" name="Line 7"/>
          <p:cNvSpPr>
            <a:spLocks noChangeShapeType="1"/>
          </p:cNvSpPr>
          <p:nvPr/>
        </p:nvSpPr>
        <p:spPr bwMode="auto">
          <a:xfrm>
            <a:off x="2057400" y="2514600"/>
            <a:ext cx="0" cy="381000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>
            <a:spAutoFit/>
          </a:bodyPr>
          <a:lstStyle/>
          <a:p>
            <a:endParaRPr lang="zh-CN" altLang="en-US"/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09600" y="2362200"/>
            <a:ext cx="7924800" cy="381000"/>
            <a:chOff x="384" y="1488"/>
            <a:chExt cx="4992" cy="240"/>
          </a:xfrm>
        </p:grpSpPr>
        <p:sp>
          <p:nvSpPr>
            <p:cNvPr id="31750" name="Text Box 5"/>
            <p:cNvSpPr txBox="1">
              <a:spLocks noChangeArrowheads="1"/>
            </p:cNvSpPr>
            <p:nvPr/>
          </p:nvSpPr>
          <p:spPr bwMode="auto">
            <a:xfrm>
              <a:off x="384" y="1488"/>
              <a:ext cx="4992" cy="23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latin typeface="Arial" pitchFamily="34" charset="0"/>
                </a:rPr>
                <a:t>   </a:t>
              </a:r>
              <a:r>
                <a:rPr kumimoji="0" lang="zh-CN" altLang="en-US" sz="1600">
                  <a:latin typeface="Arial" pitchFamily="34" charset="0"/>
                </a:rPr>
                <a:t>操 作 码                 </a:t>
              </a:r>
              <a:r>
                <a:rPr kumimoji="0" lang="en-US" altLang="zh-CN" sz="1600">
                  <a:latin typeface="Arial" pitchFamily="34" charset="0"/>
                </a:rPr>
                <a:t>rs,rd                        rs1                                 imm(</a:t>
              </a:r>
              <a:r>
                <a:rPr kumimoji="0" lang="zh-CN" altLang="en-US" sz="1600">
                  <a:latin typeface="Arial" pitchFamily="34" charset="0"/>
                </a:rPr>
                <a:t>或</a:t>
              </a:r>
              <a:r>
                <a:rPr kumimoji="0" lang="en-US" altLang="zh-CN" sz="1600">
                  <a:latin typeface="Arial" pitchFamily="34" charset="0"/>
                </a:rPr>
                <a:t>disp)</a:t>
              </a:r>
            </a:p>
          </p:txBody>
        </p:sp>
        <p:sp>
          <p:nvSpPr>
            <p:cNvPr id="31751" name="Line 8"/>
            <p:cNvSpPr>
              <a:spLocks noChangeShapeType="1"/>
            </p:cNvSpPr>
            <p:nvPr/>
          </p:nvSpPr>
          <p:spPr bwMode="auto">
            <a:xfrm>
              <a:off x="1296" y="1488"/>
              <a:ext cx="0" cy="24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anchor="b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52" name="Line 9"/>
            <p:cNvSpPr>
              <a:spLocks noChangeShapeType="1"/>
            </p:cNvSpPr>
            <p:nvPr/>
          </p:nvSpPr>
          <p:spPr bwMode="auto">
            <a:xfrm>
              <a:off x="2352" y="1488"/>
              <a:ext cx="0" cy="24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anchor="b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53" name="Line 10"/>
            <p:cNvSpPr>
              <a:spLocks noChangeShapeType="1"/>
            </p:cNvSpPr>
            <p:nvPr/>
          </p:nvSpPr>
          <p:spPr bwMode="auto">
            <a:xfrm>
              <a:off x="3360" y="1488"/>
              <a:ext cx="0" cy="24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anchor="b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381001"/>
            <a:ext cx="7467600" cy="815975"/>
          </a:xfrm>
        </p:spPr>
        <p:txBody>
          <a:bodyPr/>
          <a:lstStyle/>
          <a:p>
            <a:pPr eaLnBrk="1" hangingPunct="1"/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执行指令的过程</a:t>
            </a:r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无</a:t>
            </a:r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Cache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CPU)</a:t>
            </a:r>
            <a:endParaRPr lang="zh-CN" altLang="en-US" sz="36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③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到存储器取数。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④进行加法运算，结果送寄存器，并根据运算结果置状态位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V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381001"/>
            <a:ext cx="7467600" cy="815975"/>
          </a:xfrm>
        </p:spPr>
        <p:txBody>
          <a:bodyPr/>
          <a:lstStyle/>
          <a:p>
            <a:pPr eaLnBrk="1" hangingPunct="1"/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执行指令的过程</a:t>
            </a:r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无</a:t>
            </a:r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Cache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CPU)</a:t>
            </a:r>
            <a:endParaRPr lang="zh-CN" altLang="en-US" sz="36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）条件转移指令的执行过程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  指令功能：根据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V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的状态，决定是否转换。如转移条件成立，则转移到本条指令所指定的地址，否则顺序执行下一条指令。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本条指令完成以下操作：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①从存储器取指令，送入指令寄存器，并进行操作码译码。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②如转移条件成立，根据指令规定的寻址方式计算有效地址，转移指令经常采用相对寻址方式，此时转移地址＝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PC+disp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381001"/>
            <a:ext cx="7467600" cy="815975"/>
          </a:xfrm>
        </p:spPr>
        <p:txBody>
          <a:bodyPr/>
          <a:lstStyle/>
          <a:p>
            <a:pPr eaLnBrk="1" hangingPunct="1"/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执行指令的过程</a:t>
            </a:r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无</a:t>
            </a:r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Cache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CPU)</a:t>
            </a:r>
            <a:endParaRPr lang="zh-CN" altLang="en-US" sz="36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ChangeArrowheads="1"/>
          </p:cNvSpPr>
          <p:nvPr/>
        </p:nvSpPr>
        <p:spPr bwMode="auto">
          <a:xfrm>
            <a:off x="250825" y="115888"/>
            <a:ext cx="8207375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4000" dirty="0">
                <a:solidFill>
                  <a:srgbClr val="660066"/>
                </a:solidFill>
              </a:rPr>
              <a:t>5.3.1 </a:t>
            </a:r>
            <a:r>
              <a:rPr lang="zh-CN" altLang="en-US" sz="4000" dirty="0">
                <a:solidFill>
                  <a:srgbClr val="660066"/>
                </a:solidFill>
              </a:rPr>
              <a:t>指令周期的基本概念</a:t>
            </a:r>
            <a:r>
              <a:rPr lang="zh-CN" altLang="en-US" sz="4000" dirty="0">
                <a:solidFill>
                  <a:srgbClr val="990000"/>
                </a:solidFill>
              </a:rPr>
              <a:t> </a:t>
            </a:r>
          </a:p>
        </p:txBody>
      </p:sp>
      <p:sp>
        <p:nvSpPr>
          <p:cNvPr id="25603" name="Rectangle 5"/>
          <p:cNvSpPr>
            <a:spLocks noChangeArrowheads="1"/>
          </p:cNvSpPr>
          <p:nvPr/>
        </p:nvSpPr>
        <p:spPr bwMode="auto">
          <a:xfrm>
            <a:off x="250825" y="981075"/>
            <a:ext cx="8642350" cy="129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    </a:t>
            </a:r>
            <a:r>
              <a:rPr lang="zh-CN" altLang="en-US" dirty="0">
                <a:solidFill>
                  <a:srgbClr val="FF0000"/>
                </a:solidFill>
              </a:rPr>
              <a:t>指令周期</a:t>
            </a:r>
            <a:r>
              <a:rPr lang="en-US" altLang="zh-CN" dirty="0">
                <a:solidFill>
                  <a:srgbClr val="FF0000"/>
                </a:solidFill>
              </a:rPr>
              <a:t>: </a:t>
            </a:r>
            <a:r>
              <a:rPr lang="zh-CN" altLang="en-US" dirty="0">
                <a:solidFill>
                  <a:schemeClr val="tx1"/>
                </a:solidFill>
              </a:rPr>
              <a:t>是</a:t>
            </a:r>
            <a:r>
              <a:rPr lang="en-US" altLang="zh-CN" dirty="0">
                <a:solidFill>
                  <a:srgbClr val="000000"/>
                </a:solidFill>
              </a:rPr>
              <a:t>CPU</a:t>
            </a:r>
            <a:r>
              <a:rPr lang="zh-CN" altLang="en-US" dirty="0">
                <a:solidFill>
                  <a:srgbClr val="000000"/>
                </a:solidFill>
              </a:rPr>
              <a:t>取出一条指令并执行这条指令的时间。</a:t>
            </a:r>
          </a:p>
        </p:txBody>
      </p:sp>
      <p:sp>
        <p:nvSpPr>
          <p:cNvPr id="25604" name="Text Box 6"/>
          <p:cNvSpPr txBox="1">
            <a:spLocks noChangeArrowheads="1"/>
          </p:cNvSpPr>
          <p:nvPr/>
        </p:nvSpPr>
        <p:spPr bwMode="auto">
          <a:xfrm>
            <a:off x="250825" y="2133600"/>
            <a:ext cx="864235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15000"/>
              </a:lnSpc>
              <a:spcBef>
                <a:spcPct val="20000"/>
              </a:spcBef>
            </a:pPr>
            <a:r>
              <a:rPr lang="en-US" altLang="zh-CN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 CPU</a:t>
            </a: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周期</a:t>
            </a: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 </a:t>
            </a:r>
            <a:r>
              <a:rPr lang="en-US" altLang="zh-CN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 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又称</a:t>
            </a:r>
            <a:r>
              <a:rPr lang="zh-CN" altLang="en-US" sz="2800" u="sng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机器周期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zh-CN" altLang="en-US" sz="2800" u="sng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总线周期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），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访问内存所花的时间较长，因此，通常用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从内存读取一条指令字的所需的最短时间来定义。</a:t>
            </a:r>
            <a:endParaRPr lang="zh-CN" altLang="en-US" sz="1800" b="0" dirty="0">
              <a:solidFill>
                <a:srgbClr val="000000"/>
              </a:solidFill>
            </a:endParaRPr>
          </a:p>
        </p:txBody>
      </p:sp>
      <p:sp>
        <p:nvSpPr>
          <p:cNvPr id="25605" name="Text Box 7"/>
          <p:cNvSpPr txBox="1">
            <a:spLocks noChangeArrowheads="1"/>
          </p:cNvSpPr>
          <p:nvPr/>
        </p:nvSpPr>
        <p:spPr bwMode="auto">
          <a:xfrm>
            <a:off x="250825" y="3644900"/>
            <a:ext cx="8642350" cy="1578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15000"/>
              </a:lnSpc>
              <a:spcBef>
                <a:spcPct val="20000"/>
              </a:spcBef>
            </a:pPr>
            <a:r>
              <a:rPr lang="en-US" altLang="zh-CN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时钟周期</a:t>
            </a: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 </a:t>
            </a:r>
            <a:r>
              <a:rPr lang="en-US" altLang="zh-CN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 </a:t>
            </a:r>
            <a:r>
              <a:rPr lang="en-US" altLang="zh-CN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通常称为</a:t>
            </a:r>
            <a:r>
              <a:rPr lang="zh-CN" altLang="en-US" sz="2800" u="sng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节拍脉冲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或</a:t>
            </a:r>
            <a:r>
              <a:rPr lang="en-US" altLang="zh-CN" sz="2800" u="sng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T</a:t>
            </a:r>
            <a:r>
              <a:rPr lang="zh-CN" altLang="en-US" sz="2800" u="sng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周期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。一个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周期包含若干个时钟周期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T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，它是处理操作的最基本单位。时钟周期通常定义为机器主频的倒数。</a:t>
            </a:r>
            <a:endParaRPr lang="en-US" altLang="zh-CN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606" name="Text Box 8"/>
          <p:cNvSpPr txBox="1">
            <a:spLocks noChangeArrowheads="1"/>
          </p:cNvSpPr>
          <p:nvPr/>
        </p:nvSpPr>
        <p:spPr bwMode="auto">
          <a:xfrm>
            <a:off x="250825" y="5115198"/>
            <a:ext cx="8642350" cy="1554162"/>
          </a:xfrm>
          <a:prstGeom prst="rect">
            <a:avLst/>
          </a:prstGeom>
          <a:solidFill>
            <a:srgbClr val="FFFF66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u="sng">
                <a:solidFill>
                  <a:srgbClr val="800000"/>
                </a:solidFill>
                <a:latin typeface="楷体_GB2312" pitchFamily="49" charset="-122"/>
                <a:ea typeface="楷体_GB2312" pitchFamily="49" charset="-122"/>
              </a:rPr>
              <a:t>相互关系</a:t>
            </a:r>
            <a:r>
              <a:rPr lang="zh-CN" altLang="en-US" sz="2800">
                <a:solidFill>
                  <a:srgbClr val="800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800">
                <a:solidFill>
                  <a:srgbClr val="000000"/>
                </a:solidFill>
                <a:ea typeface="楷体_GB2312" pitchFamily="49" charset="-122"/>
              </a:rPr>
              <a:t>   </a:t>
            </a: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     </a:t>
            </a:r>
            <a:r>
              <a:rPr lang="zh-CN" altLang="en-US" sz="2800">
                <a:solidFill>
                  <a:srgbClr val="008000"/>
                </a:solidFill>
                <a:ea typeface="楷体_GB2312" pitchFamily="49" charset="-122"/>
              </a:rPr>
              <a:t>   </a:t>
            </a:r>
            <a:r>
              <a:rPr lang="zh-CN" altLang="en-US" sz="28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个指令周期 </a:t>
            </a:r>
            <a:r>
              <a:rPr lang="en-US" altLang="zh-CN" sz="280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= </a:t>
            </a:r>
            <a:r>
              <a:rPr lang="zh-CN" altLang="en-US" sz="280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若干个</a:t>
            </a:r>
            <a:r>
              <a:rPr lang="en-US" altLang="zh-CN" sz="280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周期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2800">
              <a:solidFill>
                <a:srgbClr val="008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sz="2800">
                <a:solidFill>
                  <a:srgbClr val="008000"/>
                </a:solidFill>
                <a:ea typeface="楷体_GB2312" pitchFamily="49" charset="-122"/>
              </a:rPr>
              <a:t>           </a:t>
            </a:r>
            <a:r>
              <a:rPr lang="zh-CN" altLang="en-US" sz="280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en-US" altLang="zh-CN" sz="280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周期 </a:t>
            </a:r>
            <a:r>
              <a:rPr lang="en-US" altLang="zh-CN" sz="280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= </a:t>
            </a:r>
            <a:r>
              <a:rPr lang="zh-CN" altLang="en-US" sz="280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若干</a:t>
            </a:r>
            <a:r>
              <a:rPr lang="en-US" altLang="zh-CN" sz="280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T</a:t>
            </a:r>
            <a:r>
              <a:rPr lang="zh-CN" altLang="en-US" sz="280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周期</a:t>
            </a:r>
            <a:r>
              <a:rPr lang="zh-CN" altLang="en-US" sz="2800">
                <a:solidFill>
                  <a:srgbClr val="FF0033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25607" name="AutoShape 9"/>
          <p:cNvSpPr>
            <a:spLocks noChangeArrowheads="1"/>
          </p:cNvSpPr>
          <p:nvPr/>
        </p:nvSpPr>
        <p:spPr bwMode="auto">
          <a:xfrm>
            <a:off x="3851275" y="1557338"/>
            <a:ext cx="3889375" cy="576262"/>
          </a:xfrm>
          <a:prstGeom prst="wedgeRoundRectCallout">
            <a:avLst>
              <a:gd name="adj1" fmla="val -84653"/>
              <a:gd name="adj2" fmla="val -74792"/>
              <a:gd name="adj3" fmla="val 16667"/>
            </a:avLst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sz="2400">
                <a:solidFill>
                  <a:srgbClr val="000000"/>
                </a:solidFill>
                <a:latin typeface="Arial" charset="0"/>
                <a:ea typeface="宋体" charset="-122"/>
              </a:rPr>
              <a:t>取指时间＋执行指令时间</a:t>
            </a:r>
          </a:p>
        </p:txBody>
      </p:sp>
    </p:spTree>
    <p:extLst>
      <p:ext uri="{BB962C8B-B14F-4D97-AF65-F5344CB8AC3E}">
        <p14:creationId xmlns:p14="http://schemas.microsoft.com/office/powerpoint/2010/main" val="37662979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图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5.3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展示了采用定长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周期的指令周期示意图。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从这个例子可以看出，取出和执行任何一条指令所需要的最短时间为两个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</a:t>
            </a: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0" dirty="0">
                <a:latin typeface="楷体_GB2312" pitchFamily="49" charset="-122"/>
                <a:ea typeface="楷体_GB2312" pitchFamily="49" charset="-122"/>
              </a:rPr>
              <a:t>5.3.1  </a:t>
            </a:r>
            <a:r>
              <a:rPr lang="zh-CN" altLang="en-US" sz="1800" b="0" dirty="0">
                <a:latin typeface="楷体_GB2312" pitchFamily="49" charset="-122"/>
                <a:ea typeface="楷体_GB2312" pitchFamily="49" charset="-122"/>
              </a:rPr>
              <a:t>指令周期的基本概念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12989735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dministrator\AppData\Local\Temp\mx35BF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38" y="1268760"/>
            <a:ext cx="8994767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76"/>
          <p:cNvSpPr>
            <a:spLocks noChangeArrowheads="1"/>
          </p:cNvSpPr>
          <p:nvPr/>
        </p:nvSpPr>
        <p:spPr bwMode="auto">
          <a:xfrm>
            <a:off x="971550" y="260350"/>
            <a:ext cx="7848922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15000"/>
              </a:lnSpc>
              <a:spcBef>
                <a:spcPct val="20000"/>
              </a:spcBef>
            </a:pP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指令周期 </a:t>
            </a:r>
            <a:r>
              <a:rPr lang="en-US" altLang="zh-CN" sz="3600" b="1" dirty="0">
                <a:solidFill>
                  <a:srgbClr val="000000"/>
                </a:solidFill>
                <a:ea typeface="楷体_GB2312" pitchFamily="49" charset="-122"/>
              </a:rPr>
              <a:t>·</a:t>
            </a:r>
            <a:r>
              <a:rPr lang="en-US" altLang="zh-CN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CPU</a:t>
            </a: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周期 </a:t>
            </a:r>
            <a:r>
              <a:rPr lang="en-US" altLang="zh-CN" sz="3600" b="1" dirty="0">
                <a:solidFill>
                  <a:srgbClr val="000000"/>
                </a:solidFill>
                <a:ea typeface="楷体_GB2312" pitchFamily="49" charset="-122"/>
              </a:rPr>
              <a:t>·</a:t>
            </a:r>
            <a:r>
              <a:rPr lang="en-US" altLang="zh-CN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时钟周期</a:t>
            </a:r>
          </a:p>
        </p:txBody>
      </p:sp>
    </p:spTree>
    <p:extLst>
      <p:ext uri="{BB962C8B-B14F-4D97-AF65-F5344CB8AC3E}">
        <p14:creationId xmlns:p14="http://schemas.microsoft.com/office/powerpoint/2010/main" val="7892769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5.3.1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指令周期的基本概念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单周期、多周期</a:t>
            </a:r>
            <a:endParaRPr lang="en-US" altLang="zh-CN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所谓单周期，就是在一个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周期中完成取指和执行操作（少数指令可实现）。大多数指令需要在多个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周期中完成指令周期的全部操作。</a:t>
            </a:r>
            <a:endParaRPr lang="en-US" altLang="zh-CN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表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5.1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列出了由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条指令组成的一个简单程序。这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条指令是有意安排的，因为它们是非常典型的，既有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RR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型指令，又有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RS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型指令；既有算术逻辑指令，又有访存指令，还有程序转移指令。</a:t>
            </a:r>
            <a:endParaRPr lang="en-US" altLang="zh-CN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	</a:t>
            </a:r>
          </a:p>
          <a:p>
            <a:pPr eaLnBrk="1" hangingPunct="1">
              <a:buNone/>
            </a:pP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142751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796626"/>
              </p:ext>
            </p:extLst>
          </p:nvPr>
        </p:nvGraphicFramePr>
        <p:xfrm>
          <a:off x="35868" y="931640"/>
          <a:ext cx="9216652" cy="54496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1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6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90">
                <a:tc rowSpan="2">
                  <a:txBody>
                    <a:bodyPr/>
                    <a:lstStyle/>
                    <a:p>
                      <a:r>
                        <a:rPr lang="zh-CN" altLang="en-US" dirty="0"/>
                        <a:t>指令存储器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八进制地址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指令助记符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7614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</a:p>
                    <a:p>
                      <a:r>
                        <a:rPr lang="en-US" altLang="zh-CN" dirty="0"/>
                        <a:t>101</a:t>
                      </a:r>
                    </a:p>
                    <a:p>
                      <a:r>
                        <a:rPr lang="en-US" altLang="zh-CN" dirty="0"/>
                        <a:t>102</a:t>
                      </a:r>
                    </a:p>
                    <a:p>
                      <a:r>
                        <a:rPr lang="en-US" altLang="zh-CN" dirty="0"/>
                        <a:t>103</a:t>
                      </a:r>
                    </a:p>
                    <a:p>
                      <a:r>
                        <a:rPr lang="en-US" altLang="zh-CN" dirty="0"/>
                        <a:t>104</a:t>
                      </a:r>
                    </a:p>
                    <a:p>
                      <a:r>
                        <a:rPr lang="en-US" altLang="zh-CN" dirty="0"/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dirty="0"/>
                    </a:p>
                    <a:p>
                      <a:r>
                        <a:rPr lang="en-US" altLang="zh-CN" dirty="0"/>
                        <a:t>MOV</a:t>
                      </a:r>
                      <a:r>
                        <a:rPr lang="en-US" altLang="zh-CN" baseline="0" dirty="0"/>
                        <a:t> </a:t>
                      </a:r>
                      <a:r>
                        <a:rPr lang="en-US" altLang="zh-CN" dirty="0"/>
                        <a:t>R0,R1</a:t>
                      </a:r>
                    </a:p>
                    <a:p>
                      <a:r>
                        <a:rPr lang="en-US" altLang="zh-CN" dirty="0"/>
                        <a:t>LAD   R1,6</a:t>
                      </a:r>
                    </a:p>
                    <a:p>
                      <a:r>
                        <a:rPr lang="en-US" altLang="zh-CN" dirty="0"/>
                        <a:t>ADD</a:t>
                      </a:r>
                      <a:r>
                        <a:rPr lang="en-US" altLang="zh-CN" baseline="0" dirty="0"/>
                        <a:t>  R1,R2</a:t>
                      </a:r>
                    </a:p>
                    <a:p>
                      <a:r>
                        <a:rPr lang="en-US" altLang="zh-CN" baseline="0" dirty="0"/>
                        <a:t>STO   R2,(R3)</a:t>
                      </a:r>
                    </a:p>
                    <a:p>
                      <a:r>
                        <a:rPr lang="en-US" altLang="zh-CN" baseline="0" dirty="0"/>
                        <a:t>JMP  101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 </a:t>
                      </a:r>
                      <a:r>
                        <a:rPr lang="zh-CN" altLang="en-US" dirty="0"/>
                        <a:t>程序执行前</a:t>
                      </a:r>
                      <a:r>
                        <a:rPr lang="en-US" altLang="zh-CN" dirty="0"/>
                        <a:t>(R0)=00,(R1)=10, (R2)=10, ,(R3)=30</a:t>
                      </a:r>
                    </a:p>
                    <a:p>
                      <a:r>
                        <a:rPr lang="en-US" altLang="zh-CN" dirty="0"/>
                        <a:t>2. </a:t>
                      </a:r>
                      <a:r>
                        <a:rPr lang="zh-CN" altLang="en-US" dirty="0"/>
                        <a:t>传送指令</a:t>
                      </a:r>
                      <a:r>
                        <a:rPr lang="en-US" altLang="zh-CN" dirty="0"/>
                        <a:t>MOV</a:t>
                      </a:r>
                      <a:r>
                        <a:rPr lang="zh-CN" altLang="en-US" dirty="0"/>
                        <a:t>执行</a:t>
                      </a:r>
                      <a:r>
                        <a:rPr lang="en-US" altLang="zh-CN" dirty="0"/>
                        <a:t>(R1)</a:t>
                      </a:r>
                      <a:r>
                        <a:rPr lang="zh-CN" altLang="en-US" dirty="0"/>
                        <a:t>→</a:t>
                      </a:r>
                      <a:r>
                        <a:rPr lang="en-US" altLang="zh-CN" dirty="0"/>
                        <a:t>R0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3. </a:t>
                      </a:r>
                      <a:r>
                        <a:rPr lang="zh-CN" altLang="en-US" dirty="0"/>
                        <a:t>取数指令</a:t>
                      </a:r>
                      <a:r>
                        <a:rPr lang="en-US" altLang="zh-CN" dirty="0"/>
                        <a:t>LAD</a:t>
                      </a:r>
                      <a:r>
                        <a:rPr lang="zh-CN" altLang="en-US" dirty="0"/>
                        <a:t>从数存</a:t>
                      </a:r>
                      <a:r>
                        <a:rPr lang="en-US" altLang="zh-CN" dirty="0"/>
                        <a:t>6</a:t>
                      </a:r>
                      <a:r>
                        <a:rPr lang="zh-CN" altLang="en-US" dirty="0"/>
                        <a:t>号单元取数（</a:t>
                      </a:r>
                      <a:r>
                        <a:rPr lang="en-US" altLang="zh-CN" dirty="0"/>
                        <a:t>100</a:t>
                      </a:r>
                      <a:r>
                        <a:rPr lang="zh-CN" altLang="en-US" dirty="0"/>
                        <a:t>）→</a:t>
                      </a:r>
                      <a:r>
                        <a:rPr lang="en-US" altLang="zh-CN" dirty="0"/>
                        <a:t>R1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4.</a:t>
                      </a:r>
                      <a:r>
                        <a:rPr lang="zh-CN" altLang="en-US" dirty="0"/>
                        <a:t>加法指令</a:t>
                      </a:r>
                      <a:r>
                        <a:rPr lang="en-US" altLang="zh-CN" dirty="0"/>
                        <a:t>ADD</a:t>
                      </a:r>
                      <a:r>
                        <a:rPr lang="zh-CN" altLang="en-US" dirty="0"/>
                        <a:t>执行</a:t>
                      </a:r>
                      <a:r>
                        <a:rPr lang="en-US" altLang="zh-CN" dirty="0"/>
                        <a:t>(R1)+(R2)=R2,</a:t>
                      </a:r>
                      <a:r>
                        <a:rPr lang="zh-CN" altLang="en-US" dirty="0"/>
                        <a:t>结果</a:t>
                      </a:r>
                      <a:r>
                        <a:rPr lang="en-US" altLang="zh-CN" dirty="0"/>
                        <a:t>(R2)=120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5.</a:t>
                      </a:r>
                      <a:r>
                        <a:rPr lang="zh-CN" altLang="en-US" dirty="0"/>
                        <a:t>存数指令</a:t>
                      </a:r>
                      <a:r>
                        <a:rPr lang="en-US" altLang="zh-CN" dirty="0"/>
                        <a:t>STO</a:t>
                      </a:r>
                      <a:r>
                        <a:rPr lang="zh-CN" altLang="en-US" dirty="0"/>
                        <a:t>用</a:t>
                      </a:r>
                      <a:r>
                        <a:rPr lang="en-US" altLang="zh-CN" dirty="0"/>
                        <a:t>(R3)</a:t>
                      </a:r>
                      <a:r>
                        <a:rPr lang="zh-CN" altLang="en-US" dirty="0"/>
                        <a:t>间接寻址，</a:t>
                      </a:r>
                      <a:r>
                        <a:rPr lang="en-US" altLang="zh-CN" dirty="0"/>
                        <a:t>(R2)=120</a:t>
                      </a:r>
                      <a:r>
                        <a:rPr lang="zh-CN" altLang="en-US" dirty="0"/>
                        <a:t>写入数存</a:t>
                      </a:r>
                      <a:r>
                        <a:rPr lang="en-US" altLang="zh-CN" dirty="0"/>
                        <a:t>30</a:t>
                      </a:r>
                      <a:r>
                        <a:rPr lang="zh-CN" altLang="en-US" dirty="0"/>
                        <a:t>单元</a:t>
                      </a:r>
                      <a:endParaRPr lang="en-US" altLang="zh-CN" dirty="0"/>
                    </a:p>
                    <a:p>
                      <a:r>
                        <a:rPr lang="en-US" altLang="zh-CN" dirty="0"/>
                        <a:t>5.</a:t>
                      </a:r>
                      <a:r>
                        <a:rPr lang="zh-CN" altLang="en-US" dirty="0"/>
                        <a:t>转移指令</a:t>
                      </a:r>
                      <a:r>
                        <a:rPr lang="en-US" altLang="zh-CN" dirty="0"/>
                        <a:t>JMP</a:t>
                      </a:r>
                      <a:r>
                        <a:rPr lang="zh-CN" altLang="en-US" dirty="0"/>
                        <a:t>改变程序执行顺序到</a:t>
                      </a:r>
                      <a:r>
                        <a:rPr lang="en-US" altLang="zh-CN" dirty="0"/>
                        <a:t>101</a:t>
                      </a:r>
                      <a:r>
                        <a:rPr lang="zh-CN" altLang="en-US" dirty="0"/>
                        <a:t>号单元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90">
                <a:tc rowSpan="2">
                  <a:txBody>
                    <a:bodyPr/>
                    <a:lstStyle/>
                    <a:p>
                      <a:r>
                        <a:rPr lang="zh-CN" altLang="en-US" dirty="0"/>
                        <a:t>数据存储器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八进制地址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八进制数据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4694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</a:p>
                    <a:p>
                      <a:r>
                        <a:rPr lang="en-US" altLang="zh-CN" dirty="0"/>
                        <a:t>6</a:t>
                      </a:r>
                    </a:p>
                    <a:p>
                      <a:r>
                        <a:rPr lang="en-US" altLang="zh-CN" dirty="0"/>
                        <a:t>7</a:t>
                      </a:r>
                    </a:p>
                    <a:p>
                      <a:r>
                        <a:rPr lang="en-US" altLang="zh-CN" dirty="0"/>
                        <a:t>10</a:t>
                      </a:r>
                    </a:p>
                    <a:p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70</a:t>
                      </a:r>
                    </a:p>
                    <a:p>
                      <a:r>
                        <a:rPr lang="en-US" altLang="zh-CN" dirty="0"/>
                        <a:t>100</a:t>
                      </a:r>
                    </a:p>
                    <a:p>
                      <a:r>
                        <a:rPr lang="en-US" altLang="zh-CN" dirty="0"/>
                        <a:t>66</a:t>
                      </a:r>
                    </a:p>
                    <a:p>
                      <a:r>
                        <a:rPr lang="en-US" altLang="zh-CN" dirty="0"/>
                        <a:t>77</a:t>
                      </a:r>
                    </a:p>
                    <a:p>
                      <a:r>
                        <a:rPr lang="en-US" altLang="zh-CN" dirty="0"/>
                        <a:t>40(120)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dirty="0"/>
                    </a:p>
                    <a:p>
                      <a:r>
                        <a:rPr lang="zh-CN" altLang="en-US" dirty="0"/>
                        <a:t>执行</a:t>
                      </a:r>
                      <a:r>
                        <a:rPr lang="en-US" altLang="zh-CN" dirty="0"/>
                        <a:t>LAD</a:t>
                      </a:r>
                      <a:r>
                        <a:rPr lang="zh-CN" altLang="en-US" dirty="0"/>
                        <a:t>指令后，数存</a:t>
                      </a:r>
                      <a:r>
                        <a:rPr lang="en-US" altLang="zh-CN" dirty="0"/>
                        <a:t>6</a:t>
                      </a:r>
                      <a:r>
                        <a:rPr lang="zh-CN" altLang="en-US" dirty="0"/>
                        <a:t>号单元的数据</a:t>
                      </a:r>
                      <a:r>
                        <a:rPr lang="en-US" altLang="zh-CN" dirty="0"/>
                        <a:t>100</a:t>
                      </a:r>
                      <a:r>
                        <a:rPr lang="zh-CN" altLang="en-US" dirty="0"/>
                        <a:t>仍保存在其中</a:t>
                      </a:r>
                      <a:endParaRPr lang="en-US" altLang="zh-CN" dirty="0"/>
                    </a:p>
                    <a:p>
                      <a:endParaRPr lang="en-US" altLang="zh-CN" dirty="0"/>
                    </a:p>
                    <a:p>
                      <a:endParaRPr lang="en-US" altLang="zh-CN" dirty="0"/>
                    </a:p>
                    <a:p>
                      <a:r>
                        <a:rPr lang="zh-CN" altLang="en-US" dirty="0"/>
                        <a:t>执行</a:t>
                      </a:r>
                      <a:r>
                        <a:rPr lang="en-US" altLang="zh-CN" dirty="0"/>
                        <a:t>STO</a:t>
                      </a:r>
                      <a:r>
                        <a:rPr lang="zh-CN" altLang="en-US" dirty="0"/>
                        <a:t>指令后，数存</a:t>
                      </a:r>
                      <a:r>
                        <a:rPr lang="en-US" altLang="zh-CN" dirty="0"/>
                        <a:t>30</a:t>
                      </a:r>
                      <a:r>
                        <a:rPr lang="zh-CN" altLang="en-US" dirty="0"/>
                        <a:t>号单元的数据由</a:t>
                      </a:r>
                      <a:r>
                        <a:rPr lang="en-US" altLang="zh-CN" dirty="0"/>
                        <a:t>40</a:t>
                      </a:r>
                      <a:r>
                        <a:rPr lang="zh-CN" altLang="en-US" dirty="0"/>
                        <a:t>变为</a:t>
                      </a:r>
                      <a:r>
                        <a:rPr lang="en-US" altLang="zh-CN" dirty="0"/>
                        <a:t>120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Rectangle 97"/>
          <p:cNvSpPr>
            <a:spLocks noChangeArrowheads="1"/>
          </p:cNvSpPr>
          <p:nvPr/>
        </p:nvSpPr>
        <p:spPr bwMode="auto">
          <a:xfrm>
            <a:off x="1403350" y="188913"/>
            <a:ext cx="70570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表</a:t>
            </a:r>
            <a:r>
              <a:rPr lang="en-US" altLang="zh-CN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5.1 </a:t>
            </a:r>
            <a:r>
              <a:rPr lang="zh-CN" altLang="en-US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五条典型指令构成的一个简单程序</a:t>
            </a:r>
          </a:p>
        </p:txBody>
      </p:sp>
    </p:spTree>
    <p:extLst>
      <p:ext uri="{BB962C8B-B14F-4D97-AF65-F5344CB8AC3E}">
        <p14:creationId xmlns:p14="http://schemas.microsoft.com/office/powerpoint/2010/main" val="88641014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我们将在下面通过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取出一条指令并执行这条指令的分解动作，来具体认识每条指令的指令周期。</a:t>
            </a:r>
            <a:endParaRPr lang="en-US" altLang="zh-CN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注意：这里介绍的是有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Cache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执行指令的过程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(CPU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模型，就是本节开始时候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介绍的那个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模型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eaLnBrk="1" hangingPunct="1">
              <a:buNone/>
            </a:pPr>
            <a:endParaRPr lang="en-US" altLang="zh-CN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endParaRPr lang="en-US" altLang="zh-CN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0" dirty="0">
                <a:latin typeface="楷体_GB2312" pitchFamily="49" charset="-122"/>
                <a:ea typeface="楷体_GB2312" pitchFamily="49" charset="-122"/>
              </a:rPr>
              <a:t>5.3.1  </a:t>
            </a:r>
            <a:r>
              <a:rPr lang="zh-CN" altLang="en-US" sz="1800" b="0" dirty="0">
                <a:latin typeface="楷体_GB2312" pitchFamily="49" charset="-122"/>
                <a:ea typeface="楷体_GB2312" pitchFamily="49" charset="-122"/>
              </a:rPr>
              <a:t>指令周期的基本概念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172039998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1.MOV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指令的指令周期</a:t>
            </a: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MOV(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传送指令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是一条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RR(</a:t>
            </a:r>
            <a:r>
              <a:rPr lang="zh-CN" altLang="en-US" sz="28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寄存器到寄存器</a:t>
            </a:r>
            <a:r>
              <a:rPr lang="en-US" altLang="zh-CN" sz="28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型指令，其指令周期如图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5.4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所示。它需要两个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周期，其中取指周期需要一个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周期，执行周期需要一个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需要执行的指令：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MOV R0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R1----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说明：传送指令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MOV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执行（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R0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800" dirty="0">
                <a:solidFill>
                  <a:schemeClr val="tx2"/>
                </a:solidFill>
                <a:latin typeface="Calibri"/>
                <a:ea typeface="楷体_GB2312" pitchFamily="49" charset="-122"/>
                <a:cs typeface="Calibri"/>
              </a:rPr>
              <a:t>→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R1</a:t>
            </a:r>
            <a:endParaRPr lang="zh-CN" altLang="en-US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276142751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05" y="63721"/>
            <a:ext cx="8587589" cy="673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63720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取指周期中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完成三件事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：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Wingdings" pitchFamily="2" charset="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）从指存取出指令；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Wingdings" pitchFamily="2" charset="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）对程序计数器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PC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加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，以便为取下一条指令做好准备；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Wingdings" pitchFamily="2" charset="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3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）对指令操作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码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进行译码或测试，以便确定进行什么操作。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Wingdings" pitchFamily="2" charset="2"/>
            </a:endParaRPr>
          </a:p>
          <a:p>
            <a:pPr eaLnBrk="1" hangingPunct="1">
              <a:buNone/>
            </a:pP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276142751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执行周期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根据对指令操作码的译码或测试，进行指令所要求的操作。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对于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MOV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指令来说，执行周期中要完成两个通用寄存器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baseline="-25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之间的数据传送操作。由于时间充足，执行周期只需要一个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78927697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MOV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指令的取指周期和执行周期中，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相关动作如下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eaLnBrk="1" hangingPunct="1"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）取指周期</a:t>
            </a: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第一条指令的取指周期示于图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5.5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。假定表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的程序已经装入指存中，因而在此阶段内，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的动作如下：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163083768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71682" name="Picture 2" descr="E:\Pic\Mov指令取指周期.pn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281250" y="44625"/>
            <a:ext cx="8544094" cy="670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右箭头 3">
            <a:hlinkClick r:id="rId3" action="ppaction://hlinkfile"/>
          </p:cNvPr>
          <p:cNvSpPr/>
          <p:nvPr/>
        </p:nvSpPr>
        <p:spPr>
          <a:xfrm>
            <a:off x="7740352" y="6286665"/>
            <a:ext cx="1422376" cy="59871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演示动画</a:t>
            </a:r>
          </a:p>
        </p:txBody>
      </p:sp>
    </p:spTree>
    <p:extLst>
      <p:ext uri="{BB962C8B-B14F-4D97-AF65-F5344CB8AC3E}">
        <p14:creationId xmlns:p14="http://schemas.microsoft.com/office/powerpoint/2010/main" val="78927697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）程序计数器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PC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中装入第一条指令地址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101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（八进制）；</a:t>
            </a:r>
            <a:endParaRPr lang="en-US" altLang="zh-CN" sz="24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PC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的内容被放到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指令地址总线</a:t>
            </a:r>
            <a:r>
              <a:rPr lang="en-US" altLang="zh-CN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ABUS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上，对指存进行译码，并启动读命令；</a:t>
            </a:r>
            <a:endParaRPr lang="en-US" altLang="zh-CN" sz="24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）从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101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号地址读出的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MOV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指令通过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指令总线</a:t>
            </a:r>
            <a:r>
              <a:rPr lang="en-US" altLang="zh-CN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IBUS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装入指令寄存器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IR</a:t>
            </a:r>
          </a:p>
          <a:p>
            <a:pPr eaLnBrk="1" hangingPunct="1">
              <a:buNone/>
            </a:pP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）程序计数器内容加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，变成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102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，为取下一条指令做好准备</a:t>
            </a:r>
            <a:endParaRPr lang="en-US" altLang="zh-CN" sz="24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）指令寄存器中的操作码（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OP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）被译码</a:t>
            </a:r>
            <a:endParaRPr lang="en-US" altLang="zh-CN" sz="24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识别出是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MOV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指令。至此，取指周期即告结束。</a:t>
            </a:r>
            <a:endParaRPr lang="en-US" altLang="zh-CN" sz="24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备注：</a:t>
            </a:r>
            <a:endParaRPr lang="en-US" altLang="zh-CN" sz="24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、数据地址总线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ABUS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）向数存传送地址，指令地址总线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ABUS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）向指存传送地址。</a:t>
            </a:r>
            <a:endParaRPr lang="en-US" altLang="zh-CN" sz="24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从数存中取出数据，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IBUS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从指存中取出数据</a:t>
            </a:r>
          </a:p>
          <a:p>
            <a:pPr eaLnBrk="1" hangingPunct="1">
              <a:buNone/>
            </a:pPr>
            <a:endParaRPr lang="zh-CN" altLang="en-US" sz="24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78927697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）执行指令阶段（执行周期）</a:t>
            </a: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MOV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指令的执行周期示于图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5.6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中，在此阶段，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的动作如下：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）操作控制器（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）送出控制信号到通用寄存器，选择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）作源寄存器，选择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作目标寄存器；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送出控制信号到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ALU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，指定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ALU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做传送操作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送出控制信号，打开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ALU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输出三态门，将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ALU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的输出送到数据总线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上；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注意：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DBUS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是单总线结构，任何时候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上只能有一个数据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373698073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送出控制信号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将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上的数据打入到数据缓冲寄存器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DR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）；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送出控制信号，将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DR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中的数据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打入到目标寄存器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的内容由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00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变为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至此，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MOV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指令执行结束。</a:t>
            </a:r>
            <a:endParaRPr lang="en-US" altLang="zh-CN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373698073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4" name="Picture 3" descr="C:\Users\Administrator\AppData\Local\Temp\mx3EB30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4" y="79570"/>
            <a:ext cx="8439900" cy="66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右箭头 4">
            <a:hlinkClick r:id="rId3" action="ppaction://hlinkfile"/>
          </p:cNvPr>
          <p:cNvSpPr/>
          <p:nvPr/>
        </p:nvSpPr>
        <p:spPr>
          <a:xfrm>
            <a:off x="7740352" y="6286665"/>
            <a:ext cx="1422376" cy="59871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演示动画</a:t>
            </a:r>
          </a:p>
        </p:txBody>
      </p:sp>
    </p:spTree>
    <p:extLst>
      <p:ext uri="{BB962C8B-B14F-4D97-AF65-F5344CB8AC3E}">
        <p14:creationId xmlns:p14="http://schemas.microsoft.com/office/powerpoint/2010/main" val="23560514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4" name="Picture 3" descr="C:\Users\Administrator\AppData\Local\Temp\mx3F973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85" y="59597"/>
            <a:ext cx="8370903" cy="66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256338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lvl="0" eaLnBrk="1" hangingPunct="1">
              <a:buClr>
                <a:srgbClr val="969696"/>
              </a:buClr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2.LAD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指令的指令周期</a:t>
            </a:r>
            <a:endParaRPr lang="en-US" altLang="zh-CN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0" eaLnBrk="1" hangingPunct="1">
              <a:buClr>
                <a:srgbClr val="969696"/>
              </a:buClr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LAD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（取数）指令是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RS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型指令。需要执行的指令如下：</a:t>
            </a:r>
            <a:endParaRPr lang="en-US" altLang="zh-CN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0" eaLnBrk="1" hangingPunct="1">
              <a:buClr>
                <a:srgbClr val="969696"/>
              </a:buClr>
              <a:buNone/>
            </a:pP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LAD R1,6----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说明：取数指令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LAD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从数存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号单元取数（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100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800" dirty="0">
                <a:solidFill>
                  <a:srgbClr val="000000"/>
                </a:solidFill>
                <a:latin typeface="Calibri"/>
                <a:ea typeface="楷体_GB2312" pitchFamily="49" charset="-122"/>
                <a:cs typeface="Calibri"/>
              </a:rPr>
              <a:t>→</a:t>
            </a:r>
            <a:r>
              <a:rPr lang="en-US" altLang="zh-CN" sz="2800" dirty="0">
                <a:solidFill>
                  <a:srgbClr val="000000"/>
                </a:solidFill>
                <a:latin typeface="Calibri"/>
                <a:ea typeface="楷体_GB2312" pitchFamily="49" charset="-122"/>
                <a:cs typeface="Calibri"/>
              </a:rPr>
              <a:t>R1</a:t>
            </a:r>
            <a:r>
              <a:rPr lang="zh-CN" altLang="en-US" sz="2800" dirty="0">
                <a:solidFill>
                  <a:srgbClr val="000000"/>
                </a:solidFill>
                <a:latin typeface="Calibri"/>
                <a:ea typeface="楷体_GB2312" pitchFamily="49" charset="-122"/>
                <a:cs typeface="Calibri"/>
              </a:rPr>
              <a:t>。</a:t>
            </a:r>
            <a:endParaRPr lang="en-US" altLang="zh-CN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0" eaLnBrk="1" hangingPunct="1">
              <a:buClr>
                <a:srgbClr val="969696"/>
              </a:buClr>
              <a:buNone/>
            </a:pP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它先从指令存储器取出指令，然后从数据存储器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号单元取出数据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100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，装入通用寄存器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，原来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中存放的数据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被更换成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100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0" eaLnBrk="1" hangingPunct="1">
              <a:buClr>
                <a:srgbClr val="969696"/>
              </a:buClr>
              <a:buNone/>
            </a:pP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349286837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lvl="0" eaLnBrk="1" hangingPunct="1">
              <a:buClr>
                <a:srgbClr val="969696"/>
              </a:buClr>
              <a:buNone/>
            </a:pP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由于一次访问指存（取指令，占用一个周期）；一次访问数存（送操作数地址，占用一个周期）；执行指令（取操作数，并装入通用寄存器，占用一个周期）；所以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LAD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指令的指令周期需要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周期，其中执行周期为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周期，如图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5.7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所示：</a:t>
            </a:r>
          </a:p>
          <a:p>
            <a:pPr eaLnBrk="1" hangingPunct="1">
              <a:buNone/>
            </a:pP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79820087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76400" y="381000"/>
            <a:ext cx="7467600" cy="762000"/>
          </a:xfrm>
        </p:spPr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74754" name="Picture 2" descr="E:\Pic\图_STO指令的指令周期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4624"/>
            <a:ext cx="8496944" cy="6319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979712" y="6309321"/>
            <a:ext cx="4608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图</a:t>
            </a:r>
            <a:r>
              <a:rPr lang="en-US" altLang="zh-CN" dirty="0">
                <a:solidFill>
                  <a:schemeClr val="tx1"/>
                </a:solidFill>
              </a:rPr>
              <a:t>5.7 LAD</a:t>
            </a:r>
            <a:r>
              <a:rPr lang="zh-CN" altLang="en-US" dirty="0">
                <a:solidFill>
                  <a:schemeClr val="tx1"/>
                </a:solidFill>
              </a:rPr>
              <a:t>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349286837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LAD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指令的取指周期和执行周期中，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相关动作如下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eaLnBrk="1" hangingPunct="1"/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LAD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（取数）指令的取指周期</a:t>
            </a: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LAD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指令的取指周期中，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的动作完全与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MOV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指令取指周期中一样，只是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提供的指令地址为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102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，按此地址从指令存储器读出“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LDA R1,6”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指令放入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IR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中，然后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PC+1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，使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内容变成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103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，为取下条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ADD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指令做好准备。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以下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ADD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STO</a:t>
            </a:r>
            <a:r>
              <a:rPr lang="zh-CN" altLang="en-US" sz="1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JMP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三条指令的取指周期中，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的动作完全与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MOV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指令一样，不再细述。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349286837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4" name="Picture 3" descr="C:\Users\Administrator\AppData\Local\Temp\mx37D8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701" y="81368"/>
            <a:ext cx="8539771" cy="66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右箭头 4">
            <a:hlinkClick r:id="rId3" action="ppaction://hlinkfile"/>
          </p:cNvPr>
          <p:cNvSpPr/>
          <p:nvPr/>
        </p:nvSpPr>
        <p:spPr>
          <a:xfrm>
            <a:off x="7740352" y="6286665"/>
            <a:ext cx="1422376" cy="59871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演示动画</a:t>
            </a:r>
          </a:p>
        </p:txBody>
      </p:sp>
    </p:spTree>
    <p:extLst>
      <p:ext uri="{BB962C8B-B14F-4D97-AF65-F5344CB8AC3E}">
        <p14:creationId xmlns:p14="http://schemas.microsoft.com/office/powerpoint/2010/main" val="349286837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lvl="0" eaLnBrk="1" hangingPunct="1">
              <a:buClr>
                <a:srgbClr val="969696"/>
              </a:buClr>
            </a:pP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LAD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（取数）指令的执行周期</a:t>
            </a:r>
            <a:endParaRPr lang="en-US" altLang="zh-CN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0" eaLnBrk="1" hangingPunct="1">
              <a:buClr>
                <a:srgbClr val="969696"/>
              </a:buClr>
              <a:buNone/>
            </a:pP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LAD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指令的执行周期见图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5.8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所示。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执行的动作如下：</a:t>
            </a:r>
            <a:endParaRPr lang="en-US" altLang="zh-CN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0" eaLnBrk="1" hangingPunct="1">
              <a:buClr>
                <a:srgbClr val="969696"/>
              </a:buClr>
              <a:buNone/>
            </a:pP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）操作控制器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发出控制命令，打开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IR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输出三态门，将指令中的直接地址码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放到数据总线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上；</a:t>
            </a:r>
            <a:endParaRPr lang="en-US" altLang="zh-CN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0" eaLnBrk="1" hangingPunct="1">
              <a:buClr>
                <a:srgbClr val="969696"/>
              </a:buClr>
              <a:buNone/>
            </a:pP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发出操作命令，将地址码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装入到地址寄存器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AR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  <a:endParaRPr lang="en-US" altLang="zh-CN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0" eaLnBrk="1" hangingPunct="1">
              <a:buClr>
                <a:srgbClr val="969696"/>
              </a:buClr>
              <a:buNone/>
            </a:pP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发出读命令，将数存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号单元中的数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100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读出到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上；</a:t>
            </a:r>
            <a:endParaRPr lang="en-US" altLang="zh-CN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32399514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发出命令，将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上的数据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100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装入数据缓冲寄存器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DR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发出命令，将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DR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中的数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100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装入通用寄存器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原来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，中的数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被冲掉。</a:t>
            </a:r>
            <a:endParaRPr lang="en-US" altLang="zh-CN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至此，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LAD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指令执行周期结束。</a:t>
            </a:r>
            <a:endParaRPr lang="en-US" altLang="zh-CN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注意：数据总线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是单总线结构，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上分时进行了地址传送和数据传送，所以需要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周期。</a:t>
            </a: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32399514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4" name="Picture 3" descr="C:\Users\Administrator\AppData\Local\Temp\mx3860C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81368"/>
            <a:ext cx="8520383" cy="66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右箭头 4">
            <a:hlinkClick r:id="rId3" action="ppaction://hlinkfile"/>
          </p:cNvPr>
          <p:cNvSpPr/>
          <p:nvPr/>
        </p:nvSpPr>
        <p:spPr>
          <a:xfrm>
            <a:off x="7740352" y="6286665"/>
            <a:ext cx="1422376" cy="59871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演示动画</a:t>
            </a:r>
          </a:p>
        </p:txBody>
      </p:sp>
    </p:spTree>
    <p:extLst>
      <p:ext uri="{BB962C8B-B14F-4D97-AF65-F5344CB8AC3E}">
        <p14:creationId xmlns:p14="http://schemas.microsoft.com/office/powerpoint/2010/main" val="165817457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5" name="Picture 3" descr="C:\Users\Administrator\AppData\Local\Temp\mx3973C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12" y="81368"/>
            <a:ext cx="8499472" cy="66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49382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lvl="0" eaLnBrk="1" hangingPunct="1">
              <a:buClr>
                <a:srgbClr val="969696"/>
              </a:buClr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3.ADD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（加法）指令的指令周期</a:t>
            </a:r>
            <a:endParaRPr lang="en-US" altLang="zh-CN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ADD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指令是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RR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型指令。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需要执行的指令如下：</a:t>
            </a:r>
            <a:endParaRPr lang="en-US" altLang="zh-CN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ADD R1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R2---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说明：加法指令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ADD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执行（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R1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+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R2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800" dirty="0">
                <a:solidFill>
                  <a:srgbClr val="000000"/>
                </a:solidFill>
                <a:latin typeface="Calibri"/>
                <a:ea typeface="楷体_GB2312" pitchFamily="49" charset="-122"/>
                <a:cs typeface="Calibri"/>
              </a:rPr>
              <a:t>→</a:t>
            </a:r>
            <a:r>
              <a:rPr lang="en-US" altLang="zh-CN" sz="2800" dirty="0">
                <a:solidFill>
                  <a:srgbClr val="000000"/>
                </a:solidFill>
                <a:latin typeface="Calibri"/>
                <a:ea typeface="楷体_GB2312" pitchFamily="49" charset="-122"/>
                <a:cs typeface="Calibri"/>
              </a:rPr>
              <a:t>R2</a:t>
            </a:r>
            <a:r>
              <a:rPr lang="zh-CN" altLang="en-US" sz="2800" dirty="0">
                <a:solidFill>
                  <a:srgbClr val="000000"/>
                </a:solidFill>
                <a:latin typeface="Calibri"/>
                <a:ea typeface="楷体_GB2312" pitchFamily="49" charset="-122"/>
                <a:cs typeface="Calibri"/>
              </a:rPr>
              <a:t>，结果为（</a:t>
            </a:r>
            <a:r>
              <a:rPr lang="en-US" altLang="zh-CN" sz="2800" dirty="0">
                <a:solidFill>
                  <a:srgbClr val="000000"/>
                </a:solidFill>
                <a:latin typeface="Calibri"/>
                <a:ea typeface="楷体_GB2312" pitchFamily="49" charset="-122"/>
                <a:cs typeface="Calibri"/>
              </a:rPr>
              <a:t>R2</a:t>
            </a:r>
            <a:r>
              <a:rPr lang="zh-CN" altLang="en-US" sz="2800" dirty="0">
                <a:solidFill>
                  <a:srgbClr val="000000"/>
                </a:solidFill>
                <a:latin typeface="Calibri"/>
                <a:ea typeface="楷体_GB2312" pitchFamily="49" charset="-122"/>
                <a:cs typeface="Calibri"/>
              </a:rPr>
              <a:t>）</a:t>
            </a:r>
            <a:r>
              <a:rPr lang="en-US" altLang="zh-CN" sz="2800" dirty="0">
                <a:solidFill>
                  <a:srgbClr val="000000"/>
                </a:solidFill>
                <a:latin typeface="Calibri"/>
                <a:ea typeface="楷体_GB2312" pitchFamily="49" charset="-122"/>
                <a:cs typeface="Calibri"/>
              </a:rPr>
              <a:t>=120</a:t>
            </a:r>
            <a:r>
              <a:rPr lang="zh-CN" altLang="en-US" sz="2800" dirty="0">
                <a:solidFill>
                  <a:srgbClr val="000000"/>
                </a:solidFill>
                <a:latin typeface="Calibri"/>
                <a:ea typeface="楷体_GB2312" pitchFamily="49" charset="-122"/>
                <a:cs typeface="Calibri"/>
              </a:rPr>
              <a:t>，即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在运算器中用两个寄存器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的数据进行加法运算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ADD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指令周期只需要两个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周期，其中一个是取指周期，与图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5.5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相同。下面只讲执行周期，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完成的动作见图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5.9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所示：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128149382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）操作控制器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送出控制命令到通用寄存器，选择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做源寄存器，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做目标寄存器；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送出控制指令到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ALU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，指定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ALU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做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(100)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endParaRPr lang="en-US" altLang="zh-CN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20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）的加法操作</a:t>
            </a: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送出控制命令，打开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ALU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输出三态门，运算结果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120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放到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上；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送出控制指令，将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上数据打入数据缓冲寄存器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DR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ALU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产生的进位信号保存在状态寄存器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PSR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送出控制命令，将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DR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120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）装入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中原来的内容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20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被冲掉。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至此，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ADD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指令执行周期结束。</a:t>
            </a: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128149382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18" y="116632"/>
            <a:ext cx="8498702" cy="6660000"/>
          </a:xfrm>
          <a:prstGeom prst="rect">
            <a:avLst/>
          </a:prstGeom>
        </p:spPr>
      </p:pic>
      <p:sp>
        <p:nvSpPr>
          <p:cNvPr id="5" name="右箭头 4">
            <a:hlinkClick r:id="rId3" action="ppaction://hlinkfile"/>
          </p:cNvPr>
          <p:cNvSpPr/>
          <p:nvPr/>
        </p:nvSpPr>
        <p:spPr>
          <a:xfrm>
            <a:off x="7740352" y="6286665"/>
            <a:ext cx="1422376" cy="59871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演示动画</a:t>
            </a:r>
          </a:p>
        </p:txBody>
      </p:sp>
    </p:spTree>
    <p:extLst>
      <p:ext uri="{BB962C8B-B14F-4D97-AF65-F5344CB8AC3E}">
        <p14:creationId xmlns:p14="http://schemas.microsoft.com/office/powerpoint/2010/main" val="128149382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81" y="81368"/>
            <a:ext cx="8446625" cy="6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49382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70" y="119468"/>
            <a:ext cx="8466388" cy="6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49382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lvl="0" eaLnBrk="1" hangingPunct="1"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4.STO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（存数）指令的指令周期</a:t>
            </a:r>
            <a:endParaRPr lang="en-US" altLang="zh-CN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STO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指令是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RS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型指令。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需要执行的指令如下：</a:t>
            </a:r>
            <a:endParaRPr lang="en-US" altLang="zh-CN" sz="24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STO R2,(R3)----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说明：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STO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用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(R3)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间接寻址，得到一个内存单元地址，然后将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R2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内容写入到该地址指向的内存单位中。</a:t>
            </a:r>
            <a:endParaRPr lang="en-US" altLang="zh-CN" sz="24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指令整个执行过程是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它先访问指存取出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STO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指令，然后按（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400" baseline="-25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=30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地址访问数存，最后将（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400" baseline="-25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=120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写入到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30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号单元。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en-US" altLang="zh-CN" sz="24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由于一次访问指存（取指令，占用一个周期）；一次访问数存（送操作数地址，占用一个周期）；执行指令（取操作数，并写入数存，占用一个周期）；所以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STO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指令的指令周期需要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周期，其中执行周期为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周期，如图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5.10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所示。</a:t>
            </a:r>
          </a:p>
          <a:p>
            <a:pPr eaLnBrk="1" hangingPunct="1">
              <a:buNone/>
            </a:pP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128149382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725" y="0"/>
            <a:ext cx="8098551" cy="6023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67744" y="6165304"/>
            <a:ext cx="4608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图</a:t>
            </a:r>
            <a:r>
              <a:rPr lang="en-US" altLang="zh-CN" dirty="0">
                <a:solidFill>
                  <a:schemeClr val="tx1"/>
                </a:solidFill>
              </a:rPr>
              <a:t>5.10 STO</a:t>
            </a:r>
            <a:r>
              <a:rPr lang="zh-CN" altLang="en-US" dirty="0">
                <a:solidFill>
                  <a:schemeClr val="tx1"/>
                </a:solidFill>
              </a:rPr>
              <a:t>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128149382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下面也只讲执行周期，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完成的动作如图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5.11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所示：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）操作控制器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送出操作命令到通用寄存器。选择（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=30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做数据存储器的地址单元；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发出操作命令，打开通用寄存器输出三态门（不经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ALU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以节省时间），将地址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30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放到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上；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发出操作命令，将地址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30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打入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AR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，并进行数存地址译码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发出操作命令到通用寄存器，选择（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=120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，作为数存的写入数据</a:t>
            </a: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128149382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发出操作命令，打开通用寄存器输出三态门，将数据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120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放到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上；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发出操作指令，将数据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120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写入数存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30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号单元，它原先的数据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40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被冲掉。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至此，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STO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指令执行周期结束。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注意：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是单总线结构，先送地址（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30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），后送数据（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120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），必须分时传送。</a:t>
            </a: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128149382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54" y="0"/>
            <a:ext cx="8773691" cy="6858000"/>
          </a:xfrm>
          <a:prstGeom prst="rect">
            <a:avLst/>
          </a:prstGeom>
        </p:spPr>
      </p:pic>
      <p:sp>
        <p:nvSpPr>
          <p:cNvPr id="5" name="右箭头 4">
            <a:hlinkClick r:id="rId3" action="ppaction://hlinkfile"/>
          </p:cNvPr>
          <p:cNvSpPr/>
          <p:nvPr/>
        </p:nvSpPr>
        <p:spPr>
          <a:xfrm>
            <a:off x="7740352" y="6286665"/>
            <a:ext cx="1422376" cy="59871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演示动画</a:t>
            </a:r>
          </a:p>
        </p:txBody>
      </p:sp>
    </p:spTree>
    <p:extLst>
      <p:ext uri="{BB962C8B-B14F-4D97-AF65-F5344CB8AC3E}">
        <p14:creationId xmlns:p14="http://schemas.microsoft.com/office/powerpoint/2010/main" val="237148375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54" y="0"/>
            <a:ext cx="87736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48375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42" y="0"/>
            <a:ext cx="87625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48375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4" y="0"/>
            <a:ext cx="87600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48375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71" y="0"/>
            <a:ext cx="87378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48375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58" y="0"/>
            <a:ext cx="85874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91559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lvl="0" eaLnBrk="1" hangingPunct="1"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5.JMP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指令的指令周期</a:t>
            </a:r>
            <a:endParaRPr lang="en-US" altLang="zh-CN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JMP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指令是一条无条件转移指令，用来改变程序的执行顺序。指令周期为两个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周期，其中取指周期为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周期，执行周期为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周期，如图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5.12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396791559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825" y="141664"/>
            <a:ext cx="6242350" cy="6023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67744" y="6165304"/>
            <a:ext cx="4608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图</a:t>
            </a:r>
            <a:r>
              <a:rPr lang="en-US" altLang="zh-CN" dirty="0">
                <a:solidFill>
                  <a:schemeClr val="tx1"/>
                </a:solidFill>
              </a:rPr>
              <a:t>5.12 JMP</a:t>
            </a:r>
            <a:r>
              <a:rPr lang="zh-CN" altLang="en-US" dirty="0">
                <a:solidFill>
                  <a:schemeClr val="tx1"/>
                </a:solidFill>
              </a:rPr>
              <a:t>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402126300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下面也只讲执行周期，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完成的动作见图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5.13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所示。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发出操作控制命令，打开指令寄存器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IR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的输出三态门，将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IR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中的地址码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发送到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 ；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发出操作控制命令，将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上的地址吗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打入到程序计数器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中的原先内容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106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被更换。于是下一条指令不是从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106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号单元取出，而是转移到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号单元取出。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至此，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JMP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指令执行周期结束。</a:t>
            </a: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396791559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42" y="0"/>
            <a:ext cx="8762515" cy="6858000"/>
          </a:xfrm>
          <a:prstGeom prst="rect">
            <a:avLst/>
          </a:prstGeom>
        </p:spPr>
      </p:pic>
      <p:sp>
        <p:nvSpPr>
          <p:cNvPr id="4" name="右箭头 3">
            <a:hlinkClick r:id="rId3" action="ppaction://hlinkfile"/>
          </p:cNvPr>
          <p:cNvSpPr/>
          <p:nvPr/>
        </p:nvSpPr>
        <p:spPr>
          <a:xfrm>
            <a:off x="7740352" y="6286665"/>
            <a:ext cx="1422376" cy="59871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演示动画</a:t>
            </a:r>
          </a:p>
        </p:txBody>
      </p:sp>
    </p:spTree>
    <p:extLst>
      <p:ext uri="{BB962C8B-B14F-4D97-AF65-F5344CB8AC3E}">
        <p14:creationId xmlns:p14="http://schemas.microsoft.com/office/powerpoint/2010/main" val="342314360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42" y="0"/>
            <a:ext cx="87625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14360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42" y="0"/>
            <a:ext cx="87625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14360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54" y="0"/>
            <a:ext cx="87736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30501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应当指出，执行“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JMP 101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”指令时，我们此处所给的五条指令组成的程序进入了死循环，除非人为停机，否则这个程序将无休止地运行下去。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当然，我们此处所举的转移地址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是随意的，仅仅用来说明转移指令能够改变程序的执行顺序而已。</a:t>
            </a: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314730501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5.3.3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用方框图语言表示指令周期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在上面介绍了五条典型指令的指令周期，从而使我们对一条指令的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取指过程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执行过程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有了一个较深刻的印象。然而通过画示意图或数据通路图，来解释这些过程，可以用于教学，但是在进行计算机设计时，如果用这种方法来表示指令周期，那就显得过于烦琐，而且也没有这种必要。</a:t>
            </a: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730501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在进行计算机设计时，可以采用方框图语言来表示一条指令的指令周期。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表示指令周期的方框图由方框、菱形和有向线等构成。其中：</a:t>
            </a:r>
          </a:p>
          <a:p>
            <a:pPr eaLnBrk="1" hangingPunct="1"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方框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：代表一个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周期，方框中的内容表示数据通路的操作或某种控制操作。 </a:t>
            </a:r>
          </a:p>
          <a:p>
            <a:pPr eaLnBrk="1" hangingPunct="1"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菱形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：通常用来表示某种判别或测试，不过时间上它依附于紧接它的前面一个方框的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周期，而不单独占用一个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有向线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：表示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周期的执行的流向。</a:t>
            </a:r>
          </a:p>
          <a:p>
            <a:pPr eaLnBrk="1" hangingPunct="1">
              <a:buNone/>
            </a:pPr>
            <a:endParaRPr lang="zh-CN" altLang="en-US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0" dirty="0">
                <a:latin typeface="楷体_GB2312" pitchFamily="49" charset="-122"/>
                <a:ea typeface="楷体_GB2312" pitchFamily="49" charset="-122"/>
              </a:rPr>
              <a:t>5.3.3  </a:t>
            </a:r>
            <a:r>
              <a:rPr lang="zh-CN" altLang="en-US" sz="1800" b="0" dirty="0">
                <a:latin typeface="楷体_GB2312" pitchFamily="49" charset="-122"/>
                <a:ea typeface="楷体_GB2312" pitchFamily="49" charset="-122"/>
              </a:rPr>
              <a:t>用方框图语言表示指令周期</a:t>
            </a:r>
          </a:p>
        </p:txBody>
      </p:sp>
    </p:spTree>
    <p:extLst>
      <p:ext uri="{BB962C8B-B14F-4D97-AF65-F5344CB8AC3E}">
        <p14:creationId xmlns:p14="http://schemas.microsoft.com/office/powerpoint/2010/main" val="314730501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另外还有一个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“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~”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符号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，我们称它为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公操作符合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，用于表示一条指令执行完后，转入公操作。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所谓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公操作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，就是一条指令执行完毕后，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所开始进行的一些操作，这些操作主要是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对外围设备请求的处理，如中断处理、异常处理、通道处理等。如果外围设备没有向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请求交换数据，那么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又转向指存取下一条指令。由于所有指令的取指周期完全一致，因此，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取指令也可以认为是公操作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这是因为一条指令执行结束后，如果没有外设请求，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一定转入“取指令”操作。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0" dirty="0">
                <a:latin typeface="楷体_GB2312" pitchFamily="49" charset="-122"/>
                <a:ea typeface="楷体_GB2312" pitchFamily="49" charset="-122"/>
              </a:rPr>
              <a:t>5.3.3  </a:t>
            </a:r>
            <a:r>
              <a:rPr lang="zh-CN" altLang="en-US" sz="1800" b="0" dirty="0">
                <a:latin typeface="楷体_GB2312" pitchFamily="49" charset="-122"/>
                <a:ea typeface="楷体_GB2312" pitchFamily="49" charset="-122"/>
              </a:rPr>
              <a:t>用方框图语言表示指令周期</a:t>
            </a:r>
          </a:p>
        </p:txBody>
      </p:sp>
    </p:spTree>
    <p:extLst>
      <p:ext uri="{BB962C8B-B14F-4D97-AF65-F5344CB8AC3E}">
        <p14:creationId xmlns:p14="http://schemas.microsoft.com/office/powerpoint/2010/main" val="314730501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我们把前面的五条典型指令加以归纳，用方框图语言表示的指令周期示意图，如图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5.14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所示。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框图中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代表数据总线，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）代表数存地址总线，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）代表指存地址总线，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RD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）代表数存读命令，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WE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）代表数存写命令，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RD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）代表指存读命令。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0" dirty="0">
                <a:latin typeface="楷体_GB2312" pitchFamily="49" charset="-122"/>
                <a:ea typeface="楷体_GB2312" pitchFamily="49" charset="-122"/>
              </a:rPr>
              <a:t>5.3.3  </a:t>
            </a:r>
            <a:r>
              <a:rPr lang="zh-CN" altLang="en-US" sz="1800" b="0" dirty="0">
                <a:latin typeface="楷体_GB2312" pitchFamily="49" charset="-122"/>
                <a:ea typeface="楷体_GB2312" pitchFamily="49" charset="-122"/>
              </a:rPr>
              <a:t>用方框图语言表示指令周期</a:t>
            </a:r>
          </a:p>
        </p:txBody>
      </p:sp>
    </p:spTree>
    <p:extLst>
      <p:ext uri="{BB962C8B-B14F-4D97-AF65-F5344CB8AC3E}">
        <p14:creationId xmlns:p14="http://schemas.microsoft.com/office/powerpoint/2010/main" val="264327855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124"/>
            <a:ext cx="9144000" cy="658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2584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从图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5.14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可以明显的看到，所有的指令取指周期是完全相同的，而且是一个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周期。但是指令的执行周期，由于各条指令的功能不同，所用的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周期是各不相同的：其中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MOV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ADD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JMP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指令是一个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周期；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LAD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STO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指令是两个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周期。</a:t>
            </a: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5.3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指令周期</a:t>
            </a:r>
            <a:b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0" dirty="0">
                <a:latin typeface="楷体_GB2312" pitchFamily="49" charset="-122"/>
                <a:ea typeface="楷体_GB2312" pitchFamily="49" charset="-122"/>
              </a:rPr>
              <a:t>5.3.3  </a:t>
            </a:r>
            <a:r>
              <a:rPr lang="zh-CN" altLang="en-US" sz="1800" b="0" dirty="0">
                <a:latin typeface="楷体_GB2312" pitchFamily="49" charset="-122"/>
                <a:ea typeface="楷体_GB2312" pitchFamily="49" charset="-122"/>
              </a:rPr>
              <a:t>用方框图语言表示指令周期</a:t>
            </a:r>
          </a:p>
        </p:txBody>
      </p:sp>
    </p:spTree>
    <p:extLst>
      <p:ext uri="{BB962C8B-B14F-4D97-AF65-F5344CB8AC3E}">
        <p14:creationId xmlns:p14="http://schemas.microsoft.com/office/powerpoint/2010/main" val="1162253820"/>
      </p:ext>
    </p:extLst>
  </p:cSld>
  <p:clrMapOvr>
    <a:masterClrMapping/>
  </p:clrMapOvr>
</p:sld>
</file>

<file path=ppt/theme/theme1.xml><?xml version="1.0" encoding="utf-8"?>
<a:theme xmlns:a="http://schemas.openxmlformats.org/drawingml/2006/main" name="模板2">
  <a:themeElements>
    <a:clrScheme name="">
      <a:dk1>
        <a:srgbClr val="3D3D3D"/>
      </a:dk1>
      <a:lt1>
        <a:srgbClr val="FFFFFF"/>
      </a:lt1>
      <a:dk2>
        <a:srgbClr val="000000"/>
      </a:dk2>
      <a:lt2>
        <a:srgbClr val="333333"/>
      </a:lt2>
      <a:accent1>
        <a:srgbClr val="FFFFFF"/>
      </a:accent1>
      <a:accent2>
        <a:srgbClr val="969696"/>
      </a:accent2>
      <a:accent3>
        <a:srgbClr val="FFFFFF"/>
      </a:accent3>
      <a:accent4>
        <a:srgbClr val="333333"/>
      </a:accent4>
      <a:accent5>
        <a:srgbClr val="FFFFFF"/>
      </a:accent5>
      <a:accent6>
        <a:srgbClr val="878787"/>
      </a:accent6>
      <a:hlink>
        <a:srgbClr val="4D4D4D"/>
      </a:hlink>
      <a:folHlink>
        <a:srgbClr val="808080"/>
      </a:folHlink>
    </a:clrScheme>
    <a:fontScheme name="模板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8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楷体_GB2312" pitchFamily="1" charset="-122"/>
            <a:ea typeface="楷体_GB2312" pitchFamily="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8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楷体_GB2312" pitchFamily="1" charset="-122"/>
            <a:ea typeface="楷体_GB2312" pitchFamily="1" charset="-122"/>
          </a:defRPr>
        </a:defPPr>
      </a:lstStyle>
    </a:lnDef>
  </a:objectDefaults>
  <a:extraClrSchemeLst>
    <a:extraClrScheme>
      <a:clrScheme name="模板2 1">
        <a:dk1>
          <a:srgbClr val="333333"/>
        </a:dk1>
        <a:lt1>
          <a:srgbClr val="BAB9A0"/>
        </a:lt1>
        <a:dk2>
          <a:srgbClr val="000000"/>
        </a:dk2>
        <a:lt2>
          <a:srgbClr val="333329"/>
        </a:lt2>
        <a:accent1>
          <a:srgbClr val="F4F3D9"/>
        </a:accent1>
        <a:accent2>
          <a:srgbClr val="E09142"/>
        </a:accent2>
        <a:accent3>
          <a:srgbClr val="D9D9CD"/>
        </a:accent3>
        <a:accent4>
          <a:srgbClr val="2A2A2A"/>
        </a:accent4>
        <a:accent5>
          <a:srgbClr val="F8F8E9"/>
        </a:accent5>
        <a:accent6>
          <a:srgbClr val="CB833B"/>
        </a:accent6>
        <a:hlink>
          <a:srgbClr val="AE4828"/>
        </a:hlink>
        <a:folHlink>
          <a:srgbClr val="6A695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2 2">
        <a:dk1>
          <a:srgbClr val="333333"/>
        </a:dk1>
        <a:lt1>
          <a:srgbClr val="BDB9BF"/>
        </a:lt1>
        <a:dk2>
          <a:srgbClr val="000000"/>
        </a:dk2>
        <a:lt2>
          <a:srgbClr val="333329"/>
        </a:lt2>
        <a:accent1>
          <a:srgbClr val="F4F3D9"/>
        </a:accent1>
        <a:accent2>
          <a:srgbClr val="E09142"/>
        </a:accent2>
        <a:accent3>
          <a:srgbClr val="DBD9DC"/>
        </a:accent3>
        <a:accent4>
          <a:srgbClr val="2A2A2A"/>
        </a:accent4>
        <a:accent5>
          <a:srgbClr val="F8F8E9"/>
        </a:accent5>
        <a:accent6>
          <a:srgbClr val="CB833B"/>
        </a:accent6>
        <a:hlink>
          <a:srgbClr val="AE4828"/>
        </a:hlink>
        <a:folHlink>
          <a:srgbClr val="6A695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2 3">
        <a:dk1>
          <a:srgbClr val="3D3D3D"/>
        </a:dk1>
        <a:lt1>
          <a:srgbClr val="EAEAEA"/>
        </a:lt1>
        <a:dk2>
          <a:srgbClr val="000000"/>
        </a:dk2>
        <a:lt2>
          <a:srgbClr val="333333"/>
        </a:lt2>
        <a:accent1>
          <a:srgbClr val="FFFFFF"/>
        </a:accent1>
        <a:accent2>
          <a:srgbClr val="969696"/>
        </a:accent2>
        <a:accent3>
          <a:srgbClr val="F3F3F3"/>
        </a:accent3>
        <a:accent4>
          <a:srgbClr val="333333"/>
        </a:accent4>
        <a:accent5>
          <a:srgbClr val="FFFFFF"/>
        </a:accent5>
        <a:accent6>
          <a:srgbClr val="878787"/>
        </a:accent6>
        <a:hlink>
          <a:srgbClr val="4D4D4D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6004</TotalTime>
  <Pages>0</Pages>
  <Words>7940</Words>
  <Characters>0</Characters>
  <Application>Microsoft Office PowerPoint</Application>
  <DocSecurity>0</DocSecurity>
  <PresentationFormat>全屏显示(4:3)</PresentationFormat>
  <Lines>0</Lines>
  <Paragraphs>597</Paragraphs>
  <Slides>121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121</vt:i4>
      </vt:variant>
    </vt:vector>
  </HeadingPairs>
  <TitlesOfParts>
    <vt:vector size="135" baseType="lpstr">
      <vt:lpstr>黑体</vt:lpstr>
      <vt:lpstr>楷体_GB2312</vt:lpstr>
      <vt:lpstr>Arial</vt:lpstr>
      <vt:lpstr>Calibri</vt:lpstr>
      <vt:lpstr>Tahoma</vt:lpstr>
      <vt:lpstr>Times New Roman</vt:lpstr>
      <vt:lpstr>Wingdings</vt:lpstr>
      <vt:lpstr>模板2</vt:lpstr>
      <vt:lpstr>Office 主题​​</vt:lpstr>
      <vt:lpstr>1_Office 主题​​</vt:lpstr>
      <vt:lpstr>2_Office 主题​​</vt:lpstr>
      <vt:lpstr>默认设计模板</vt:lpstr>
      <vt:lpstr>1_默认设计模板</vt:lpstr>
      <vt:lpstr>位图图像</vt:lpstr>
      <vt:lpstr>第5章  中央处理部件CPU</vt:lpstr>
      <vt:lpstr>主要知识点</vt:lpstr>
      <vt:lpstr>5.1  CPU的组成 5.1.1 CPU的功能</vt:lpstr>
      <vt:lpstr>5.1  CPU的组成 5.1.1 CPU的功能</vt:lpstr>
      <vt:lpstr>5.1  CPU的组成 5.1.1 CPU的功能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CPU模型说明</vt:lpstr>
      <vt:lpstr>CPU模型说明</vt:lpstr>
      <vt:lpstr>CPU模型说明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5.2  控制器的组成 5.2.1控制器的功能</vt:lpstr>
      <vt:lpstr>5.2  控制器的组成 5.2.1控制器的功能</vt:lpstr>
      <vt:lpstr>5.2  控制器的组成 5.2.1控制器的功能</vt:lpstr>
      <vt:lpstr>5.2  控制器的组成 5.2.1控制器的功能</vt:lpstr>
      <vt:lpstr>5.2  控制器的组成 5.2.1控制器的功能</vt:lpstr>
      <vt:lpstr>5.2  控制器的组成 5.2.1控制器的功能</vt:lpstr>
      <vt:lpstr>5.2  控制器的组成 5.2.2  控制器的组成</vt:lpstr>
      <vt:lpstr>控制器的组成结构图</vt:lpstr>
      <vt:lpstr>5.2  控制器的组成 5.2.2  控制器的组成</vt:lpstr>
      <vt:lpstr>控制器的组成结构图</vt:lpstr>
      <vt:lpstr>5.2  控制器的组成 5.2.2  控制器的组成</vt:lpstr>
      <vt:lpstr>5.2  控制器的组成 5.2.2  控制器的组成</vt:lpstr>
      <vt:lpstr>5.2  控制器的组成 5.2.2  控制器的组成</vt:lpstr>
      <vt:lpstr>5.3  指令周期 </vt:lpstr>
      <vt:lpstr>5.3  指令周期 </vt:lpstr>
      <vt:lpstr>PowerPoint 演示文稿</vt:lpstr>
      <vt:lpstr>5.3  指令周期</vt:lpstr>
      <vt:lpstr>CPU执行指令的过程</vt:lpstr>
      <vt:lpstr>CPU执行指令的过程(无Cache的CPU)</vt:lpstr>
      <vt:lpstr>CPU执行指令的过程(无Cache的CPU)</vt:lpstr>
      <vt:lpstr>CPU执行指令的过程(无Cache的CPU)</vt:lpstr>
      <vt:lpstr>CPU执行指令的过程(无Cache的CPU)</vt:lpstr>
      <vt:lpstr>CPU执行指令的过程(无Cache的CPU)</vt:lpstr>
      <vt:lpstr>CPU执行指令的过程(无Cache的CPU)</vt:lpstr>
      <vt:lpstr>PowerPoint 演示文稿</vt:lpstr>
      <vt:lpstr>PowerPoint 演示文稿</vt:lpstr>
      <vt:lpstr>PowerPoint 演示文稿</vt:lpstr>
      <vt:lpstr>5.3  指令周期 5.3.1  指令周期的基本概念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5.2  控制器的组成 5.2.3  指令周期</vt:lpstr>
      <vt:lpstr>PowerPoint 演示文稿</vt:lpstr>
      <vt:lpstr>PowerPoint 演示文稿</vt:lpstr>
      <vt:lpstr>PowerPoint 演示文稿</vt:lpstr>
      <vt:lpstr>5.2  控制器的组成 5.2.3  指令周期</vt:lpstr>
      <vt:lpstr>5.2  控制器的组成 5.2.3  指令周期</vt:lpstr>
      <vt:lpstr>PowerPoint 演示文稿</vt:lpstr>
      <vt:lpstr>PowerPoint 演示文稿</vt:lpstr>
      <vt:lpstr>5.2  控制器的组成 5.2.3  指令周期</vt:lpstr>
      <vt:lpstr>PowerPoint 演示文稿</vt:lpstr>
      <vt:lpstr>5.2  控制器的组成 5.2.3  指令周期</vt:lpstr>
      <vt:lpstr>PowerPoint 演示文稿</vt:lpstr>
      <vt:lpstr>PowerPoint 演示文稿</vt:lpstr>
      <vt:lpstr>5.2  控制器的组成 5.2.3  指令周期</vt:lpstr>
      <vt:lpstr>5.2  控制器的组成 5.2.3  指令周期</vt:lpstr>
      <vt:lpstr>PowerPoint 演示文稿</vt:lpstr>
      <vt:lpstr>PowerPoint 演示文稿</vt:lpstr>
      <vt:lpstr>5.2  控制器的组成 5.2.3  指令周期</vt:lpstr>
      <vt:lpstr>5.2  控制器的组成 5.2.3  指令周期</vt:lpstr>
      <vt:lpstr>5.2  控制器的组成 5.2.3  指令周期</vt:lpstr>
      <vt:lpstr>PowerPoint 演示文稿</vt:lpstr>
      <vt:lpstr>PowerPoint 演示文稿</vt:lpstr>
      <vt:lpstr>PowerPoint 演示文稿</vt:lpstr>
      <vt:lpstr>PowerPoint 演示文稿</vt:lpstr>
      <vt:lpstr>5.2  控制器的组成 5.2.3  指令周期</vt:lpstr>
      <vt:lpstr>5.2  控制器的组成 5.2.3  指令周期</vt:lpstr>
      <vt:lpstr>5.2  控制器的组成 5.2.3  指令周期</vt:lpstr>
      <vt:lpstr>5.2  控制器的组成 5.2.3  指令周期</vt:lpstr>
      <vt:lpstr>5.2  控制器的组成 5.2.3  指令周期</vt:lpstr>
      <vt:lpstr>5.2  控制器的组成 5.2.3  指令周期</vt:lpstr>
      <vt:lpstr>PowerPoint 演示文稿</vt:lpstr>
      <vt:lpstr>PowerPoint 演示文稿</vt:lpstr>
      <vt:lpstr>PowerPoint 演示文稿</vt:lpstr>
      <vt:lpstr>5.2  控制器的组成 5.2.3  指令周期</vt:lpstr>
      <vt:lpstr>5.2  控制器的组成 5.2.3  指令周期</vt:lpstr>
      <vt:lpstr>5.2  控制器的组成 5.2.3  指令周期</vt:lpstr>
      <vt:lpstr>5.2  控制器的组成 5.2.3  指令周期</vt:lpstr>
      <vt:lpstr>PowerPoint 演示文稿</vt:lpstr>
      <vt:lpstr>5.3 指令周期 5.3.3  用方框图语言表示指令周期</vt:lpstr>
      <vt:lpstr>PowerPoint 演示文稿</vt:lpstr>
      <vt:lpstr>PowerPoint 演示文稿</vt:lpstr>
      <vt:lpstr>PowerPoint 演示文稿</vt:lpstr>
      <vt:lpstr>5.2  控制器的组成 5.2.3  指令周期</vt:lpstr>
      <vt:lpstr>PowerPoint 演示文稿</vt:lpstr>
    </vt:vector>
  </TitlesOfParts>
  <Company>Tongji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第5章  中央处理部件CPU</dc:title>
  <dc:creator>wang</dc:creator>
  <cp:lastModifiedBy>Qa1398</cp:lastModifiedBy>
  <cp:revision>910</cp:revision>
  <cp:lastPrinted>1899-12-30T00:00:00Z</cp:lastPrinted>
  <dcterms:created xsi:type="dcterms:W3CDTF">2007-10-04T23:31:34Z</dcterms:created>
  <dcterms:modified xsi:type="dcterms:W3CDTF">2022-05-11T03:36:11Z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2052-6.6.0.2461</vt:lpwstr>
  </property>
</Properties>
</file>